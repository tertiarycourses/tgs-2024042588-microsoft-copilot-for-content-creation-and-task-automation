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varyColors val="0"/>
        <c:ser>
          <c:idx val="0"/>
          <c:order val="0"/>
          <c:tx>
            <c:strRef>
              <c:f>Sheet1!$B$1</c:f>
              <c:strCache>
                <c:ptCount val="1"/>
                <c:pt idx="0">
                  <c:v>Hours per week before</c:v>
                </c:pt>
              </c:strCache>
            </c:strRef>
          </c:tx>
          <c:spPr>
            <a:solidFill>
              <a:srgbClr val="1F6FEB"/>
            </a:solidFill>
            <a:ln>
              <a:noFill/>
            </a:ln>
          </c:spPr>
          <c:cat>
            <c:strRef>
              <c:f>Sheet1!$A$2:$A$6</c:f>
              <c:strCache>
                <c:ptCount val="5"/>
                <c:pt idx="0">
                  <c:v>Drafting</c:v>
                </c:pt>
                <c:pt idx="1">
                  <c:v>Searching</c:v>
                </c:pt>
                <c:pt idx="2">
                  <c:v>Summarising</c:v>
                </c:pt>
                <c:pt idx="3">
                  <c:v>Formatting</c:v>
                </c:pt>
                <c:pt idx="4">
                  <c:v>Reviewing</c:v>
                </c:pt>
              </c:strCache>
            </c:strRef>
          </c:cat>
          <c:val>
            <c:numRef>
              <c:f>Sheet1!$B$2:$B$6</c:f>
              <c:numCache>
                <c:formatCode>General</c:formatCode>
                <c:ptCount val="5"/>
                <c:pt idx="0">
                  <c:v>6.5</c:v>
                </c:pt>
                <c:pt idx="1">
                  <c:v>4.2</c:v>
                </c:pt>
                <c:pt idx="2">
                  <c:v>3.8</c:v>
                </c:pt>
                <c:pt idx="3">
                  <c:v>2.4</c:v>
                </c:pt>
                <c:pt idx="4">
                  <c:v>2.0</c:v>
                </c:pt>
              </c:numCache>
            </c:numRef>
          </c:val>
        </c:ser>
        <c:ser>
          <c:idx val="1"/>
          <c:order val="1"/>
          <c:tx>
            <c:strRef>
              <c:f>Sheet1!$C$1</c:f>
              <c:strCache>
                <c:ptCount val="1"/>
                <c:pt idx="0">
                  <c:v>Hours per week after</c:v>
                </c:pt>
              </c:strCache>
            </c:strRef>
          </c:tx>
          <c:spPr>
            <a:solidFill>
              <a:srgbClr val="10B981"/>
            </a:solidFill>
            <a:ln>
              <a:noFill/>
            </a:ln>
          </c:spPr>
          <c:cat>
            <c:strRef>
              <c:f>Sheet1!$A$2:$A$6</c:f>
              <c:strCache>
                <c:ptCount val="5"/>
                <c:pt idx="0">
                  <c:v>Drafting</c:v>
                </c:pt>
                <c:pt idx="1">
                  <c:v>Searching</c:v>
                </c:pt>
                <c:pt idx="2">
                  <c:v>Summarising</c:v>
                </c:pt>
                <c:pt idx="3">
                  <c:v>Formatting</c:v>
                </c:pt>
                <c:pt idx="4">
                  <c:v>Reviewing</c:v>
                </c:pt>
              </c:strCache>
            </c:strRef>
          </c:cat>
          <c:val>
            <c:numRef>
              <c:f>Sheet1!$C$2:$C$6</c:f>
              <c:numCache>
                <c:formatCode>General</c:formatCode>
                <c:ptCount val="5"/>
                <c:pt idx="0">
                  <c:v>3.1</c:v>
                </c:pt>
                <c:pt idx="1">
                  <c:v>1.6</c:v>
                </c:pt>
                <c:pt idx="2">
                  <c:v>1.4</c:v>
                </c:pt>
                <c:pt idx="3">
                  <c:v>1.1</c:v>
                </c:pt>
                <c:pt idx="4">
                  <c:v>2.6</c:v>
                </c:pt>
              </c:numCache>
            </c:numRef>
          </c:val>
        </c:ser>
        <c:axId val="-2068027336"/>
        <c:axId val="-2113994440"/>
      </c:barChart>
      <c:catAx>
        <c:axId val="-2068027336"/>
        <c:scaling>
          <c:orientation val="minMax"/>
        </c:scaling>
        <c:delete val="0"/>
        <c:axPos val="b"/>
        <c:majorTickMark val="out"/>
        <c:minorTickMark val="none"/>
        <c:tickLblPos val="nextTo"/>
        <c:spPr>
          <a:ln>
            <a:solidFill>
              <a:srgbClr val="E2E8F0"/>
            </a:solidFill>
          </a:ln>
        </c:spPr>
        <c:txPr>
          <a:bodyPr/>
          <a:lstStyle/>
          <a:p>
            <a:pPr>
              <a:defRPr sz="1000">
                <a:solidFill>
                  <a:srgbClr val="5B6372"/>
                </a:solidFill>
                <a:latin typeface="Arial"/>
              </a:defRPr>
            </a:pPr>
          </a:p>
        </c:txPr>
        <c:crossAx val="-2113994440"/>
        <c:crosses val="autoZero"/>
        <c:auto val="1"/>
        <c:lblAlgn val="ctr"/>
        <c:lblOffset val="100"/>
        <c:noMultiLvlLbl val="0"/>
      </c:catAx>
      <c:valAx>
        <c:axId val="-2113994440"/>
        <c:scaling/>
        <c:delete val="0"/>
        <c:axPos val="l"/>
        <c:majorGridlines>
          <c:spPr>
            <a:ln w="9525">
              <a:solidFill>
                <a:srgbClr val="E2E8F0"/>
              </a:solidFill>
            </a:ln>
          </c:spPr>
        </c:majorGridlines>
        <c:majorTickMark val="out"/>
        <c:minorTickMark val="none"/>
        <c:tickLblPos val="nextTo"/>
        <c:spPr>
          <a:ln>
            <a:noFill/>
          </a:ln>
        </c:spPr>
        <c:txPr>
          <a:bodyPr/>
          <a:lstStyle/>
          <a:p>
            <a:pPr>
              <a:defRPr sz="1000">
                <a:solidFill>
                  <a:srgbClr val="5B6372"/>
                </a:solidFill>
                <a:latin typeface="Arial"/>
              </a:defRPr>
            </a:pPr>
          </a:p>
        </c:txPr>
        <c:crossAx val="-2068027336"/>
        <c:crosses val="autoZero"/>
      </c:valAx>
    </c:plotArea>
    <c:legend>
      <c:legendPos val="b"/>
      <c:overlay val="0"/>
      <c:txPr>
        <a:bodyPr/>
        <a:lstStyle/>
        <a:p>
          <a:pPr>
            <a:defRPr sz="1000"/>
          </a:pPr>
        </a:p>
      </c:txPr>
    </c:legend>
    <c:dispBlanksAs val="gap"/>
  </c:chart>
  <c:txPr>
    <a:bodyPr/>
    <a:lstStyle/>
    <a:p>
      <a:pPr>
        <a:defRPr sz="1100">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varyColors val="0"/>
        <c:ser>
          <c:idx val="0"/>
          <c:order val="0"/>
          <c:tx>
            <c:strRef>
              <c:f>Sheet1!$B$1</c:f>
              <c:strCache>
                <c:ptCount val="1"/>
                <c:pt idx="0">
                  <c:v>Readiness score (0-100)</c:v>
                </c:pt>
              </c:strCache>
            </c:strRef>
          </c:tx>
          <c:spPr>
            <a:solidFill>
              <a:srgbClr val="1F6FEB"/>
            </a:solidFill>
            <a:ln>
              <a:noFill/>
            </a:ln>
          </c:spPr>
          <c:cat>
            <c:strRef>
              <c:f>Sheet1!$A$2:$A$6</c:f>
              <c:strCache>
                <c:ptCount val="5"/>
                <c:pt idx="0">
                  <c:v>Marketing</c:v>
                </c:pt>
                <c:pt idx="1">
                  <c:v>Finance</c:v>
                </c:pt>
                <c:pt idx="2">
                  <c:v>Retail</c:v>
                </c:pt>
                <c:pt idx="3">
                  <c:v>Supply</c:v>
                </c:pt>
                <c:pt idx="4">
                  <c:v>Partner</c:v>
                </c:pt>
              </c:strCache>
            </c:strRef>
          </c:cat>
          <c:val>
            <c:numRef>
              <c:f>Sheet1!$B$2:$B$6</c:f>
              <c:numCache>
                <c:formatCode>General</c:formatCode>
                <c:ptCount val="5"/>
                <c:pt idx="0">
                  <c:v>82</c:v>
                </c:pt>
                <c:pt idx="1">
                  <c:v>74</c:v>
                </c:pt>
                <c:pt idx="2">
                  <c:v>46</c:v>
                </c:pt>
                <c:pt idx="3">
                  <c:v>58</c:v>
                </c:pt>
                <c:pt idx="4">
                  <c:v>39</c:v>
                </c:pt>
              </c:numCache>
            </c:numRef>
          </c:val>
        </c:ser>
        <c:axId val="-2068027336"/>
        <c:axId val="-2113994440"/>
      </c:barChart>
      <c:catAx>
        <c:axId val="-2068027336"/>
        <c:scaling>
          <c:orientation val="minMax"/>
        </c:scaling>
        <c:delete val="0"/>
        <c:axPos val="l"/>
        <c:majorTickMark val="out"/>
        <c:minorTickMark val="none"/>
        <c:tickLblPos val="nextTo"/>
        <c:spPr>
          <a:ln>
            <a:solidFill>
              <a:srgbClr val="E2E8F0"/>
            </a:solidFill>
          </a:ln>
        </c:spPr>
        <c:txPr>
          <a:bodyPr/>
          <a:lstStyle/>
          <a:p>
            <a:pPr>
              <a:defRPr sz="1000">
                <a:solidFill>
                  <a:srgbClr val="5B6372"/>
                </a:solidFill>
                <a:latin typeface="Arial"/>
              </a:defRPr>
            </a:pPr>
          </a:p>
        </c:txPr>
        <c:crossAx val="-2113994440"/>
        <c:crosses val="autoZero"/>
        <c:auto val="1"/>
        <c:lblAlgn val="ctr"/>
        <c:lblOffset val="100"/>
        <c:noMultiLvlLbl val="0"/>
      </c:catAx>
      <c:valAx>
        <c:axId val="-2113994440"/>
        <c:scaling/>
        <c:delete val="0"/>
        <c:axPos val="b"/>
        <c:majorGridlines>
          <c:spPr>
            <a:ln w="9525">
              <a:solidFill>
                <a:srgbClr val="E2E8F0"/>
              </a:solidFill>
            </a:ln>
          </c:spPr>
        </c:majorGridlines>
        <c:majorTickMark val="out"/>
        <c:minorTickMark val="none"/>
        <c:tickLblPos val="nextTo"/>
        <c:spPr>
          <a:ln>
            <a:noFill/>
          </a:ln>
        </c:spPr>
        <c:txPr>
          <a:bodyPr/>
          <a:lstStyle/>
          <a:p>
            <a:pPr>
              <a:defRPr sz="1000">
                <a:solidFill>
                  <a:srgbClr val="5B6372"/>
                </a:solidFill>
                <a:latin typeface="Arial"/>
              </a:defRPr>
            </a:pPr>
          </a:p>
        </c:txPr>
        <c:crossAx val="-2068027336"/>
        <c:crosses val="autoZero"/>
      </c:valAx>
    </c:plotArea>
    <c:dispBlanksAs val="gap"/>
  </c:chart>
  <c:txPr>
    <a:bodyPr/>
    <a:lstStyle/>
    <a:p>
      <a:pPr>
        <a:defRPr sz="1100">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Rework hours without review</c:v>
                </c:pt>
              </c:strCache>
            </c:strRef>
          </c:tx>
          <c:spPr>
            <a:ln w="31750">
              <a:solidFill>
                <a:srgbClr val="1F6FEB"/>
              </a:solidFill>
            </a:ln>
          </c:spPr>
          <c:marker>
            <c:spPr>
              <a:solidFill>
                <a:srgbClr val="1F6FEB"/>
              </a:solidFill>
              <a:ln>
                <a:solidFill>
                  <a:srgbClr val="1F6FEB"/>
                </a:solidFill>
              </a:ln>
            </c:spPr>
          </c:marker>
          <c:cat>
            <c:strRef>
              <c:f>Sheet1!$A$2:$A$7</c:f>
              <c:strCache>
                <c:ptCount val="6"/>
                <c:pt idx="0">
                  <c:v>Week 1</c:v>
                </c:pt>
                <c:pt idx="1">
                  <c:v>Week 2</c:v>
                </c:pt>
                <c:pt idx="2">
                  <c:v>Week 3</c:v>
                </c:pt>
                <c:pt idx="3">
                  <c:v>Week 4</c:v>
                </c:pt>
                <c:pt idx="4">
                  <c:v>Week 5</c:v>
                </c:pt>
                <c:pt idx="5">
                  <c:v>Week 6</c:v>
                </c:pt>
              </c:strCache>
            </c:strRef>
          </c:cat>
          <c:val>
            <c:numRef>
              <c:f>Sheet1!$B$2:$B$7</c:f>
              <c:numCache>
                <c:formatCode>General</c:formatCode>
                <c:ptCount val="6"/>
                <c:pt idx="0">
                  <c:v>2.0</c:v>
                </c:pt>
                <c:pt idx="1">
                  <c:v>3.4</c:v>
                </c:pt>
                <c:pt idx="2">
                  <c:v>5.1</c:v>
                </c:pt>
                <c:pt idx="3">
                  <c:v>6.8</c:v>
                </c:pt>
                <c:pt idx="4">
                  <c:v>8.2</c:v>
                </c:pt>
                <c:pt idx="5">
                  <c:v>9.9</c:v>
                </c:pt>
              </c:numCache>
            </c:numRef>
          </c:val>
          <c:smooth val="0"/>
        </c:ser>
        <c:ser>
          <c:idx val="1"/>
          <c:order val="1"/>
          <c:tx>
            <c:strRef>
              <c:f>Sheet1!$C$1</c:f>
              <c:strCache>
                <c:ptCount val="1"/>
                <c:pt idx="0">
                  <c:v>Rework hours with review</c:v>
                </c:pt>
              </c:strCache>
            </c:strRef>
          </c:tx>
          <c:spPr>
            <a:ln w="31750">
              <a:solidFill>
                <a:srgbClr val="10B981"/>
              </a:solidFill>
            </a:ln>
          </c:spPr>
          <c:marker>
            <c:spPr>
              <a:solidFill>
                <a:srgbClr val="10B981"/>
              </a:solidFill>
              <a:ln>
                <a:solidFill>
                  <a:srgbClr val="10B981"/>
                </a:solidFill>
              </a:ln>
            </c:spPr>
          </c:marker>
          <c:cat>
            <c:strRef>
              <c:f>Sheet1!$A$2:$A$7</c:f>
              <c:strCache>
                <c:ptCount val="6"/>
                <c:pt idx="0">
                  <c:v>Week 1</c:v>
                </c:pt>
                <c:pt idx="1">
                  <c:v>Week 2</c:v>
                </c:pt>
                <c:pt idx="2">
                  <c:v>Week 3</c:v>
                </c:pt>
                <c:pt idx="3">
                  <c:v>Week 4</c:v>
                </c:pt>
                <c:pt idx="4">
                  <c:v>Week 5</c:v>
                </c:pt>
                <c:pt idx="5">
                  <c:v>Week 6</c:v>
                </c:pt>
              </c:strCache>
            </c:strRef>
          </c:cat>
          <c:val>
            <c:numRef>
              <c:f>Sheet1!$C$2:$C$7</c:f>
              <c:numCache>
                <c:formatCode>General</c:formatCode>
                <c:ptCount val="6"/>
                <c:pt idx="0">
                  <c:v>3.1</c:v>
                </c:pt>
                <c:pt idx="1">
                  <c:v>2.8</c:v>
                </c:pt>
                <c:pt idx="2">
                  <c:v>2.4</c:v>
                </c:pt>
                <c:pt idx="3">
                  <c:v>2.1</c:v>
                </c:pt>
                <c:pt idx="4">
                  <c:v>1.8</c:v>
                </c:pt>
                <c:pt idx="5">
                  <c:v>1.6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E2E8F0"/>
            </a:solidFill>
          </a:ln>
        </c:spPr>
        <c:txPr>
          <a:bodyPr/>
          <a:lstStyle/>
          <a:p>
            <a:pPr>
              <a:defRPr sz="1000">
                <a:solidFill>
                  <a:srgbClr val="5B6372"/>
                </a:solidFill>
                <a:latin typeface="Arial"/>
              </a:defRPr>
            </a:pPr>
          </a:p>
        </c:txPr>
        <c:crossAx val="2140495176"/>
        <c:crosses val="autoZero"/>
        <c:auto val="1"/>
        <c:lblAlgn val="ctr"/>
        <c:lblOffset val="100"/>
        <c:noMultiLvlLbl val="0"/>
      </c:catAx>
      <c:valAx>
        <c:axId val="2140495176"/>
        <c:scaling/>
        <c:delete val="0"/>
        <c:axPos val="l"/>
        <c:majorGridlines>
          <c:spPr>
            <a:ln w="9525">
              <a:solidFill>
                <a:srgbClr val="E2E8F0"/>
              </a:solidFill>
            </a:ln>
          </c:spPr>
        </c:majorGridlines>
        <c:majorTickMark val="out"/>
        <c:minorTickMark val="none"/>
        <c:tickLblPos val="nextTo"/>
        <c:spPr>
          <a:ln>
            <a:noFill/>
          </a:ln>
        </c:spPr>
        <c:txPr>
          <a:bodyPr/>
          <a:lstStyle/>
          <a:p>
            <a:pPr>
              <a:defRPr sz="1000">
                <a:solidFill>
                  <a:srgbClr val="5B6372"/>
                </a:solidFill>
                <a:latin typeface="Arial"/>
              </a:defRPr>
            </a:pPr>
          </a:p>
        </c:txPr>
        <c:crossAx val="2118791784"/>
        <c:crosses val="autoZero"/>
      </c:valAx>
    </c:plotArea>
    <c:legend>
      <c:legendPos val="b"/>
      <c:layout/>
      <c:overlay val="0"/>
      <c:txPr>
        <a:bodyPr/>
        <a:lstStyle/>
        <a:p>
          <a:pPr>
            <a:defRPr sz="1000"/>
          </a:pPr>
        </a:p>
      </c:txPr>
    </c:legend>
    <c:plotVisOnly val="1"/>
    <c:dispBlanksAs val="gap"/>
    <c:showDLblsOverMax val="0"/>
  </c:chart>
  <c:txPr>
    <a:bodyPr/>
    <a:lstStyle/>
    <a:p>
      <a:pPr>
        <a:defRPr sz="1100">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Revenue index</c:v>
                </c:pt>
              </c:strCache>
            </c:strRef>
          </c:tx>
          <c:spPr>
            <a:ln w="31750">
              <a:solidFill>
                <a:srgbClr val="1F6FEB"/>
              </a:solidFill>
            </a:ln>
          </c:spPr>
          <c:marker>
            <c:spPr>
              <a:solidFill>
                <a:srgbClr val="1F6FEB"/>
              </a:solidFill>
              <a:ln>
                <a:solidFill>
                  <a:srgbClr val="1F6FEB"/>
                </a:solidFill>
              </a:ln>
            </c:spPr>
          </c:marker>
          <c:cat>
            <c:strRef>
              <c:f>Sheet1!$A$2:$A$9</c:f>
              <c:strCache>
                <c:ptCount val="8"/>
                <c:pt idx="0">
                  <c:v>Jan</c:v>
                </c:pt>
                <c:pt idx="1">
                  <c:v>Feb</c:v>
                </c:pt>
                <c:pt idx="2">
                  <c:v>Mar</c:v>
                </c:pt>
                <c:pt idx="3">
                  <c:v>Apr</c:v>
                </c:pt>
                <c:pt idx="4">
                  <c:v>May</c:v>
                </c:pt>
                <c:pt idx="5">
                  <c:v>Jun</c:v>
                </c:pt>
                <c:pt idx="6">
                  <c:v>Jul</c:v>
                </c:pt>
                <c:pt idx="7">
                  <c:v>Aug</c:v>
                </c:pt>
              </c:strCache>
            </c:strRef>
          </c:cat>
          <c:val>
            <c:numRef>
              <c:f>Sheet1!$B$2:$B$9</c:f>
              <c:numCache>
                <c:formatCode>General</c:formatCode>
                <c:ptCount val="8"/>
                <c:pt idx="0">
                  <c:v>100</c:v>
                </c:pt>
                <c:pt idx="1">
                  <c:v>108</c:v>
                </c:pt>
                <c:pt idx="2">
                  <c:v>115</c:v>
                </c:pt>
                <c:pt idx="3">
                  <c:v>121</c:v>
                </c:pt>
                <c:pt idx="4">
                  <c:v>129</c:v>
                </c:pt>
                <c:pt idx="5">
                  <c:v>134</c:v>
                </c:pt>
                <c:pt idx="6">
                  <c:v>141</c:v>
                </c:pt>
                <c:pt idx="7">
                  <c:v>148</c:v>
                </c:pt>
              </c:numCache>
            </c:numRef>
          </c:val>
          <c:smooth val="0"/>
        </c:ser>
        <c:ser>
          <c:idx val="1"/>
          <c:order val="1"/>
          <c:tx>
            <c:strRef>
              <c:f>Sheet1!$C$1</c:f>
              <c:strCache>
                <c:ptCount val="1"/>
                <c:pt idx="0">
                  <c:v>Margin index</c:v>
                </c:pt>
              </c:strCache>
            </c:strRef>
          </c:tx>
          <c:spPr>
            <a:ln w="31750">
              <a:solidFill>
                <a:srgbClr val="10B981"/>
              </a:solidFill>
            </a:ln>
          </c:spPr>
          <c:marker>
            <c:spPr>
              <a:solidFill>
                <a:srgbClr val="10B981"/>
              </a:solidFill>
              <a:ln>
                <a:solidFill>
                  <a:srgbClr val="10B981"/>
                </a:solidFill>
              </a:ln>
            </c:spPr>
          </c:marker>
          <c:cat>
            <c:strRef>
              <c:f>Sheet1!$A$2:$A$9</c:f>
              <c:strCache>
                <c:ptCount val="8"/>
                <c:pt idx="0">
                  <c:v>Jan</c:v>
                </c:pt>
                <c:pt idx="1">
                  <c:v>Feb</c:v>
                </c:pt>
                <c:pt idx="2">
                  <c:v>Mar</c:v>
                </c:pt>
                <c:pt idx="3">
                  <c:v>Apr</c:v>
                </c:pt>
                <c:pt idx="4">
                  <c:v>May</c:v>
                </c:pt>
                <c:pt idx="5">
                  <c:v>Jun</c:v>
                </c:pt>
                <c:pt idx="6">
                  <c:v>Jul</c:v>
                </c:pt>
                <c:pt idx="7">
                  <c:v>Aug</c:v>
                </c:pt>
              </c:strCache>
            </c:strRef>
          </c:cat>
          <c:val>
            <c:numRef>
              <c:f>Sheet1!$C$2:$C$9</c:f>
              <c:numCache>
                <c:formatCode>General</c:formatCode>
                <c:ptCount val="8"/>
                <c:pt idx="0">
                  <c:v>100</c:v>
                </c:pt>
                <c:pt idx="1">
                  <c:v>99</c:v>
                </c:pt>
                <c:pt idx="2">
                  <c:v>97</c:v>
                </c:pt>
                <c:pt idx="3">
                  <c:v>95</c:v>
                </c:pt>
                <c:pt idx="4">
                  <c:v>92</c:v>
                </c:pt>
                <c:pt idx="5">
                  <c:v>90</c:v>
                </c:pt>
                <c:pt idx="6">
                  <c:v>88</c:v>
                </c:pt>
                <c:pt idx="7">
                  <c:v>85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E2E8F0"/>
            </a:solidFill>
          </a:ln>
        </c:spPr>
        <c:txPr>
          <a:bodyPr/>
          <a:lstStyle/>
          <a:p>
            <a:pPr>
              <a:defRPr sz="1000">
                <a:solidFill>
                  <a:srgbClr val="5B6372"/>
                </a:solidFill>
                <a:latin typeface="Arial"/>
              </a:defRPr>
            </a:pPr>
          </a:p>
        </c:txPr>
        <c:crossAx val="2140495176"/>
        <c:crosses val="autoZero"/>
        <c:auto val="1"/>
        <c:lblAlgn val="ctr"/>
        <c:lblOffset val="100"/>
        <c:noMultiLvlLbl val="0"/>
      </c:catAx>
      <c:valAx>
        <c:axId val="2140495176"/>
        <c:scaling/>
        <c:delete val="0"/>
        <c:axPos val="l"/>
        <c:majorGridlines>
          <c:spPr>
            <a:ln w="9525">
              <a:solidFill>
                <a:srgbClr val="E2E8F0"/>
              </a:solidFill>
            </a:ln>
          </c:spPr>
        </c:majorGridlines>
        <c:majorTickMark val="out"/>
        <c:minorTickMark val="none"/>
        <c:tickLblPos val="nextTo"/>
        <c:spPr>
          <a:ln>
            <a:noFill/>
          </a:ln>
        </c:spPr>
        <c:txPr>
          <a:bodyPr/>
          <a:lstStyle/>
          <a:p>
            <a:pPr>
              <a:defRPr sz="1000">
                <a:solidFill>
                  <a:srgbClr val="5B6372"/>
                </a:solidFill>
                <a:latin typeface="Arial"/>
              </a:defRPr>
            </a:pPr>
          </a:p>
        </c:txPr>
        <c:crossAx val="2118791784"/>
        <c:crosses val="autoZero"/>
      </c:valAx>
    </c:plotArea>
    <c:legend>
      <c:legendPos val="b"/>
      <c:layout/>
      <c:overlay val="0"/>
      <c:txPr>
        <a:bodyPr/>
        <a:lstStyle/>
        <a:p>
          <a:pPr>
            <a:defRPr sz="1000"/>
          </a:pPr>
        </a:p>
      </c:txPr>
    </c:legend>
    <c:plotVisOnly val="1"/>
    <c:dispBlanksAs val="gap"/>
    <c:showDLblsOverMax val="0"/>
  </c:chart>
  <c:txPr>
    <a:bodyPr/>
    <a:lstStyle/>
    <a:p>
      <a:pPr>
        <a:defRPr sz="1100">
          <a:latin typeface="Aria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varyColors val="0"/>
        <c:ser>
          <c:idx val="0"/>
          <c:order val="0"/>
          <c:tx>
            <c:strRef>
              <c:f>Sheet1!$B$1</c:f>
              <c:strCache>
                <c:ptCount val="1"/>
                <c:pt idx="0">
                  <c:v>Revenue vs target (%)</c:v>
                </c:pt>
              </c:strCache>
            </c:strRef>
          </c:tx>
          <c:spPr>
            <a:solidFill>
              <a:srgbClr val="1F6FEB"/>
            </a:solidFill>
            <a:ln>
              <a:noFill/>
            </a:ln>
          </c:spPr>
          <c:cat>
            <c:strRef>
              <c:f>Sheet1!$A$2:$A$5</c:f>
              <c:strCache>
                <c:ptCount val="4"/>
                <c:pt idx="0">
                  <c:v>North</c:v>
                </c:pt>
                <c:pt idx="1">
                  <c:v>East</c:v>
                </c:pt>
                <c:pt idx="2">
                  <c:v>South</c:v>
                </c:pt>
                <c:pt idx="3">
                  <c:v>West</c:v>
                </c:pt>
              </c:strCache>
            </c:strRef>
          </c:cat>
          <c:val>
            <c:numRef>
              <c:f>Sheet1!$B$2:$B$5</c:f>
              <c:numCache>
                <c:formatCode>General</c:formatCode>
                <c:ptCount val="4"/>
                <c:pt idx="0">
                  <c:v>112</c:v>
                </c:pt>
                <c:pt idx="1">
                  <c:v>104</c:v>
                </c:pt>
                <c:pt idx="2">
                  <c:v>86</c:v>
                </c:pt>
                <c:pt idx="3">
                  <c:v>71</c:v>
                </c:pt>
              </c:numCache>
            </c:numRef>
          </c:val>
        </c:ser>
        <c:axId val="-2068027336"/>
        <c:axId val="-2113994440"/>
      </c:barChart>
      <c:catAx>
        <c:axId val="-2068027336"/>
        <c:scaling>
          <c:orientation val="minMax"/>
        </c:scaling>
        <c:delete val="0"/>
        <c:axPos val="l"/>
        <c:majorTickMark val="out"/>
        <c:minorTickMark val="none"/>
        <c:tickLblPos val="nextTo"/>
        <c:spPr>
          <a:ln>
            <a:solidFill>
              <a:srgbClr val="E2E8F0"/>
            </a:solidFill>
          </a:ln>
        </c:spPr>
        <c:txPr>
          <a:bodyPr/>
          <a:lstStyle/>
          <a:p>
            <a:pPr>
              <a:defRPr sz="1000">
                <a:solidFill>
                  <a:srgbClr val="5B6372"/>
                </a:solidFill>
                <a:latin typeface="Arial"/>
              </a:defRPr>
            </a:pPr>
          </a:p>
        </c:txPr>
        <c:crossAx val="-2113994440"/>
        <c:crosses val="autoZero"/>
        <c:auto val="1"/>
        <c:lblAlgn val="ctr"/>
        <c:lblOffset val="100"/>
        <c:noMultiLvlLbl val="0"/>
      </c:catAx>
      <c:valAx>
        <c:axId val="-2113994440"/>
        <c:scaling/>
        <c:delete val="0"/>
        <c:axPos val="b"/>
        <c:majorGridlines>
          <c:spPr>
            <a:ln w="9525">
              <a:solidFill>
                <a:srgbClr val="E2E8F0"/>
              </a:solidFill>
            </a:ln>
          </c:spPr>
        </c:majorGridlines>
        <c:majorTickMark val="out"/>
        <c:minorTickMark val="none"/>
        <c:tickLblPos val="nextTo"/>
        <c:spPr>
          <a:ln>
            <a:noFill/>
          </a:ln>
        </c:spPr>
        <c:txPr>
          <a:bodyPr/>
          <a:lstStyle/>
          <a:p>
            <a:pPr>
              <a:defRPr sz="1000">
                <a:solidFill>
                  <a:srgbClr val="5B6372"/>
                </a:solidFill>
                <a:latin typeface="Arial"/>
              </a:defRPr>
            </a:pPr>
          </a:p>
        </c:txPr>
        <c:crossAx val="-2068027336"/>
        <c:crosses val="autoZero"/>
      </c:valAx>
    </c:plotArea>
    <c:dispBlanksAs val="gap"/>
  </c:chart>
  <c:txPr>
    <a:bodyPr/>
    <a:lstStyle/>
    <a:p>
      <a:pPr>
        <a:defRPr sz="1100">
          <a:latin typeface="Arial"/>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Downside</c:v>
                </c:pt>
              </c:strCache>
            </c:strRef>
          </c:tx>
          <c:spPr>
            <a:ln w="31750">
              <a:solidFill>
                <a:srgbClr val="1F6FEB"/>
              </a:solidFill>
            </a:ln>
          </c:spPr>
          <c:marker>
            <c:spPr>
              <a:solidFill>
                <a:srgbClr val="1F6FEB"/>
              </a:solidFill>
              <a:ln>
                <a:solidFill>
                  <a:srgbClr val="1F6FEB"/>
                </a:solidFill>
              </a:ln>
            </c:spPr>
          </c:marker>
          <c:cat>
            <c:strRef>
              <c:f>Sheet1!$A$2:$A$7</c:f>
              <c:strCache>
                <c:ptCount val="6"/>
                <c:pt idx="0">
                  <c:v>M1</c:v>
                </c:pt>
                <c:pt idx="1">
                  <c:v>M2</c:v>
                </c:pt>
                <c:pt idx="2">
                  <c:v>M3</c:v>
                </c:pt>
                <c:pt idx="3">
                  <c:v>M4</c:v>
                </c:pt>
                <c:pt idx="4">
                  <c:v>M5</c:v>
                </c:pt>
                <c:pt idx="5">
                  <c:v>M6</c:v>
                </c:pt>
              </c:strCache>
            </c:strRef>
          </c:cat>
          <c:val>
            <c:numRef>
              <c:f>Sheet1!$B$2:$B$7</c:f>
              <c:numCache>
                <c:formatCode>General</c:formatCode>
                <c:ptCount val="6"/>
                <c:pt idx="0">
                  <c:v>128</c:v>
                </c:pt>
                <c:pt idx="1">
                  <c:v>131</c:v>
                </c:pt>
                <c:pt idx="2">
                  <c:v>133</c:v>
                </c:pt>
                <c:pt idx="3">
                  <c:v>136</c:v>
                </c:pt>
                <c:pt idx="4">
                  <c:v>138</c:v>
                </c:pt>
                <c:pt idx="5">
                  <c:v>141</c:v>
                </c:pt>
              </c:numCache>
            </c:numRef>
          </c:val>
          <c:smooth val="0"/>
        </c:ser>
        <c:ser>
          <c:idx val="1"/>
          <c:order val="1"/>
          <c:tx>
            <c:strRef>
              <c:f>Sheet1!$C$1</c:f>
              <c:strCache>
                <c:ptCount val="1"/>
                <c:pt idx="0">
                  <c:v>Base</c:v>
                </c:pt>
              </c:strCache>
            </c:strRef>
          </c:tx>
          <c:spPr>
            <a:ln w="31750">
              <a:solidFill>
                <a:srgbClr val="10B981"/>
              </a:solidFill>
            </a:ln>
          </c:spPr>
          <c:marker>
            <c:spPr>
              <a:solidFill>
                <a:srgbClr val="10B981"/>
              </a:solidFill>
              <a:ln>
                <a:solidFill>
                  <a:srgbClr val="10B981"/>
                </a:solidFill>
              </a:ln>
            </c:spPr>
          </c:marker>
          <c:cat>
            <c:strRef>
              <c:f>Sheet1!$A$2:$A$7</c:f>
              <c:strCache>
                <c:ptCount val="6"/>
                <c:pt idx="0">
                  <c:v>M1</c:v>
                </c:pt>
                <c:pt idx="1">
                  <c:v>M2</c:v>
                </c:pt>
                <c:pt idx="2">
                  <c:v>M3</c:v>
                </c:pt>
                <c:pt idx="3">
                  <c:v>M4</c:v>
                </c:pt>
                <c:pt idx="4">
                  <c:v>M5</c:v>
                </c:pt>
                <c:pt idx="5">
                  <c:v>M6</c:v>
                </c:pt>
              </c:strCache>
            </c:strRef>
          </c:cat>
          <c:val>
            <c:numRef>
              <c:f>Sheet1!$C$2:$C$7</c:f>
              <c:numCache>
                <c:formatCode>General</c:formatCode>
                <c:ptCount val="6"/>
                <c:pt idx="0">
                  <c:v>142</c:v>
                </c:pt>
                <c:pt idx="1">
                  <c:v>150</c:v>
                </c:pt>
                <c:pt idx="2">
                  <c:v>158</c:v>
                </c:pt>
                <c:pt idx="3">
                  <c:v>166</c:v>
                </c:pt>
                <c:pt idx="4">
                  <c:v>175</c:v>
                </c:pt>
                <c:pt idx="5">
                  <c:v>184</c:v>
                </c:pt>
              </c:numCache>
            </c:numRef>
          </c:val>
          <c:smooth val="0"/>
        </c:ser>
        <c:ser>
          <c:idx val="2"/>
          <c:order val="2"/>
          <c:tx>
            <c:strRef>
              <c:f>Sheet1!$D$1</c:f>
              <c:strCache>
                <c:ptCount val="1"/>
                <c:pt idx="0">
                  <c:v>Upside</c:v>
                </c:pt>
              </c:strCache>
            </c:strRef>
          </c:tx>
          <c:spPr>
            <a:ln w="31750">
              <a:solidFill>
                <a:srgbClr val="7C3AED"/>
              </a:solidFill>
            </a:ln>
          </c:spPr>
          <c:marker>
            <c:spPr>
              <a:solidFill>
                <a:srgbClr val="7C3AED"/>
              </a:solidFill>
              <a:ln>
                <a:solidFill>
                  <a:srgbClr val="7C3AED"/>
                </a:solidFill>
              </a:ln>
            </c:spPr>
          </c:marker>
          <c:cat>
            <c:strRef>
              <c:f>Sheet1!$A$2:$A$7</c:f>
              <c:strCache>
                <c:ptCount val="6"/>
                <c:pt idx="0">
                  <c:v>M1</c:v>
                </c:pt>
                <c:pt idx="1">
                  <c:v>M2</c:v>
                </c:pt>
                <c:pt idx="2">
                  <c:v>M3</c:v>
                </c:pt>
                <c:pt idx="3">
                  <c:v>M4</c:v>
                </c:pt>
                <c:pt idx="4">
                  <c:v>M5</c:v>
                </c:pt>
                <c:pt idx="5">
                  <c:v>M6</c:v>
                </c:pt>
              </c:strCache>
            </c:strRef>
          </c:cat>
          <c:val>
            <c:numRef>
              <c:f>Sheet1!$D$2:$D$7</c:f>
              <c:numCache>
                <c:formatCode>General</c:formatCode>
                <c:ptCount val="6"/>
                <c:pt idx="0">
                  <c:v>155</c:v>
                </c:pt>
                <c:pt idx="1">
                  <c:v>168</c:v>
                </c:pt>
                <c:pt idx="2">
                  <c:v>182</c:v>
                </c:pt>
                <c:pt idx="3">
                  <c:v>197</c:v>
                </c:pt>
                <c:pt idx="4">
                  <c:v>213</c:v>
                </c:pt>
                <c:pt idx="5">
                  <c:v>230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E2E8F0"/>
            </a:solidFill>
          </a:ln>
        </c:spPr>
        <c:txPr>
          <a:bodyPr/>
          <a:lstStyle/>
          <a:p>
            <a:pPr>
              <a:defRPr sz="1000">
                <a:solidFill>
                  <a:srgbClr val="5B6372"/>
                </a:solidFill>
                <a:latin typeface="Arial"/>
              </a:defRPr>
            </a:pPr>
          </a:p>
        </c:txPr>
        <c:crossAx val="2140495176"/>
        <c:crosses val="autoZero"/>
        <c:auto val="1"/>
        <c:lblAlgn val="ctr"/>
        <c:lblOffset val="100"/>
        <c:noMultiLvlLbl val="0"/>
      </c:catAx>
      <c:valAx>
        <c:axId val="2140495176"/>
        <c:scaling/>
        <c:delete val="0"/>
        <c:axPos val="l"/>
        <c:majorGridlines>
          <c:spPr>
            <a:ln w="9525">
              <a:solidFill>
                <a:srgbClr val="E2E8F0"/>
              </a:solidFill>
            </a:ln>
          </c:spPr>
        </c:majorGridlines>
        <c:majorTickMark val="out"/>
        <c:minorTickMark val="none"/>
        <c:tickLblPos val="nextTo"/>
        <c:spPr>
          <a:ln>
            <a:noFill/>
          </a:ln>
        </c:spPr>
        <c:txPr>
          <a:bodyPr/>
          <a:lstStyle/>
          <a:p>
            <a:pPr>
              <a:defRPr sz="1000">
                <a:solidFill>
                  <a:srgbClr val="5B6372"/>
                </a:solidFill>
                <a:latin typeface="Arial"/>
              </a:defRPr>
            </a:pPr>
          </a:p>
        </c:txPr>
        <c:crossAx val="2118791784"/>
        <c:crosses val="autoZero"/>
      </c:valAx>
    </c:plotArea>
    <c:legend>
      <c:legendPos val="b"/>
      <c:layout/>
      <c:overlay val="0"/>
      <c:txPr>
        <a:bodyPr/>
        <a:lstStyle/>
        <a:p>
          <a:pPr>
            <a:defRPr sz="1000"/>
          </a:pPr>
        </a:p>
      </c:txPr>
    </c:legend>
    <c:plotVisOnly val="1"/>
    <c:dispBlanksAs val="gap"/>
    <c:showDLblsOverMax val="0"/>
  </c:chart>
  <c:txPr>
    <a:bodyPr/>
    <a:lstStyle/>
    <a:p>
      <a:pPr>
        <a:defRPr sz="1100">
          <a:latin typeface="Arial"/>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varyColors val="0"/>
        <c:ser>
          <c:idx val="0"/>
          <c:order val="0"/>
          <c:tx>
            <c:strRef>
              <c:f>Sheet1!$B$1</c:f>
              <c:strCache>
                <c:ptCount val="1"/>
                <c:pt idx="0">
                  <c:v>Impressions index</c:v>
                </c:pt>
              </c:strCache>
            </c:strRef>
          </c:tx>
          <c:spPr>
            <a:solidFill>
              <a:srgbClr val="1F6FEB"/>
            </a:solidFill>
            <a:ln>
              <a:noFill/>
            </a:ln>
          </c:spPr>
          <c:cat>
            <c:strRef>
              <c:f>Sheet1!$A$2:$A$4</c:f>
              <c:strCache>
                <c:ptCount val="3"/>
                <c:pt idx="0">
                  <c:v>Web</c:v>
                </c:pt>
                <c:pt idx="1">
                  <c:v>Retail</c:v>
                </c:pt>
                <c:pt idx="2">
                  <c:v>Partner</c:v>
                </c:pt>
              </c:strCache>
            </c:strRef>
          </c:cat>
          <c:val>
            <c:numRef>
              <c:f>Sheet1!$B$2:$B$4</c:f>
              <c:numCache>
                <c:formatCode>General</c:formatCode>
                <c:ptCount val="3"/>
                <c:pt idx="0">
                  <c:v>100</c:v>
                </c:pt>
                <c:pt idx="1">
                  <c:v>63</c:v>
                </c:pt>
                <c:pt idx="2">
                  <c:v>46</c:v>
                </c:pt>
              </c:numCache>
            </c:numRef>
          </c:val>
        </c:ser>
        <c:ser>
          <c:idx val="1"/>
          <c:order val="1"/>
          <c:tx>
            <c:strRef>
              <c:f>Sheet1!$C$1</c:f>
              <c:strCache>
                <c:ptCount val="1"/>
                <c:pt idx="0">
                  <c:v>Conversion index</c:v>
                </c:pt>
              </c:strCache>
            </c:strRef>
          </c:tx>
          <c:spPr>
            <a:solidFill>
              <a:srgbClr val="10B981"/>
            </a:solidFill>
            <a:ln>
              <a:noFill/>
            </a:ln>
          </c:spPr>
          <c:cat>
            <c:strRef>
              <c:f>Sheet1!$A$2:$A$4</c:f>
              <c:strCache>
                <c:ptCount val="3"/>
                <c:pt idx="0">
                  <c:v>Web</c:v>
                </c:pt>
                <c:pt idx="1">
                  <c:v>Retail</c:v>
                </c:pt>
                <c:pt idx="2">
                  <c:v>Partner</c:v>
                </c:pt>
              </c:strCache>
            </c:strRef>
          </c:cat>
          <c:val>
            <c:numRef>
              <c:f>Sheet1!$C$2:$C$4</c:f>
              <c:numCache>
                <c:formatCode>General</c:formatCode>
                <c:ptCount val="3"/>
                <c:pt idx="0">
                  <c:v>100</c:v>
                </c:pt>
                <c:pt idx="1">
                  <c:v>142</c:v>
                </c:pt>
                <c:pt idx="2">
                  <c:v>71</c:v>
                </c:pt>
              </c:numCache>
            </c:numRef>
          </c:val>
        </c:ser>
        <c:axId val="-2068027336"/>
        <c:axId val="-2113994440"/>
      </c:barChart>
      <c:catAx>
        <c:axId val="-2068027336"/>
        <c:scaling>
          <c:orientation val="minMax"/>
        </c:scaling>
        <c:delete val="0"/>
        <c:axPos val="b"/>
        <c:majorTickMark val="out"/>
        <c:minorTickMark val="none"/>
        <c:tickLblPos val="nextTo"/>
        <c:spPr>
          <a:ln>
            <a:solidFill>
              <a:srgbClr val="E2E8F0"/>
            </a:solidFill>
          </a:ln>
        </c:spPr>
        <c:txPr>
          <a:bodyPr/>
          <a:lstStyle/>
          <a:p>
            <a:pPr>
              <a:defRPr sz="1000">
                <a:solidFill>
                  <a:srgbClr val="5B6372"/>
                </a:solidFill>
                <a:latin typeface="Arial"/>
              </a:defRPr>
            </a:pPr>
          </a:p>
        </c:txPr>
        <c:crossAx val="-2113994440"/>
        <c:crosses val="autoZero"/>
        <c:auto val="1"/>
        <c:lblAlgn val="ctr"/>
        <c:lblOffset val="100"/>
        <c:noMultiLvlLbl val="0"/>
      </c:catAx>
      <c:valAx>
        <c:axId val="-2113994440"/>
        <c:scaling/>
        <c:delete val="0"/>
        <c:axPos val="l"/>
        <c:majorGridlines>
          <c:spPr>
            <a:ln w="9525">
              <a:solidFill>
                <a:srgbClr val="E2E8F0"/>
              </a:solidFill>
            </a:ln>
          </c:spPr>
        </c:majorGridlines>
        <c:majorTickMark val="out"/>
        <c:minorTickMark val="none"/>
        <c:tickLblPos val="nextTo"/>
        <c:spPr>
          <a:ln>
            <a:noFill/>
          </a:ln>
        </c:spPr>
        <c:txPr>
          <a:bodyPr/>
          <a:lstStyle/>
          <a:p>
            <a:pPr>
              <a:defRPr sz="1000">
                <a:solidFill>
                  <a:srgbClr val="5B6372"/>
                </a:solidFill>
                <a:latin typeface="Arial"/>
              </a:defRPr>
            </a:pPr>
          </a:p>
        </c:txPr>
        <c:crossAx val="-2068027336"/>
        <c:crosses val="autoZero"/>
      </c:valAx>
    </c:plotArea>
    <c:legend>
      <c:legendPos val="b"/>
      <c:overlay val="0"/>
      <c:txPr>
        <a:bodyPr/>
        <a:lstStyle/>
        <a:p>
          <a:pPr>
            <a:defRPr sz="1000"/>
          </a:pPr>
        </a:p>
      </c:txPr>
    </c:legend>
    <c:dispBlanksAs val="gap"/>
  </c:chart>
  <c:txPr>
    <a:bodyPr/>
    <a:lstStyle/>
    <a:p>
      <a:pPr>
        <a:defRPr sz="1100">
          <a:latin typeface="Arial"/>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varyColors val="0"/>
        <c:ser>
          <c:idx val="0"/>
          <c:order val="0"/>
          <c:tx>
            <c:strRef>
              <c:f>Sheet1!$B$1</c:f>
              <c:strCache>
                <c:ptCount val="1"/>
                <c:pt idx="0">
                  <c:v>Hours per month</c:v>
                </c:pt>
              </c:strCache>
            </c:strRef>
          </c:tx>
          <c:spPr>
            <a:solidFill>
              <a:srgbClr val="1F6FEB"/>
            </a:solidFill>
            <a:ln>
              <a:noFill/>
            </a:ln>
          </c:spPr>
          <c:cat>
            <c:strRef>
              <c:f>Sheet1!$A$2:$A$6</c:f>
              <c:strCache>
                <c:ptCount val="5"/>
                <c:pt idx="0">
                  <c:v>Re-typing data</c:v>
                </c:pt>
                <c:pt idx="1">
                  <c:v>Chasing approvals</c:v>
                </c:pt>
                <c:pt idx="2">
                  <c:v>Sending confirmations</c:v>
                </c:pt>
                <c:pt idx="3">
                  <c:v>Compiling reports</c:v>
                </c:pt>
                <c:pt idx="4">
                  <c:v>Filing records</c:v>
                </c:pt>
              </c:strCache>
            </c:strRef>
          </c:cat>
          <c:val>
            <c:numRef>
              <c:f>Sheet1!$B$2:$B$6</c:f>
              <c:numCache>
                <c:formatCode>General</c:formatCode>
                <c:ptCount val="5"/>
                <c:pt idx="0">
                  <c:v>26</c:v>
                </c:pt>
                <c:pt idx="1">
                  <c:v>17</c:v>
                </c:pt>
                <c:pt idx="2">
                  <c:v>14</c:v>
                </c:pt>
                <c:pt idx="3">
                  <c:v>11</c:v>
                </c:pt>
                <c:pt idx="4">
                  <c:v>8</c:v>
                </c:pt>
              </c:numCache>
            </c:numRef>
          </c:val>
        </c:ser>
        <c:axId val="-2068027336"/>
        <c:axId val="-2113994440"/>
      </c:barChart>
      <c:catAx>
        <c:axId val="-2068027336"/>
        <c:scaling>
          <c:orientation val="minMax"/>
        </c:scaling>
        <c:delete val="0"/>
        <c:axPos val="l"/>
        <c:majorTickMark val="out"/>
        <c:minorTickMark val="none"/>
        <c:tickLblPos val="nextTo"/>
        <c:spPr>
          <a:ln>
            <a:solidFill>
              <a:srgbClr val="E2E8F0"/>
            </a:solidFill>
          </a:ln>
        </c:spPr>
        <c:txPr>
          <a:bodyPr/>
          <a:lstStyle/>
          <a:p>
            <a:pPr>
              <a:defRPr sz="1000">
                <a:solidFill>
                  <a:srgbClr val="5B6372"/>
                </a:solidFill>
                <a:latin typeface="Arial"/>
              </a:defRPr>
            </a:pPr>
          </a:p>
        </c:txPr>
        <c:crossAx val="-2113994440"/>
        <c:crosses val="autoZero"/>
        <c:auto val="1"/>
        <c:lblAlgn val="ctr"/>
        <c:lblOffset val="100"/>
        <c:noMultiLvlLbl val="0"/>
      </c:catAx>
      <c:valAx>
        <c:axId val="-2113994440"/>
        <c:scaling/>
        <c:delete val="0"/>
        <c:axPos val="b"/>
        <c:majorGridlines>
          <c:spPr>
            <a:ln w="9525">
              <a:solidFill>
                <a:srgbClr val="E2E8F0"/>
              </a:solidFill>
            </a:ln>
          </c:spPr>
        </c:majorGridlines>
        <c:majorTickMark val="out"/>
        <c:minorTickMark val="none"/>
        <c:tickLblPos val="nextTo"/>
        <c:spPr>
          <a:ln>
            <a:noFill/>
          </a:ln>
        </c:spPr>
        <c:txPr>
          <a:bodyPr/>
          <a:lstStyle/>
          <a:p>
            <a:pPr>
              <a:defRPr sz="1000">
                <a:solidFill>
                  <a:srgbClr val="5B6372"/>
                </a:solidFill>
                <a:latin typeface="Arial"/>
              </a:defRPr>
            </a:pPr>
          </a:p>
        </c:txPr>
        <c:crossAx val="-2068027336"/>
        <c:crosses val="autoZero"/>
      </c:valAx>
    </c:plotArea>
    <c:dispBlanksAs val="gap"/>
  </c:chart>
  <c:txPr>
    <a:bodyPr/>
    <a:lstStyle/>
    <a:p>
      <a:pPr>
        <a:defRPr sz="1100">
          <a:latin typeface="Arial"/>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varyColors val="0"/>
        <c:ser>
          <c:idx val="0"/>
          <c:order val="0"/>
          <c:tx>
            <c:strRef>
              <c:f>Sheet1!$B$1</c:f>
              <c:strCache>
                <c:ptCount val="1"/>
                <c:pt idx="0">
                  <c:v>Share of failures (%)</c:v>
                </c:pt>
              </c:strCache>
            </c:strRef>
          </c:tx>
          <c:spPr>
            <a:solidFill>
              <a:srgbClr val="1F6FEB"/>
            </a:solidFill>
            <a:ln>
              <a:noFill/>
            </a:ln>
          </c:spPr>
          <c:cat>
            <c:strRef>
              <c:f>Sheet1!$A$2:$A$6</c:f>
              <c:strCache>
                <c:ptCount val="5"/>
                <c:pt idx="0">
                  <c:v>Answers out of scope</c:v>
                </c:pt>
                <c:pt idx="1">
                  <c:v>Invents a fact</c:v>
                </c:pt>
                <c:pt idx="2">
                  <c:v>Wrong tool called</c:v>
                </c:pt>
                <c:pt idx="3">
                  <c:v>Fails to cite</c:v>
                </c:pt>
                <c:pt idx="4">
                  <c:v>Tool not called</c:v>
                </c:pt>
              </c:strCache>
            </c:strRef>
          </c:cat>
          <c:val>
            <c:numRef>
              <c:f>Sheet1!$B$2:$B$6</c:f>
              <c:numCache>
                <c:formatCode>General</c:formatCode>
                <c:ptCount val="5"/>
                <c:pt idx="0">
                  <c:v>31</c:v>
                </c:pt>
                <c:pt idx="1">
                  <c:v>24</c:v>
                </c:pt>
                <c:pt idx="2">
                  <c:v>18</c:v>
                </c:pt>
                <c:pt idx="3">
                  <c:v>15</c:v>
                </c:pt>
                <c:pt idx="4">
                  <c:v>12</c:v>
                </c:pt>
              </c:numCache>
            </c:numRef>
          </c:val>
        </c:ser>
        <c:axId val="-2068027336"/>
        <c:axId val="-2113994440"/>
      </c:barChart>
      <c:catAx>
        <c:axId val="-2068027336"/>
        <c:scaling>
          <c:orientation val="minMax"/>
        </c:scaling>
        <c:delete val="0"/>
        <c:axPos val="l"/>
        <c:majorTickMark val="out"/>
        <c:minorTickMark val="none"/>
        <c:tickLblPos val="nextTo"/>
        <c:spPr>
          <a:ln>
            <a:solidFill>
              <a:srgbClr val="E2E8F0"/>
            </a:solidFill>
          </a:ln>
        </c:spPr>
        <c:txPr>
          <a:bodyPr/>
          <a:lstStyle/>
          <a:p>
            <a:pPr>
              <a:defRPr sz="1000">
                <a:solidFill>
                  <a:srgbClr val="5B6372"/>
                </a:solidFill>
                <a:latin typeface="Arial"/>
              </a:defRPr>
            </a:pPr>
          </a:p>
        </c:txPr>
        <c:crossAx val="-2113994440"/>
        <c:crosses val="autoZero"/>
        <c:auto val="1"/>
        <c:lblAlgn val="ctr"/>
        <c:lblOffset val="100"/>
        <c:noMultiLvlLbl val="0"/>
      </c:catAx>
      <c:valAx>
        <c:axId val="-2113994440"/>
        <c:scaling/>
        <c:delete val="0"/>
        <c:axPos val="b"/>
        <c:majorGridlines>
          <c:spPr>
            <a:ln w="9525">
              <a:solidFill>
                <a:srgbClr val="E2E8F0"/>
              </a:solidFill>
            </a:ln>
          </c:spPr>
        </c:majorGridlines>
        <c:majorTickMark val="out"/>
        <c:minorTickMark val="none"/>
        <c:tickLblPos val="nextTo"/>
        <c:spPr>
          <a:ln>
            <a:noFill/>
          </a:ln>
        </c:spPr>
        <c:txPr>
          <a:bodyPr/>
          <a:lstStyle/>
          <a:p>
            <a:pPr>
              <a:defRPr sz="1000">
                <a:solidFill>
                  <a:srgbClr val="5B6372"/>
                </a:solidFill>
                <a:latin typeface="Arial"/>
              </a:defRPr>
            </a:pPr>
          </a:p>
        </c:txPr>
        <c:crossAx val="-2068027336"/>
        <c:crosses val="autoZero"/>
      </c:valAx>
    </c:plotArea>
    <c:dispBlanksAs val="gap"/>
  </c:chart>
  <c:txPr>
    <a:bodyPr/>
    <a:lstStyle/>
    <a:p>
      <a:pPr>
        <a:defRPr sz="1100">
          <a:latin typeface="Arial"/>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varyColors val="0"/>
        <c:ser>
          <c:idx val="0"/>
          <c:order val="0"/>
          <c:tx>
            <c:strRef>
              <c:f>Sheet1!$B$1</c:f>
              <c:strCache>
                <c:ptCount val="1"/>
                <c:pt idx="0">
                  <c:v>Hours per month saved</c:v>
                </c:pt>
              </c:strCache>
            </c:strRef>
          </c:tx>
          <c:spPr>
            <a:solidFill>
              <a:srgbClr val="1F6FEB"/>
            </a:solidFill>
            <a:ln>
              <a:noFill/>
            </a:ln>
          </c:spPr>
          <c:cat>
            <c:strRef>
              <c:f>Sheet1!$A$2:$A$6</c:f>
              <c:strCache>
                <c:ptCount val="5"/>
                <c:pt idx="0">
                  <c:v>Enquiry handling</c:v>
                </c:pt>
                <c:pt idx="1">
                  <c:v>Data entry</c:v>
                </c:pt>
                <c:pt idx="2">
                  <c:v>Approvals chasing</c:v>
                </c:pt>
                <c:pt idx="3">
                  <c:v>Reporting</c:v>
                </c:pt>
                <c:pt idx="4">
                  <c:v>Follow-ups</c:v>
                </c:pt>
              </c:strCache>
            </c:strRef>
          </c:cat>
          <c:val>
            <c:numRef>
              <c:f>Sheet1!$B$2:$B$6</c:f>
              <c:numCache>
                <c:formatCode>General</c:formatCode>
                <c:ptCount val="5"/>
                <c:pt idx="0">
                  <c:v>18</c:v>
                </c:pt>
                <c:pt idx="1">
                  <c:v>24</c:v>
                </c:pt>
                <c:pt idx="2">
                  <c:v>11</c:v>
                </c:pt>
                <c:pt idx="3">
                  <c:v>9</c:v>
                </c:pt>
                <c:pt idx="4">
                  <c:v>14</c:v>
                </c:pt>
              </c:numCache>
            </c:numRef>
          </c:val>
        </c:ser>
        <c:axId val="-2068027336"/>
        <c:axId val="-2113994440"/>
      </c:barChart>
      <c:catAx>
        <c:axId val="-2068027336"/>
        <c:scaling>
          <c:orientation val="minMax"/>
        </c:scaling>
        <c:delete val="0"/>
        <c:axPos val="b"/>
        <c:majorTickMark val="out"/>
        <c:minorTickMark val="none"/>
        <c:tickLblPos val="nextTo"/>
        <c:spPr>
          <a:ln>
            <a:solidFill>
              <a:srgbClr val="E2E8F0"/>
            </a:solidFill>
          </a:ln>
        </c:spPr>
        <c:txPr>
          <a:bodyPr/>
          <a:lstStyle/>
          <a:p>
            <a:pPr>
              <a:defRPr sz="1000">
                <a:solidFill>
                  <a:srgbClr val="5B6372"/>
                </a:solidFill>
                <a:latin typeface="Arial"/>
              </a:defRPr>
            </a:pPr>
          </a:p>
        </c:txPr>
        <c:crossAx val="-2113994440"/>
        <c:crosses val="autoZero"/>
        <c:auto val="1"/>
        <c:lblAlgn val="ctr"/>
        <c:lblOffset val="100"/>
        <c:noMultiLvlLbl val="0"/>
      </c:catAx>
      <c:valAx>
        <c:axId val="-2113994440"/>
        <c:scaling/>
        <c:delete val="0"/>
        <c:axPos val="l"/>
        <c:majorGridlines>
          <c:spPr>
            <a:ln w="9525">
              <a:solidFill>
                <a:srgbClr val="E2E8F0"/>
              </a:solidFill>
            </a:ln>
          </c:spPr>
        </c:majorGridlines>
        <c:majorTickMark val="out"/>
        <c:minorTickMark val="none"/>
        <c:tickLblPos val="nextTo"/>
        <c:spPr>
          <a:ln>
            <a:noFill/>
          </a:ln>
        </c:spPr>
        <c:txPr>
          <a:bodyPr/>
          <a:lstStyle/>
          <a:p>
            <a:pPr>
              <a:defRPr sz="1000">
                <a:solidFill>
                  <a:srgbClr val="5B6372"/>
                </a:solidFill>
                <a:latin typeface="Arial"/>
              </a:defRPr>
            </a:pPr>
          </a:p>
        </c:txPr>
        <c:crossAx val="-2068027336"/>
        <c:crosses val="autoZero"/>
      </c:valAx>
    </c:plotArea>
    <c:dispBlanksAs val="gap"/>
  </c:chart>
  <c:txPr>
    <a:bodyPr/>
    <a:lstStyle/>
    <a:p>
      <a:pPr>
        <a:defRPr sz="1100">
          <a:latin typeface="Arial"/>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varyColors val="0"/>
        <c:ser>
          <c:idx val="0"/>
          <c:order val="0"/>
          <c:tx>
            <c:strRef>
              <c:f>Sheet1!$B$1</c:f>
              <c:strCache>
                <c:ptCount val="1"/>
                <c:pt idx="0">
                  <c:v>Share of incidents (%)</c:v>
                </c:pt>
              </c:strCache>
            </c:strRef>
          </c:tx>
          <c:spPr>
            <a:solidFill>
              <a:srgbClr val="1F6FEB"/>
            </a:solidFill>
            <a:ln>
              <a:noFill/>
            </a:ln>
          </c:spPr>
          <c:cat>
            <c:strRef>
              <c:f>Sheet1!$A$2:$A$6</c:f>
              <c:strCache>
                <c:ptCount val="5"/>
                <c:pt idx="0">
                  <c:v>Data / mapping</c:v>
                </c:pt>
                <c:pt idx="1">
                  <c:v>Permissions</c:v>
                </c:pt>
                <c:pt idx="2">
                  <c:v>Configuration</c:v>
                </c:pt>
                <c:pt idx="3">
                  <c:v>External system</c:v>
                </c:pt>
                <c:pt idx="4">
                  <c:v>Logic</c:v>
                </c:pt>
              </c:strCache>
            </c:strRef>
          </c:cat>
          <c:val>
            <c:numRef>
              <c:f>Sheet1!$B$2:$B$6</c:f>
              <c:numCache>
                <c:formatCode>General</c:formatCode>
                <c:ptCount val="5"/>
                <c:pt idx="0">
                  <c:v>34</c:v>
                </c:pt>
                <c:pt idx="1">
                  <c:v>22</c:v>
                </c:pt>
                <c:pt idx="2">
                  <c:v>21</c:v>
                </c:pt>
                <c:pt idx="3">
                  <c:v>14</c:v>
                </c:pt>
                <c:pt idx="4">
                  <c:v>9</c:v>
                </c:pt>
              </c:numCache>
            </c:numRef>
          </c:val>
        </c:ser>
        <c:axId val="-2068027336"/>
        <c:axId val="-2113994440"/>
      </c:barChart>
      <c:catAx>
        <c:axId val="-2068027336"/>
        <c:scaling>
          <c:orientation val="minMax"/>
        </c:scaling>
        <c:delete val="0"/>
        <c:axPos val="l"/>
        <c:majorTickMark val="out"/>
        <c:minorTickMark val="none"/>
        <c:tickLblPos val="nextTo"/>
        <c:spPr>
          <a:ln>
            <a:solidFill>
              <a:srgbClr val="E2E8F0"/>
            </a:solidFill>
          </a:ln>
        </c:spPr>
        <c:txPr>
          <a:bodyPr/>
          <a:lstStyle/>
          <a:p>
            <a:pPr>
              <a:defRPr sz="1000">
                <a:solidFill>
                  <a:srgbClr val="5B6372"/>
                </a:solidFill>
                <a:latin typeface="Arial"/>
              </a:defRPr>
            </a:pPr>
          </a:p>
        </c:txPr>
        <c:crossAx val="-2113994440"/>
        <c:crosses val="autoZero"/>
        <c:auto val="1"/>
        <c:lblAlgn val="ctr"/>
        <c:lblOffset val="100"/>
        <c:noMultiLvlLbl val="0"/>
      </c:catAx>
      <c:valAx>
        <c:axId val="-2113994440"/>
        <c:scaling/>
        <c:delete val="0"/>
        <c:axPos val="b"/>
        <c:majorGridlines>
          <c:spPr>
            <a:ln w="9525">
              <a:solidFill>
                <a:srgbClr val="E2E8F0"/>
              </a:solidFill>
            </a:ln>
          </c:spPr>
        </c:majorGridlines>
        <c:majorTickMark val="out"/>
        <c:minorTickMark val="none"/>
        <c:tickLblPos val="nextTo"/>
        <c:spPr>
          <a:ln>
            <a:noFill/>
          </a:ln>
        </c:spPr>
        <c:txPr>
          <a:bodyPr/>
          <a:lstStyle/>
          <a:p>
            <a:pPr>
              <a:defRPr sz="1000">
                <a:solidFill>
                  <a:srgbClr val="5B6372"/>
                </a:solidFill>
                <a:latin typeface="Arial"/>
              </a:defRPr>
            </a:pPr>
          </a:p>
        </c:txPr>
        <c:crossAx val="-2068027336"/>
        <c:crosses val="autoZero"/>
      </c:valAx>
    </c:plotArea>
    <c:dispBlanksAs val="gap"/>
  </c:chart>
  <c:txPr>
    <a:bodyPr/>
    <a:lstStyle/>
    <a:p>
      <a:pPr>
        <a:defRPr sz="1100">
          <a:latin typeface="Arial"/>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1.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sp>
        <p:nvSpPr>
          <p:cNvPr id="6" name="Rectangle 5"/>
          <p:cNvSpPr/>
          <p:nvPr/>
        </p:nvSpPr>
        <p:spPr>
          <a:xfrm>
            <a:off x="9829800" y="658368"/>
            <a:ext cx="164592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29800" y="749808"/>
            <a:ext cx="1645920" cy="457200"/>
          </a:xfrm>
          <a:prstGeom prst="rect">
            <a:avLst/>
          </a:prstGeom>
          <a:noFill/>
        </p:spPr>
        <p:txBody>
          <a:bodyPr wrap="square" anchor="t">
            <a:spAutoFit/>
          </a:bodyPr>
          <a:lstStyle/>
          <a:p>
            <a:pPr algn="ctr">
              <a:spcAft>
                <a:spcPts val="400"/>
              </a:spcAft>
            </a:pPr>
            <a:r>
              <a:rPr sz="1900" b="1">
                <a:solidFill>
                  <a:srgbClr val="FFFFFF"/>
                </a:solidFill>
                <a:latin typeface="Arial"/>
              </a:rPr>
              <a:t>COPILOT</a:t>
            </a:r>
          </a:p>
        </p:txBody>
      </p:sp>
      <p:sp>
        <p:nvSpPr>
          <p:cNvPr id="8" name="TextBox 7"/>
          <p:cNvSpPr txBox="1"/>
          <p:nvPr/>
        </p:nvSpPr>
        <p:spPr>
          <a:xfrm>
            <a:off x="9829800" y="1170432"/>
            <a:ext cx="1645920" cy="365760"/>
          </a:xfrm>
          <a:prstGeom prst="rect">
            <a:avLst/>
          </a:prstGeom>
          <a:noFill/>
        </p:spPr>
        <p:txBody>
          <a:bodyPr wrap="square" anchor="t">
            <a:spAutoFit/>
          </a:bodyPr>
          <a:lstStyle/>
          <a:p>
            <a:pPr algn="ctr">
              <a:spcAft>
                <a:spcPts val="400"/>
              </a:spcAft>
            </a:pPr>
            <a:r>
              <a:rPr sz="800" b="1">
                <a:solidFill>
                  <a:srgbClr val="FFFFFF"/>
                </a:solidFill>
                <a:latin typeface="Arial"/>
              </a:rPr>
              <a:t>MICROSOFT 365</a:t>
            </a:r>
          </a:p>
        </p:txBody>
      </p:sp>
      <p:sp>
        <p:nvSpPr>
          <p:cNvPr id="9" name="TextBox 8"/>
          <p:cNvSpPr txBox="1"/>
          <p:nvPr/>
        </p:nvSpPr>
        <p:spPr>
          <a:xfrm>
            <a:off x="822960" y="2057400"/>
            <a:ext cx="10972800" cy="548640"/>
          </a:xfrm>
          <a:prstGeom prst="rect">
            <a:avLst/>
          </a:prstGeom>
          <a:noFill/>
        </p:spPr>
        <p:txBody>
          <a:bodyPr wrap="square" anchor="t">
            <a:spAutoFit/>
          </a:bodyPr>
          <a:lstStyle/>
          <a:p>
            <a:pPr algn="l">
              <a:spcAft>
                <a:spcPts val="400"/>
              </a:spcAft>
            </a:pPr>
            <a:r>
              <a:rPr sz="1600" b="1">
                <a:solidFill>
                  <a:srgbClr val="1F6FEB"/>
                </a:solidFill>
                <a:latin typeface="Arial"/>
              </a:rPr>
              <a:t>COURSE SLIDES  ·  WSQ</a:t>
            </a:r>
          </a:p>
        </p:txBody>
      </p:sp>
      <p:sp>
        <p:nvSpPr>
          <p:cNvPr id="10" name="TextBox 9"/>
          <p:cNvSpPr txBox="1"/>
          <p:nvPr/>
        </p:nvSpPr>
        <p:spPr>
          <a:xfrm>
            <a:off x="822960" y="2514600"/>
            <a:ext cx="10607040" cy="1828800"/>
          </a:xfrm>
          <a:prstGeom prst="rect">
            <a:avLst/>
          </a:prstGeom>
          <a:noFill/>
        </p:spPr>
        <p:txBody>
          <a:bodyPr wrap="square" anchor="t">
            <a:spAutoFit/>
          </a:bodyPr>
          <a:lstStyle/>
          <a:p>
            <a:pPr algn="l">
              <a:spcAft>
                <a:spcPts val="400"/>
              </a:spcAft>
            </a:pPr>
            <a:r>
              <a:rPr sz="3700" b="1">
                <a:solidFill>
                  <a:srgbClr val="161B26"/>
                </a:solidFill>
                <a:latin typeface="Arial"/>
              </a:rPr>
              <a:t>Microsoft Copilot for Content Creation and Task Automation</a:t>
            </a:r>
          </a:p>
        </p:txBody>
      </p:sp>
      <p:sp>
        <p:nvSpPr>
          <p:cNvPr id="11" name="Rectangle 10"/>
          <p:cNvSpPr/>
          <p:nvPr/>
        </p:nvSpPr>
        <p:spPr>
          <a:xfrm>
            <a:off x="841248" y="443484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4709160"/>
            <a:ext cx="10972800" cy="1280160"/>
          </a:xfrm>
          <a:prstGeom prst="rect">
            <a:avLst/>
          </a:prstGeom>
          <a:noFill/>
        </p:spPr>
        <p:txBody>
          <a:bodyPr wrap="square" anchor="t">
            <a:spAutoFit/>
          </a:bodyPr>
          <a:lstStyle/>
          <a:p>
            <a:pPr algn="l">
              <a:spcAft>
                <a:spcPts val="600"/>
              </a:spcAft>
            </a:pPr>
            <a:r>
              <a:rPr sz="1600" b="0">
                <a:solidFill>
                  <a:srgbClr val="5B6372"/>
                </a:solidFill>
                <a:latin typeface="Arial"/>
              </a:rPr>
              <a:t>WSQ Course Code: TGS-2024042588</a:t>
            </a:r>
          </a:p>
          <a:p>
            <a:pPr algn="l">
              <a:spcAft>
                <a:spcPts val="600"/>
              </a:spcAft>
            </a:pPr>
            <a:r>
              <a:rPr sz="1400" b="0">
                <a:solidFill>
                  <a:srgbClr val="5B6372"/>
                </a:solidFill>
                <a:latin typeface="Arial"/>
              </a:rPr>
              <a:t>Conducted by Tertiary Infotech Academy Pte Ltd  ·  UEN 201200696W</a:t>
            </a:r>
          </a:p>
        </p:txBody>
      </p:sp>
      <p:sp>
        <p:nvSpPr>
          <p:cNvPr id="13" name="TextBox 12"/>
          <p:cNvSpPr txBox="1"/>
          <p:nvPr/>
        </p:nvSpPr>
        <p:spPr>
          <a:xfrm>
            <a:off x="822960" y="5943600"/>
            <a:ext cx="10972800" cy="365760"/>
          </a:xfrm>
          <a:prstGeom prst="rect">
            <a:avLst/>
          </a:prstGeom>
          <a:noFill/>
        </p:spPr>
        <p:txBody>
          <a:bodyPr wrap="square" anchor="t">
            <a:spAutoFit/>
          </a:bodyPr>
          <a:lstStyle/>
          <a:p>
            <a:pPr algn="l">
              <a:spcAft>
                <a:spcPts val="400"/>
              </a:spcAft>
            </a:pPr>
            <a:r>
              <a:rPr sz="1200" b="0">
                <a:solidFill>
                  <a:srgbClr val="5B6372"/>
                </a:solidFill>
                <a:latin typeface="Arial"/>
              </a:rPr>
              <a:t>Version v1.0  ·  1 September 2026</a:t>
            </a:r>
          </a:p>
        </p:txBody>
      </p:sp>
      <p:sp>
        <p:nvSpPr>
          <p:cNvPr id="14" name="TextBox 13"/>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9692640" cy="1463040"/>
          </a:xfrm>
          <a:prstGeom prst="rect">
            <a:avLst/>
          </a:prstGeom>
          <a:noFill/>
        </p:spPr>
        <p:txBody>
          <a:bodyPr wrap="square" anchor="t">
            <a:spAutoFit/>
          </a:bodyPr>
          <a:lstStyle/>
          <a:p>
            <a:pPr algn="l">
              <a:spcAft>
                <a:spcPts val="400"/>
              </a:spcAft>
            </a:pPr>
            <a:r>
              <a:rPr sz="3600" b="1">
                <a:solidFill>
                  <a:srgbClr val="161B26"/>
                </a:solidFill>
                <a:latin typeface="Arial"/>
              </a:rPr>
              <a:t>Welcome &amp; Housekeeping</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TRAQOM · SSG DIGITAL ATTENDANCE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242544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15059"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15059" y="2715768"/>
            <a:ext cx="749808" cy="749808"/>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1" name="TextBox 10"/>
          <p:cNvSpPr txBox="1"/>
          <p:nvPr/>
        </p:nvSpPr>
        <p:spPr>
          <a:xfrm>
            <a:off x="923544" y="3703320"/>
            <a:ext cx="2132838" cy="1371600"/>
          </a:xfrm>
          <a:prstGeom prst="rect">
            <a:avLst/>
          </a:prstGeom>
          <a:noFill/>
        </p:spPr>
        <p:txBody>
          <a:bodyPr wrap="square" anchor="t">
            <a:spAutoFit/>
          </a:bodyPr>
          <a:lstStyle/>
          <a:p>
            <a:pPr algn="ctr">
              <a:spcAft>
                <a:spcPts val="400"/>
              </a:spcAft>
            </a:pPr>
            <a:r>
              <a:rPr sz="1300" b="0">
                <a:solidFill>
                  <a:srgbClr val="161B26"/>
                </a:solidFill>
                <a:latin typeface="Arial"/>
              </a:rPr>
              <a:t>Trainer displays the SSG digital attendance QR code</a:t>
            </a:r>
          </a:p>
        </p:txBody>
      </p:sp>
      <p:sp>
        <p:nvSpPr>
          <p:cNvPr id="12" name="TextBox 11"/>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3" name="Rectangle 12"/>
          <p:cNvSpPr/>
          <p:nvPr/>
        </p:nvSpPr>
        <p:spPr>
          <a:xfrm>
            <a:off x="3513582"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3582" y="2331720"/>
            <a:ext cx="242544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51401"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51401" y="2715768"/>
            <a:ext cx="749808" cy="749808"/>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7" name="TextBox 16"/>
          <p:cNvSpPr txBox="1"/>
          <p:nvPr/>
        </p:nvSpPr>
        <p:spPr>
          <a:xfrm>
            <a:off x="3659886" y="3703320"/>
            <a:ext cx="2132838" cy="1371600"/>
          </a:xfrm>
          <a:prstGeom prst="rect">
            <a:avLst/>
          </a:prstGeom>
          <a:noFill/>
        </p:spPr>
        <p:txBody>
          <a:bodyPr wrap="square" anchor="t">
            <a:spAutoFit/>
          </a:bodyPr>
          <a:lstStyle/>
          <a:p>
            <a:pPr algn="ctr">
              <a:spcAft>
                <a:spcPts val="400"/>
              </a:spcAft>
            </a:pPr>
            <a:r>
              <a:rPr sz="1300" b="0">
                <a:solidFill>
                  <a:srgbClr val="161B26"/>
                </a:solidFill>
                <a:latin typeface="Arial"/>
              </a:rPr>
              <a:t>Scan it with your phone camera</a:t>
            </a:r>
          </a:p>
        </p:txBody>
      </p:sp>
      <p:sp>
        <p:nvSpPr>
          <p:cNvPr id="18" name="TextBox 17"/>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9" name="Rectangle 18"/>
          <p:cNvSpPr/>
          <p:nvPr/>
        </p:nvSpPr>
        <p:spPr>
          <a:xfrm>
            <a:off x="6249924"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49924" y="2331720"/>
            <a:ext cx="242544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087743"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87743" y="2715768"/>
            <a:ext cx="749808" cy="749808"/>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3" name="TextBox 22"/>
          <p:cNvSpPr txBox="1"/>
          <p:nvPr/>
        </p:nvSpPr>
        <p:spPr>
          <a:xfrm>
            <a:off x="6396228" y="3703320"/>
            <a:ext cx="2132838" cy="1371600"/>
          </a:xfrm>
          <a:prstGeom prst="rect">
            <a:avLst/>
          </a:prstGeom>
          <a:noFill/>
        </p:spPr>
        <p:txBody>
          <a:bodyPr wrap="square" anchor="t">
            <a:spAutoFit/>
          </a:bodyPr>
          <a:lstStyle/>
          <a:p>
            <a:pPr algn="ctr">
              <a:spcAft>
                <a:spcPts val="400"/>
              </a:spcAft>
            </a:pPr>
            <a:r>
              <a:rPr sz="1300" b="0">
                <a:solidFill>
                  <a:srgbClr val="161B26"/>
                </a:solidFill>
                <a:latin typeface="Arial"/>
              </a:rPr>
              <a:t>Submit your attendance</a:t>
            </a:r>
          </a:p>
        </p:txBody>
      </p:sp>
      <p:sp>
        <p:nvSpPr>
          <p:cNvPr id="24" name="TextBox 23"/>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5" name="Rectangle 24"/>
          <p:cNvSpPr/>
          <p:nvPr/>
        </p:nvSpPr>
        <p:spPr>
          <a:xfrm>
            <a:off x="8986266"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6266" y="2331720"/>
            <a:ext cx="242544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24085"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24085" y="2715768"/>
            <a:ext cx="749808" cy="749808"/>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9" name="TextBox 28"/>
          <p:cNvSpPr txBox="1"/>
          <p:nvPr/>
        </p:nvSpPr>
        <p:spPr>
          <a:xfrm>
            <a:off x="9132570" y="3703320"/>
            <a:ext cx="2132838" cy="1371600"/>
          </a:xfrm>
          <a:prstGeom prst="rect">
            <a:avLst/>
          </a:prstGeom>
          <a:noFill/>
        </p:spPr>
        <p:txBody>
          <a:bodyPr wrap="square" anchor="t">
            <a:spAutoFit/>
          </a:bodyPr>
          <a:lstStyle/>
          <a:p>
            <a:pPr algn="ctr">
              <a:spcAft>
                <a:spcPts val="400"/>
              </a:spcAft>
            </a:pPr>
            <a:r>
              <a:rPr sz="1300" b="0">
                <a:solidFill>
                  <a:srgbClr val="161B26"/>
                </a:solidFill>
                <a:latin typeface="Arial"/>
              </a:rPr>
              <a:t>Repeat AM, PM and on assessment day</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200" b="1">
                <a:solidFill>
                  <a:srgbClr val="FFFFFF"/>
                </a:solidFill>
                <a:latin typeface="Arial"/>
              </a:rPr>
              <a:t>?</a:t>
            </a:r>
          </a:p>
        </p:txBody>
      </p:sp>
      <p:sp>
        <p:nvSpPr>
          <p:cNvPr id="11" name="TextBox 10"/>
          <p:cNvSpPr txBox="1"/>
          <p:nvPr/>
        </p:nvSpPr>
        <p:spPr>
          <a:xfrm>
            <a:off x="914400" y="4114800"/>
            <a:ext cx="3063240" cy="548640"/>
          </a:xfrm>
          <a:prstGeom prst="rect">
            <a:avLst/>
          </a:prstGeom>
          <a:noFill/>
        </p:spPr>
        <p:txBody>
          <a:bodyPr wrap="square" anchor="t">
            <a:spAutoFit/>
          </a:bodyPr>
          <a:lstStyle/>
          <a:p>
            <a:pPr algn="ctr">
              <a:spcAft>
                <a:spcPts val="400"/>
              </a:spcAft>
            </a:pPr>
            <a:r>
              <a:rPr sz="2000" b="1">
                <a:solidFill>
                  <a:srgbClr val="161B26"/>
                </a:solidFill>
                <a:latin typeface="Arial"/>
              </a:rPr>
              <a:t>Your Trainer</a:t>
            </a:r>
          </a:p>
        </p:txBody>
      </p:sp>
      <p:sp>
        <p:nvSpPr>
          <p:cNvPr id="12" name="TextBox 11"/>
          <p:cNvSpPr txBox="1"/>
          <p:nvPr/>
        </p:nvSpPr>
        <p:spPr>
          <a:xfrm>
            <a:off x="914400" y="4709160"/>
            <a:ext cx="3063240" cy="1097280"/>
          </a:xfrm>
          <a:prstGeom prst="rect">
            <a:avLst/>
          </a:prstGeom>
          <a:noFill/>
        </p:spPr>
        <p:txBody>
          <a:bodyPr wrap="square" anchor="t">
            <a:spAutoFit/>
          </a:bodyPr>
          <a:lstStyle/>
          <a:p>
            <a:pPr algn="ctr">
              <a:spcAft>
                <a:spcPts val="400"/>
              </a:spcAft>
            </a:pPr>
            <a:r>
              <a:rPr sz="1200" b="0">
                <a:solidFill>
                  <a:srgbClr val="5B6372"/>
                </a:solidFill>
                <a:latin typeface="Arial"/>
              </a:rPr>
              <a:t>General Trainer template —
to be completed by the trainer</a:t>
            </a:r>
          </a:p>
        </p:txBody>
      </p:sp>
      <p:sp>
        <p:nvSpPr>
          <p:cNvPr id="13" name="Rectangle 12"/>
          <p:cNvSpPr/>
          <p:nvPr/>
        </p:nvSpPr>
        <p:spPr>
          <a:xfrm>
            <a:off x="4480560" y="17830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000" b="1">
                <a:solidFill>
                  <a:srgbClr val="1F6FEB"/>
                </a:solidFill>
                <a:latin typeface="Arial"/>
              </a:rPr>
              <a:t>NAME</a:t>
            </a:r>
          </a:p>
          <a:p>
            <a:pPr algn="l">
              <a:spcAft>
                <a:spcPts val="300"/>
              </a:spcAft>
            </a:pPr>
            <a:r>
              <a:rPr sz="1200" b="0">
                <a:solidFill>
                  <a:srgbClr val="E2E8F0"/>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000" b="1">
                <a:solidFill>
                  <a:srgbClr val="10B981"/>
                </a:solidFill>
                <a:latin typeface="Arial"/>
              </a:rPr>
              <a:t>TITLE / DESIGNATION</a:t>
            </a:r>
          </a:p>
          <a:p>
            <a:pPr algn="l">
              <a:spcAft>
                <a:spcPts val="300"/>
              </a:spcAft>
            </a:pPr>
            <a:r>
              <a:rPr sz="1200" b="0">
                <a:solidFill>
                  <a:srgbClr val="E2E8F0"/>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000" b="1">
                <a:solidFill>
                  <a:srgbClr val="7C3AED"/>
                </a:solidFill>
                <a:latin typeface="Arial"/>
              </a:rPr>
              <a:t>QUALIFICATIONS</a:t>
            </a:r>
          </a:p>
          <a:p>
            <a:pPr algn="l">
              <a:spcAft>
                <a:spcPts val="300"/>
              </a:spcAft>
            </a:pPr>
            <a:r>
              <a:rPr sz="1200" b="0">
                <a:solidFill>
                  <a:srgbClr val="E2E8F0"/>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000" b="1">
                <a:solidFill>
                  <a:srgbClr val="F59E0B"/>
                </a:solidFill>
                <a:latin typeface="Arial"/>
              </a:rPr>
              <a:t>AREAS OF EXPERTISE</a:t>
            </a:r>
          </a:p>
          <a:p>
            <a:pPr algn="l">
              <a:spcAft>
                <a:spcPts val="300"/>
              </a:spcAft>
            </a:pPr>
            <a:r>
              <a:rPr sz="1200" b="0">
                <a:solidFill>
                  <a:srgbClr val="E2E8F0"/>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000" b="1">
                <a:solidFill>
                  <a:srgbClr val="1F6FEB"/>
                </a:solidFill>
                <a:latin typeface="Arial"/>
              </a:rPr>
              <a:t>TRAINING &amp; INDUSTRY EXPERIENCE</a:t>
            </a:r>
          </a:p>
          <a:p>
            <a:pPr algn="l">
              <a:spcAft>
                <a:spcPts val="300"/>
              </a:spcAft>
            </a:pPr>
            <a:r>
              <a:rPr sz="1200" b="0">
                <a:solidFill>
                  <a:srgbClr val="E2E8F0"/>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000" b="1">
                <a:solidFill>
                  <a:srgbClr val="10B981"/>
                </a:solidFill>
                <a:latin typeface="Arial"/>
              </a:rPr>
              <a:t>CONTACT</a:t>
            </a:r>
          </a:p>
          <a:p>
            <a:pPr algn="l">
              <a:spcAft>
                <a:spcPts val="300"/>
              </a:spcAft>
            </a:pPr>
            <a:r>
              <a:rPr sz="1200" b="0">
                <a:solidFill>
                  <a:srgbClr val="E2E8F0"/>
                </a:solidFill>
                <a:latin typeface="Arial"/>
              </a:rPr>
              <a:t>____________________________________________</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200" b="1">
                <a:solidFill>
                  <a:srgbClr val="FFFFFF"/>
                </a:solidFill>
                <a:latin typeface="Arial"/>
              </a:rPr>
              <a:t>AA</a:t>
            </a:r>
          </a:p>
        </p:txBody>
      </p:sp>
      <p:sp>
        <p:nvSpPr>
          <p:cNvPr id="11" name="TextBox 10"/>
          <p:cNvSpPr txBox="1"/>
          <p:nvPr/>
        </p:nvSpPr>
        <p:spPr>
          <a:xfrm>
            <a:off x="914400" y="4114800"/>
            <a:ext cx="3063240" cy="548640"/>
          </a:xfrm>
          <a:prstGeom prst="rect">
            <a:avLst/>
          </a:prstGeom>
          <a:noFill/>
        </p:spPr>
        <p:txBody>
          <a:bodyPr wrap="square" anchor="t">
            <a:spAutoFit/>
          </a:bodyPr>
          <a:lstStyle/>
          <a:p>
            <a:pPr algn="ctr">
              <a:spcAft>
                <a:spcPts val="400"/>
              </a:spcAft>
            </a:pPr>
            <a:r>
              <a:rPr sz="2000" b="1">
                <a:solidFill>
                  <a:srgbClr val="161B26"/>
                </a:solidFill>
                <a:latin typeface="Arial"/>
              </a:rPr>
              <a:t>Dr. Alfred Ang</a:t>
            </a:r>
          </a:p>
        </p:txBody>
      </p:sp>
      <p:sp>
        <p:nvSpPr>
          <p:cNvPr id="12" name="TextBox 11"/>
          <p:cNvSpPr txBox="1"/>
          <p:nvPr/>
        </p:nvSpPr>
        <p:spPr>
          <a:xfrm>
            <a:off x="914400" y="4709160"/>
            <a:ext cx="3063240" cy="1097280"/>
          </a:xfrm>
          <a:prstGeom prst="rect">
            <a:avLst/>
          </a:prstGeom>
          <a:noFill/>
        </p:spPr>
        <p:txBody>
          <a:bodyPr wrap="square" anchor="t">
            <a:spAutoFit/>
          </a:bodyPr>
          <a:lstStyle/>
          <a:p>
            <a:pPr algn="ctr">
              <a:spcAft>
                <a:spcPts val="400"/>
              </a:spcAft>
            </a:pPr>
            <a:r>
              <a:rPr sz="1200" b="0">
                <a:solidFill>
                  <a:srgbClr val="5B6372"/>
                </a:solidFill>
                <a:latin typeface="Arial"/>
              </a:rPr>
              <a:t>Principal Trainer
Tertiary Infotech Academy Pte Ltd</a:t>
            </a:r>
          </a:p>
        </p:txBody>
      </p:sp>
      <p:sp>
        <p:nvSpPr>
          <p:cNvPr id="13" name="Rectangle 12"/>
          <p:cNvSpPr/>
          <p:nvPr/>
        </p:nvSpPr>
        <p:spPr>
          <a:xfrm>
            <a:off x="4480560" y="178308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937260"/>
          </a:xfrm>
          <a:prstGeom prst="rect">
            <a:avLst/>
          </a:prstGeom>
          <a:noFill/>
        </p:spPr>
        <p:txBody>
          <a:bodyPr wrap="square" anchor="ctr">
            <a:spAutoFit/>
          </a:bodyPr>
          <a:lstStyle/>
          <a:p>
            <a:pPr algn="l">
              <a:spcAft>
                <a:spcPts val="300"/>
              </a:spcAft>
            </a:pPr>
            <a:r>
              <a:rPr sz="1000" b="1">
                <a:solidFill>
                  <a:srgbClr val="1F6FEB"/>
                </a:solidFill>
                <a:latin typeface="Arial"/>
              </a:rPr>
              <a:t>ROLE</a:t>
            </a:r>
          </a:p>
          <a:p>
            <a:pPr algn="l">
              <a:spcAft>
                <a:spcPts val="300"/>
              </a:spcAft>
            </a:pPr>
            <a:r>
              <a:rPr sz="1300" b="0">
                <a:solidFill>
                  <a:srgbClr val="161B26"/>
                </a:solidFill>
                <a:latin typeface="Arial"/>
              </a:rPr>
              <a:t>Principal Trainer, Tertiary Infotech Academy Pte Ltd</a:t>
            </a:r>
          </a:p>
        </p:txBody>
      </p:sp>
      <p:sp>
        <p:nvSpPr>
          <p:cNvPr id="16" name="Rectangle 15"/>
          <p:cNvSpPr/>
          <p:nvPr/>
        </p:nvSpPr>
        <p:spPr>
          <a:xfrm>
            <a:off x="4480560" y="290322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903220"/>
            <a:ext cx="6400800" cy="937260"/>
          </a:xfrm>
          <a:prstGeom prst="rect">
            <a:avLst/>
          </a:prstGeom>
          <a:noFill/>
        </p:spPr>
        <p:txBody>
          <a:bodyPr wrap="square" anchor="ctr">
            <a:spAutoFit/>
          </a:bodyPr>
          <a:lstStyle/>
          <a:p>
            <a:pPr algn="l">
              <a:spcAft>
                <a:spcPts val="300"/>
              </a:spcAft>
            </a:pPr>
            <a:r>
              <a:rPr sz="1000" b="1">
                <a:solidFill>
                  <a:srgbClr val="10B981"/>
                </a:solidFill>
                <a:latin typeface="Arial"/>
              </a:rPr>
              <a:t>CERTIFICATION</a:t>
            </a:r>
          </a:p>
          <a:p>
            <a:pPr algn="l">
              <a:spcAft>
                <a:spcPts val="300"/>
              </a:spcAft>
            </a:pPr>
            <a:r>
              <a:rPr sz="1300" b="0">
                <a:solidFill>
                  <a:srgbClr val="161B26"/>
                </a:solidFill>
                <a:latin typeface="Arial"/>
              </a:rPr>
              <a:t>Microsoft certified — Power Platform, Microsoft 365 and AI solutions.</a:t>
            </a:r>
          </a:p>
        </p:txBody>
      </p:sp>
      <p:sp>
        <p:nvSpPr>
          <p:cNvPr id="19" name="Rectangle 18"/>
          <p:cNvSpPr/>
          <p:nvPr/>
        </p:nvSpPr>
        <p:spPr>
          <a:xfrm>
            <a:off x="4480560" y="402336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023360"/>
            <a:ext cx="6400800" cy="937260"/>
          </a:xfrm>
          <a:prstGeom prst="rect">
            <a:avLst/>
          </a:prstGeom>
          <a:noFill/>
        </p:spPr>
        <p:txBody>
          <a:bodyPr wrap="square" anchor="ctr">
            <a:spAutoFit/>
          </a:bodyPr>
          <a:lstStyle/>
          <a:p>
            <a:pPr algn="l">
              <a:spcAft>
                <a:spcPts val="300"/>
              </a:spcAft>
            </a:pPr>
            <a:r>
              <a:rPr sz="1000" b="1">
                <a:solidFill>
                  <a:srgbClr val="7C3AED"/>
                </a:solidFill>
                <a:latin typeface="Arial"/>
              </a:rPr>
              <a:t>DELIVERS</a:t>
            </a:r>
          </a:p>
          <a:p>
            <a:pPr algn="l">
              <a:spcAft>
                <a:spcPts val="300"/>
              </a:spcAft>
            </a:pPr>
            <a:r>
              <a:rPr sz="1300" b="0">
                <a:solidFill>
                  <a:srgbClr val="161B26"/>
                </a:solidFill>
                <a:latin typeface="Arial"/>
              </a:rPr>
              <a:t>WSQ courses on Microsoft Copilot, Power Automate and automation.</a:t>
            </a:r>
          </a:p>
        </p:txBody>
      </p:sp>
      <p:sp>
        <p:nvSpPr>
          <p:cNvPr id="22" name="Rectangle 21"/>
          <p:cNvSpPr/>
          <p:nvPr/>
        </p:nvSpPr>
        <p:spPr>
          <a:xfrm>
            <a:off x="4480560" y="514350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5143500"/>
            <a:ext cx="6400800" cy="937260"/>
          </a:xfrm>
          <a:prstGeom prst="rect">
            <a:avLst/>
          </a:prstGeom>
          <a:noFill/>
        </p:spPr>
        <p:txBody>
          <a:bodyPr wrap="square" anchor="ctr">
            <a:spAutoFit/>
          </a:bodyPr>
          <a:lstStyle/>
          <a:p>
            <a:pPr algn="l">
              <a:spcAft>
                <a:spcPts val="300"/>
              </a:spcAft>
            </a:pPr>
            <a:r>
              <a:rPr sz="1000" b="1">
                <a:solidFill>
                  <a:srgbClr val="F59E0B"/>
                </a:solidFill>
                <a:latin typeface="Arial"/>
              </a:rPr>
              <a:t>FOUNDER</a:t>
            </a:r>
          </a:p>
          <a:p>
            <a:pPr algn="l">
              <a:spcAft>
                <a:spcPts val="300"/>
              </a:spcAft>
            </a:pPr>
            <a:r>
              <a:rPr sz="1300" b="0">
                <a:solidFill>
                  <a:srgbClr val="161B26"/>
                </a:solidFill>
                <a:latin typeface="Arial"/>
              </a:rPr>
              <a:t>Founder and lead instructor at Tertiary Infotech / Tertiary Courses.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Let's Know Each Other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Who you are</a:t>
            </a:r>
          </a:p>
          <a:p>
            <a:pPr algn="l">
              <a:spcAft>
                <a:spcPts val="300"/>
              </a:spcAft>
            </a:pPr>
            <a:r>
              <a:rPr sz="1200" b="0">
                <a:solidFill>
                  <a:srgbClr val="5B6372"/>
                </a:solidFill>
                <a:latin typeface="Arial"/>
              </a:rPr>
              <a:t>Your name, your organisation and the role you play in it.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What you repeat</a:t>
            </a:r>
          </a:p>
          <a:p>
            <a:pPr algn="l">
              <a:spcAft>
                <a:spcPts val="300"/>
              </a:spcAft>
            </a:pPr>
            <a:r>
              <a:rPr sz="1200" b="0">
                <a:solidFill>
                  <a:srgbClr val="5B6372"/>
                </a:solidFill>
                <a:latin typeface="Arial"/>
              </a:rPr>
              <a:t>The task you find yourself redoing most often each week.</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What you want back</a:t>
            </a:r>
          </a:p>
          <a:p>
            <a:pPr algn="l">
              <a:spcAft>
                <a:spcPts val="300"/>
              </a:spcAft>
            </a:pPr>
            <a:r>
              <a:rPr sz="1200" b="0">
                <a:solidFill>
                  <a:srgbClr val="5B6372"/>
                </a:solidFill>
                <a:latin typeface="Arial"/>
              </a:rPr>
              <a:t>The hours you would reclaim if that task ran itself.</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Where you want to get to</a:t>
            </a:r>
          </a:p>
          <a:p>
            <a:pPr algn="l">
              <a:spcAft>
                <a:spcPts val="300"/>
              </a:spcAft>
            </a:pPr>
            <a:r>
              <a:rPr sz="1200" b="0">
                <a:solidFill>
                  <a:srgbClr val="5B6372"/>
                </a:solidFill>
                <a:latin typeface="Arial"/>
              </a:rPr>
              <a:t>What you want to automate or produce faster after this week.</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74520"/>
            <a:ext cx="4027932" cy="1152144"/>
          </a:xfrm>
          <a:prstGeom prst="rect">
            <a:avLst/>
          </a:prstGeom>
          <a:noFill/>
        </p:spPr>
        <p:txBody>
          <a:bodyPr wrap="square" anchor="ctr">
            <a:spAutoFit/>
          </a:bodyPr>
          <a:lstStyle/>
          <a:p>
            <a:pPr algn="l">
              <a:spcAft>
                <a:spcPts val="400"/>
              </a:spcAft>
            </a:pPr>
            <a:r>
              <a:rPr sz="1500" b="0">
                <a:solidFill>
                  <a:srgbClr val="161B26"/>
                </a:solidFill>
                <a:latin typeface="Arial"/>
              </a:rPr>
              <a:t>Set your mobile phone to silent mode.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74520"/>
            <a:ext cx="4027932" cy="1152144"/>
          </a:xfrm>
          <a:prstGeom prst="rect">
            <a:avLst/>
          </a:prstGeom>
          <a:noFill/>
        </p:spPr>
        <p:txBody>
          <a:bodyPr wrap="square" anchor="ctr">
            <a:spAutoFit/>
          </a:bodyPr>
          <a:lstStyle/>
          <a:p>
            <a:pPr algn="l">
              <a:spcAft>
                <a:spcPts val="400"/>
              </a:spcAft>
            </a:pPr>
            <a:r>
              <a:rPr sz="1500" b="0">
                <a:solidFill>
                  <a:srgbClr val="161B26"/>
                </a:solidFill>
                <a:latin typeface="Arial"/>
              </a:rPr>
              <a:t>Participate actively — no question is too small.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0712"/>
            <a:ext cx="4027932" cy="1152144"/>
          </a:xfrm>
          <a:prstGeom prst="rect">
            <a:avLst/>
          </a:prstGeom>
          <a:noFill/>
        </p:spPr>
        <p:txBody>
          <a:bodyPr wrap="square" anchor="ctr">
            <a:spAutoFit/>
          </a:bodyPr>
          <a:lstStyle/>
          <a:p>
            <a:pPr algn="l">
              <a:spcAft>
                <a:spcPts val="400"/>
              </a:spcAft>
            </a:pPr>
            <a:r>
              <a:rPr sz="1500" b="0">
                <a:solidFill>
                  <a:srgbClr val="161B26"/>
                </a:solidFill>
                <a:latin typeface="Arial"/>
              </a:rPr>
              <a:t>Mutual respect: agree to disagree.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10712"/>
            <a:ext cx="4027932" cy="1152144"/>
          </a:xfrm>
          <a:prstGeom prst="rect">
            <a:avLst/>
          </a:prstGeom>
          <a:noFill/>
        </p:spPr>
        <p:txBody>
          <a:bodyPr wrap="square" anchor="ctr">
            <a:spAutoFit/>
          </a:bodyPr>
          <a:lstStyle/>
          <a:p>
            <a:pPr algn="l">
              <a:spcAft>
                <a:spcPts val="400"/>
              </a:spcAft>
            </a:pPr>
            <a:r>
              <a:rPr sz="1500" b="0">
                <a:solidFill>
                  <a:srgbClr val="161B26"/>
                </a:solidFill>
                <a:latin typeface="Arial"/>
              </a:rPr>
              <a:t>One conversation at a time.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6904"/>
            <a:ext cx="4027932" cy="1152144"/>
          </a:xfrm>
          <a:prstGeom prst="rect">
            <a:avLst/>
          </a:prstGeom>
          <a:noFill/>
        </p:spPr>
        <p:txBody>
          <a:bodyPr wrap="square" anchor="ctr">
            <a:spAutoFit/>
          </a:bodyPr>
          <a:lstStyle/>
          <a:p>
            <a:pPr algn="l">
              <a:spcAft>
                <a:spcPts val="400"/>
              </a:spcAft>
            </a:pPr>
            <a:r>
              <a:rPr sz="1500" b="0">
                <a:solidFill>
                  <a:srgbClr val="161B26"/>
                </a:solidFill>
                <a:latin typeface="Arial"/>
              </a:rPr>
              <a:t>Be punctual; return from breaks on time.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46904"/>
            <a:ext cx="4027932" cy="1152144"/>
          </a:xfrm>
          <a:prstGeom prst="rect">
            <a:avLst/>
          </a:prstGeom>
          <a:noFill/>
        </p:spPr>
        <p:txBody>
          <a:bodyPr wrap="square" anchor="ctr">
            <a:spAutoFit/>
          </a:bodyPr>
          <a:lstStyle/>
          <a:p>
            <a:pPr algn="l">
              <a:spcAft>
                <a:spcPts val="400"/>
              </a:spcAft>
            </a:pPr>
            <a:r>
              <a:rPr sz="1500" b="0">
                <a:solidFill>
                  <a:srgbClr val="161B26"/>
                </a:solidFill>
                <a:latin typeface="Arial"/>
              </a:rPr>
              <a:t>75% attendance is required.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REPOSITORY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Download Your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LMS / TMS portal</a:t>
            </a:r>
          </a:p>
          <a:p>
            <a:pPr algn="l">
              <a:spcAft>
                <a:spcPts val="300"/>
              </a:spcAft>
            </a:pPr>
            <a:r>
              <a:rPr sz="1100" b="0">
                <a:solidFill>
                  <a:srgbClr val="5B6372"/>
                </a:solidFill>
                <a:latin typeface="Arial"/>
              </a:rPr>
              <a:t>lms-tms.tertiaryinfotech.com — sign in with the account issued to you.</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Trainer slides</a:t>
            </a:r>
          </a:p>
          <a:p>
            <a:pPr algn="l">
              <a:spcAft>
                <a:spcPts val="300"/>
              </a:spcAft>
            </a:pPr>
            <a:r>
              <a:rPr sz="1100" b="0">
                <a:solidFill>
                  <a:srgbClr val="5B6372"/>
                </a:solidFill>
                <a:latin typeface="Arial"/>
              </a:rPr>
              <a:t>The deck used in class, as a PDF for reference.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Learner Guide</a:t>
            </a:r>
          </a:p>
          <a:p>
            <a:pPr algn="l">
              <a:spcAft>
                <a:spcPts val="300"/>
              </a:spcAft>
            </a:pPr>
            <a:r>
              <a:rPr sz="1100" b="0">
                <a:solidFill>
                  <a:srgbClr val="5B6372"/>
                </a:solidFill>
                <a:latin typeface="Arial"/>
              </a:rPr>
              <a:t>Every lab's full step-by-step procedure and prompts.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Lab files</a:t>
            </a:r>
          </a:p>
          <a:p>
            <a:pPr algn="l">
              <a:spcAft>
                <a:spcPts val="300"/>
              </a:spcAft>
            </a:pPr>
            <a:r>
              <a:rPr sz="1100" b="0">
                <a:solidFill>
                  <a:srgbClr val="5B6372"/>
                </a:solidFill>
                <a:latin typeface="Arial"/>
              </a:rPr>
              <a:t>Each lab folder holds its own data and instruction PDF.</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Lesson Plan</a:t>
            </a:r>
          </a:p>
          <a:p>
            <a:pPr algn="l">
              <a:spcAft>
                <a:spcPts val="300"/>
              </a:spcAft>
            </a:pPr>
            <a:r>
              <a:rPr sz="1100" b="0">
                <a:solidFill>
                  <a:srgbClr val="5B6372"/>
                </a:solidFill>
                <a:latin typeface="Arial"/>
              </a:rPr>
              <a:t>The daily schedule and what is covered when.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Open book</a:t>
            </a:r>
          </a:p>
          <a:p>
            <a:pPr algn="l">
              <a:spcAft>
                <a:spcPts val="300"/>
              </a:spcAft>
            </a:pPr>
            <a:r>
              <a:rPr sz="1100" b="0">
                <a:solidFill>
                  <a:srgbClr val="5B6372"/>
                </a:solidFill>
                <a:latin typeface="Arial"/>
              </a:rPr>
              <a:t>You may use these materials during the assessment.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You Will Achieve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Copilot for content</a:t>
            </a:r>
          </a:p>
          <a:p>
            <a:pPr algn="l">
              <a:spcAft>
                <a:spcPts val="300"/>
              </a:spcAft>
            </a:pPr>
            <a:r>
              <a:rPr sz="1100" b="0">
                <a:solidFill>
                  <a:srgbClr val="5B6372"/>
                </a:solidFill>
                <a:latin typeface="Arial"/>
              </a:rPr>
              <a:t>Produce verified business content in Word, PowerPoint, Excel and Outlook.</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Feasibility scanning</a:t>
            </a:r>
          </a:p>
          <a:p>
            <a:pPr algn="l">
              <a:spcAft>
                <a:spcPts val="300"/>
              </a:spcAft>
            </a:pPr>
            <a:r>
              <a:rPr sz="1100" b="0">
                <a:solidFill>
                  <a:srgbClr val="5B6372"/>
                </a:solidFill>
                <a:latin typeface="Arial"/>
              </a:rPr>
              <a:t>Identify which work is worth automating, and what it would take.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Power Automate</a:t>
            </a:r>
          </a:p>
          <a:p>
            <a:pPr algn="l">
              <a:spcAft>
                <a:spcPts val="300"/>
              </a:spcAft>
            </a:pPr>
            <a:r>
              <a:rPr sz="1100" b="0">
                <a:solidFill>
                  <a:srgbClr val="5B6372"/>
                </a:solidFill>
                <a:latin typeface="Arial"/>
              </a:rPr>
              <a:t>Build flows that integrate Forms, Outlook, Excel and Approvals.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Copilot Studio agents</a:t>
            </a:r>
          </a:p>
          <a:p>
            <a:pPr algn="l">
              <a:spcAft>
                <a:spcPts val="300"/>
              </a:spcAft>
            </a:pPr>
            <a:r>
              <a:rPr sz="1100" b="0">
                <a:solidFill>
                  <a:srgbClr val="5B6372"/>
                </a:solidFill>
                <a:latin typeface="Arial"/>
              </a:rPr>
              <a:t>Design, ground, tool and publish agents that behave.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Integration</a:t>
            </a:r>
          </a:p>
          <a:p>
            <a:pPr algn="l">
              <a:spcAft>
                <a:spcPts val="300"/>
              </a:spcAft>
            </a:pPr>
            <a:r>
              <a:rPr sz="1100" b="0">
                <a:solidFill>
                  <a:srgbClr val="5B6372"/>
                </a:solidFill>
                <a:latin typeface="Arial"/>
              </a:rPr>
              <a:t>Connect automation to other systems over HTTP with a schema.</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Testing and governance</a:t>
            </a:r>
          </a:p>
          <a:p>
            <a:pPr algn="l">
              <a:spcAft>
                <a:spcPts val="300"/>
              </a:spcAft>
            </a:pPr>
            <a:r>
              <a:rPr sz="1100" b="0">
                <a:solidFill>
                  <a:srgbClr val="5B6372"/>
                </a:solidFill>
                <a:latin typeface="Arial"/>
              </a:rPr>
              <a:t>Verify behaviour, gate consequential actions and diagnose failures.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WSQ COURSE OUTCOMES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Learning Outcomes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197510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9482328" cy="749808"/>
          </a:xfrm>
          <a:prstGeom prst="rect">
            <a:avLst/>
          </a:prstGeom>
          <a:noFill/>
        </p:spPr>
        <p:txBody>
          <a:bodyPr wrap="square" anchor="ctr">
            <a:spAutoFit/>
          </a:bodyPr>
          <a:lstStyle/>
          <a:p>
            <a:pPr algn="l">
              <a:spcAft>
                <a:spcPts val="300"/>
              </a:spcAft>
            </a:pPr>
            <a:r>
              <a:rPr sz="1500" b="1">
                <a:solidFill>
                  <a:srgbClr val="161B26"/>
                </a:solidFill>
                <a:latin typeface="Arial"/>
              </a:rPr>
              <a:t>LO1</a:t>
            </a:r>
          </a:p>
          <a:p>
            <a:pPr algn="l">
              <a:spcAft>
                <a:spcPts val="300"/>
              </a:spcAft>
            </a:pPr>
            <a:r>
              <a:rPr sz="1100" b="0">
                <a:solidFill>
                  <a:srgbClr val="5B6372"/>
                </a:solidFill>
                <a:latin typeface="Arial"/>
              </a:rPr>
              <a:t>Identify opportunities and perform feasibility scans for dataverse and Power App applications.</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14984" y="312724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1709928" y="3044952"/>
            <a:ext cx="9482328" cy="749808"/>
          </a:xfrm>
          <a:prstGeom prst="rect">
            <a:avLst/>
          </a:prstGeom>
          <a:noFill/>
        </p:spPr>
        <p:txBody>
          <a:bodyPr wrap="square" anchor="ctr">
            <a:spAutoFit/>
          </a:bodyPr>
          <a:lstStyle/>
          <a:p>
            <a:pPr algn="l">
              <a:spcAft>
                <a:spcPts val="300"/>
              </a:spcAft>
            </a:pPr>
            <a:r>
              <a:rPr sz="1500" b="1">
                <a:solidFill>
                  <a:srgbClr val="161B26"/>
                </a:solidFill>
                <a:latin typeface="Arial"/>
              </a:rPr>
              <a:t>LO2</a:t>
            </a:r>
          </a:p>
          <a:p>
            <a:pPr algn="l">
              <a:spcAft>
                <a:spcPts val="300"/>
              </a:spcAft>
            </a:pPr>
            <a:r>
              <a:rPr sz="1100" b="0">
                <a:solidFill>
                  <a:srgbClr val="5B6372"/>
                </a:solidFill>
                <a:latin typeface="Arial"/>
              </a:rPr>
              <a:t>Utilise Business Flow and Power Automate to integrate functions across programs with API-level integration.</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279392"/>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9482328" cy="749808"/>
          </a:xfrm>
          <a:prstGeom prst="rect">
            <a:avLst/>
          </a:prstGeom>
          <a:noFill/>
        </p:spPr>
        <p:txBody>
          <a:bodyPr wrap="square" anchor="ctr">
            <a:spAutoFit/>
          </a:bodyPr>
          <a:lstStyle/>
          <a:p>
            <a:pPr algn="l">
              <a:spcAft>
                <a:spcPts val="300"/>
              </a:spcAft>
            </a:pPr>
            <a:r>
              <a:rPr sz="1500" b="1">
                <a:solidFill>
                  <a:srgbClr val="161B26"/>
                </a:solidFill>
                <a:latin typeface="Arial"/>
              </a:rPr>
              <a:t>LO3</a:t>
            </a:r>
          </a:p>
          <a:p>
            <a:pPr algn="l">
              <a:spcAft>
                <a:spcPts val="300"/>
              </a:spcAft>
            </a:pPr>
            <a:r>
              <a:rPr sz="1100" b="0">
                <a:solidFill>
                  <a:srgbClr val="5B6372"/>
                </a:solidFill>
                <a:latin typeface="Arial"/>
              </a:rPr>
              <a:t>Execute tests in Power Virtual Agent and Power BI to verify their functioning across platforms.</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14984" y="5431536"/>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4984"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1709928" y="5349240"/>
            <a:ext cx="9482328" cy="749808"/>
          </a:xfrm>
          <a:prstGeom prst="rect">
            <a:avLst/>
          </a:prstGeom>
          <a:noFill/>
        </p:spPr>
        <p:txBody>
          <a:bodyPr wrap="square" anchor="ctr">
            <a:spAutoFit/>
          </a:bodyPr>
          <a:lstStyle/>
          <a:p>
            <a:pPr algn="l">
              <a:spcAft>
                <a:spcPts val="300"/>
              </a:spcAft>
            </a:pPr>
            <a:r>
              <a:rPr sz="1500" b="1">
                <a:solidFill>
                  <a:srgbClr val="161B26"/>
                </a:solidFill>
                <a:latin typeface="Arial"/>
              </a:rPr>
              <a:t>LO4</a:t>
            </a:r>
          </a:p>
          <a:p>
            <a:pPr algn="l">
              <a:spcAft>
                <a:spcPts val="300"/>
              </a:spcAft>
            </a:pPr>
            <a:r>
              <a:rPr sz="1100" b="0">
                <a:solidFill>
                  <a:srgbClr val="5B6372"/>
                </a:solidFill>
                <a:latin typeface="Arial"/>
              </a:rPr>
              <a:t>Implement modifications to Power Platform with Power AI Builder and highlight technical issues.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SCHEDULE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Lesson Plan — 5 Days, 8 Hours a Day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Day 1 — Copilot Foundations, Word and PowerPoint</a:t>
            </a:r>
          </a:p>
          <a:p>
            <a:pPr algn="l">
              <a:spcAft>
                <a:spcPts val="300"/>
              </a:spcAft>
            </a:pPr>
            <a:r>
              <a:rPr sz="1100" b="0">
                <a:solidFill>
                  <a:srgbClr val="5B6372"/>
                </a:solidFill>
                <a:latin typeface="Arial"/>
              </a:rPr>
              <a:t>Topic 01 · Labs 01–05</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Day 2 — Copilot for Excel and Outlook</a:t>
            </a:r>
          </a:p>
          <a:p>
            <a:pPr algn="l">
              <a:spcAft>
                <a:spcPts val="300"/>
              </a:spcAft>
            </a:pPr>
            <a:r>
              <a:rPr sz="1100" b="0">
                <a:solidFill>
                  <a:srgbClr val="5B6372"/>
                </a:solidFill>
                <a:latin typeface="Arial"/>
              </a:rPr>
              <a:t>Topic 02 · Labs 06–10</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Day 3 — Business Process Automation with Power Automate</a:t>
            </a:r>
          </a:p>
          <a:p>
            <a:pPr algn="l">
              <a:spcAft>
                <a:spcPts val="300"/>
              </a:spcAft>
            </a:pPr>
            <a:r>
              <a:rPr sz="1100" b="0">
                <a:solidFill>
                  <a:srgbClr val="5B6372"/>
                </a:solidFill>
                <a:latin typeface="Arial"/>
              </a:rPr>
              <a:t>Topic 03 · Labs 11–15</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Day 4 — Copilot Studio Agents</a:t>
            </a:r>
          </a:p>
          <a:p>
            <a:pPr algn="l">
              <a:spcAft>
                <a:spcPts val="300"/>
              </a:spcAft>
            </a:pPr>
            <a:r>
              <a:rPr sz="1100" b="0">
                <a:solidFill>
                  <a:srgbClr val="5B6372"/>
                </a:solidFill>
                <a:latin typeface="Arial"/>
              </a:rPr>
              <a:t>Topic 04 · Labs 16–20</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Day 5 — Integration, Testing, Security and Assessment</a:t>
            </a:r>
          </a:p>
          <a:p>
            <a:pPr algn="l">
              <a:spcAft>
                <a:spcPts val="300"/>
              </a:spcAft>
            </a:pPr>
            <a:r>
              <a:rPr sz="1100" b="0">
                <a:solidFill>
                  <a:srgbClr val="5B6372"/>
                </a:solidFill>
                <a:latin typeface="Arial"/>
              </a:rPr>
              <a:t>Topic 05 · Labs 21–25 + Assessment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Daily timing</a:t>
            </a:r>
          </a:p>
          <a:p>
            <a:pPr algn="l">
              <a:spcAft>
                <a:spcPts val="300"/>
              </a:spcAft>
            </a:pPr>
            <a:r>
              <a:rPr sz="1100" b="0">
                <a:solidFill>
                  <a:srgbClr val="5B6372"/>
                </a:solidFill>
                <a:latin typeface="Arial"/>
              </a:rPr>
              <a:t>9:30am–6:30pm · 1-hour lunch · tea breaks within</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ONE STORY, TWENTY-FIVE LABS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Course Scenario</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Lumina Living Pte Ltd</a:t>
            </a:r>
          </a:p>
          <a:p>
            <a:pPr algn="l">
              <a:spcAft>
                <a:spcPts val="300"/>
              </a:spcAft>
            </a:pPr>
            <a:r>
              <a:rPr sz="1200" b="0">
                <a:solidFill>
                  <a:srgbClr val="5B6372"/>
                </a:solidFill>
                <a:latin typeface="Arial"/>
              </a:rPr>
              <a:t>A Singapore workspace-furniture company.</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The Sustainable Workspace campaign</a:t>
            </a:r>
          </a:p>
          <a:p>
            <a:pPr algn="l">
              <a:spcAft>
                <a:spcPts val="300"/>
              </a:spcAft>
            </a:pPr>
            <a:r>
              <a:rPr sz="1200" b="0">
                <a:solidFill>
                  <a:srgbClr val="5B6372"/>
                </a:solidFill>
                <a:latin typeface="Arial"/>
              </a:rPr>
              <a:t>One connected scenario across all 25 labs.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Day 1–2</a:t>
            </a:r>
          </a:p>
          <a:p>
            <a:pPr algn="l">
              <a:spcAft>
                <a:spcPts val="300"/>
              </a:spcAft>
            </a:pPr>
            <a:r>
              <a:rPr sz="1200" b="0">
                <a:solidFill>
                  <a:srgbClr val="5B6372"/>
                </a:solidFill>
                <a:latin typeface="Arial"/>
              </a:rPr>
              <a:t>You create and verify the campaign's content.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Day 3–5</a:t>
            </a:r>
          </a:p>
          <a:p>
            <a:pPr algn="l">
              <a:spcAft>
                <a:spcPts val="300"/>
              </a:spcAft>
            </a:pPr>
            <a:r>
              <a:rPr sz="1200" b="0">
                <a:solidFill>
                  <a:srgbClr val="5B6372"/>
                </a:solidFill>
                <a:latin typeface="Arial"/>
              </a:rPr>
              <a:t>You automate the process behind it and put agents on it.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BEFORE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Briefing for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Phones away</a:t>
            </a:r>
          </a:p>
          <a:p>
            <a:pPr algn="l">
              <a:spcAft>
                <a:spcPts val="300"/>
              </a:spcAft>
            </a:pPr>
            <a:r>
              <a:rPr sz="1100" b="0">
                <a:solidFill>
                  <a:srgbClr val="5B6372"/>
                </a:solidFill>
                <a:latin typeface="Arial"/>
              </a:rPr>
              <a:t>Place phones and other materials under the table or on the floor.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No recording</a:t>
            </a:r>
          </a:p>
          <a:p>
            <a:pPr algn="l">
              <a:spcAft>
                <a:spcPts val="300"/>
              </a:spcAft>
            </a:pPr>
            <a:r>
              <a:rPr sz="1100" b="0">
                <a:solidFill>
                  <a:srgbClr val="5B6372"/>
                </a:solidFill>
                <a:latin typeface="Arial"/>
              </a:rPr>
              <a:t>No photos or recording of assessment scripts, at any point.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No discussion</a:t>
            </a:r>
          </a:p>
          <a:p>
            <a:pPr algn="l">
              <a:spcAft>
                <a:spcPts val="300"/>
              </a:spcAft>
            </a:pPr>
            <a:r>
              <a:rPr sz="1100" b="0">
                <a:solidFill>
                  <a:srgbClr val="5B6372"/>
                </a:solidFill>
                <a:latin typeface="Arial"/>
              </a:rPr>
              <a:t>Work individually — no discussion once the assessment starts.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Black or blue pen</a:t>
            </a:r>
          </a:p>
          <a:p>
            <a:pPr algn="l">
              <a:spcAft>
                <a:spcPts val="300"/>
              </a:spcAft>
            </a:pPr>
            <a:r>
              <a:rPr sz="1100" b="0">
                <a:solidFill>
                  <a:srgbClr val="5B6372"/>
                </a:solidFill>
                <a:latin typeface="Arial"/>
              </a:rPr>
              <a:t>Use a black or blue pen for any hard-copy assessment.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No correction fluid</a:t>
            </a:r>
          </a:p>
          <a:p>
            <a:pPr algn="l">
              <a:spcAft>
                <a:spcPts val="300"/>
              </a:spcAft>
            </a:pPr>
            <a:r>
              <a:rPr sz="1100" b="0">
                <a:solidFill>
                  <a:srgbClr val="5B6372"/>
                </a:solidFill>
                <a:latin typeface="Arial"/>
              </a:rPr>
              <a:t>No liquid paper or correction tape; strike through instead.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Time is called</a:t>
            </a:r>
          </a:p>
          <a:p>
            <a:pPr algn="l">
              <a:spcAft>
                <a:spcPts val="300"/>
              </a:spcAft>
            </a:pPr>
            <a:r>
              <a:rPr sz="1100" b="0">
                <a:solidFill>
                  <a:srgbClr val="5B6372"/>
                </a:solidFill>
                <a:latin typeface="Arial"/>
              </a:rPr>
              <a:t>Scripts are collected when time is up — submit before then.</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2764962" cy="548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28800"/>
            <a:ext cx="2490642" cy="548640"/>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3542202" y="1828800"/>
            <a:ext cx="3934755" cy="548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1930" y="1828800"/>
            <a:ext cx="3715299" cy="548640"/>
          </a:xfrm>
          <a:prstGeom prst="rect">
            <a:avLst/>
          </a:prstGeom>
          <a:noFill/>
        </p:spPr>
        <p:txBody>
          <a:bodyPr wrap="square" anchor="ctr">
            <a:spAutoFit/>
          </a:bodyPr>
          <a:lstStyle/>
          <a:p>
            <a:pPr algn="ctr">
              <a:spcAft>
                <a:spcPts val="400"/>
              </a:spcAft>
            </a:pPr>
            <a:r>
              <a:rPr sz="1300" b="1">
                <a:solidFill>
                  <a:srgbClr val="FFFFFF"/>
                </a:solidFill>
                <a:latin typeface="Arial"/>
              </a:rPr>
              <a:t>Written Assessment (WA)</a:t>
            </a:r>
          </a:p>
        </p:txBody>
      </p:sp>
      <p:sp>
        <p:nvSpPr>
          <p:cNvPr id="11" name="Rectangle 10"/>
          <p:cNvSpPr/>
          <p:nvPr/>
        </p:nvSpPr>
        <p:spPr>
          <a:xfrm>
            <a:off x="7476957" y="1828800"/>
            <a:ext cx="3934755" cy="548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6685" y="1828800"/>
            <a:ext cx="3715299" cy="548640"/>
          </a:xfrm>
          <a:prstGeom prst="rect">
            <a:avLst/>
          </a:prstGeom>
          <a:noFill/>
        </p:spPr>
        <p:txBody>
          <a:bodyPr wrap="square" anchor="ctr">
            <a:spAutoFit/>
          </a:bodyPr>
          <a:lstStyle/>
          <a:p>
            <a:pPr algn="ctr">
              <a:spcAft>
                <a:spcPts val="400"/>
              </a:spcAft>
            </a:pPr>
            <a:r>
              <a:rPr sz="1300" b="1">
                <a:solidFill>
                  <a:srgbClr val="FFFFFF"/>
                </a:solidFill>
                <a:latin typeface="Arial"/>
              </a:rPr>
              <a:t>Practical Performance (PP)</a:t>
            </a:r>
          </a:p>
        </p:txBody>
      </p:sp>
      <p:sp>
        <p:nvSpPr>
          <p:cNvPr id="13" name="Rectangle 12"/>
          <p:cNvSpPr/>
          <p:nvPr/>
        </p:nvSpPr>
        <p:spPr>
          <a:xfrm>
            <a:off x="777240" y="2377440"/>
            <a:ext cx="2764962"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377440"/>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Format</a:t>
            </a:r>
          </a:p>
        </p:txBody>
      </p:sp>
      <p:sp>
        <p:nvSpPr>
          <p:cNvPr id="15" name="Rectangle 14"/>
          <p:cNvSpPr/>
          <p:nvPr/>
        </p:nvSpPr>
        <p:spPr>
          <a:xfrm>
            <a:off x="3542202" y="2377440"/>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1930" y="2377440"/>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Short-answer questions (SAQ)</a:t>
            </a:r>
          </a:p>
        </p:txBody>
      </p:sp>
      <p:sp>
        <p:nvSpPr>
          <p:cNvPr id="17" name="Rectangle 16"/>
          <p:cNvSpPr/>
          <p:nvPr/>
        </p:nvSpPr>
        <p:spPr>
          <a:xfrm>
            <a:off x="7476957" y="2377440"/>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6685" y="2377440"/>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Hands-on practical tasks</a:t>
            </a:r>
          </a:p>
        </p:txBody>
      </p:sp>
      <p:sp>
        <p:nvSpPr>
          <p:cNvPr id="19" name="Rectangle 18"/>
          <p:cNvSpPr/>
          <p:nvPr/>
        </p:nvSpPr>
        <p:spPr>
          <a:xfrm>
            <a:off x="777240" y="2852928"/>
            <a:ext cx="2764962"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2852928"/>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What it tests</a:t>
            </a:r>
          </a:p>
        </p:txBody>
      </p:sp>
      <p:sp>
        <p:nvSpPr>
          <p:cNvPr id="21" name="Rectangle 20"/>
          <p:cNvSpPr/>
          <p:nvPr/>
        </p:nvSpPr>
        <p:spPr>
          <a:xfrm>
            <a:off x="3542202" y="2852928"/>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1930" y="2852928"/>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Underpinning knowledge K1-K5</a:t>
            </a:r>
          </a:p>
        </p:txBody>
      </p:sp>
      <p:sp>
        <p:nvSpPr>
          <p:cNvPr id="23" name="Rectangle 22"/>
          <p:cNvSpPr/>
          <p:nvPr/>
        </p:nvSpPr>
        <p:spPr>
          <a:xfrm>
            <a:off x="7476957" y="2852928"/>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86685" y="2852928"/>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Practical ability A1-A8</a:t>
            </a:r>
          </a:p>
        </p:txBody>
      </p:sp>
      <p:sp>
        <p:nvSpPr>
          <p:cNvPr id="25" name="Rectangle 24"/>
          <p:cNvSpPr/>
          <p:nvPr/>
        </p:nvSpPr>
        <p:spPr>
          <a:xfrm>
            <a:off x="777240" y="3328416"/>
            <a:ext cx="2764962"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3328416"/>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Duration</a:t>
            </a:r>
          </a:p>
        </p:txBody>
      </p:sp>
      <p:sp>
        <p:nvSpPr>
          <p:cNvPr id="27" name="Rectangle 26"/>
          <p:cNvSpPr/>
          <p:nvPr/>
        </p:nvSpPr>
        <p:spPr>
          <a:xfrm>
            <a:off x="3542202" y="3328416"/>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1930" y="3328416"/>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1 hour</a:t>
            </a:r>
          </a:p>
        </p:txBody>
      </p:sp>
      <p:sp>
        <p:nvSpPr>
          <p:cNvPr id="29" name="Rectangle 28"/>
          <p:cNvSpPr/>
          <p:nvPr/>
        </p:nvSpPr>
        <p:spPr>
          <a:xfrm>
            <a:off x="7476957" y="3328416"/>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86685" y="3328416"/>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1 hour</a:t>
            </a:r>
          </a:p>
        </p:txBody>
      </p:sp>
      <p:sp>
        <p:nvSpPr>
          <p:cNvPr id="31" name="Rectangle 30"/>
          <p:cNvSpPr/>
          <p:nvPr/>
        </p:nvSpPr>
        <p:spPr>
          <a:xfrm>
            <a:off x="777240" y="3803904"/>
            <a:ext cx="2764962"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3803904"/>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Conditions</a:t>
            </a:r>
          </a:p>
        </p:txBody>
      </p:sp>
      <p:sp>
        <p:nvSpPr>
          <p:cNvPr id="33" name="Rectangle 32"/>
          <p:cNvSpPr/>
          <p:nvPr/>
        </p:nvSpPr>
        <p:spPr>
          <a:xfrm>
            <a:off x="3542202" y="3803904"/>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51930" y="3803904"/>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Open book, individual</a:t>
            </a:r>
          </a:p>
        </p:txBody>
      </p:sp>
      <p:sp>
        <p:nvSpPr>
          <p:cNvPr id="35" name="Rectangle 34"/>
          <p:cNvSpPr/>
          <p:nvPr/>
        </p:nvSpPr>
        <p:spPr>
          <a:xfrm>
            <a:off x="7476957" y="3803904"/>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586685" y="3803904"/>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Open book, individual</a:t>
            </a:r>
          </a:p>
        </p:txBody>
      </p:sp>
      <p:sp>
        <p:nvSpPr>
          <p:cNvPr id="37" name="Rectangle 36"/>
          <p:cNvSpPr/>
          <p:nvPr/>
        </p:nvSpPr>
        <p:spPr>
          <a:xfrm>
            <a:off x="777240" y="4279392"/>
            <a:ext cx="2764962"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4400" y="4279392"/>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Submission</a:t>
            </a:r>
          </a:p>
        </p:txBody>
      </p:sp>
      <p:sp>
        <p:nvSpPr>
          <p:cNvPr id="39" name="Rectangle 38"/>
          <p:cNvSpPr/>
          <p:nvPr/>
        </p:nvSpPr>
        <p:spPr>
          <a:xfrm>
            <a:off x="3542202" y="4279392"/>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51930" y="4279392"/>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On the LMS</a:t>
            </a:r>
          </a:p>
        </p:txBody>
      </p:sp>
      <p:sp>
        <p:nvSpPr>
          <p:cNvPr id="41" name="Rectangle 40"/>
          <p:cNvSpPr/>
          <p:nvPr/>
        </p:nvSpPr>
        <p:spPr>
          <a:xfrm>
            <a:off x="7476957" y="4279392"/>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586685" y="4279392"/>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On the LMS, with evidence</a:t>
            </a:r>
          </a:p>
        </p:txBody>
      </p:sp>
      <p:sp>
        <p:nvSpPr>
          <p:cNvPr id="43" name="TextBox 42"/>
          <p:cNvSpPr txBox="1"/>
          <p:nvPr/>
        </p:nvSpPr>
        <p:spPr>
          <a:xfrm>
            <a:off x="777240" y="4983480"/>
            <a:ext cx="10634472" cy="457200"/>
          </a:xfrm>
          <a:prstGeom prst="rect">
            <a:avLst/>
          </a:prstGeom>
          <a:noFill/>
        </p:spPr>
        <p:txBody>
          <a:bodyPr wrap="square" anchor="t">
            <a:spAutoFit/>
          </a:bodyPr>
          <a:lstStyle/>
          <a:p>
            <a:pPr algn="l">
              <a:spcAft>
                <a:spcPts val="400"/>
              </a:spcAft>
            </a:pPr>
            <a:r>
              <a:rPr sz="1100" b="1">
                <a:solidFill>
                  <a:srgbClr val="1F6FEB"/>
                </a:solidFill>
                <a:latin typeface="Arial"/>
              </a:rPr>
              <a:t>RULE   </a:t>
            </a:r>
            <a:r>
              <a:rPr sz="1300" b="0">
                <a:solidFill>
                  <a:srgbClr val="161B26"/>
                </a:solidFill>
                <a:latin typeface="Arial"/>
              </a:rPr>
              <a:t>Open book: slides, Learner Guide and your completed lab files. 75% attendance is required; a re-assessment and appeal process is available.</a:t>
            </a:r>
          </a:p>
        </p:txBody>
      </p:sp>
      <p:sp>
        <p:nvSpPr>
          <p:cNvPr id="44" name="TextBox 4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45" name="TextBox 4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6" name="TextBox 4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1" name="TextBox 10"/>
          <p:cNvSpPr txBox="1"/>
          <p:nvPr/>
        </p:nvSpPr>
        <p:spPr>
          <a:xfrm>
            <a:off x="923544" y="3703320"/>
            <a:ext cx="1585569" cy="1371600"/>
          </a:xfrm>
          <a:prstGeom prst="rect">
            <a:avLst/>
          </a:prstGeom>
          <a:noFill/>
        </p:spPr>
        <p:txBody>
          <a:bodyPr wrap="square" anchor="t">
            <a:spAutoFit/>
          </a:bodyPr>
          <a:lstStyle/>
          <a:p>
            <a:pPr algn="ctr">
              <a:spcAft>
                <a:spcPts val="400"/>
              </a:spcAft>
            </a:pPr>
            <a:r>
              <a:rPr sz="1300" b="0">
                <a:solidFill>
                  <a:srgbClr val="161B26"/>
                </a:solidFill>
                <a:latin typeface="Arial"/>
              </a:rPr>
              <a:t>TRAQOM survey — scan the QR code on the LMS</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7" name="TextBox 16"/>
          <p:cNvSpPr txBox="1"/>
          <p:nvPr/>
        </p:nvSpPr>
        <p:spPr>
          <a:xfrm>
            <a:off x="3112617" y="3703320"/>
            <a:ext cx="1585569" cy="1371600"/>
          </a:xfrm>
          <a:prstGeom prst="rect">
            <a:avLst/>
          </a:prstGeom>
          <a:noFill/>
        </p:spPr>
        <p:txBody>
          <a:bodyPr wrap="square" anchor="t">
            <a:spAutoFit/>
          </a:bodyPr>
          <a:lstStyle/>
          <a:p>
            <a:pPr algn="ctr">
              <a:spcAft>
                <a:spcPts val="400"/>
              </a:spcAft>
            </a:pPr>
            <a:r>
              <a:rPr sz="1300" b="0">
                <a:solidFill>
                  <a:srgbClr val="161B26"/>
                </a:solidFill>
                <a:latin typeface="Arial"/>
              </a:rPr>
              <a:t>Assessment digital attendance — scan the SSG QR</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3" name="TextBox 22"/>
          <p:cNvSpPr txBox="1"/>
          <p:nvPr/>
        </p:nvSpPr>
        <p:spPr>
          <a:xfrm>
            <a:off x="5301690" y="3703320"/>
            <a:ext cx="1585569" cy="1371600"/>
          </a:xfrm>
          <a:prstGeom prst="rect">
            <a:avLst/>
          </a:prstGeom>
          <a:noFill/>
        </p:spPr>
        <p:txBody>
          <a:bodyPr wrap="square" anchor="t">
            <a:spAutoFit/>
          </a:bodyPr>
          <a:lstStyle/>
          <a:p>
            <a:pPr algn="ctr">
              <a:spcAft>
                <a:spcPts val="400"/>
              </a:spcAft>
            </a:pPr>
            <a:r>
              <a:rPr sz="1300" b="0">
                <a:solidFill>
                  <a:srgbClr val="161B26"/>
                </a:solidFill>
                <a:latin typeface="Arial"/>
              </a:rPr>
              <a:t>Sit WA (SAQ) then PP — open book</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9" name="TextBox 28"/>
          <p:cNvSpPr txBox="1"/>
          <p:nvPr/>
        </p:nvSpPr>
        <p:spPr>
          <a:xfrm>
            <a:off x="7490763" y="3703320"/>
            <a:ext cx="1585569" cy="1371600"/>
          </a:xfrm>
          <a:prstGeom prst="rect">
            <a:avLst/>
          </a:prstGeom>
          <a:noFill/>
        </p:spPr>
        <p:txBody>
          <a:bodyPr wrap="square" anchor="t">
            <a:spAutoFit/>
          </a:bodyPr>
          <a:lstStyle/>
          <a:p>
            <a:pPr algn="ctr">
              <a:spcAft>
                <a:spcPts val="400"/>
              </a:spcAft>
            </a:pPr>
            <a:r>
              <a:rPr sz="1300" b="0">
                <a:solidFill>
                  <a:srgbClr val="161B26"/>
                </a:solidFill>
                <a:latin typeface="Arial"/>
              </a:rPr>
              <a:t>Submit your answers on the LMS</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5" name="TextBox 34"/>
          <p:cNvSpPr txBox="1"/>
          <p:nvPr/>
        </p:nvSpPr>
        <p:spPr>
          <a:xfrm>
            <a:off x="9679836" y="3703320"/>
            <a:ext cx="1585569" cy="1371600"/>
          </a:xfrm>
          <a:prstGeom prst="rect">
            <a:avLst/>
          </a:prstGeom>
          <a:noFill/>
        </p:spPr>
        <p:txBody>
          <a:bodyPr wrap="square" anchor="t">
            <a:spAutoFit/>
          </a:bodyPr>
          <a:lstStyle/>
          <a:p>
            <a:pPr algn="ctr">
              <a:spcAft>
                <a:spcPts val="400"/>
              </a:spcAft>
            </a:pPr>
            <a:r>
              <a:rPr sz="1300" b="0">
                <a:solidFill>
                  <a:srgbClr val="161B26"/>
                </a:solidFill>
                <a:latin typeface="Arial"/>
              </a:rPr>
              <a:t>Sign the Assessment Summary Record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01</a:t>
            </a:r>
          </a:p>
        </p:txBody>
      </p:sp>
      <p:sp>
        <p:nvSpPr>
          <p:cNvPr id="6" name="TextBox 5"/>
          <p:cNvSpPr txBox="1"/>
          <p:nvPr/>
        </p:nvSpPr>
        <p:spPr>
          <a:xfrm>
            <a:off x="1143000" y="2743200"/>
            <a:ext cx="9692640" cy="1463040"/>
          </a:xfrm>
          <a:prstGeom prst="rect">
            <a:avLst/>
          </a:prstGeom>
          <a:noFill/>
        </p:spPr>
        <p:txBody>
          <a:bodyPr wrap="square" anchor="t">
            <a:spAutoFit/>
          </a:bodyPr>
          <a:lstStyle/>
          <a:p>
            <a:pPr algn="l">
              <a:spcAft>
                <a:spcPts val="400"/>
              </a:spcAft>
            </a:pPr>
            <a:r>
              <a:rPr sz="3600" b="1">
                <a:solidFill>
                  <a:srgbClr val="161B26"/>
                </a:solidFill>
                <a:latin typeface="Arial"/>
              </a:rPr>
              <a:t>Copilot Foundations and Content Creation in Word and PowerPoint</a:t>
            </a:r>
          </a:p>
        </p:txBody>
      </p:sp>
      <p:sp>
        <p:nvSpPr>
          <p:cNvPr id="7" name="TextBox 6"/>
          <p:cNvSpPr txBox="1"/>
          <p:nvPr/>
        </p:nvSpPr>
        <p:spPr>
          <a:xfrm>
            <a:off x="1161288" y="4343400"/>
            <a:ext cx="9692640" cy="822960"/>
          </a:xfrm>
          <a:prstGeom prst="rect">
            <a:avLst/>
          </a:prstGeom>
          <a:noFill/>
        </p:spPr>
        <p:txBody>
          <a:bodyPr wrap="square" anchor="t">
            <a:spAutoFit/>
          </a:bodyPr>
          <a:lstStyle/>
          <a:p>
            <a:pPr algn="l">
              <a:spcAft>
                <a:spcPts val="400"/>
              </a:spcAft>
            </a:pPr>
            <a:r>
              <a:rPr sz="1500" b="0">
                <a:solidFill>
                  <a:srgbClr val="5B6372"/>
                </a:solidFill>
                <a:latin typeface="Arial"/>
              </a:rPr>
              <a:t>Grounding · responsible use · prompt design · drafting · presentation storytelling</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DAY 1 · WHAT THIS TOPIC COVERS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Key Concepts — Topic 01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74520"/>
            <a:ext cx="4027932" cy="1152144"/>
          </a:xfrm>
          <a:prstGeom prst="rect">
            <a:avLst/>
          </a:prstGeom>
          <a:noFill/>
        </p:spPr>
        <p:txBody>
          <a:bodyPr wrap="square" anchor="ctr">
            <a:spAutoFit/>
          </a:bodyPr>
          <a:lstStyle/>
          <a:p>
            <a:pPr algn="l">
              <a:spcAft>
                <a:spcPts val="400"/>
              </a:spcAft>
            </a:pPr>
            <a:r>
              <a:rPr sz="1400" b="0">
                <a:solidFill>
                  <a:srgbClr val="161B26"/>
                </a:solidFill>
                <a:latin typeface="Arial"/>
              </a:rPr>
              <a:t>Microsoft 365 Copilot combines your prompt with permitted work context; existing access permissions always still apply.</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74520"/>
            <a:ext cx="4027932" cy="1152144"/>
          </a:xfrm>
          <a:prstGeom prst="rect">
            <a:avLst/>
          </a:prstGeom>
          <a:noFill/>
        </p:spPr>
        <p:txBody>
          <a:bodyPr wrap="square" anchor="ctr">
            <a:spAutoFit/>
          </a:bodyPr>
          <a:lstStyle/>
          <a:p>
            <a:pPr algn="l">
              <a:spcAft>
                <a:spcPts val="400"/>
              </a:spcAft>
            </a:pPr>
            <a:r>
              <a:rPr sz="1400" b="0">
                <a:solidFill>
                  <a:srgbClr val="161B26"/>
                </a:solidFill>
                <a:latin typeface="Arial"/>
              </a:rPr>
              <a:t>The prompt contract states the goal, the context, the source and the expected output format, then verifies the result.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0712"/>
            <a:ext cx="4027932" cy="1152144"/>
          </a:xfrm>
          <a:prstGeom prst="rect">
            <a:avLst/>
          </a:prstGeom>
          <a:noFill/>
        </p:spPr>
        <p:txBody>
          <a:bodyPr wrap="square" anchor="ctr">
            <a:spAutoFit/>
          </a:bodyPr>
          <a:lstStyle/>
          <a:p>
            <a:pPr algn="l">
              <a:spcAft>
                <a:spcPts val="400"/>
              </a:spcAft>
            </a:pPr>
            <a:r>
              <a:rPr sz="1400" b="0">
                <a:solidFill>
                  <a:srgbClr val="161B26"/>
                </a:solidFill>
                <a:latin typeface="Arial"/>
              </a:rPr>
              <a:t>Copilot proposes and the user disposes: the human checks evidence, tone, sensitivity and final release.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10712"/>
            <a:ext cx="4027932" cy="1152144"/>
          </a:xfrm>
          <a:prstGeom prst="rect">
            <a:avLst/>
          </a:prstGeom>
          <a:noFill/>
        </p:spPr>
        <p:txBody>
          <a:bodyPr wrap="square" anchor="ctr">
            <a:spAutoFit/>
          </a:bodyPr>
          <a:lstStyle/>
          <a:p>
            <a:pPr algn="l">
              <a:spcAft>
                <a:spcPts val="400"/>
              </a:spcAft>
            </a:pPr>
            <a:r>
              <a:rPr sz="1400" b="0">
                <a:solidFill>
                  <a:srgbClr val="161B26"/>
                </a:solidFill>
                <a:latin typeface="Arial"/>
              </a:rPr>
              <a:t>Word turns approved evidence into a structured narrative; a reference document keeps the draft anchored to fact.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6904"/>
            <a:ext cx="4027932" cy="1152144"/>
          </a:xfrm>
          <a:prstGeom prst="rect">
            <a:avLst/>
          </a:prstGeom>
          <a:noFill/>
        </p:spPr>
        <p:txBody>
          <a:bodyPr wrap="square" anchor="ctr">
            <a:spAutoFit/>
          </a:bodyPr>
          <a:lstStyle/>
          <a:p>
            <a:pPr algn="l">
              <a:spcAft>
                <a:spcPts val="400"/>
              </a:spcAft>
            </a:pPr>
            <a:r>
              <a:rPr sz="1400" b="0">
                <a:solidFill>
                  <a:srgbClr val="161B26"/>
                </a:solidFill>
                <a:latin typeface="Arial"/>
              </a:rPr>
              <a:t>PowerPoint converts an approved narrative into a decision-led story with one message per slide.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46904"/>
            <a:ext cx="4027932" cy="1152144"/>
          </a:xfrm>
          <a:prstGeom prst="rect">
            <a:avLst/>
          </a:prstGeom>
          <a:noFill/>
        </p:spPr>
        <p:txBody>
          <a:bodyPr wrap="square" anchor="ctr">
            <a:spAutoFit/>
          </a:bodyPr>
          <a:lstStyle/>
          <a:p>
            <a:pPr algn="l">
              <a:spcAft>
                <a:spcPts val="400"/>
              </a:spcAft>
            </a:pPr>
            <a:r>
              <a:rPr sz="1400" b="0">
                <a:solidFill>
                  <a:srgbClr val="161B26"/>
                </a:solidFill>
                <a:latin typeface="Arial"/>
              </a:rPr>
              <a:t>Responsible AI principles — fairness, reliability, privacy, inclusiveness, transparency and accountability — govern every use.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 WILL DO</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Hands-On Labs — Topic 01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640080"/>
          </a:xfrm>
          <a:prstGeom prst="rect">
            <a:avLst/>
          </a:prstGeom>
          <a:noFill/>
        </p:spPr>
        <p:txBody>
          <a:bodyPr wrap="square" anchor="t">
            <a:spAutoFit/>
          </a:bodyPr>
          <a:lstStyle/>
          <a:p>
            <a:pPr algn="l">
              <a:spcAft>
                <a:spcPts val="400"/>
              </a:spcAft>
            </a:pPr>
            <a:r>
              <a:rPr sz="1800" b="1">
                <a:solidFill>
                  <a:srgbClr val="1F6FEB"/>
                </a:solidFill>
                <a:latin typeface="Arial"/>
              </a:rPr>
              <a:t>Labs 01–02</a:t>
            </a:r>
          </a:p>
        </p:txBody>
      </p:sp>
      <p:sp>
        <p:nvSpPr>
          <p:cNvPr id="10" name="TextBox 9"/>
          <p:cNvSpPr txBox="1"/>
          <p:nvPr/>
        </p:nvSpPr>
        <p:spPr>
          <a:xfrm>
            <a:off x="1005840" y="2743200"/>
            <a:ext cx="2926080" cy="3063240"/>
          </a:xfrm>
          <a:prstGeom prst="rect">
            <a:avLst/>
          </a:prstGeom>
          <a:noFill/>
        </p:spPr>
        <p:txBody>
          <a:bodyPr wrap="square">
            <a:spAutoFit/>
          </a:bodyPr>
          <a:lstStyle/>
          <a:p>
            <a:pPr>
              <a:spcAft>
                <a:spcPts val="900"/>
              </a:spcAft>
            </a:pPr>
            <a:r>
              <a:rPr sz="1300">
                <a:solidFill>
                  <a:srgbClr val="161B26"/>
                </a:solidFill>
                <a:latin typeface="Arial"/>
              </a:rPr>
              <a:t>•  Set Up Microsoft 365 Copilot and Prompt Safely</a:t>
            </a:r>
          </a:p>
          <a:p>
            <a:pPr>
              <a:spcAft>
                <a:spcPts val="900"/>
              </a:spcAft>
            </a:pPr>
            <a:r>
              <a:rPr sz="1300">
                <a:solidFill>
                  <a:srgbClr val="161B26"/>
                </a:solidFill>
                <a:latin typeface="Arial"/>
              </a:rPr>
              <a:t>•  Draft a Project Brief in Word from Excel Evidence</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640080"/>
          </a:xfrm>
          <a:prstGeom prst="rect">
            <a:avLst/>
          </a:prstGeom>
          <a:noFill/>
        </p:spPr>
        <p:txBody>
          <a:bodyPr wrap="square" anchor="t">
            <a:spAutoFit/>
          </a:bodyPr>
          <a:lstStyle/>
          <a:p>
            <a:pPr algn="l">
              <a:spcAft>
                <a:spcPts val="400"/>
              </a:spcAft>
            </a:pPr>
            <a:r>
              <a:rPr sz="1800" b="1">
                <a:solidFill>
                  <a:srgbClr val="10B981"/>
                </a:solidFill>
                <a:latin typeface="Arial"/>
              </a:rPr>
              <a:t>Labs 03–04</a:t>
            </a:r>
          </a:p>
        </p:txBody>
      </p:sp>
      <p:sp>
        <p:nvSpPr>
          <p:cNvPr id="14" name="TextBox 13"/>
          <p:cNvSpPr txBox="1"/>
          <p:nvPr/>
        </p:nvSpPr>
        <p:spPr>
          <a:xfrm>
            <a:off x="4800600" y="2743200"/>
            <a:ext cx="2926080" cy="3063240"/>
          </a:xfrm>
          <a:prstGeom prst="rect">
            <a:avLst/>
          </a:prstGeom>
          <a:noFill/>
        </p:spPr>
        <p:txBody>
          <a:bodyPr wrap="square">
            <a:spAutoFit/>
          </a:bodyPr>
          <a:lstStyle/>
          <a:p>
            <a:pPr>
              <a:spcAft>
                <a:spcPts val="900"/>
              </a:spcAft>
            </a:pPr>
            <a:r>
              <a:rPr sz="1300">
                <a:solidFill>
                  <a:srgbClr val="161B26"/>
                </a:solidFill>
                <a:latin typeface="Arial"/>
              </a:rPr>
              <a:t>•  Refine a Responsible Copilot Use Policy in Word</a:t>
            </a:r>
          </a:p>
          <a:p>
            <a:pPr>
              <a:spcAft>
                <a:spcPts val="900"/>
              </a:spcAft>
            </a:pPr>
            <a:r>
              <a:rPr sz="1300">
                <a:solidFill>
                  <a:srgbClr val="161B26"/>
                </a:solidFill>
                <a:latin typeface="Arial"/>
              </a:rPr>
              <a:t>•  Build a PowerPoint Story from Word and Excel</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640080"/>
          </a:xfrm>
          <a:prstGeom prst="rect">
            <a:avLst/>
          </a:prstGeom>
          <a:noFill/>
        </p:spPr>
        <p:txBody>
          <a:bodyPr wrap="square" anchor="t">
            <a:spAutoFit/>
          </a:bodyPr>
          <a:lstStyle/>
          <a:p>
            <a:pPr algn="l">
              <a:spcAft>
                <a:spcPts val="400"/>
              </a:spcAft>
            </a:pPr>
            <a:r>
              <a:rPr sz="1800" b="1">
                <a:solidFill>
                  <a:srgbClr val="7C3AED"/>
                </a:solidFill>
                <a:latin typeface="Arial"/>
              </a:rPr>
              <a:t>Labs 05–05</a:t>
            </a:r>
          </a:p>
        </p:txBody>
      </p:sp>
      <p:sp>
        <p:nvSpPr>
          <p:cNvPr id="18" name="TextBox 17"/>
          <p:cNvSpPr txBox="1"/>
          <p:nvPr/>
        </p:nvSpPr>
        <p:spPr>
          <a:xfrm>
            <a:off x="8595360" y="2743200"/>
            <a:ext cx="2926080" cy="3063240"/>
          </a:xfrm>
          <a:prstGeom prst="rect">
            <a:avLst/>
          </a:prstGeom>
          <a:noFill/>
        </p:spPr>
        <p:txBody>
          <a:bodyPr wrap="square">
            <a:spAutoFit/>
          </a:bodyPr>
          <a:lstStyle/>
          <a:p>
            <a:pPr>
              <a:spcAft>
                <a:spcPts val="900"/>
              </a:spcAft>
            </a:pPr>
            <a:r>
              <a:rPr sz="1300">
                <a:solidFill>
                  <a:srgbClr val="161B26"/>
                </a:solidFill>
                <a:latin typeface="Arial"/>
              </a:rPr>
              <a:t>•  Enhance PowerPoint with Native Charts and Speaker Notes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WORK SYSTEM</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Microsoft 365 Copilot Actually Is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An interface</a:t>
            </a:r>
          </a:p>
          <a:p>
            <a:pPr algn="l">
              <a:spcAft>
                <a:spcPts val="300"/>
              </a:spcAft>
            </a:pPr>
            <a:r>
              <a:rPr sz="1200" b="0">
                <a:solidFill>
                  <a:srgbClr val="5B6372"/>
                </a:solidFill>
                <a:latin typeface="Arial"/>
              </a:rPr>
              <a:t>Chat and in-app experiences accept a goal written in natural language.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A model</a:t>
            </a:r>
          </a:p>
          <a:p>
            <a:pPr algn="l">
              <a:spcAft>
                <a:spcPts val="300"/>
              </a:spcAft>
            </a:pPr>
            <a:r>
              <a:rPr sz="1200" b="0">
                <a:solidFill>
                  <a:srgbClr val="5B6372"/>
                </a:solidFill>
                <a:latin typeface="Arial"/>
              </a:rPr>
              <a:t>A large language model generates, transforms and summarises content.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Your work context</a:t>
            </a:r>
          </a:p>
          <a:p>
            <a:pPr algn="l">
              <a:spcAft>
                <a:spcPts val="300"/>
              </a:spcAft>
            </a:pPr>
            <a:r>
              <a:rPr sz="1200" b="0">
                <a:solidFill>
                  <a:srgbClr val="5B6372"/>
                </a:solidFill>
                <a:latin typeface="Arial"/>
              </a:rPr>
              <a:t>Permitted files, mail, chats and meetings can ground the answer.</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The apps</a:t>
            </a:r>
          </a:p>
          <a:p>
            <a:pPr algn="l">
              <a:spcAft>
                <a:spcPts val="300"/>
              </a:spcAft>
            </a:pPr>
            <a:r>
              <a:rPr sz="1200" b="0">
                <a:solidFill>
                  <a:srgbClr val="5B6372"/>
                </a:solidFill>
                <a:latin typeface="Arial"/>
              </a:rPr>
              <a:t>Word, PowerPoint, Excel, Outlook and Teams embed task-specific assistance.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GROUNDING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How a Grounded Answer Is Produced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2670048"/>
            <a:ext cx="1505102" cy="713232"/>
          </a:xfrm>
          <a:prstGeom prst="rect">
            <a:avLst/>
          </a:prstGeom>
          <a:noFill/>
        </p:spPr>
        <p:txBody>
          <a:bodyPr wrap="square" anchor="ctr">
            <a:spAutoFit/>
          </a:bodyPr>
          <a:lstStyle/>
          <a:p>
            <a:pPr algn="ctr">
              <a:spcAft>
                <a:spcPts val="400"/>
              </a:spcAft>
            </a:pPr>
            <a:r>
              <a:rPr sz="1500" b="1">
                <a:solidFill>
                  <a:srgbClr val="161B26"/>
                </a:solidFill>
                <a:latin typeface="Arial"/>
              </a:rPr>
              <a:t>You write a prompt</a:t>
            </a:r>
          </a:p>
        </p:txBody>
      </p:sp>
      <p:sp>
        <p:nvSpPr>
          <p:cNvPr id="10" name="TextBox 9"/>
          <p:cNvSpPr txBox="1"/>
          <p:nvPr/>
        </p:nvSpPr>
        <p:spPr>
          <a:xfrm>
            <a:off x="905256" y="3401568"/>
            <a:ext cx="1505102" cy="804672"/>
          </a:xfrm>
          <a:prstGeom prst="rect">
            <a:avLst/>
          </a:prstGeom>
          <a:noFill/>
        </p:spPr>
        <p:txBody>
          <a:bodyPr wrap="square" anchor="t">
            <a:spAutoFit/>
          </a:bodyPr>
          <a:lstStyle/>
          <a:p>
            <a:pPr algn="ctr">
              <a:spcAft>
                <a:spcPts val="400"/>
              </a:spcAft>
            </a:pPr>
            <a:r>
              <a:rPr sz="1100" b="0">
                <a:solidFill>
                  <a:srgbClr val="5B6372"/>
                </a:solidFill>
                <a:latin typeface="Arial"/>
              </a:rPr>
              <a:t>A goal stated in plain language</a:t>
            </a:r>
          </a:p>
        </p:txBody>
      </p:sp>
      <p:sp>
        <p:nvSpPr>
          <p:cNvPr id="11" name="Rectangle 10"/>
          <p:cNvSpPr/>
          <p:nvPr/>
        </p:nvSpPr>
        <p:spPr>
          <a:xfrm>
            <a:off x="2620670"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2737714"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995574"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95574"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23590" y="2670048"/>
            <a:ext cx="1505102" cy="713232"/>
          </a:xfrm>
          <a:prstGeom prst="rect">
            <a:avLst/>
          </a:prstGeom>
          <a:noFill/>
        </p:spPr>
        <p:txBody>
          <a:bodyPr wrap="square" anchor="ctr">
            <a:spAutoFit/>
          </a:bodyPr>
          <a:lstStyle/>
          <a:p>
            <a:pPr algn="ctr">
              <a:spcAft>
                <a:spcPts val="400"/>
              </a:spcAft>
            </a:pPr>
            <a:r>
              <a:rPr sz="1300" b="1">
                <a:solidFill>
                  <a:srgbClr val="161B26"/>
                </a:solidFill>
                <a:latin typeface="Arial"/>
              </a:rPr>
              <a:t>Copilot retrieves context</a:t>
            </a:r>
          </a:p>
        </p:txBody>
      </p:sp>
      <p:sp>
        <p:nvSpPr>
          <p:cNvPr id="16" name="TextBox 15"/>
          <p:cNvSpPr txBox="1"/>
          <p:nvPr/>
        </p:nvSpPr>
        <p:spPr>
          <a:xfrm>
            <a:off x="3123590" y="3401568"/>
            <a:ext cx="1505102" cy="804672"/>
          </a:xfrm>
          <a:prstGeom prst="rect">
            <a:avLst/>
          </a:prstGeom>
          <a:noFill/>
        </p:spPr>
        <p:txBody>
          <a:bodyPr wrap="square" anchor="t">
            <a:spAutoFit/>
          </a:bodyPr>
          <a:lstStyle/>
          <a:p>
            <a:pPr algn="ctr">
              <a:spcAft>
                <a:spcPts val="400"/>
              </a:spcAft>
            </a:pPr>
            <a:r>
              <a:rPr sz="1000" b="0">
                <a:solidFill>
                  <a:srgbClr val="5B6372"/>
                </a:solidFill>
                <a:latin typeface="Arial"/>
              </a:rPr>
              <a:t>Only files you already have permission to open</a:t>
            </a:r>
          </a:p>
        </p:txBody>
      </p:sp>
      <p:sp>
        <p:nvSpPr>
          <p:cNvPr id="17" name="Rectangle 16"/>
          <p:cNvSpPr/>
          <p:nvPr/>
        </p:nvSpPr>
        <p:spPr>
          <a:xfrm>
            <a:off x="4839004"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4956048"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213908"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213908"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41924" y="2670048"/>
            <a:ext cx="1505102" cy="713232"/>
          </a:xfrm>
          <a:prstGeom prst="rect">
            <a:avLst/>
          </a:prstGeom>
          <a:noFill/>
        </p:spPr>
        <p:txBody>
          <a:bodyPr wrap="square" anchor="ctr">
            <a:spAutoFit/>
          </a:bodyPr>
          <a:lstStyle/>
          <a:p>
            <a:pPr algn="ctr">
              <a:spcAft>
                <a:spcPts val="400"/>
              </a:spcAft>
            </a:pPr>
            <a:r>
              <a:rPr sz="1500" b="1">
                <a:solidFill>
                  <a:srgbClr val="161B26"/>
                </a:solidFill>
                <a:latin typeface="Arial"/>
              </a:rPr>
              <a:t>The model generates</a:t>
            </a:r>
          </a:p>
        </p:txBody>
      </p:sp>
      <p:sp>
        <p:nvSpPr>
          <p:cNvPr id="22" name="TextBox 21"/>
          <p:cNvSpPr txBox="1"/>
          <p:nvPr/>
        </p:nvSpPr>
        <p:spPr>
          <a:xfrm>
            <a:off x="5341924" y="3401568"/>
            <a:ext cx="1505102" cy="804672"/>
          </a:xfrm>
          <a:prstGeom prst="rect">
            <a:avLst/>
          </a:prstGeom>
          <a:noFill/>
        </p:spPr>
        <p:txBody>
          <a:bodyPr wrap="square" anchor="t">
            <a:spAutoFit/>
          </a:bodyPr>
          <a:lstStyle/>
          <a:p>
            <a:pPr algn="ctr">
              <a:spcAft>
                <a:spcPts val="400"/>
              </a:spcAft>
            </a:pPr>
            <a:r>
              <a:rPr sz="1000" b="0">
                <a:solidFill>
                  <a:srgbClr val="5B6372"/>
                </a:solidFill>
                <a:latin typeface="Arial"/>
              </a:rPr>
              <a:t>A draft answer built from prompt plus context</a:t>
            </a:r>
          </a:p>
        </p:txBody>
      </p:sp>
      <p:sp>
        <p:nvSpPr>
          <p:cNvPr id="23" name="Rectangle 22"/>
          <p:cNvSpPr/>
          <p:nvPr/>
        </p:nvSpPr>
        <p:spPr>
          <a:xfrm>
            <a:off x="7057338"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7174382"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432242"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32242"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60258" y="2670048"/>
            <a:ext cx="1505102" cy="713232"/>
          </a:xfrm>
          <a:prstGeom prst="rect">
            <a:avLst/>
          </a:prstGeom>
          <a:noFill/>
        </p:spPr>
        <p:txBody>
          <a:bodyPr wrap="square" anchor="ctr">
            <a:spAutoFit/>
          </a:bodyPr>
          <a:lstStyle/>
          <a:p>
            <a:pPr algn="ctr">
              <a:spcAft>
                <a:spcPts val="400"/>
              </a:spcAft>
            </a:pPr>
            <a:r>
              <a:rPr sz="1500" b="1">
                <a:solidFill>
                  <a:srgbClr val="161B26"/>
                </a:solidFill>
                <a:latin typeface="Arial"/>
              </a:rPr>
              <a:t>You verify</a:t>
            </a:r>
          </a:p>
        </p:txBody>
      </p:sp>
      <p:sp>
        <p:nvSpPr>
          <p:cNvPr id="28" name="TextBox 27"/>
          <p:cNvSpPr txBox="1"/>
          <p:nvPr/>
        </p:nvSpPr>
        <p:spPr>
          <a:xfrm>
            <a:off x="7560258" y="3401568"/>
            <a:ext cx="1505102" cy="804672"/>
          </a:xfrm>
          <a:prstGeom prst="rect">
            <a:avLst/>
          </a:prstGeom>
          <a:noFill/>
        </p:spPr>
        <p:txBody>
          <a:bodyPr wrap="square" anchor="t">
            <a:spAutoFit/>
          </a:bodyPr>
          <a:lstStyle/>
          <a:p>
            <a:pPr algn="ctr">
              <a:spcAft>
                <a:spcPts val="400"/>
              </a:spcAft>
            </a:pPr>
            <a:r>
              <a:rPr sz="1100" b="0">
                <a:solidFill>
                  <a:srgbClr val="5B6372"/>
                </a:solidFill>
                <a:latin typeface="Arial"/>
              </a:rPr>
              <a:t>Check the claim against the source</a:t>
            </a:r>
          </a:p>
        </p:txBody>
      </p:sp>
      <p:sp>
        <p:nvSpPr>
          <p:cNvPr id="29" name="Rectangle 28"/>
          <p:cNvSpPr/>
          <p:nvPr/>
        </p:nvSpPr>
        <p:spPr>
          <a:xfrm>
            <a:off x="9275672"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Freeform 29"/>
          <p:cNvSpPr/>
          <p:nvPr/>
        </p:nvSpPr>
        <p:spPr>
          <a:xfrm>
            <a:off x="9392716"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650576"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650576"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778592" y="2670048"/>
            <a:ext cx="1505102" cy="713232"/>
          </a:xfrm>
          <a:prstGeom prst="rect">
            <a:avLst/>
          </a:prstGeom>
          <a:noFill/>
        </p:spPr>
        <p:txBody>
          <a:bodyPr wrap="square" anchor="ctr">
            <a:spAutoFit/>
          </a:bodyPr>
          <a:lstStyle/>
          <a:p>
            <a:pPr algn="ctr">
              <a:spcAft>
                <a:spcPts val="400"/>
              </a:spcAft>
            </a:pPr>
            <a:r>
              <a:rPr sz="1500" b="1">
                <a:solidFill>
                  <a:srgbClr val="161B26"/>
                </a:solidFill>
                <a:latin typeface="Arial"/>
              </a:rPr>
              <a:t>You decide</a:t>
            </a:r>
          </a:p>
        </p:txBody>
      </p:sp>
      <p:sp>
        <p:nvSpPr>
          <p:cNvPr id="34" name="TextBox 33"/>
          <p:cNvSpPr txBox="1"/>
          <p:nvPr/>
        </p:nvSpPr>
        <p:spPr>
          <a:xfrm>
            <a:off x="9778592" y="3401568"/>
            <a:ext cx="1505102" cy="804672"/>
          </a:xfrm>
          <a:prstGeom prst="rect">
            <a:avLst/>
          </a:prstGeom>
          <a:noFill/>
        </p:spPr>
        <p:txBody>
          <a:bodyPr wrap="square" anchor="t">
            <a:spAutoFit/>
          </a:bodyPr>
          <a:lstStyle/>
          <a:p>
            <a:pPr algn="ctr">
              <a:spcAft>
                <a:spcPts val="400"/>
              </a:spcAft>
            </a:pPr>
            <a:r>
              <a:rPr sz="1100" b="0">
                <a:solidFill>
                  <a:srgbClr val="5B6372"/>
                </a:solidFill>
                <a:latin typeface="Arial"/>
              </a:rPr>
              <a:t>Release, correct or reject</a:t>
            </a:r>
          </a:p>
        </p:txBody>
      </p:sp>
      <p:sp>
        <p:nvSpPr>
          <p:cNvPr id="35" name="Rectangle 34"/>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F6FEB"/>
                </a:solidFill>
                <a:latin typeface="Arial"/>
              </a:rPr>
              <a:t>WHY IT MATTERS   </a:t>
            </a:r>
            <a:r>
              <a:rPr sz="1300" b="0">
                <a:solidFill>
                  <a:srgbClr val="161B26"/>
                </a:solidFill>
                <a:latin typeface="Arial"/>
              </a:rPr>
              <a:t>Copilot never widens your access. If you could not open the file yourself, Copilot cannot use it for you.</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KNOW WHICH SURFACE YOU ARE 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Web Grounding vs Work Grounding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2764962" cy="548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28800"/>
            <a:ext cx="2490642" cy="548640"/>
          </a:xfrm>
          <a:prstGeom prst="rect">
            <a:avLst/>
          </a:prstGeom>
          <a:noFill/>
        </p:spPr>
        <p:txBody>
          <a:bodyPr wrap="square" anchor="ctr">
            <a:spAutoFit/>
          </a:bodyPr>
          <a:lstStyle/>
          <a:p>
            <a:pPr algn="l">
              <a:spcAft>
                <a:spcPts val="400"/>
              </a:spcAft>
            </a:pPr>
            <a:r>
              <a:rPr sz="1300" b="1">
                <a:solidFill>
                  <a:srgbClr val="FFFFFF"/>
                </a:solidFill>
                <a:latin typeface="Arial"/>
              </a:rPr>
              <a:t>Aspect</a:t>
            </a:r>
          </a:p>
        </p:txBody>
      </p:sp>
      <p:sp>
        <p:nvSpPr>
          <p:cNvPr id="9" name="Rectangle 8"/>
          <p:cNvSpPr/>
          <p:nvPr/>
        </p:nvSpPr>
        <p:spPr>
          <a:xfrm>
            <a:off x="3542202" y="1828800"/>
            <a:ext cx="3934755" cy="548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1930" y="1828800"/>
            <a:ext cx="3715299" cy="548640"/>
          </a:xfrm>
          <a:prstGeom prst="rect">
            <a:avLst/>
          </a:prstGeom>
          <a:noFill/>
        </p:spPr>
        <p:txBody>
          <a:bodyPr wrap="square" anchor="ctr">
            <a:spAutoFit/>
          </a:bodyPr>
          <a:lstStyle/>
          <a:p>
            <a:pPr algn="ctr">
              <a:spcAft>
                <a:spcPts val="400"/>
              </a:spcAft>
            </a:pPr>
            <a:r>
              <a:rPr sz="1300" b="1">
                <a:solidFill>
                  <a:srgbClr val="FFFFFF"/>
                </a:solidFill>
                <a:latin typeface="Arial"/>
              </a:rPr>
              <a:t>Web / Chat</a:t>
            </a:r>
          </a:p>
        </p:txBody>
      </p:sp>
      <p:sp>
        <p:nvSpPr>
          <p:cNvPr id="11" name="Rectangle 10"/>
          <p:cNvSpPr/>
          <p:nvPr/>
        </p:nvSpPr>
        <p:spPr>
          <a:xfrm>
            <a:off x="7476957" y="1828800"/>
            <a:ext cx="3934755" cy="548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6685" y="1828800"/>
            <a:ext cx="3715299" cy="548640"/>
          </a:xfrm>
          <a:prstGeom prst="rect">
            <a:avLst/>
          </a:prstGeom>
          <a:noFill/>
        </p:spPr>
        <p:txBody>
          <a:bodyPr wrap="square" anchor="ctr">
            <a:spAutoFit/>
          </a:bodyPr>
          <a:lstStyle/>
          <a:p>
            <a:pPr algn="ctr">
              <a:spcAft>
                <a:spcPts val="400"/>
              </a:spcAft>
            </a:pPr>
            <a:r>
              <a:rPr sz="1300" b="1">
                <a:solidFill>
                  <a:srgbClr val="FFFFFF"/>
                </a:solidFill>
                <a:latin typeface="Arial"/>
              </a:rPr>
              <a:t>Work (Microsoft 365)</a:t>
            </a:r>
          </a:p>
        </p:txBody>
      </p:sp>
      <p:sp>
        <p:nvSpPr>
          <p:cNvPr id="13" name="Rectangle 12"/>
          <p:cNvSpPr/>
          <p:nvPr/>
        </p:nvSpPr>
        <p:spPr>
          <a:xfrm>
            <a:off x="777240" y="2377440"/>
            <a:ext cx="2764962"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377440"/>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Sources</a:t>
            </a:r>
          </a:p>
        </p:txBody>
      </p:sp>
      <p:sp>
        <p:nvSpPr>
          <p:cNvPr id="15" name="Rectangle 14"/>
          <p:cNvSpPr/>
          <p:nvPr/>
        </p:nvSpPr>
        <p:spPr>
          <a:xfrm>
            <a:off x="3542202" y="2377440"/>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1930" y="2377440"/>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Public web content</a:t>
            </a:r>
          </a:p>
        </p:txBody>
      </p:sp>
      <p:sp>
        <p:nvSpPr>
          <p:cNvPr id="17" name="Rectangle 16"/>
          <p:cNvSpPr/>
          <p:nvPr/>
        </p:nvSpPr>
        <p:spPr>
          <a:xfrm>
            <a:off x="7476957" y="2377440"/>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6685" y="2377440"/>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Your permitted tenant content</a:t>
            </a:r>
          </a:p>
        </p:txBody>
      </p:sp>
      <p:sp>
        <p:nvSpPr>
          <p:cNvPr id="19" name="Rectangle 18"/>
          <p:cNvSpPr/>
          <p:nvPr/>
        </p:nvSpPr>
        <p:spPr>
          <a:xfrm>
            <a:off x="777240" y="2852928"/>
            <a:ext cx="2764962"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2852928"/>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Permissions</a:t>
            </a:r>
          </a:p>
        </p:txBody>
      </p:sp>
      <p:sp>
        <p:nvSpPr>
          <p:cNvPr id="21" name="Rectangle 20"/>
          <p:cNvSpPr/>
          <p:nvPr/>
        </p:nvSpPr>
        <p:spPr>
          <a:xfrm>
            <a:off x="3542202" y="2852928"/>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1930" y="2852928"/>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Not applicable</a:t>
            </a:r>
          </a:p>
        </p:txBody>
      </p:sp>
      <p:sp>
        <p:nvSpPr>
          <p:cNvPr id="23" name="Rectangle 22"/>
          <p:cNvSpPr/>
          <p:nvPr/>
        </p:nvSpPr>
        <p:spPr>
          <a:xfrm>
            <a:off x="7476957" y="2852928"/>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86685" y="2852928"/>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Your existing access applies</a:t>
            </a:r>
          </a:p>
        </p:txBody>
      </p:sp>
      <p:sp>
        <p:nvSpPr>
          <p:cNvPr id="25" name="Rectangle 24"/>
          <p:cNvSpPr/>
          <p:nvPr/>
        </p:nvSpPr>
        <p:spPr>
          <a:xfrm>
            <a:off x="777240" y="3328416"/>
            <a:ext cx="2764962"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3328416"/>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Best for</a:t>
            </a:r>
          </a:p>
        </p:txBody>
      </p:sp>
      <p:sp>
        <p:nvSpPr>
          <p:cNvPr id="27" name="Rectangle 26"/>
          <p:cNvSpPr/>
          <p:nvPr/>
        </p:nvSpPr>
        <p:spPr>
          <a:xfrm>
            <a:off x="3542202" y="3328416"/>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1930" y="3328416"/>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General drafting and research</a:t>
            </a:r>
          </a:p>
        </p:txBody>
      </p:sp>
      <p:sp>
        <p:nvSpPr>
          <p:cNvPr id="29" name="Rectangle 28"/>
          <p:cNvSpPr/>
          <p:nvPr/>
        </p:nvSpPr>
        <p:spPr>
          <a:xfrm>
            <a:off x="7476957" y="3328416"/>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86685" y="3328416"/>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Anything about your own business</a:t>
            </a:r>
          </a:p>
        </p:txBody>
      </p:sp>
      <p:sp>
        <p:nvSpPr>
          <p:cNvPr id="31" name="Rectangle 30"/>
          <p:cNvSpPr/>
          <p:nvPr/>
        </p:nvSpPr>
        <p:spPr>
          <a:xfrm>
            <a:off x="777240" y="3803904"/>
            <a:ext cx="2764962"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3803904"/>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Risk</a:t>
            </a:r>
          </a:p>
        </p:txBody>
      </p:sp>
      <p:sp>
        <p:nvSpPr>
          <p:cNvPr id="33" name="Rectangle 32"/>
          <p:cNvSpPr/>
          <p:nvPr/>
        </p:nvSpPr>
        <p:spPr>
          <a:xfrm>
            <a:off x="3542202" y="3803904"/>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51930" y="3803904"/>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No business context</a:t>
            </a:r>
          </a:p>
        </p:txBody>
      </p:sp>
      <p:sp>
        <p:nvSpPr>
          <p:cNvPr id="35" name="Rectangle 34"/>
          <p:cNvSpPr/>
          <p:nvPr/>
        </p:nvSpPr>
        <p:spPr>
          <a:xfrm>
            <a:off x="7476957" y="3803904"/>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586685" y="3803904"/>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Answer is only as good as the source</a:t>
            </a:r>
          </a:p>
        </p:txBody>
      </p:sp>
      <p:sp>
        <p:nvSpPr>
          <p:cNvPr id="37" name="TextBox 36"/>
          <p:cNvSpPr txBox="1"/>
          <p:nvPr/>
        </p:nvSpPr>
        <p:spPr>
          <a:xfrm>
            <a:off x="777240" y="4507992"/>
            <a:ext cx="10634472" cy="457200"/>
          </a:xfrm>
          <a:prstGeom prst="rect">
            <a:avLst/>
          </a:prstGeom>
          <a:noFill/>
        </p:spPr>
        <p:txBody>
          <a:bodyPr wrap="square" anchor="t">
            <a:spAutoFit/>
          </a:bodyPr>
          <a:lstStyle/>
          <a:p>
            <a:pPr algn="l">
              <a:spcAft>
                <a:spcPts val="400"/>
              </a:spcAft>
            </a:pPr>
            <a:r>
              <a:rPr sz="1100" b="1">
                <a:solidFill>
                  <a:srgbClr val="1F6FEB"/>
                </a:solidFill>
                <a:latin typeface="Arial"/>
              </a:rPr>
              <a:t>RULE   </a:t>
            </a:r>
            <a:r>
              <a:rPr sz="1300" b="0">
                <a:solidFill>
                  <a:srgbClr val="161B26"/>
                </a:solidFill>
                <a:latin typeface="Arial"/>
              </a:rPr>
              <a:t>Check the toggle before you trust an answer about your own organisation.</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HOW TO ASK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Four-Part Prompt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a:spAutoFit/>
          </a:bodyPr>
          <a:lstStyle/>
          <a:p>
            <a:pPr algn="l">
              <a:spcAft>
                <a:spcPts val="300"/>
              </a:spcAft>
            </a:pPr>
            <a:r>
              <a:rPr sz="1700" b="1">
                <a:solidFill>
                  <a:srgbClr val="161B26"/>
                </a:solidFill>
                <a:latin typeface="Arial"/>
              </a:rPr>
              <a:t>Goal</a:t>
            </a:r>
          </a:p>
          <a:p>
            <a:pPr algn="l">
              <a:spcAft>
                <a:spcPts val="300"/>
              </a:spcAft>
            </a:pPr>
            <a:r>
              <a:rPr sz="1300" b="0">
                <a:solidFill>
                  <a:srgbClr val="5B6372"/>
                </a:solidFill>
                <a:latin typeface="Arial"/>
              </a:rPr>
              <a:t>What you want produced, stated as an outcome.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a:spAutoFit/>
          </a:bodyPr>
          <a:lstStyle/>
          <a:p>
            <a:pPr algn="l">
              <a:spcAft>
                <a:spcPts val="300"/>
              </a:spcAft>
            </a:pPr>
            <a:r>
              <a:rPr sz="1700" b="1">
                <a:solidFill>
                  <a:srgbClr val="161B26"/>
                </a:solidFill>
                <a:latin typeface="Arial"/>
              </a:rPr>
              <a:t>Context</a:t>
            </a:r>
          </a:p>
          <a:p>
            <a:pPr algn="l">
              <a:spcAft>
                <a:spcPts val="300"/>
              </a:spcAft>
            </a:pPr>
            <a:r>
              <a:rPr sz="1300" b="0">
                <a:solidFill>
                  <a:srgbClr val="5B6372"/>
                </a:solidFill>
                <a:latin typeface="Arial"/>
              </a:rPr>
              <a:t>Who it is for and why it matters.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a:spAutoFit/>
          </a:bodyPr>
          <a:lstStyle/>
          <a:p>
            <a:pPr algn="l">
              <a:spcAft>
                <a:spcPts val="300"/>
              </a:spcAft>
            </a:pPr>
            <a:r>
              <a:rPr sz="1700" b="1">
                <a:solidFill>
                  <a:srgbClr val="161B26"/>
                </a:solidFill>
                <a:latin typeface="Arial"/>
              </a:rPr>
              <a:t>Source</a:t>
            </a:r>
          </a:p>
          <a:p>
            <a:pPr algn="l">
              <a:spcAft>
                <a:spcPts val="300"/>
              </a:spcAft>
            </a:pPr>
            <a:r>
              <a:rPr sz="1300" b="0">
                <a:solidFill>
                  <a:srgbClr val="5B6372"/>
                </a:solidFill>
                <a:latin typeface="Arial"/>
              </a:rPr>
              <a:t>The file, data or thread the answer must come from.</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a:spAutoFit/>
          </a:bodyPr>
          <a:lstStyle/>
          <a:p>
            <a:pPr algn="l">
              <a:spcAft>
                <a:spcPts val="300"/>
              </a:spcAft>
            </a:pPr>
            <a:r>
              <a:rPr sz="1700" b="1">
                <a:solidFill>
                  <a:srgbClr val="161B26"/>
                </a:solidFill>
                <a:latin typeface="Arial"/>
              </a:rPr>
              <a:t>Expectation</a:t>
            </a:r>
          </a:p>
          <a:p>
            <a:pPr algn="l">
              <a:spcAft>
                <a:spcPts val="300"/>
              </a:spcAft>
            </a:pPr>
            <a:r>
              <a:rPr sz="1300" b="0">
                <a:solidFill>
                  <a:srgbClr val="5B6372"/>
                </a:solidFill>
                <a:latin typeface="Arial"/>
              </a:rPr>
              <a:t>Length, format, tone and what must not be invented.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BEFORE AND AFTER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 Weak Prompt and a Strong Prompt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1783080"/>
            <a:ext cx="5212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55080" y="1783080"/>
            <a:ext cx="50749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201168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Weak</a:t>
            </a:r>
          </a:p>
        </p:txBody>
      </p:sp>
      <p:sp>
        <p:nvSpPr>
          <p:cNvPr id="12" name="TextBox 11"/>
          <p:cNvSpPr txBox="1"/>
          <p:nvPr/>
        </p:nvSpPr>
        <p:spPr>
          <a:xfrm>
            <a:off x="6583680" y="201168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Strong</a:t>
            </a:r>
          </a:p>
        </p:txBody>
      </p:sp>
      <p:sp>
        <p:nvSpPr>
          <p:cNvPr id="13" name="TextBox 12"/>
          <p:cNvSpPr txBox="1"/>
          <p:nvPr/>
        </p:nvSpPr>
        <p:spPr>
          <a:xfrm>
            <a:off x="1005840" y="2514600"/>
            <a:ext cx="4754880" cy="3383280"/>
          </a:xfrm>
          <a:prstGeom prst="rect">
            <a:avLst/>
          </a:prstGeom>
          <a:noFill/>
        </p:spPr>
        <p:txBody>
          <a:bodyPr wrap="square">
            <a:spAutoFit/>
          </a:bodyPr>
          <a:lstStyle/>
          <a:p>
            <a:pPr>
              <a:spcAft>
                <a:spcPts val="1000"/>
              </a:spcAft>
            </a:pPr>
            <a:r>
              <a:rPr sz="1400">
                <a:solidFill>
                  <a:srgbClr val="161B26"/>
                </a:solidFill>
                <a:latin typeface="Arial"/>
              </a:rPr>
              <a:t>•  "Write something about our campaign."</a:t>
            </a:r>
          </a:p>
          <a:p>
            <a:pPr>
              <a:spcAft>
                <a:spcPts val="1000"/>
              </a:spcAft>
            </a:pPr>
            <a:r>
              <a:rPr sz="1200">
                <a:solidFill>
                  <a:srgbClr val="5B6372"/>
                </a:solidFill>
                <a:latin typeface="Arial"/>
              </a:rPr>
              <a:t>–  No goal beyond a topic</a:t>
            </a:r>
          </a:p>
          <a:p>
            <a:pPr>
              <a:spcAft>
                <a:spcPts val="1000"/>
              </a:spcAft>
            </a:pPr>
            <a:r>
              <a:rPr sz="1200">
                <a:solidFill>
                  <a:srgbClr val="5B6372"/>
                </a:solidFill>
                <a:latin typeface="Arial"/>
              </a:rPr>
              <a:t>–  No source, so nothing is grounded</a:t>
            </a:r>
          </a:p>
          <a:p>
            <a:pPr>
              <a:spcAft>
                <a:spcPts val="1000"/>
              </a:spcAft>
            </a:pPr>
            <a:r>
              <a:rPr sz="1200">
                <a:solidFill>
                  <a:srgbClr val="5B6372"/>
                </a:solidFill>
                <a:latin typeface="Arial"/>
              </a:rPr>
              <a:t>–  No format, so the shape is a guess</a:t>
            </a:r>
          </a:p>
          <a:p>
            <a:pPr>
              <a:spcAft>
                <a:spcPts val="1000"/>
              </a:spcAft>
            </a:pPr>
            <a:r>
              <a:rPr sz="1200">
                <a:solidFill>
                  <a:srgbClr val="5B6372"/>
                </a:solidFill>
                <a:latin typeface="Arial"/>
              </a:rPr>
              <a:t>–  Nothing stated as off-limits</a:t>
            </a:r>
          </a:p>
        </p:txBody>
      </p:sp>
      <p:sp>
        <p:nvSpPr>
          <p:cNvPr id="14" name="TextBox 13"/>
          <p:cNvSpPr txBox="1"/>
          <p:nvPr/>
        </p:nvSpPr>
        <p:spPr>
          <a:xfrm>
            <a:off x="6583680" y="2514600"/>
            <a:ext cx="4617720" cy="3383280"/>
          </a:xfrm>
          <a:prstGeom prst="rect">
            <a:avLst/>
          </a:prstGeom>
          <a:noFill/>
        </p:spPr>
        <p:txBody>
          <a:bodyPr wrap="square">
            <a:spAutoFit/>
          </a:bodyPr>
          <a:lstStyle/>
          <a:p>
            <a:pPr>
              <a:spcAft>
                <a:spcPts val="1000"/>
              </a:spcAft>
            </a:pPr>
            <a:r>
              <a:rPr sz="1400">
                <a:solidFill>
                  <a:srgbClr val="161B26"/>
                </a:solidFill>
                <a:latin typeface="Arial"/>
              </a:rPr>
              <a:t>•  "Draft a two-page brief for the leadership team"</a:t>
            </a:r>
          </a:p>
          <a:p>
            <a:pPr>
              <a:spcAft>
                <a:spcPts val="1000"/>
              </a:spcAft>
            </a:pPr>
            <a:r>
              <a:rPr sz="1200">
                <a:solidFill>
                  <a:srgbClr val="5B6372"/>
                </a:solidFill>
                <a:latin typeface="Arial"/>
              </a:rPr>
              <a:t>–  "using the attached workbook and template,"</a:t>
            </a:r>
          </a:p>
          <a:p>
            <a:pPr>
              <a:spcAft>
                <a:spcPts val="1000"/>
              </a:spcAft>
            </a:pPr>
            <a:r>
              <a:rPr sz="1200">
                <a:solidFill>
                  <a:srgbClr val="5B6372"/>
                </a:solidFill>
                <a:latin typeface="Arial"/>
              </a:rPr>
              <a:t>–  "with three measurable objectives and risks,"</a:t>
            </a:r>
          </a:p>
          <a:p>
            <a:pPr>
              <a:spcAft>
                <a:spcPts val="1000"/>
              </a:spcAft>
            </a:pPr>
            <a:r>
              <a:rPr sz="1200">
                <a:solidFill>
                  <a:srgbClr val="5B6372"/>
                </a:solidFill>
                <a:latin typeface="Arial"/>
              </a:rPr>
              <a:t>–  "and mark anything unevidenced as an open question."</a:t>
            </a:r>
          </a:p>
          <a:p>
            <a:pPr>
              <a:spcAft>
                <a:spcPts val="1000"/>
              </a:spcAft>
            </a:pPr>
            <a:r>
              <a:rPr sz="1200">
                <a:solidFill>
                  <a:srgbClr val="5B6372"/>
                </a:solidFill>
                <a:latin typeface="Arial"/>
              </a:rPr>
              <a:t>–  Every part of the contract is present</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THE HUMAN DUTY</a:t>
            </a:r>
          </a:p>
        </p:txBody>
      </p:sp>
      <p:sp>
        <p:nvSpPr>
          <p:cNvPr id="5" name="TextBox 4"/>
          <p:cNvSpPr txBox="1"/>
          <p:nvPr/>
        </p:nvSpPr>
        <p:spPr>
          <a:xfrm>
            <a:off x="1005840" y="2560320"/>
            <a:ext cx="10332720" cy="2011680"/>
          </a:xfrm>
          <a:prstGeom prst="rect">
            <a:avLst/>
          </a:prstGeom>
          <a:noFill/>
        </p:spPr>
        <p:txBody>
          <a:bodyPr wrap="square" anchor="t">
            <a:spAutoFit/>
          </a:bodyPr>
          <a:lstStyle/>
          <a:p>
            <a:pPr algn="l">
              <a:spcAft>
                <a:spcPts val="400"/>
              </a:spcAft>
            </a:pPr>
            <a:r>
              <a:rPr sz="3600" b="1">
                <a:solidFill>
                  <a:srgbClr val="161B26"/>
                </a:solidFill>
                <a:latin typeface="Arial"/>
              </a:rPr>
              <a:t>Copilot proposes. You dispose.</a:t>
            </a:r>
          </a:p>
        </p:txBody>
      </p:sp>
      <p:sp>
        <p:nvSpPr>
          <p:cNvPr id="6" name="TextBox 5"/>
          <p:cNvSpPr txBox="1"/>
          <p:nvPr/>
        </p:nvSpPr>
        <p:spPr>
          <a:xfrm>
            <a:off x="1024128" y="4572000"/>
            <a:ext cx="10058400" cy="1097280"/>
          </a:xfrm>
          <a:prstGeom prst="rect">
            <a:avLst/>
          </a:prstGeom>
          <a:noFill/>
        </p:spPr>
        <p:txBody>
          <a:bodyPr wrap="square" anchor="t">
            <a:spAutoFit/>
          </a:bodyPr>
          <a:lstStyle/>
          <a:p>
            <a:pPr algn="l">
              <a:spcAft>
                <a:spcPts val="400"/>
              </a:spcAft>
            </a:pPr>
            <a:r>
              <a:rPr sz="1900" b="0">
                <a:solidFill>
                  <a:srgbClr val="5B6372"/>
                </a:solidFill>
                <a:latin typeface="Arial"/>
              </a:rPr>
              <a:t>The model produces a draft. Accountability for what is released never moves.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DECISION RULE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Can I Release This Output?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331720"/>
            <a:ext cx="3017520" cy="210312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788920"/>
            <a:ext cx="2468880" cy="1188720"/>
          </a:xfrm>
          <a:prstGeom prst="rect">
            <a:avLst/>
          </a:prstGeom>
          <a:noFill/>
        </p:spPr>
        <p:txBody>
          <a:bodyPr wrap="square" anchor="ctr">
            <a:spAutoFit/>
          </a:bodyPr>
          <a:lstStyle/>
          <a:p>
            <a:pPr algn="ctr">
              <a:spcAft>
                <a:spcPts val="400"/>
              </a:spcAft>
            </a:pPr>
            <a:r>
              <a:rPr sz="1300" b="1">
                <a:solidFill>
                  <a:srgbClr val="FFFFFF"/>
                </a:solidFill>
                <a:latin typeface="Arial"/>
              </a:rPr>
              <a:t>Does every claim trace to a source?</a:t>
            </a:r>
          </a:p>
        </p:txBody>
      </p:sp>
      <p:sp>
        <p:nvSpPr>
          <p:cNvPr id="9" name="Rectangle 8"/>
          <p:cNvSpPr/>
          <p:nvPr/>
        </p:nvSpPr>
        <p:spPr>
          <a:xfrm>
            <a:off x="3931920" y="2761488"/>
            <a:ext cx="32004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reeform 9"/>
          <p:cNvSpPr/>
          <p:nvPr/>
        </p:nvSpPr>
        <p:spPr>
          <a:xfrm>
            <a:off x="4251960" y="2732227"/>
            <a:ext cx="182880" cy="113385"/>
          </a:xfrm>
          <a:custGeom>
            <a:avLst/>
            <a:gdLst/>
            <a:ahLst/>
            <a:cxnLst/>
            <a:rect l="l" t="t" r="r" b="b"/>
            <a:pathLst>
              <a:path w="182880" h="113385">
                <a:moveTo>
                  <a:pt x="0" y="0"/>
                </a:moveTo>
                <a:lnTo>
                  <a:pt x="182880" y="56693"/>
                </a:lnTo>
                <a:lnTo>
                  <a:pt x="0" y="113385"/>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0" y="1965960"/>
            <a:ext cx="6858000" cy="1920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965960"/>
            <a:ext cx="91440" cy="19202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28032" y="2112264"/>
            <a:ext cx="6400800" cy="365760"/>
          </a:xfrm>
          <a:prstGeom prst="rect">
            <a:avLst/>
          </a:prstGeom>
          <a:noFill/>
        </p:spPr>
        <p:txBody>
          <a:bodyPr wrap="square" anchor="t">
            <a:spAutoFit/>
          </a:bodyPr>
          <a:lstStyle/>
          <a:p>
            <a:pPr algn="l">
              <a:spcAft>
                <a:spcPts val="400"/>
              </a:spcAft>
            </a:pPr>
            <a:r>
              <a:rPr sz="1300" b="1">
                <a:solidFill>
                  <a:srgbClr val="10B981"/>
                </a:solidFill>
                <a:latin typeface="Arial"/>
              </a:rPr>
              <a:t>YES</a:t>
            </a:r>
          </a:p>
        </p:txBody>
      </p:sp>
      <p:sp>
        <p:nvSpPr>
          <p:cNvPr id="14" name="TextBox 13"/>
          <p:cNvSpPr txBox="1"/>
          <p:nvPr/>
        </p:nvSpPr>
        <p:spPr>
          <a:xfrm>
            <a:off x="4828032" y="2514600"/>
            <a:ext cx="6400800" cy="1280160"/>
          </a:xfrm>
          <a:prstGeom prst="rect">
            <a:avLst/>
          </a:prstGeom>
          <a:noFill/>
        </p:spPr>
        <p:txBody>
          <a:bodyPr wrap="square">
            <a:spAutoFit/>
          </a:bodyPr>
          <a:lstStyle/>
          <a:p>
            <a:pPr>
              <a:spcAft>
                <a:spcPts val="600"/>
              </a:spcAft>
            </a:pPr>
            <a:r>
              <a:rPr sz="1300">
                <a:solidFill>
                  <a:srgbClr val="161B26"/>
                </a:solidFill>
                <a:latin typeface="Arial"/>
              </a:rPr>
              <a:t>•  Release it, recording who verified it</a:t>
            </a:r>
          </a:p>
          <a:p>
            <a:pPr>
              <a:spcAft>
                <a:spcPts val="600"/>
              </a:spcAft>
            </a:pPr>
            <a:r>
              <a:rPr sz="1300">
                <a:solidFill>
                  <a:srgbClr val="161B26"/>
                </a:solidFill>
                <a:latin typeface="Arial"/>
              </a:rPr>
              <a:t>•  Keep the evidence with the artifact</a:t>
            </a:r>
          </a:p>
        </p:txBody>
      </p:sp>
      <p:sp>
        <p:nvSpPr>
          <p:cNvPr id="15" name="Rectangle 14"/>
          <p:cNvSpPr/>
          <p:nvPr/>
        </p:nvSpPr>
        <p:spPr>
          <a:xfrm>
            <a:off x="3931920" y="5001768"/>
            <a:ext cx="32004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reeform 15"/>
          <p:cNvSpPr/>
          <p:nvPr/>
        </p:nvSpPr>
        <p:spPr>
          <a:xfrm>
            <a:off x="4251960" y="4972507"/>
            <a:ext cx="182880" cy="113385"/>
          </a:xfrm>
          <a:custGeom>
            <a:avLst/>
            <a:gdLst/>
            <a:ahLst/>
            <a:cxnLst/>
            <a:rect l="l" t="t" r="r" b="b"/>
            <a:pathLst>
              <a:path w="182880" h="113385">
                <a:moveTo>
                  <a:pt x="0" y="0"/>
                </a:moveTo>
                <a:lnTo>
                  <a:pt x="182880" y="56693"/>
                </a:lnTo>
                <a:lnTo>
                  <a:pt x="0" y="113385"/>
                </a:lnTo>
                <a:close/>
              </a:path>
            </a:pathLst>
          </a:cu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0" y="4206240"/>
            <a:ext cx="6858000" cy="1920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0" y="4206240"/>
            <a:ext cx="91440" cy="19202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28032" y="4352544"/>
            <a:ext cx="6400800" cy="365760"/>
          </a:xfrm>
          <a:prstGeom prst="rect">
            <a:avLst/>
          </a:prstGeom>
          <a:noFill/>
        </p:spPr>
        <p:txBody>
          <a:bodyPr wrap="square" anchor="t">
            <a:spAutoFit/>
          </a:bodyPr>
          <a:lstStyle/>
          <a:p>
            <a:pPr algn="l">
              <a:spcAft>
                <a:spcPts val="400"/>
              </a:spcAft>
            </a:pPr>
            <a:r>
              <a:rPr sz="1300" b="1">
                <a:solidFill>
                  <a:srgbClr val="F59E0B"/>
                </a:solidFill>
                <a:latin typeface="Arial"/>
              </a:rPr>
              <a:t>NO</a:t>
            </a:r>
          </a:p>
        </p:txBody>
      </p:sp>
      <p:sp>
        <p:nvSpPr>
          <p:cNvPr id="20" name="TextBox 19"/>
          <p:cNvSpPr txBox="1"/>
          <p:nvPr/>
        </p:nvSpPr>
        <p:spPr>
          <a:xfrm>
            <a:off x="4828032" y="4754880"/>
            <a:ext cx="6400800" cy="1280160"/>
          </a:xfrm>
          <a:prstGeom prst="rect">
            <a:avLst/>
          </a:prstGeom>
          <a:noFill/>
        </p:spPr>
        <p:txBody>
          <a:bodyPr wrap="square">
            <a:spAutoFit/>
          </a:bodyPr>
          <a:lstStyle/>
          <a:p>
            <a:pPr>
              <a:spcAft>
                <a:spcPts val="600"/>
              </a:spcAft>
            </a:pPr>
            <a:r>
              <a:rPr sz="1300">
                <a:solidFill>
                  <a:srgbClr val="161B26"/>
                </a:solidFill>
                <a:latin typeface="Arial"/>
              </a:rPr>
              <a:t>•  Correct it, or mark it an open question</a:t>
            </a:r>
          </a:p>
          <a:p>
            <a:pPr>
              <a:spcAft>
                <a:spcPts val="600"/>
              </a:spcAft>
            </a:pPr>
            <a:r>
              <a:rPr sz="1300">
                <a:solidFill>
                  <a:srgbClr val="161B26"/>
                </a:solidFill>
                <a:latin typeface="Arial"/>
              </a:rPr>
              <a:t>•  Never publish an unevidenced claim as fact</a:t>
            </a:r>
          </a:p>
        </p:txBody>
      </p:sp>
      <p:sp>
        <p:nvSpPr>
          <p:cNvPr id="21" name="TextBox 20"/>
          <p:cNvSpPr txBox="1"/>
          <p:nvPr/>
        </p:nvSpPr>
        <p:spPr>
          <a:xfrm>
            <a:off x="777240" y="5989320"/>
            <a:ext cx="10607040" cy="457200"/>
          </a:xfrm>
          <a:prstGeom prst="rect">
            <a:avLst/>
          </a:prstGeom>
          <a:noFill/>
        </p:spPr>
        <p:txBody>
          <a:bodyPr wrap="square" anchor="t">
            <a:spAutoFit/>
          </a:bodyPr>
          <a:lstStyle/>
          <a:p>
            <a:pPr algn="l">
              <a:spcAft>
                <a:spcPts val="400"/>
              </a:spcAft>
            </a:pPr>
            <a:r>
              <a:rPr sz="1100" b="1">
                <a:solidFill>
                  <a:srgbClr val="7C3AED"/>
                </a:solidFill>
                <a:latin typeface="Arial"/>
              </a:rPr>
              <a:t>RULE   </a:t>
            </a:r>
            <a:r>
              <a:rPr sz="1300" b="0">
                <a:solidFill>
                  <a:srgbClr val="161B26"/>
                </a:solidFill>
                <a:latin typeface="Arial"/>
              </a:rPr>
              <a:t>A claim that cannot be traced is not a finding — it is a guess with good grammar.</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SIX PRINCIPLES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Responsible AI in Practice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61944"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2209800" cy="1901952"/>
          </a:xfrm>
          <a:prstGeom prst="rect">
            <a:avLst/>
          </a:prstGeom>
          <a:noFill/>
        </p:spPr>
        <p:txBody>
          <a:bodyPr wrap="square" anchor="ctr">
            <a:spAutoFit/>
          </a:bodyPr>
          <a:lstStyle/>
          <a:p>
            <a:pPr algn="l">
              <a:spcAft>
                <a:spcPts val="300"/>
              </a:spcAft>
            </a:pPr>
            <a:r>
              <a:rPr sz="1500" b="1">
                <a:solidFill>
                  <a:srgbClr val="161B26"/>
                </a:solidFill>
                <a:latin typeface="Arial"/>
              </a:rPr>
              <a:t>Fairness</a:t>
            </a:r>
          </a:p>
          <a:p>
            <a:pPr algn="l">
              <a:spcAft>
                <a:spcPts val="300"/>
              </a:spcAft>
            </a:pPr>
            <a:r>
              <a:rPr sz="1100" b="0">
                <a:solidFill>
                  <a:srgbClr val="5B6372"/>
                </a:solidFill>
                <a:latin typeface="Arial"/>
              </a:rPr>
              <a:t>Check that outputs do not disadvantage a group.</a:t>
            </a:r>
          </a:p>
        </p:txBody>
      </p:sp>
      <p:sp>
        <p:nvSpPr>
          <p:cNvPr id="12" name="Rectangle 11"/>
          <p:cNvSpPr/>
          <p:nvPr/>
        </p:nvSpPr>
        <p:spPr>
          <a:xfrm>
            <a:off x="4413504" y="1783080"/>
            <a:ext cx="3361944"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13504"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651248"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51248"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5346192" y="1892808"/>
            <a:ext cx="2209800" cy="1901952"/>
          </a:xfrm>
          <a:prstGeom prst="rect">
            <a:avLst/>
          </a:prstGeom>
          <a:noFill/>
        </p:spPr>
        <p:txBody>
          <a:bodyPr wrap="square" anchor="ctr">
            <a:spAutoFit/>
          </a:bodyPr>
          <a:lstStyle/>
          <a:p>
            <a:pPr algn="l">
              <a:spcAft>
                <a:spcPts val="300"/>
              </a:spcAft>
            </a:pPr>
            <a:r>
              <a:rPr sz="1500" b="1">
                <a:solidFill>
                  <a:srgbClr val="161B26"/>
                </a:solidFill>
                <a:latin typeface="Arial"/>
              </a:rPr>
              <a:t>Reliability and safety</a:t>
            </a:r>
          </a:p>
          <a:p>
            <a:pPr algn="l">
              <a:spcAft>
                <a:spcPts val="300"/>
              </a:spcAft>
            </a:pPr>
            <a:r>
              <a:rPr sz="1100" b="0">
                <a:solidFill>
                  <a:srgbClr val="5B6372"/>
                </a:solidFill>
                <a:latin typeface="Arial"/>
              </a:rPr>
              <a:t>Test behaviour, including the failure cases.</a:t>
            </a:r>
          </a:p>
        </p:txBody>
      </p:sp>
      <p:sp>
        <p:nvSpPr>
          <p:cNvPr id="17" name="Rectangle 16"/>
          <p:cNvSpPr/>
          <p:nvPr/>
        </p:nvSpPr>
        <p:spPr>
          <a:xfrm>
            <a:off x="8049768" y="1783080"/>
            <a:ext cx="3361944"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49768" y="1783080"/>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287512" y="2551176"/>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87512"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8982456" y="1892808"/>
            <a:ext cx="2209800" cy="1901952"/>
          </a:xfrm>
          <a:prstGeom prst="rect">
            <a:avLst/>
          </a:prstGeom>
          <a:noFill/>
        </p:spPr>
        <p:txBody>
          <a:bodyPr wrap="square" anchor="ctr">
            <a:spAutoFit/>
          </a:bodyPr>
          <a:lstStyle/>
          <a:p>
            <a:pPr algn="l">
              <a:spcAft>
                <a:spcPts val="300"/>
              </a:spcAft>
            </a:pPr>
            <a:r>
              <a:rPr sz="1500" b="1">
                <a:solidFill>
                  <a:srgbClr val="161B26"/>
                </a:solidFill>
                <a:latin typeface="Arial"/>
              </a:rPr>
              <a:t>Privacy and security</a:t>
            </a:r>
          </a:p>
          <a:p>
            <a:pPr algn="l">
              <a:spcAft>
                <a:spcPts val="300"/>
              </a:spcAft>
            </a:pPr>
            <a:r>
              <a:rPr sz="1100" b="0">
                <a:solidFill>
                  <a:srgbClr val="5B6372"/>
                </a:solidFill>
                <a:latin typeface="Arial"/>
              </a:rPr>
              <a:t>Existing data protection duties still apply.</a:t>
            </a:r>
          </a:p>
        </p:txBody>
      </p:sp>
      <p:sp>
        <p:nvSpPr>
          <p:cNvPr id="22" name="Rectangle 21"/>
          <p:cNvSpPr/>
          <p:nvPr/>
        </p:nvSpPr>
        <p:spPr>
          <a:xfrm>
            <a:off x="777240" y="4087368"/>
            <a:ext cx="3361944"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14984"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1709928" y="4197096"/>
            <a:ext cx="2209800" cy="1901952"/>
          </a:xfrm>
          <a:prstGeom prst="rect">
            <a:avLst/>
          </a:prstGeom>
          <a:noFill/>
        </p:spPr>
        <p:txBody>
          <a:bodyPr wrap="square" anchor="ctr">
            <a:spAutoFit/>
          </a:bodyPr>
          <a:lstStyle/>
          <a:p>
            <a:pPr algn="l">
              <a:spcAft>
                <a:spcPts val="300"/>
              </a:spcAft>
            </a:pPr>
            <a:r>
              <a:rPr sz="1500" b="1">
                <a:solidFill>
                  <a:srgbClr val="161B26"/>
                </a:solidFill>
                <a:latin typeface="Arial"/>
              </a:rPr>
              <a:t>Inclusiveness</a:t>
            </a:r>
          </a:p>
          <a:p>
            <a:pPr algn="l">
              <a:spcAft>
                <a:spcPts val="300"/>
              </a:spcAft>
            </a:pPr>
            <a:r>
              <a:rPr sz="1100" b="0">
                <a:solidFill>
                  <a:srgbClr val="5B6372"/>
                </a:solidFill>
                <a:latin typeface="Arial"/>
              </a:rPr>
              <a:t>Content should be usable by everyone who needs it.</a:t>
            </a:r>
          </a:p>
        </p:txBody>
      </p:sp>
      <p:sp>
        <p:nvSpPr>
          <p:cNvPr id="27" name="Rectangle 26"/>
          <p:cNvSpPr/>
          <p:nvPr/>
        </p:nvSpPr>
        <p:spPr>
          <a:xfrm>
            <a:off x="4413504" y="4087368"/>
            <a:ext cx="3361944"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413504" y="4087368"/>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4651248" y="485546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51248"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5346192" y="4197096"/>
            <a:ext cx="2209800" cy="1901952"/>
          </a:xfrm>
          <a:prstGeom prst="rect">
            <a:avLst/>
          </a:prstGeom>
          <a:noFill/>
        </p:spPr>
        <p:txBody>
          <a:bodyPr wrap="square" anchor="ctr">
            <a:spAutoFit/>
          </a:bodyPr>
          <a:lstStyle/>
          <a:p>
            <a:pPr algn="l">
              <a:spcAft>
                <a:spcPts val="300"/>
              </a:spcAft>
            </a:pPr>
            <a:r>
              <a:rPr sz="1500" b="1">
                <a:solidFill>
                  <a:srgbClr val="161B26"/>
                </a:solidFill>
                <a:latin typeface="Arial"/>
              </a:rPr>
              <a:t>Transparency</a:t>
            </a:r>
          </a:p>
          <a:p>
            <a:pPr algn="l">
              <a:spcAft>
                <a:spcPts val="300"/>
              </a:spcAft>
            </a:pPr>
            <a:r>
              <a:rPr sz="1100" b="0">
                <a:solidFill>
                  <a:srgbClr val="5B6372"/>
                </a:solidFill>
                <a:latin typeface="Arial"/>
              </a:rPr>
              <a:t>Say when and how AI was used.</a:t>
            </a:r>
          </a:p>
        </p:txBody>
      </p:sp>
      <p:sp>
        <p:nvSpPr>
          <p:cNvPr id="32" name="Rectangle 31"/>
          <p:cNvSpPr/>
          <p:nvPr/>
        </p:nvSpPr>
        <p:spPr>
          <a:xfrm>
            <a:off x="8049768" y="4087368"/>
            <a:ext cx="3361944"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49768" y="4087368"/>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287512" y="485546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87512"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8982456" y="4197096"/>
            <a:ext cx="2209800" cy="1901952"/>
          </a:xfrm>
          <a:prstGeom prst="rect">
            <a:avLst/>
          </a:prstGeom>
          <a:noFill/>
        </p:spPr>
        <p:txBody>
          <a:bodyPr wrap="square" anchor="ctr">
            <a:spAutoFit/>
          </a:bodyPr>
          <a:lstStyle/>
          <a:p>
            <a:pPr algn="l">
              <a:spcAft>
                <a:spcPts val="300"/>
              </a:spcAft>
            </a:pPr>
            <a:r>
              <a:rPr sz="1500" b="1">
                <a:solidFill>
                  <a:srgbClr val="161B26"/>
                </a:solidFill>
                <a:latin typeface="Arial"/>
              </a:rPr>
              <a:t>Accountability</a:t>
            </a:r>
          </a:p>
          <a:p>
            <a:pPr algn="l">
              <a:spcAft>
                <a:spcPts val="300"/>
              </a:spcAft>
            </a:pPr>
            <a:r>
              <a:rPr sz="1100" b="0">
                <a:solidFill>
                  <a:srgbClr val="5B6372"/>
                </a:solidFill>
                <a:latin typeface="Arial"/>
              </a:rPr>
              <a:t>A named person answers for what is released.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NATIVE CHART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Where the Time Actually Goes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828800"/>
          <a:ext cx="7498079" cy="4114800"/>
        </p:xfrm>
        <a:graphic>
          <a:graphicData uri="http://schemas.openxmlformats.org/drawingml/2006/chart">
            <c:chart xmlns:c="http://schemas.openxmlformats.org/drawingml/2006/chart" r:id="rId2"/>
          </a:graphicData>
        </a:graphic>
      </p:graphicFrame>
      <p:sp>
        <p:nvSpPr>
          <p:cNvPr id="8" name="Rectangle 7"/>
          <p:cNvSpPr/>
          <p:nvPr/>
        </p:nvSpPr>
        <p:spPr>
          <a:xfrm>
            <a:off x="8503920" y="1828800"/>
            <a:ext cx="2926080" cy="4114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503920" y="1828800"/>
            <a:ext cx="2926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0" y="2103120"/>
            <a:ext cx="2377440" cy="365760"/>
          </a:xfrm>
          <a:prstGeom prst="rect">
            <a:avLst/>
          </a:prstGeom>
          <a:noFill/>
        </p:spPr>
        <p:txBody>
          <a:bodyPr wrap="square" anchor="t">
            <a:spAutoFit/>
          </a:bodyPr>
          <a:lstStyle/>
          <a:p>
            <a:pPr algn="l">
              <a:spcAft>
                <a:spcPts val="400"/>
              </a:spcAft>
            </a:pPr>
            <a:r>
              <a:rPr sz="1200" b="1">
                <a:solidFill>
                  <a:srgbClr val="1F6FEB"/>
                </a:solidFill>
                <a:latin typeface="Arial"/>
              </a:rPr>
              <a:t>DECISION LENS</a:t>
            </a:r>
          </a:p>
        </p:txBody>
      </p:sp>
      <p:sp>
        <p:nvSpPr>
          <p:cNvPr id="11" name="TextBox 10"/>
          <p:cNvSpPr txBox="1"/>
          <p:nvPr/>
        </p:nvSpPr>
        <p:spPr>
          <a:xfrm>
            <a:off x="8778240" y="2560320"/>
            <a:ext cx="2377440" cy="1737360"/>
          </a:xfrm>
          <a:prstGeom prst="rect">
            <a:avLst/>
          </a:prstGeom>
          <a:noFill/>
        </p:spPr>
        <p:txBody>
          <a:bodyPr wrap="square" anchor="t">
            <a:spAutoFit/>
          </a:bodyPr>
          <a:lstStyle/>
          <a:p>
            <a:pPr algn="l">
              <a:spcAft>
                <a:spcPts val="400"/>
              </a:spcAft>
            </a:pPr>
            <a:r>
              <a:rPr sz="1300" b="0">
                <a:solidFill>
                  <a:srgbClr val="161B26"/>
                </a:solidFill>
                <a:latin typeface="Arial"/>
              </a:rPr>
              <a:t>Drafting and searching fall the most. Review time rises — and that is the point, not a defect.</a:t>
            </a:r>
          </a:p>
        </p:txBody>
      </p:sp>
      <p:sp>
        <p:nvSpPr>
          <p:cNvPr id="12" name="Rectangle 11"/>
          <p:cNvSpPr/>
          <p:nvPr/>
        </p:nvSpPr>
        <p:spPr>
          <a:xfrm>
            <a:off x="8732520" y="4343400"/>
            <a:ext cx="24688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778240" y="4526280"/>
            <a:ext cx="310896" cy="31089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0" y="4526280"/>
            <a:ext cx="310896" cy="310896"/>
          </a:xfrm>
          <a:prstGeom prst="rect">
            <a:avLst/>
          </a:prstGeom>
          <a:noFill/>
        </p:spPr>
        <p:txBody>
          <a:bodyPr wrap="square" anchor="ctr">
            <a:spAutoFit/>
          </a:bodyPr>
          <a:lstStyle/>
          <a:p>
            <a:pPr algn="ctr">
              <a:spcAft>
                <a:spcPts val="400"/>
              </a:spcAft>
            </a:pPr>
            <a:r>
              <a:rPr sz="1300" b="1">
                <a:solidFill>
                  <a:srgbClr val="FFFFFF"/>
                </a:solidFill>
                <a:latin typeface="Arial"/>
              </a:rPr>
              <a:t>?</a:t>
            </a:r>
          </a:p>
        </p:txBody>
      </p:sp>
      <p:sp>
        <p:nvSpPr>
          <p:cNvPr id="15" name="TextBox 14"/>
          <p:cNvSpPr txBox="1"/>
          <p:nvPr/>
        </p:nvSpPr>
        <p:spPr>
          <a:xfrm>
            <a:off x="9189720" y="4507992"/>
            <a:ext cx="2011680" cy="777240"/>
          </a:xfrm>
          <a:prstGeom prst="rect">
            <a:avLst/>
          </a:prstGeom>
          <a:noFill/>
        </p:spPr>
        <p:txBody>
          <a:bodyPr wrap="square" anchor="t">
            <a:spAutoFit/>
          </a:bodyPr>
          <a:lstStyle/>
          <a:p>
            <a:pPr algn="l">
              <a:spcAft>
                <a:spcPts val="100"/>
              </a:spcAft>
            </a:pPr>
            <a:r>
              <a:rPr sz="1050" b="0">
                <a:solidFill>
                  <a:srgbClr val="5B6372"/>
                </a:solidFill>
                <a:latin typeface="Arial"/>
              </a:rPr>
              <a:t>Check the axis, the units</a:t>
            </a:r>
          </a:p>
          <a:p>
            <a:pPr algn="l">
              <a:spcAft>
                <a:spcPts val="100"/>
              </a:spcAft>
            </a:pPr>
            <a:r>
              <a:rPr sz="1050" b="0">
                <a:solidFill>
                  <a:srgbClr val="5B6372"/>
                </a:solidFill>
                <a:latin typeface="Arial"/>
              </a:rPr>
              <a:t>and the source before you act.</a:t>
            </a:r>
          </a:p>
        </p:txBody>
      </p:sp>
      <p:sp>
        <p:nvSpPr>
          <p:cNvPr id="16" name="Rectangle 15"/>
          <p:cNvSpPr/>
          <p:nvPr/>
        </p:nvSpPr>
        <p:spPr>
          <a:xfrm>
            <a:off x="8778240" y="5440680"/>
            <a:ext cx="2377440" cy="3840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69680" y="5440680"/>
            <a:ext cx="2194560" cy="384048"/>
          </a:xfrm>
          <a:prstGeom prst="rect">
            <a:avLst/>
          </a:prstGeom>
          <a:noFill/>
        </p:spPr>
        <p:txBody>
          <a:bodyPr wrap="square" anchor="ctr">
            <a:spAutoFit/>
          </a:bodyPr>
          <a:lstStyle/>
          <a:p>
            <a:pPr algn="l">
              <a:spcAft>
                <a:spcPts val="400"/>
              </a:spcAft>
            </a:pPr>
            <a:r>
              <a:rPr sz="900" b="0">
                <a:solidFill>
                  <a:srgbClr val="5B6372"/>
                </a:solidFill>
                <a:latin typeface="Arial"/>
              </a:rPr>
              <a:t>Native PowerPoint chart · editable data · verify source and units</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DRAFT AND REFINE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Copilot in Word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Draft from a source</a:t>
            </a:r>
          </a:p>
          <a:p>
            <a:pPr algn="l">
              <a:spcAft>
                <a:spcPts val="300"/>
              </a:spcAft>
            </a:pPr>
            <a:r>
              <a:rPr sz="1200" b="0">
                <a:solidFill>
                  <a:srgbClr val="5B6372"/>
                </a:solidFill>
                <a:latin typeface="Arial"/>
              </a:rPr>
              <a:t>Generate a first draft grounded in a reference file.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Rewrite</a:t>
            </a:r>
          </a:p>
          <a:p>
            <a:pPr algn="l">
              <a:spcAft>
                <a:spcPts val="300"/>
              </a:spcAft>
            </a:pPr>
            <a:r>
              <a:rPr sz="1200" b="0">
                <a:solidFill>
                  <a:srgbClr val="5B6372"/>
                </a:solidFill>
                <a:latin typeface="Arial"/>
              </a:rPr>
              <a:t>Change tone, length or reading level without losing the facts.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Summarise</a:t>
            </a:r>
          </a:p>
          <a:p>
            <a:pPr algn="l">
              <a:spcAft>
                <a:spcPts val="300"/>
              </a:spcAft>
            </a:pPr>
            <a:r>
              <a:rPr sz="1200" b="0">
                <a:solidFill>
                  <a:srgbClr val="5B6372"/>
                </a:solidFill>
                <a:latin typeface="Arial"/>
              </a:rPr>
              <a:t>Reduce a long document to its decisions and obligations.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Ask about the document</a:t>
            </a:r>
          </a:p>
          <a:p>
            <a:pPr algn="l">
              <a:spcAft>
                <a:spcPts val="300"/>
              </a:spcAft>
            </a:pPr>
            <a:r>
              <a:rPr sz="1200" b="0">
                <a:solidFill>
                  <a:srgbClr val="5B6372"/>
                </a:solidFill>
                <a:latin typeface="Arial"/>
              </a:rPr>
              <a:t>Interrogate a draft rather than re-reading it.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WORD WORKFLOW</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From Evidence to an Approved Document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2670048"/>
            <a:ext cx="1505102" cy="713232"/>
          </a:xfrm>
          <a:prstGeom prst="rect">
            <a:avLst/>
          </a:prstGeom>
          <a:noFill/>
        </p:spPr>
        <p:txBody>
          <a:bodyPr wrap="square" anchor="ctr">
            <a:spAutoFit/>
          </a:bodyPr>
          <a:lstStyle/>
          <a:p>
            <a:pPr algn="ctr">
              <a:spcAft>
                <a:spcPts val="400"/>
              </a:spcAft>
            </a:pPr>
            <a:r>
              <a:rPr sz="1500" b="1">
                <a:solidFill>
                  <a:srgbClr val="161B26"/>
                </a:solidFill>
                <a:latin typeface="Arial"/>
              </a:rPr>
              <a:t>Approved source</a:t>
            </a:r>
          </a:p>
        </p:txBody>
      </p:sp>
      <p:sp>
        <p:nvSpPr>
          <p:cNvPr id="10" name="TextBox 9"/>
          <p:cNvSpPr txBox="1"/>
          <p:nvPr/>
        </p:nvSpPr>
        <p:spPr>
          <a:xfrm>
            <a:off x="905256" y="3401568"/>
            <a:ext cx="1505102" cy="804672"/>
          </a:xfrm>
          <a:prstGeom prst="rect">
            <a:avLst/>
          </a:prstGeom>
          <a:noFill/>
        </p:spPr>
        <p:txBody>
          <a:bodyPr wrap="square" anchor="t">
            <a:spAutoFit/>
          </a:bodyPr>
          <a:lstStyle/>
          <a:p>
            <a:pPr algn="ctr">
              <a:spcAft>
                <a:spcPts val="400"/>
              </a:spcAft>
            </a:pPr>
            <a:r>
              <a:rPr sz="1100" b="0">
                <a:solidFill>
                  <a:srgbClr val="5B6372"/>
                </a:solidFill>
                <a:latin typeface="Arial"/>
              </a:rPr>
              <a:t>The workbook or data of record</a:t>
            </a:r>
          </a:p>
        </p:txBody>
      </p:sp>
      <p:sp>
        <p:nvSpPr>
          <p:cNvPr id="11" name="Rectangle 10"/>
          <p:cNvSpPr/>
          <p:nvPr/>
        </p:nvSpPr>
        <p:spPr>
          <a:xfrm>
            <a:off x="2620670"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2737714"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995574"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95574"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23590" y="2670048"/>
            <a:ext cx="1505102" cy="713232"/>
          </a:xfrm>
          <a:prstGeom prst="rect">
            <a:avLst/>
          </a:prstGeom>
          <a:noFill/>
        </p:spPr>
        <p:txBody>
          <a:bodyPr wrap="square" anchor="ctr">
            <a:spAutoFit/>
          </a:bodyPr>
          <a:lstStyle/>
          <a:p>
            <a:pPr algn="ctr">
              <a:spcAft>
                <a:spcPts val="400"/>
              </a:spcAft>
            </a:pPr>
            <a:r>
              <a:rPr sz="1500" b="1">
                <a:solidFill>
                  <a:srgbClr val="161B26"/>
                </a:solidFill>
                <a:latin typeface="Arial"/>
              </a:rPr>
              <a:t>Structured template</a:t>
            </a:r>
          </a:p>
        </p:txBody>
      </p:sp>
      <p:sp>
        <p:nvSpPr>
          <p:cNvPr id="16" name="TextBox 15"/>
          <p:cNvSpPr txBox="1"/>
          <p:nvPr/>
        </p:nvSpPr>
        <p:spPr>
          <a:xfrm>
            <a:off x="3123590" y="3401568"/>
            <a:ext cx="1505102" cy="804672"/>
          </a:xfrm>
          <a:prstGeom prst="rect">
            <a:avLst/>
          </a:prstGeom>
          <a:noFill/>
        </p:spPr>
        <p:txBody>
          <a:bodyPr wrap="square" anchor="t">
            <a:spAutoFit/>
          </a:bodyPr>
          <a:lstStyle/>
          <a:p>
            <a:pPr algn="ctr">
              <a:spcAft>
                <a:spcPts val="400"/>
              </a:spcAft>
            </a:pPr>
            <a:r>
              <a:rPr sz="1100" b="0">
                <a:solidFill>
                  <a:srgbClr val="5B6372"/>
                </a:solidFill>
                <a:latin typeface="Arial"/>
              </a:rPr>
              <a:t>The agreed document headings</a:t>
            </a:r>
          </a:p>
        </p:txBody>
      </p:sp>
      <p:sp>
        <p:nvSpPr>
          <p:cNvPr id="17" name="Rectangle 16"/>
          <p:cNvSpPr/>
          <p:nvPr/>
        </p:nvSpPr>
        <p:spPr>
          <a:xfrm>
            <a:off x="4839004"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4956048"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213908"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213908"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41924" y="2670048"/>
            <a:ext cx="1505102" cy="713232"/>
          </a:xfrm>
          <a:prstGeom prst="rect">
            <a:avLst/>
          </a:prstGeom>
          <a:noFill/>
        </p:spPr>
        <p:txBody>
          <a:bodyPr wrap="square" anchor="ctr">
            <a:spAutoFit/>
          </a:bodyPr>
          <a:lstStyle/>
          <a:p>
            <a:pPr algn="ctr">
              <a:spcAft>
                <a:spcPts val="400"/>
              </a:spcAft>
            </a:pPr>
            <a:r>
              <a:rPr sz="1500" b="1">
                <a:solidFill>
                  <a:srgbClr val="161B26"/>
                </a:solidFill>
                <a:latin typeface="Arial"/>
              </a:rPr>
              <a:t>Grounded draft</a:t>
            </a:r>
          </a:p>
        </p:txBody>
      </p:sp>
      <p:sp>
        <p:nvSpPr>
          <p:cNvPr id="22" name="TextBox 21"/>
          <p:cNvSpPr txBox="1"/>
          <p:nvPr/>
        </p:nvSpPr>
        <p:spPr>
          <a:xfrm>
            <a:off x="5341924" y="3401568"/>
            <a:ext cx="1505102" cy="804672"/>
          </a:xfrm>
          <a:prstGeom prst="rect">
            <a:avLst/>
          </a:prstGeom>
          <a:noFill/>
        </p:spPr>
        <p:txBody>
          <a:bodyPr wrap="square" anchor="t">
            <a:spAutoFit/>
          </a:bodyPr>
          <a:lstStyle/>
          <a:p>
            <a:pPr algn="ctr">
              <a:spcAft>
                <a:spcPts val="400"/>
              </a:spcAft>
            </a:pPr>
            <a:r>
              <a:rPr sz="1100" b="0">
                <a:solidFill>
                  <a:srgbClr val="5B6372"/>
                </a:solidFill>
                <a:latin typeface="Arial"/>
              </a:rPr>
              <a:t>Copilot writes into the structure</a:t>
            </a:r>
          </a:p>
        </p:txBody>
      </p:sp>
      <p:sp>
        <p:nvSpPr>
          <p:cNvPr id="23" name="Rectangle 22"/>
          <p:cNvSpPr/>
          <p:nvPr/>
        </p:nvSpPr>
        <p:spPr>
          <a:xfrm>
            <a:off x="7057338"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7174382"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432242"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32242"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60258" y="2670048"/>
            <a:ext cx="1505102" cy="713232"/>
          </a:xfrm>
          <a:prstGeom prst="rect">
            <a:avLst/>
          </a:prstGeom>
          <a:noFill/>
        </p:spPr>
        <p:txBody>
          <a:bodyPr wrap="square" anchor="ctr">
            <a:spAutoFit/>
          </a:bodyPr>
          <a:lstStyle/>
          <a:p>
            <a:pPr algn="ctr">
              <a:spcAft>
                <a:spcPts val="400"/>
              </a:spcAft>
            </a:pPr>
            <a:r>
              <a:rPr sz="1500" b="1">
                <a:solidFill>
                  <a:srgbClr val="161B26"/>
                </a:solidFill>
                <a:latin typeface="Arial"/>
              </a:rPr>
              <a:t>Claim check</a:t>
            </a:r>
          </a:p>
        </p:txBody>
      </p:sp>
      <p:sp>
        <p:nvSpPr>
          <p:cNvPr id="28" name="TextBox 27"/>
          <p:cNvSpPr txBox="1"/>
          <p:nvPr/>
        </p:nvSpPr>
        <p:spPr>
          <a:xfrm>
            <a:off x="7560258" y="3401568"/>
            <a:ext cx="1505102" cy="804672"/>
          </a:xfrm>
          <a:prstGeom prst="rect">
            <a:avLst/>
          </a:prstGeom>
          <a:noFill/>
        </p:spPr>
        <p:txBody>
          <a:bodyPr wrap="square" anchor="t">
            <a:spAutoFit/>
          </a:bodyPr>
          <a:lstStyle/>
          <a:p>
            <a:pPr algn="ctr">
              <a:spcAft>
                <a:spcPts val="400"/>
              </a:spcAft>
            </a:pPr>
            <a:r>
              <a:rPr sz="1100" b="0">
                <a:solidFill>
                  <a:srgbClr val="5B6372"/>
                </a:solidFill>
                <a:latin typeface="Arial"/>
              </a:rPr>
              <a:t>Every figure traced to a cell</a:t>
            </a:r>
          </a:p>
        </p:txBody>
      </p:sp>
      <p:sp>
        <p:nvSpPr>
          <p:cNvPr id="29" name="Rectangle 28"/>
          <p:cNvSpPr/>
          <p:nvPr/>
        </p:nvSpPr>
        <p:spPr>
          <a:xfrm>
            <a:off x="9275672"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Freeform 29"/>
          <p:cNvSpPr/>
          <p:nvPr/>
        </p:nvSpPr>
        <p:spPr>
          <a:xfrm>
            <a:off x="9392716"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650576"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650576"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778592" y="2670048"/>
            <a:ext cx="1505102" cy="713232"/>
          </a:xfrm>
          <a:prstGeom prst="rect">
            <a:avLst/>
          </a:prstGeom>
          <a:noFill/>
        </p:spPr>
        <p:txBody>
          <a:bodyPr wrap="square" anchor="ctr">
            <a:spAutoFit/>
          </a:bodyPr>
          <a:lstStyle/>
          <a:p>
            <a:pPr algn="ctr">
              <a:spcAft>
                <a:spcPts val="400"/>
              </a:spcAft>
            </a:pPr>
            <a:r>
              <a:rPr sz="1500" b="1">
                <a:solidFill>
                  <a:srgbClr val="161B26"/>
                </a:solidFill>
                <a:latin typeface="Arial"/>
              </a:rPr>
              <a:t>Named approval</a:t>
            </a:r>
          </a:p>
        </p:txBody>
      </p:sp>
      <p:sp>
        <p:nvSpPr>
          <p:cNvPr id="34" name="TextBox 33"/>
          <p:cNvSpPr txBox="1"/>
          <p:nvPr/>
        </p:nvSpPr>
        <p:spPr>
          <a:xfrm>
            <a:off x="9778592" y="3401568"/>
            <a:ext cx="1505102" cy="804672"/>
          </a:xfrm>
          <a:prstGeom prst="rect">
            <a:avLst/>
          </a:prstGeom>
          <a:noFill/>
        </p:spPr>
        <p:txBody>
          <a:bodyPr wrap="square" anchor="t">
            <a:spAutoFit/>
          </a:bodyPr>
          <a:lstStyle/>
          <a:p>
            <a:pPr algn="ctr">
              <a:spcAft>
                <a:spcPts val="400"/>
              </a:spcAft>
            </a:pPr>
            <a:r>
              <a:rPr sz="1100" b="0">
                <a:solidFill>
                  <a:srgbClr val="5B6372"/>
                </a:solidFill>
                <a:latin typeface="Arial"/>
              </a:rPr>
              <a:t>A person signs it off</a:t>
            </a:r>
          </a:p>
        </p:txBody>
      </p:sp>
      <p:sp>
        <p:nvSpPr>
          <p:cNvPr id="35" name="Rectangle 34"/>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F6FEB"/>
                </a:solidFill>
                <a:latin typeface="Arial"/>
              </a:rPr>
              <a:t>WHY IT MATTERS   </a:t>
            </a:r>
            <a:r>
              <a:rPr sz="1300" b="0">
                <a:solidFill>
                  <a:srgbClr val="161B26"/>
                </a:solidFill>
                <a:latin typeface="Arial"/>
              </a:rPr>
              <a:t>The template is what stops a good draft becoming the wrong document.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TELL THE STORY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Copilot in PowerPoint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Build from a document</a:t>
            </a:r>
          </a:p>
          <a:p>
            <a:pPr algn="l">
              <a:spcAft>
                <a:spcPts val="300"/>
              </a:spcAft>
            </a:pPr>
            <a:r>
              <a:rPr sz="1200" b="0">
                <a:solidFill>
                  <a:srgbClr val="5B6372"/>
                </a:solidFill>
                <a:latin typeface="Arial"/>
              </a:rPr>
              <a:t>Turn an approved brief into a slide structure.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Outline first</a:t>
            </a:r>
          </a:p>
          <a:p>
            <a:pPr algn="l">
              <a:spcAft>
                <a:spcPts val="300"/>
              </a:spcAft>
            </a:pPr>
            <a:r>
              <a:rPr sz="1200" b="0">
                <a:solidFill>
                  <a:srgbClr val="5B6372"/>
                </a:solidFill>
                <a:latin typeface="Arial"/>
              </a:rPr>
              <a:t>Fix the story before any slide is generated.</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One message per slide</a:t>
            </a:r>
          </a:p>
          <a:p>
            <a:pPr algn="l">
              <a:spcAft>
                <a:spcPts val="300"/>
              </a:spcAft>
            </a:pPr>
            <a:r>
              <a:rPr sz="1200" b="0">
                <a:solidFill>
                  <a:srgbClr val="5B6372"/>
                </a:solidFill>
                <a:latin typeface="Arial"/>
              </a:rPr>
              <a:t>The title states the takeaway, not the topic.</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Speaker notes</a:t>
            </a:r>
          </a:p>
          <a:p>
            <a:pPr algn="l">
              <a:spcAft>
                <a:spcPts val="300"/>
              </a:spcAft>
            </a:pPr>
            <a:r>
              <a:rPr sz="1200" b="0">
                <a:solidFill>
                  <a:srgbClr val="5B6372"/>
                </a:solidFill>
                <a:latin typeface="Arial"/>
              </a:rPr>
              <a:t>Draft what to say, then check it against the slide.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STATE THE TAKEAWAY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Slide Title Styles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2764962" cy="548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28800"/>
            <a:ext cx="2490642" cy="548640"/>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3542202" y="1828800"/>
            <a:ext cx="3934755" cy="548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1930" y="1828800"/>
            <a:ext cx="3715299" cy="548640"/>
          </a:xfrm>
          <a:prstGeom prst="rect">
            <a:avLst/>
          </a:prstGeom>
          <a:noFill/>
        </p:spPr>
        <p:txBody>
          <a:bodyPr wrap="square" anchor="ctr">
            <a:spAutoFit/>
          </a:bodyPr>
          <a:lstStyle/>
          <a:p>
            <a:pPr algn="ctr">
              <a:spcAft>
                <a:spcPts val="400"/>
              </a:spcAft>
            </a:pPr>
            <a:r>
              <a:rPr sz="1300" b="1">
                <a:solidFill>
                  <a:srgbClr val="FFFFFF"/>
                </a:solidFill>
                <a:latin typeface="Arial"/>
              </a:rPr>
              <a:t>Topic title (weak)</a:t>
            </a:r>
          </a:p>
        </p:txBody>
      </p:sp>
      <p:sp>
        <p:nvSpPr>
          <p:cNvPr id="11" name="Rectangle 10"/>
          <p:cNvSpPr/>
          <p:nvPr/>
        </p:nvSpPr>
        <p:spPr>
          <a:xfrm>
            <a:off x="7476957" y="1828800"/>
            <a:ext cx="3934755" cy="548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6685" y="1828800"/>
            <a:ext cx="3715299" cy="548640"/>
          </a:xfrm>
          <a:prstGeom prst="rect">
            <a:avLst/>
          </a:prstGeom>
          <a:noFill/>
        </p:spPr>
        <p:txBody>
          <a:bodyPr wrap="square" anchor="ctr">
            <a:spAutoFit/>
          </a:bodyPr>
          <a:lstStyle/>
          <a:p>
            <a:pPr algn="ctr">
              <a:spcAft>
                <a:spcPts val="400"/>
              </a:spcAft>
            </a:pPr>
            <a:r>
              <a:rPr sz="1300" b="1">
                <a:solidFill>
                  <a:srgbClr val="FFFFFF"/>
                </a:solidFill>
                <a:latin typeface="Arial"/>
              </a:rPr>
              <a:t>Takeaway title (strong)</a:t>
            </a:r>
          </a:p>
        </p:txBody>
      </p:sp>
      <p:sp>
        <p:nvSpPr>
          <p:cNvPr id="13" name="Rectangle 12"/>
          <p:cNvSpPr/>
          <p:nvPr/>
        </p:nvSpPr>
        <p:spPr>
          <a:xfrm>
            <a:off x="777240" y="2377440"/>
            <a:ext cx="2764962"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377440"/>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Performance</a:t>
            </a:r>
          </a:p>
        </p:txBody>
      </p:sp>
      <p:sp>
        <p:nvSpPr>
          <p:cNvPr id="15" name="Rectangle 14"/>
          <p:cNvSpPr/>
          <p:nvPr/>
        </p:nvSpPr>
        <p:spPr>
          <a:xfrm>
            <a:off x="3542202" y="2377440"/>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1930" y="2377440"/>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"Q3 Results"</a:t>
            </a:r>
          </a:p>
        </p:txBody>
      </p:sp>
      <p:sp>
        <p:nvSpPr>
          <p:cNvPr id="17" name="Rectangle 16"/>
          <p:cNvSpPr/>
          <p:nvPr/>
        </p:nvSpPr>
        <p:spPr>
          <a:xfrm>
            <a:off x="7476957" y="2377440"/>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6685" y="2377440"/>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"Revenue grew 12%, but margin fell"</a:t>
            </a:r>
          </a:p>
        </p:txBody>
      </p:sp>
      <p:sp>
        <p:nvSpPr>
          <p:cNvPr id="19" name="Rectangle 18"/>
          <p:cNvSpPr/>
          <p:nvPr/>
        </p:nvSpPr>
        <p:spPr>
          <a:xfrm>
            <a:off x="777240" y="2852928"/>
            <a:ext cx="2764962"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2852928"/>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Risk</a:t>
            </a:r>
          </a:p>
        </p:txBody>
      </p:sp>
      <p:sp>
        <p:nvSpPr>
          <p:cNvPr id="21" name="Rectangle 20"/>
          <p:cNvSpPr/>
          <p:nvPr/>
        </p:nvSpPr>
        <p:spPr>
          <a:xfrm>
            <a:off x="3542202" y="2852928"/>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1930" y="2852928"/>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"Risks"</a:t>
            </a:r>
          </a:p>
        </p:txBody>
      </p:sp>
      <p:sp>
        <p:nvSpPr>
          <p:cNvPr id="23" name="Rectangle 22"/>
          <p:cNvSpPr/>
          <p:nvPr/>
        </p:nvSpPr>
        <p:spPr>
          <a:xfrm>
            <a:off x="7476957" y="2852928"/>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86685" y="2852928"/>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"Stock lead time is the only launch blocker"</a:t>
            </a:r>
          </a:p>
        </p:txBody>
      </p:sp>
      <p:sp>
        <p:nvSpPr>
          <p:cNvPr id="25" name="Rectangle 24"/>
          <p:cNvSpPr/>
          <p:nvPr/>
        </p:nvSpPr>
        <p:spPr>
          <a:xfrm>
            <a:off x="777240" y="3328416"/>
            <a:ext cx="2764962"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3328416"/>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Ask</a:t>
            </a:r>
          </a:p>
        </p:txBody>
      </p:sp>
      <p:sp>
        <p:nvSpPr>
          <p:cNvPr id="27" name="Rectangle 26"/>
          <p:cNvSpPr/>
          <p:nvPr/>
        </p:nvSpPr>
        <p:spPr>
          <a:xfrm>
            <a:off x="3542202" y="3328416"/>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1930" y="3328416"/>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"Next Steps"</a:t>
            </a:r>
          </a:p>
        </p:txBody>
      </p:sp>
      <p:sp>
        <p:nvSpPr>
          <p:cNvPr id="29" name="Rectangle 28"/>
          <p:cNvSpPr/>
          <p:nvPr/>
        </p:nvSpPr>
        <p:spPr>
          <a:xfrm>
            <a:off x="7476957" y="3328416"/>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86685" y="3328416"/>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"We need budget approval by 19 September"</a:t>
            </a:r>
          </a:p>
        </p:txBody>
      </p:sp>
      <p:sp>
        <p:nvSpPr>
          <p:cNvPr id="31" name="TextBox 30"/>
          <p:cNvSpPr txBox="1"/>
          <p:nvPr/>
        </p:nvSpPr>
        <p:spPr>
          <a:xfrm>
            <a:off x="777240" y="4032504"/>
            <a:ext cx="10634472" cy="457200"/>
          </a:xfrm>
          <a:prstGeom prst="rect">
            <a:avLst/>
          </a:prstGeom>
          <a:noFill/>
        </p:spPr>
        <p:txBody>
          <a:bodyPr wrap="square" anchor="t">
            <a:spAutoFit/>
          </a:bodyPr>
          <a:lstStyle/>
          <a:p>
            <a:pPr algn="l">
              <a:spcAft>
                <a:spcPts val="400"/>
              </a:spcAft>
            </a:pPr>
            <a:r>
              <a:rPr sz="1100" b="1">
                <a:solidFill>
                  <a:srgbClr val="1F6FEB"/>
                </a:solidFill>
                <a:latin typeface="Arial"/>
              </a:rPr>
              <a:t>RULE   </a:t>
            </a:r>
            <a:r>
              <a:rPr sz="1300" b="0">
                <a:solidFill>
                  <a:srgbClr val="161B26"/>
                </a:solidFill>
                <a:latin typeface="Arial"/>
              </a:rPr>
              <a:t>If the audience reads only your titles, they should still get the argument.</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NATIVE CHART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Adoption Readiness Is Uneven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828800"/>
          <a:ext cx="7498079" cy="4114800"/>
        </p:xfrm>
        <a:graphic>
          <a:graphicData uri="http://schemas.openxmlformats.org/drawingml/2006/chart">
            <c:chart xmlns:c="http://schemas.openxmlformats.org/drawingml/2006/chart" r:id="rId2"/>
          </a:graphicData>
        </a:graphic>
      </p:graphicFrame>
      <p:sp>
        <p:nvSpPr>
          <p:cNvPr id="8" name="Rectangle 7"/>
          <p:cNvSpPr/>
          <p:nvPr/>
        </p:nvSpPr>
        <p:spPr>
          <a:xfrm>
            <a:off x="8503920" y="1828800"/>
            <a:ext cx="2926080" cy="4114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503920" y="1828800"/>
            <a:ext cx="2926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0" y="2103120"/>
            <a:ext cx="2377440" cy="365760"/>
          </a:xfrm>
          <a:prstGeom prst="rect">
            <a:avLst/>
          </a:prstGeom>
          <a:noFill/>
        </p:spPr>
        <p:txBody>
          <a:bodyPr wrap="square" anchor="t">
            <a:spAutoFit/>
          </a:bodyPr>
          <a:lstStyle/>
          <a:p>
            <a:pPr algn="l">
              <a:spcAft>
                <a:spcPts val="400"/>
              </a:spcAft>
            </a:pPr>
            <a:r>
              <a:rPr sz="1200" b="1">
                <a:solidFill>
                  <a:srgbClr val="1F6FEB"/>
                </a:solidFill>
                <a:latin typeface="Arial"/>
              </a:rPr>
              <a:t>DECISION LENS</a:t>
            </a:r>
          </a:p>
        </p:txBody>
      </p:sp>
      <p:sp>
        <p:nvSpPr>
          <p:cNvPr id="11" name="TextBox 10"/>
          <p:cNvSpPr txBox="1"/>
          <p:nvPr/>
        </p:nvSpPr>
        <p:spPr>
          <a:xfrm>
            <a:off x="8778240" y="2560320"/>
            <a:ext cx="2377440" cy="1737360"/>
          </a:xfrm>
          <a:prstGeom prst="rect">
            <a:avLst/>
          </a:prstGeom>
          <a:noFill/>
        </p:spPr>
        <p:txBody>
          <a:bodyPr wrap="square" anchor="t">
            <a:spAutoFit/>
          </a:bodyPr>
          <a:lstStyle/>
          <a:p>
            <a:pPr algn="l">
              <a:spcAft>
                <a:spcPts val="400"/>
              </a:spcAft>
            </a:pPr>
            <a:r>
              <a:rPr sz="1300" b="0">
                <a:solidFill>
                  <a:srgbClr val="161B26"/>
                </a:solidFill>
                <a:latin typeface="Arial"/>
              </a:rPr>
              <a:t>Clustered bars expose the control gap before rollout. Train where readiness is lowest.</a:t>
            </a:r>
          </a:p>
        </p:txBody>
      </p:sp>
      <p:sp>
        <p:nvSpPr>
          <p:cNvPr id="12" name="Rectangle 11"/>
          <p:cNvSpPr/>
          <p:nvPr/>
        </p:nvSpPr>
        <p:spPr>
          <a:xfrm>
            <a:off x="8732520" y="4343400"/>
            <a:ext cx="24688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778240" y="4526280"/>
            <a:ext cx="310896" cy="31089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0" y="4526280"/>
            <a:ext cx="310896" cy="310896"/>
          </a:xfrm>
          <a:prstGeom prst="rect">
            <a:avLst/>
          </a:prstGeom>
          <a:noFill/>
        </p:spPr>
        <p:txBody>
          <a:bodyPr wrap="square" anchor="ctr">
            <a:spAutoFit/>
          </a:bodyPr>
          <a:lstStyle/>
          <a:p>
            <a:pPr algn="ctr">
              <a:spcAft>
                <a:spcPts val="400"/>
              </a:spcAft>
            </a:pPr>
            <a:r>
              <a:rPr sz="1300" b="1">
                <a:solidFill>
                  <a:srgbClr val="FFFFFF"/>
                </a:solidFill>
                <a:latin typeface="Arial"/>
              </a:rPr>
              <a:t>?</a:t>
            </a:r>
          </a:p>
        </p:txBody>
      </p:sp>
      <p:sp>
        <p:nvSpPr>
          <p:cNvPr id="15" name="TextBox 14"/>
          <p:cNvSpPr txBox="1"/>
          <p:nvPr/>
        </p:nvSpPr>
        <p:spPr>
          <a:xfrm>
            <a:off x="9189720" y="4507992"/>
            <a:ext cx="2011680" cy="777240"/>
          </a:xfrm>
          <a:prstGeom prst="rect">
            <a:avLst/>
          </a:prstGeom>
          <a:noFill/>
        </p:spPr>
        <p:txBody>
          <a:bodyPr wrap="square" anchor="t">
            <a:spAutoFit/>
          </a:bodyPr>
          <a:lstStyle/>
          <a:p>
            <a:pPr algn="l">
              <a:spcAft>
                <a:spcPts val="100"/>
              </a:spcAft>
            </a:pPr>
            <a:r>
              <a:rPr sz="1050" b="0">
                <a:solidFill>
                  <a:srgbClr val="5B6372"/>
                </a:solidFill>
                <a:latin typeface="Arial"/>
              </a:rPr>
              <a:t>Check the axis, the units</a:t>
            </a:r>
          </a:p>
          <a:p>
            <a:pPr algn="l">
              <a:spcAft>
                <a:spcPts val="100"/>
              </a:spcAft>
            </a:pPr>
            <a:r>
              <a:rPr sz="1050" b="0">
                <a:solidFill>
                  <a:srgbClr val="5B6372"/>
                </a:solidFill>
                <a:latin typeface="Arial"/>
              </a:rPr>
              <a:t>and the source before you act.</a:t>
            </a:r>
          </a:p>
        </p:txBody>
      </p:sp>
      <p:sp>
        <p:nvSpPr>
          <p:cNvPr id="16" name="Rectangle 15"/>
          <p:cNvSpPr/>
          <p:nvPr/>
        </p:nvSpPr>
        <p:spPr>
          <a:xfrm>
            <a:off x="8778240" y="5440680"/>
            <a:ext cx="2377440" cy="3840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69680" y="5440680"/>
            <a:ext cx="2194560" cy="384048"/>
          </a:xfrm>
          <a:prstGeom prst="rect">
            <a:avLst/>
          </a:prstGeom>
          <a:noFill/>
        </p:spPr>
        <p:txBody>
          <a:bodyPr wrap="square" anchor="ctr">
            <a:spAutoFit/>
          </a:bodyPr>
          <a:lstStyle/>
          <a:p>
            <a:pPr algn="l">
              <a:spcAft>
                <a:spcPts val="400"/>
              </a:spcAft>
            </a:pPr>
            <a:r>
              <a:rPr sz="900" b="0">
                <a:solidFill>
                  <a:srgbClr val="5B6372"/>
                </a:solidFill>
                <a:latin typeface="Arial"/>
              </a:rPr>
              <a:t>Native PowerPoint chart · editable data · verify source and units</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LIMITS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Copilot Cannot Do For You</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Know what it was not given</a:t>
            </a:r>
          </a:p>
          <a:p>
            <a:pPr algn="l">
              <a:spcAft>
                <a:spcPts val="300"/>
              </a:spcAft>
            </a:pPr>
            <a:r>
              <a:rPr sz="1200" b="0">
                <a:solidFill>
                  <a:srgbClr val="5B6372"/>
                </a:solidFill>
                <a:latin typeface="Arial"/>
              </a:rPr>
              <a:t>An unattached source cannot be used.</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Guarantee a number is right</a:t>
            </a:r>
          </a:p>
          <a:p>
            <a:pPr algn="l">
              <a:spcAft>
                <a:spcPts val="300"/>
              </a:spcAft>
            </a:pPr>
            <a:r>
              <a:rPr sz="1200" b="0">
                <a:solidFill>
                  <a:srgbClr val="5B6372"/>
                </a:solidFill>
                <a:latin typeface="Arial"/>
              </a:rPr>
              <a:t>Every figure needs checking against the source.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Take accountability</a:t>
            </a:r>
          </a:p>
          <a:p>
            <a:pPr algn="l">
              <a:spcAft>
                <a:spcPts val="300"/>
              </a:spcAft>
            </a:pPr>
            <a:r>
              <a:rPr sz="1200" b="0">
                <a:solidFill>
                  <a:srgbClr val="5B6372"/>
                </a:solidFill>
                <a:latin typeface="Arial"/>
              </a:rPr>
              <a:t>The named human approver still owns the output.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Understand your politics</a:t>
            </a:r>
          </a:p>
          <a:p>
            <a:pPr algn="l">
              <a:spcAft>
                <a:spcPts val="300"/>
              </a:spcAft>
            </a:pPr>
            <a:r>
              <a:rPr sz="1200" b="0">
                <a:solidFill>
                  <a:srgbClr val="5B6372"/>
                </a:solidFill>
                <a:latin typeface="Arial"/>
              </a:rPr>
              <a:t>Tone and sensitivity are your judgement, not its.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6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100" b="1">
                <a:solidFill>
                  <a:srgbClr val="F59E0B"/>
                </a:solidFill>
                <a:latin typeface="Arial"/>
              </a:rPr>
              <a:t>10 minutes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SURFACES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Where You Meet Copilot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Copilot Chat</a:t>
            </a:r>
          </a:p>
          <a:p>
            <a:pPr algn="l">
              <a:spcAft>
                <a:spcPts val="300"/>
              </a:spcAft>
            </a:pPr>
            <a:r>
              <a:rPr sz="1200" b="0">
                <a:solidFill>
                  <a:srgbClr val="5B6372"/>
                </a:solidFill>
                <a:latin typeface="Arial"/>
              </a:rPr>
              <a:t>A standalone conversation, with or without work grounding.</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In-app Copilot</a:t>
            </a:r>
          </a:p>
          <a:p>
            <a:pPr algn="l">
              <a:spcAft>
                <a:spcPts val="300"/>
              </a:spcAft>
            </a:pPr>
            <a:r>
              <a:rPr sz="1200" b="0">
                <a:solidFill>
                  <a:srgbClr val="5B6372"/>
                </a:solidFill>
                <a:latin typeface="Arial"/>
              </a:rPr>
              <a:t>Inside Word, PowerPoint, Excel, Outlook and Teams.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Copilot in the flow of work</a:t>
            </a:r>
          </a:p>
          <a:p>
            <a:pPr algn="l">
              <a:spcAft>
                <a:spcPts val="300"/>
              </a:spcAft>
            </a:pPr>
            <a:r>
              <a:rPr sz="1200" b="0">
                <a:solidFill>
                  <a:srgbClr val="5B6372"/>
                </a:solidFill>
                <a:latin typeface="Arial"/>
              </a:rPr>
              <a:t>Summaries and suggestions offered where you already are.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Agents</a:t>
            </a:r>
          </a:p>
          <a:p>
            <a:pPr algn="l">
              <a:spcAft>
                <a:spcPts val="300"/>
              </a:spcAft>
            </a:pPr>
            <a:r>
              <a:rPr sz="1200" b="0">
                <a:solidFill>
                  <a:srgbClr val="5B6372"/>
                </a:solidFill>
                <a:latin typeface="Arial"/>
              </a:rPr>
              <a:t>Purpose-built assistants for a specific job — Days 4 and 5.</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FAILURE MODES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Three Ways a Draft Can Be Wrong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2764962" cy="548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28800"/>
            <a:ext cx="2490642" cy="548640"/>
          </a:xfrm>
          <a:prstGeom prst="rect">
            <a:avLst/>
          </a:prstGeom>
          <a:noFill/>
        </p:spPr>
        <p:txBody>
          <a:bodyPr wrap="square" anchor="ctr">
            <a:spAutoFit/>
          </a:bodyPr>
          <a:lstStyle/>
          <a:p>
            <a:pPr algn="l">
              <a:spcAft>
                <a:spcPts val="400"/>
              </a:spcAft>
            </a:pPr>
            <a:r>
              <a:rPr sz="1300" b="1">
                <a:solidFill>
                  <a:srgbClr val="FFFFFF"/>
                </a:solidFill>
                <a:latin typeface="Arial"/>
              </a:rPr>
              <a:t>Failure</a:t>
            </a:r>
          </a:p>
        </p:txBody>
      </p:sp>
      <p:sp>
        <p:nvSpPr>
          <p:cNvPr id="9" name="Rectangle 8"/>
          <p:cNvSpPr/>
          <p:nvPr/>
        </p:nvSpPr>
        <p:spPr>
          <a:xfrm>
            <a:off x="3542202" y="1828800"/>
            <a:ext cx="3934755" cy="548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1930" y="1828800"/>
            <a:ext cx="3715299" cy="548640"/>
          </a:xfrm>
          <a:prstGeom prst="rect">
            <a:avLst/>
          </a:prstGeom>
          <a:noFill/>
        </p:spPr>
        <p:txBody>
          <a:bodyPr wrap="square" anchor="ctr">
            <a:spAutoFit/>
          </a:bodyPr>
          <a:lstStyle/>
          <a:p>
            <a:pPr algn="ctr">
              <a:spcAft>
                <a:spcPts val="400"/>
              </a:spcAft>
            </a:pPr>
            <a:r>
              <a:rPr sz="1300" b="1">
                <a:solidFill>
                  <a:srgbClr val="FFFFFF"/>
                </a:solidFill>
                <a:latin typeface="Arial"/>
              </a:rPr>
              <a:t>What it looks like</a:t>
            </a:r>
          </a:p>
        </p:txBody>
      </p:sp>
      <p:sp>
        <p:nvSpPr>
          <p:cNvPr id="11" name="Rectangle 10"/>
          <p:cNvSpPr/>
          <p:nvPr/>
        </p:nvSpPr>
        <p:spPr>
          <a:xfrm>
            <a:off x="7476957" y="1828800"/>
            <a:ext cx="3934755" cy="548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6685" y="1828800"/>
            <a:ext cx="3715299" cy="548640"/>
          </a:xfrm>
          <a:prstGeom prst="rect">
            <a:avLst/>
          </a:prstGeom>
          <a:noFill/>
        </p:spPr>
        <p:txBody>
          <a:bodyPr wrap="square" anchor="ctr">
            <a:spAutoFit/>
          </a:bodyPr>
          <a:lstStyle/>
          <a:p>
            <a:pPr algn="ctr">
              <a:spcAft>
                <a:spcPts val="400"/>
              </a:spcAft>
            </a:pPr>
            <a:r>
              <a:rPr sz="1300" b="1">
                <a:solidFill>
                  <a:srgbClr val="FFFFFF"/>
                </a:solidFill>
                <a:latin typeface="Arial"/>
              </a:rPr>
              <a:t>How you catch it</a:t>
            </a:r>
          </a:p>
        </p:txBody>
      </p:sp>
      <p:sp>
        <p:nvSpPr>
          <p:cNvPr id="13" name="Rectangle 12"/>
          <p:cNvSpPr/>
          <p:nvPr/>
        </p:nvSpPr>
        <p:spPr>
          <a:xfrm>
            <a:off x="777240" y="2377440"/>
            <a:ext cx="2764962"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377440"/>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Invention</a:t>
            </a:r>
          </a:p>
        </p:txBody>
      </p:sp>
      <p:sp>
        <p:nvSpPr>
          <p:cNvPr id="15" name="Rectangle 14"/>
          <p:cNvSpPr/>
          <p:nvPr/>
        </p:nvSpPr>
        <p:spPr>
          <a:xfrm>
            <a:off x="3542202" y="2377440"/>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1930" y="2377440"/>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A confident fact that is not in any source</a:t>
            </a:r>
          </a:p>
        </p:txBody>
      </p:sp>
      <p:sp>
        <p:nvSpPr>
          <p:cNvPr id="17" name="Rectangle 16"/>
          <p:cNvSpPr/>
          <p:nvPr/>
        </p:nvSpPr>
        <p:spPr>
          <a:xfrm>
            <a:off x="7476957" y="2377440"/>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6685" y="2377440"/>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Trace every claim to a cell or section</a:t>
            </a:r>
          </a:p>
        </p:txBody>
      </p:sp>
      <p:sp>
        <p:nvSpPr>
          <p:cNvPr id="19" name="Rectangle 18"/>
          <p:cNvSpPr/>
          <p:nvPr/>
        </p:nvSpPr>
        <p:spPr>
          <a:xfrm>
            <a:off x="777240" y="2852928"/>
            <a:ext cx="2764962"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2852928"/>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Omission</a:t>
            </a:r>
          </a:p>
        </p:txBody>
      </p:sp>
      <p:sp>
        <p:nvSpPr>
          <p:cNvPr id="21" name="Rectangle 20"/>
          <p:cNvSpPr/>
          <p:nvPr/>
        </p:nvSpPr>
        <p:spPr>
          <a:xfrm>
            <a:off x="3542202" y="2852928"/>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1930" y="2852928"/>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A true summary that leaves out the caveat</a:t>
            </a:r>
          </a:p>
        </p:txBody>
      </p:sp>
      <p:sp>
        <p:nvSpPr>
          <p:cNvPr id="23" name="Rectangle 22"/>
          <p:cNvSpPr/>
          <p:nvPr/>
        </p:nvSpPr>
        <p:spPr>
          <a:xfrm>
            <a:off x="7476957" y="2852928"/>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86685" y="2852928"/>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Read the source, not only the summary</a:t>
            </a:r>
          </a:p>
        </p:txBody>
      </p:sp>
      <p:sp>
        <p:nvSpPr>
          <p:cNvPr id="25" name="Rectangle 24"/>
          <p:cNvSpPr/>
          <p:nvPr/>
        </p:nvSpPr>
        <p:spPr>
          <a:xfrm>
            <a:off x="777240" y="3328416"/>
            <a:ext cx="2764962"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3328416"/>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Misframing</a:t>
            </a:r>
          </a:p>
        </p:txBody>
      </p:sp>
      <p:sp>
        <p:nvSpPr>
          <p:cNvPr id="27" name="Rectangle 26"/>
          <p:cNvSpPr/>
          <p:nvPr/>
        </p:nvSpPr>
        <p:spPr>
          <a:xfrm>
            <a:off x="3542202" y="3328416"/>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1930" y="3328416"/>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Accurate numbers arranged to imply the wrong thing</a:t>
            </a:r>
          </a:p>
        </p:txBody>
      </p:sp>
      <p:sp>
        <p:nvSpPr>
          <p:cNvPr id="29" name="Rectangle 28"/>
          <p:cNvSpPr/>
          <p:nvPr/>
        </p:nvSpPr>
        <p:spPr>
          <a:xfrm>
            <a:off x="7476957" y="3328416"/>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86685" y="3328416"/>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Ask what decision the reader would make</a:t>
            </a:r>
          </a:p>
        </p:txBody>
      </p:sp>
      <p:sp>
        <p:nvSpPr>
          <p:cNvPr id="31" name="TextBox 30"/>
          <p:cNvSpPr txBox="1"/>
          <p:nvPr/>
        </p:nvSpPr>
        <p:spPr>
          <a:xfrm>
            <a:off x="777240" y="4032504"/>
            <a:ext cx="10634472" cy="457200"/>
          </a:xfrm>
          <a:prstGeom prst="rect">
            <a:avLst/>
          </a:prstGeom>
          <a:noFill/>
        </p:spPr>
        <p:txBody>
          <a:bodyPr wrap="square" anchor="t">
            <a:spAutoFit/>
          </a:bodyPr>
          <a:lstStyle/>
          <a:p>
            <a:pPr algn="l">
              <a:spcAft>
                <a:spcPts val="400"/>
              </a:spcAft>
            </a:pPr>
            <a:r>
              <a:rPr sz="1100" b="1">
                <a:solidFill>
                  <a:srgbClr val="1F6FEB"/>
                </a:solidFill>
                <a:latin typeface="Arial"/>
              </a:rPr>
              <a:t>RULE   </a:t>
            </a:r>
            <a:r>
              <a:rPr sz="1300" b="0">
                <a:solidFill>
                  <a:srgbClr val="161B26"/>
                </a:solidFill>
                <a:latin typeface="Arial"/>
              </a:rPr>
              <a:t>Invention is the famous one. Omission and misframing cause more harm in practice.</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COPILOT CAN USE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Grounding Sources You Can Attach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A file</a:t>
            </a:r>
          </a:p>
          <a:p>
            <a:pPr algn="l">
              <a:spcAft>
                <a:spcPts val="300"/>
              </a:spcAft>
            </a:pPr>
            <a:r>
              <a:rPr sz="1200" b="0">
                <a:solidFill>
                  <a:srgbClr val="5B6372"/>
                </a:solidFill>
                <a:latin typeface="Arial"/>
              </a:rPr>
              <a:t>A workbook, document or deck you reference directly.</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A meeting</a:t>
            </a:r>
          </a:p>
          <a:p>
            <a:pPr algn="l">
              <a:spcAft>
                <a:spcPts val="300"/>
              </a:spcAft>
            </a:pPr>
            <a:r>
              <a:rPr sz="1200" b="0">
                <a:solidFill>
                  <a:srgbClr val="5B6372"/>
                </a:solidFill>
                <a:latin typeface="Arial"/>
              </a:rPr>
              <a:t>A recorded or transcribed meeting you attended.</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A mail thread</a:t>
            </a:r>
          </a:p>
          <a:p>
            <a:pPr algn="l">
              <a:spcAft>
                <a:spcPts val="300"/>
              </a:spcAft>
            </a:pPr>
            <a:r>
              <a:rPr sz="1200" b="0">
                <a:solidFill>
                  <a:srgbClr val="5B6372"/>
                </a:solidFill>
                <a:latin typeface="Arial"/>
              </a:rPr>
              <a:t>Messages in a mailbox you have access to.</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A site or library</a:t>
            </a:r>
          </a:p>
          <a:p>
            <a:pPr algn="l">
              <a:spcAft>
                <a:spcPts val="300"/>
              </a:spcAft>
            </a:pPr>
            <a:r>
              <a:rPr sz="1200" b="0">
                <a:solidFill>
                  <a:srgbClr val="5B6372"/>
                </a:solidFill>
                <a:latin typeface="Arial"/>
              </a:rPr>
              <a:t>A SharePoint location you are permitted to read.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DECISION RULE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Is This Task a Good Fit for Copilot?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331720"/>
            <a:ext cx="3017520" cy="210312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788920"/>
            <a:ext cx="2468880" cy="1188720"/>
          </a:xfrm>
          <a:prstGeom prst="rect">
            <a:avLst/>
          </a:prstGeom>
          <a:noFill/>
        </p:spPr>
        <p:txBody>
          <a:bodyPr wrap="square" anchor="ctr">
            <a:spAutoFit/>
          </a:bodyPr>
          <a:lstStyle/>
          <a:p>
            <a:pPr algn="ctr">
              <a:spcAft>
                <a:spcPts val="400"/>
              </a:spcAft>
            </a:pPr>
            <a:r>
              <a:rPr sz="1300" b="1">
                <a:solidFill>
                  <a:srgbClr val="FFFFFF"/>
                </a:solidFill>
                <a:latin typeface="Arial"/>
              </a:rPr>
              <a:t>Is there an approved source that answers it?</a:t>
            </a:r>
          </a:p>
        </p:txBody>
      </p:sp>
      <p:sp>
        <p:nvSpPr>
          <p:cNvPr id="9" name="Rectangle 8"/>
          <p:cNvSpPr/>
          <p:nvPr/>
        </p:nvSpPr>
        <p:spPr>
          <a:xfrm>
            <a:off x="3931920" y="2761488"/>
            <a:ext cx="32004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reeform 9"/>
          <p:cNvSpPr/>
          <p:nvPr/>
        </p:nvSpPr>
        <p:spPr>
          <a:xfrm>
            <a:off x="4251960" y="2732227"/>
            <a:ext cx="182880" cy="113385"/>
          </a:xfrm>
          <a:custGeom>
            <a:avLst/>
            <a:gdLst/>
            <a:ahLst/>
            <a:cxnLst/>
            <a:rect l="l" t="t" r="r" b="b"/>
            <a:pathLst>
              <a:path w="182880" h="113385">
                <a:moveTo>
                  <a:pt x="0" y="0"/>
                </a:moveTo>
                <a:lnTo>
                  <a:pt x="182880" y="56693"/>
                </a:lnTo>
                <a:lnTo>
                  <a:pt x="0" y="113385"/>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0" y="1965960"/>
            <a:ext cx="6858000" cy="1920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965960"/>
            <a:ext cx="91440" cy="19202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28032" y="2112264"/>
            <a:ext cx="6400800" cy="365760"/>
          </a:xfrm>
          <a:prstGeom prst="rect">
            <a:avLst/>
          </a:prstGeom>
          <a:noFill/>
        </p:spPr>
        <p:txBody>
          <a:bodyPr wrap="square" anchor="t">
            <a:spAutoFit/>
          </a:bodyPr>
          <a:lstStyle/>
          <a:p>
            <a:pPr algn="l">
              <a:spcAft>
                <a:spcPts val="400"/>
              </a:spcAft>
            </a:pPr>
            <a:r>
              <a:rPr sz="1300" b="1">
                <a:solidFill>
                  <a:srgbClr val="10B981"/>
                </a:solidFill>
                <a:latin typeface="Arial"/>
              </a:rPr>
              <a:t>YES</a:t>
            </a:r>
          </a:p>
        </p:txBody>
      </p:sp>
      <p:sp>
        <p:nvSpPr>
          <p:cNvPr id="14" name="TextBox 13"/>
          <p:cNvSpPr txBox="1"/>
          <p:nvPr/>
        </p:nvSpPr>
        <p:spPr>
          <a:xfrm>
            <a:off x="4828032" y="2514600"/>
            <a:ext cx="6400800" cy="1280160"/>
          </a:xfrm>
          <a:prstGeom prst="rect">
            <a:avLst/>
          </a:prstGeom>
          <a:noFill/>
        </p:spPr>
        <p:txBody>
          <a:bodyPr wrap="square">
            <a:spAutoFit/>
          </a:bodyPr>
          <a:lstStyle/>
          <a:p>
            <a:pPr>
              <a:spcAft>
                <a:spcPts val="600"/>
              </a:spcAft>
            </a:pPr>
            <a:r>
              <a:rPr sz="1300">
                <a:solidFill>
                  <a:srgbClr val="161B26"/>
                </a:solidFill>
                <a:latin typeface="Arial"/>
              </a:rPr>
              <a:t>•  Draft with Copilot, then verify against that source</a:t>
            </a:r>
          </a:p>
          <a:p>
            <a:pPr>
              <a:spcAft>
                <a:spcPts val="600"/>
              </a:spcAft>
            </a:pPr>
            <a:r>
              <a:rPr sz="1300">
                <a:solidFill>
                  <a:srgbClr val="161B26"/>
                </a:solidFill>
                <a:latin typeface="Arial"/>
              </a:rPr>
              <a:t>•  Record the source in your evidence register</a:t>
            </a:r>
          </a:p>
        </p:txBody>
      </p:sp>
      <p:sp>
        <p:nvSpPr>
          <p:cNvPr id="15" name="Rectangle 14"/>
          <p:cNvSpPr/>
          <p:nvPr/>
        </p:nvSpPr>
        <p:spPr>
          <a:xfrm>
            <a:off x="3931920" y="5001768"/>
            <a:ext cx="32004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reeform 15"/>
          <p:cNvSpPr/>
          <p:nvPr/>
        </p:nvSpPr>
        <p:spPr>
          <a:xfrm>
            <a:off x="4251960" y="4972507"/>
            <a:ext cx="182880" cy="113385"/>
          </a:xfrm>
          <a:custGeom>
            <a:avLst/>
            <a:gdLst/>
            <a:ahLst/>
            <a:cxnLst/>
            <a:rect l="l" t="t" r="r" b="b"/>
            <a:pathLst>
              <a:path w="182880" h="113385">
                <a:moveTo>
                  <a:pt x="0" y="0"/>
                </a:moveTo>
                <a:lnTo>
                  <a:pt x="182880" y="56693"/>
                </a:lnTo>
                <a:lnTo>
                  <a:pt x="0" y="113385"/>
                </a:lnTo>
                <a:close/>
              </a:path>
            </a:pathLst>
          </a:cu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0" y="4206240"/>
            <a:ext cx="6858000" cy="1920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0" y="4206240"/>
            <a:ext cx="91440" cy="19202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28032" y="4352544"/>
            <a:ext cx="6400800" cy="365760"/>
          </a:xfrm>
          <a:prstGeom prst="rect">
            <a:avLst/>
          </a:prstGeom>
          <a:noFill/>
        </p:spPr>
        <p:txBody>
          <a:bodyPr wrap="square" anchor="t">
            <a:spAutoFit/>
          </a:bodyPr>
          <a:lstStyle/>
          <a:p>
            <a:pPr algn="l">
              <a:spcAft>
                <a:spcPts val="400"/>
              </a:spcAft>
            </a:pPr>
            <a:r>
              <a:rPr sz="1300" b="1">
                <a:solidFill>
                  <a:srgbClr val="F59E0B"/>
                </a:solidFill>
                <a:latin typeface="Arial"/>
              </a:rPr>
              <a:t>NO</a:t>
            </a:r>
          </a:p>
        </p:txBody>
      </p:sp>
      <p:sp>
        <p:nvSpPr>
          <p:cNvPr id="20" name="TextBox 19"/>
          <p:cNvSpPr txBox="1"/>
          <p:nvPr/>
        </p:nvSpPr>
        <p:spPr>
          <a:xfrm>
            <a:off x="4828032" y="4754880"/>
            <a:ext cx="6400800" cy="1280160"/>
          </a:xfrm>
          <a:prstGeom prst="rect">
            <a:avLst/>
          </a:prstGeom>
          <a:noFill/>
        </p:spPr>
        <p:txBody>
          <a:bodyPr wrap="square">
            <a:spAutoFit/>
          </a:bodyPr>
          <a:lstStyle/>
          <a:p>
            <a:pPr>
              <a:spcAft>
                <a:spcPts val="600"/>
              </a:spcAft>
            </a:pPr>
            <a:r>
              <a:rPr sz="1300">
                <a:solidFill>
                  <a:srgbClr val="161B26"/>
                </a:solidFill>
                <a:latin typeface="Arial"/>
              </a:rPr>
              <a:t>•  Do the thinking first, then use Copilot to express it</a:t>
            </a:r>
          </a:p>
          <a:p>
            <a:pPr>
              <a:spcAft>
                <a:spcPts val="600"/>
              </a:spcAft>
            </a:pPr>
            <a:r>
              <a:rPr sz="1300">
                <a:solidFill>
                  <a:srgbClr val="161B26"/>
                </a:solidFill>
                <a:latin typeface="Arial"/>
              </a:rPr>
              <a:t>•  Never ask it to supply facts you do not have</a:t>
            </a:r>
          </a:p>
        </p:txBody>
      </p:sp>
      <p:sp>
        <p:nvSpPr>
          <p:cNvPr id="21" name="TextBox 20"/>
          <p:cNvSpPr txBox="1"/>
          <p:nvPr/>
        </p:nvSpPr>
        <p:spPr>
          <a:xfrm>
            <a:off x="777240" y="5989320"/>
            <a:ext cx="10607040" cy="457200"/>
          </a:xfrm>
          <a:prstGeom prst="rect">
            <a:avLst/>
          </a:prstGeom>
          <a:noFill/>
        </p:spPr>
        <p:txBody>
          <a:bodyPr wrap="square" anchor="t">
            <a:spAutoFit/>
          </a:bodyPr>
          <a:lstStyle/>
          <a:p>
            <a:pPr algn="l">
              <a:spcAft>
                <a:spcPts val="400"/>
              </a:spcAft>
            </a:pPr>
            <a:r>
              <a:rPr sz="1100" b="1">
                <a:solidFill>
                  <a:srgbClr val="7C3AED"/>
                </a:solidFill>
                <a:latin typeface="Arial"/>
              </a:rPr>
              <a:t>RULE   </a:t>
            </a:r>
            <a:r>
              <a:rPr sz="1300" b="0">
                <a:solidFill>
                  <a:srgbClr val="161B26"/>
                </a:solidFill>
                <a:latin typeface="Arial"/>
              </a:rPr>
              <a:t>Copilot is excellent at expressing what you know. It is unreliable at knowing what you do not.</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FOUR QUESTIONS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Reading a Copilot Answer Critically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What is it citing?</a:t>
            </a:r>
          </a:p>
          <a:p>
            <a:pPr algn="l">
              <a:spcAft>
                <a:spcPts val="300"/>
              </a:spcAft>
            </a:pPr>
            <a:r>
              <a:rPr sz="1200" b="0">
                <a:solidFill>
                  <a:srgbClr val="5B6372"/>
                </a:solidFill>
                <a:latin typeface="Arial"/>
              </a:rPr>
              <a:t>If nothing, treat every fact as unverified.</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What did it leave out?</a:t>
            </a:r>
          </a:p>
          <a:p>
            <a:pPr algn="l">
              <a:spcAft>
                <a:spcPts val="300"/>
              </a:spcAft>
            </a:pPr>
            <a:r>
              <a:rPr sz="1200" b="0">
                <a:solidFill>
                  <a:srgbClr val="5B6372"/>
                </a:solidFill>
                <a:latin typeface="Arial"/>
              </a:rPr>
              <a:t>Compare against the source, not against your expectation.</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What would change my mind?</a:t>
            </a:r>
          </a:p>
          <a:p>
            <a:pPr algn="l">
              <a:spcAft>
                <a:spcPts val="300"/>
              </a:spcAft>
            </a:pPr>
            <a:r>
              <a:rPr sz="1200" b="0">
                <a:solidFill>
                  <a:srgbClr val="5B6372"/>
                </a:solidFill>
                <a:latin typeface="Arial"/>
              </a:rPr>
              <a:t>Name the evidence that would falsify the claim.</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Who is accountable?</a:t>
            </a:r>
          </a:p>
          <a:p>
            <a:pPr algn="l">
              <a:spcAft>
                <a:spcPts val="300"/>
              </a:spcAft>
            </a:pPr>
            <a:r>
              <a:rPr sz="1200" b="0">
                <a:solidFill>
                  <a:srgbClr val="5B6372"/>
                </a:solidFill>
                <a:latin typeface="Arial"/>
              </a:rPr>
              <a:t>Someone must be named before this is released.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NATIVE CHART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Verification Effort Pays Back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828800"/>
          <a:ext cx="7498079" cy="4114800"/>
        </p:xfrm>
        <a:graphic>
          <a:graphicData uri="http://schemas.openxmlformats.org/drawingml/2006/chart">
            <c:chart xmlns:c="http://schemas.openxmlformats.org/drawingml/2006/chart" r:id="rId2"/>
          </a:graphicData>
        </a:graphic>
      </p:graphicFrame>
      <p:sp>
        <p:nvSpPr>
          <p:cNvPr id="8" name="Rectangle 7"/>
          <p:cNvSpPr/>
          <p:nvPr/>
        </p:nvSpPr>
        <p:spPr>
          <a:xfrm>
            <a:off x="8503920" y="1828800"/>
            <a:ext cx="2926080" cy="4114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503920" y="1828800"/>
            <a:ext cx="2926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0" y="2103120"/>
            <a:ext cx="2377440" cy="365760"/>
          </a:xfrm>
          <a:prstGeom prst="rect">
            <a:avLst/>
          </a:prstGeom>
          <a:noFill/>
        </p:spPr>
        <p:txBody>
          <a:bodyPr wrap="square" anchor="t">
            <a:spAutoFit/>
          </a:bodyPr>
          <a:lstStyle/>
          <a:p>
            <a:pPr algn="l">
              <a:spcAft>
                <a:spcPts val="400"/>
              </a:spcAft>
            </a:pPr>
            <a:r>
              <a:rPr sz="1200" b="1">
                <a:solidFill>
                  <a:srgbClr val="1F6FEB"/>
                </a:solidFill>
                <a:latin typeface="Arial"/>
              </a:rPr>
              <a:t>DECISION LENS</a:t>
            </a:r>
          </a:p>
        </p:txBody>
      </p:sp>
      <p:sp>
        <p:nvSpPr>
          <p:cNvPr id="11" name="TextBox 10"/>
          <p:cNvSpPr txBox="1"/>
          <p:nvPr/>
        </p:nvSpPr>
        <p:spPr>
          <a:xfrm>
            <a:off x="8778240" y="2560320"/>
            <a:ext cx="2377440" cy="1737360"/>
          </a:xfrm>
          <a:prstGeom prst="rect">
            <a:avLst/>
          </a:prstGeom>
          <a:noFill/>
        </p:spPr>
        <p:txBody>
          <a:bodyPr wrap="square" anchor="t">
            <a:spAutoFit/>
          </a:bodyPr>
          <a:lstStyle/>
          <a:p>
            <a:pPr algn="l">
              <a:spcAft>
                <a:spcPts val="400"/>
              </a:spcAft>
            </a:pPr>
            <a:r>
              <a:rPr sz="1300" b="0">
                <a:solidFill>
                  <a:srgbClr val="161B26"/>
                </a:solidFill>
                <a:latin typeface="Arial"/>
              </a:rPr>
              <a:t>Review costs more in week one and less in every week after. Unverified output compounds.</a:t>
            </a:r>
          </a:p>
        </p:txBody>
      </p:sp>
      <p:sp>
        <p:nvSpPr>
          <p:cNvPr id="12" name="Rectangle 11"/>
          <p:cNvSpPr/>
          <p:nvPr/>
        </p:nvSpPr>
        <p:spPr>
          <a:xfrm>
            <a:off x="8732520" y="4343400"/>
            <a:ext cx="24688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778240" y="4526280"/>
            <a:ext cx="310896" cy="31089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0" y="4526280"/>
            <a:ext cx="310896" cy="310896"/>
          </a:xfrm>
          <a:prstGeom prst="rect">
            <a:avLst/>
          </a:prstGeom>
          <a:noFill/>
        </p:spPr>
        <p:txBody>
          <a:bodyPr wrap="square" anchor="ctr">
            <a:spAutoFit/>
          </a:bodyPr>
          <a:lstStyle/>
          <a:p>
            <a:pPr algn="ctr">
              <a:spcAft>
                <a:spcPts val="400"/>
              </a:spcAft>
            </a:pPr>
            <a:r>
              <a:rPr sz="1300" b="1">
                <a:solidFill>
                  <a:srgbClr val="FFFFFF"/>
                </a:solidFill>
                <a:latin typeface="Arial"/>
              </a:rPr>
              <a:t>?</a:t>
            </a:r>
          </a:p>
        </p:txBody>
      </p:sp>
      <p:sp>
        <p:nvSpPr>
          <p:cNvPr id="15" name="TextBox 14"/>
          <p:cNvSpPr txBox="1"/>
          <p:nvPr/>
        </p:nvSpPr>
        <p:spPr>
          <a:xfrm>
            <a:off x="9189720" y="4507992"/>
            <a:ext cx="2011680" cy="777240"/>
          </a:xfrm>
          <a:prstGeom prst="rect">
            <a:avLst/>
          </a:prstGeom>
          <a:noFill/>
        </p:spPr>
        <p:txBody>
          <a:bodyPr wrap="square" anchor="t">
            <a:spAutoFit/>
          </a:bodyPr>
          <a:lstStyle/>
          <a:p>
            <a:pPr algn="l">
              <a:spcAft>
                <a:spcPts val="100"/>
              </a:spcAft>
            </a:pPr>
            <a:r>
              <a:rPr sz="1050" b="0">
                <a:solidFill>
                  <a:srgbClr val="5B6372"/>
                </a:solidFill>
                <a:latin typeface="Arial"/>
              </a:rPr>
              <a:t>Check the axis, the units</a:t>
            </a:r>
          </a:p>
          <a:p>
            <a:pPr algn="l">
              <a:spcAft>
                <a:spcPts val="100"/>
              </a:spcAft>
            </a:pPr>
            <a:r>
              <a:rPr sz="1050" b="0">
                <a:solidFill>
                  <a:srgbClr val="5B6372"/>
                </a:solidFill>
                <a:latin typeface="Arial"/>
              </a:rPr>
              <a:t>and the source before you act.</a:t>
            </a:r>
          </a:p>
        </p:txBody>
      </p:sp>
      <p:sp>
        <p:nvSpPr>
          <p:cNvPr id="16" name="Rectangle 15"/>
          <p:cNvSpPr/>
          <p:nvPr/>
        </p:nvSpPr>
        <p:spPr>
          <a:xfrm>
            <a:off x="8778240" y="5440680"/>
            <a:ext cx="2377440" cy="3840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69680" y="5440680"/>
            <a:ext cx="2194560" cy="384048"/>
          </a:xfrm>
          <a:prstGeom prst="rect">
            <a:avLst/>
          </a:prstGeom>
          <a:noFill/>
        </p:spPr>
        <p:txBody>
          <a:bodyPr wrap="square" anchor="ctr">
            <a:spAutoFit/>
          </a:bodyPr>
          <a:lstStyle/>
          <a:p>
            <a:pPr algn="l">
              <a:spcAft>
                <a:spcPts val="400"/>
              </a:spcAft>
            </a:pPr>
            <a:r>
              <a:rPr sz="900" b="0">
                <a:solidFill>
                  <a:srgbClr val="5B6372"/>
                </a:solidFill>
                <a:latin typeface="Arial"/>
              </a:rPr>
              <a:t>Native PowerPoint chart · editable data · verify source and units</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BEFORE YOU SHARE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Making a Deck Accessible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Contrast</a:t>
            </a:r>
          </a:p>
          <a:p>
            <a:pPr algn="l">
              <a:spcAft>
                <a:spcPts val="300"/>
              </a:spcAft>
            </a:pPr>
            <a:r>
              <a:rPr sz="1200" b="0">
                <a:solidFill>
                  <a:srgbClr val="5B6372"/>
                </a:solidFill>
                <a:latin typeface="Arial"/>
              </a:rPr>
              <a:t>Text must be readable against its background.</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Type size</a:t>
            </a:r>
          </a:p>
          <a:p>
            <a:pPr algn="l">
              <a:spcAft>
                <a:spcPts val="300"/>
              </a:spcAft>
            </a:pPr>
            <a:r>
              <a:rPr sz="1200" b="0">
                <a:solidFill>
                  <a:srgbClr val="5B6372"/>
                </a:solidFill>
                <a:latin typeface="Arial"/>
              </a:rPr>
              <a:t>If it needs squinting on a projector, it is too small.</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Alt text</a:t>
            </a:r>
          </a:p>
          <a:p>
            <a:pPr algn="l">
              <a:spcAft>
                <a:spcPts val="300"/>
              </a:spcAft>
            </a:pPr>
            <a:r>
              <a:rPr sz="1200" b="0">
                <a:solidFill>
                  <a:srgbClr val="5B6372"/>
                </a:solidFill>
                <a:latin typeface="Arial"/>
              </a:rPr>
              <a:t>Every meaningful image and chart needs a description.</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Reading order</a:t>
            </a:r>
          </a:p>
          <a:p>
            <a:pPr algn="l">
              <a:spcAft>
                <a:spcPts val="300"/>
              </a:spcAft>
            </a:pPr>
            <a:r>
              <a:rPr sz="1200" b="0">
                <a:solidFill>
                  <a:srgbClr val="5B6372"/>
                </a:solidFill>
                <a:latin typeface="Arial"/>
              </a:rPr>
              <a:t>Screen readers follow the object order, not the visual layout.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FOUNDATION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Set Up Microsoft 365 Copilot and Prompt Safely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371600" cy="4389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371600" cy="365760"/>
          </a:xfrm>
          <a:prstGeom prst="rect">
            <a:avLst/>
          </a:prstGeom>
          <a:noFill/>
        </p:spPr>
        <p:txBody>
          <a:bodyPr wrap="square" anchor="t">
            <a:spAutoFit/>
          </a:bodyPr>
          <a:lstStyle/>
          <a:p>
            <a:pPr algn="ctr">
              <a:spcAft>
                <a:spcPts val="400"/>
              </a:spcAft>
            </a:pPr>
            <a:r>
              <a:rPr sz="1500" b="1">
                <a:solidFill>
                  <a:srgbClr val="FFFFFF"/>
                </a:solidFill>
                <a:latin typeface="Arial"/>
              </a:rPr>
              <a:t>LAB 01</a:t>
            </a:r>
          </a:p>
        </p:txBody>
      </p:sp>
      <p:sp>
        <p:nvSpPr>
          <p:cNvPr id="9" name="Rectangle 8"/>
          <p:cNvSpPr/>
          <p:nvPr/>
        </p:nvSpPr>
        <p:spPr>
          <a:xfrm>
            <a:off x="2286000" y="1691640"/>
            <a:ext cx="1371600" cy="438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0" y="1737360"/>
            <a:ext cx="1371600" cy="365760"/>
          </a:xfrm>
          <a:prstGeom prst="rect">
            <a:avLst/>
          </a:prstGeom>
          <a:noFill/>
        </p:spPr>
        <p:txBody>
          <a:bodyPr wrap="square" anchor="t">
            <a:spAutoFit/>
          </a:bodyPr>
          <a:lstStyle/>
          <a:p>
            <a:pPr algn="ctr">
              <a:spcAft>
                <a:spcPts val="400"/>
              </a:spcAft>
            </a:pPr>
            <a:r>
              <a:rPr sz="1300" b="1">
                <a:solidFill>
                  <a:srgbClr val="5B6372"/>
                </a:solidFill>
                <a:latin typeface="Arial"/>
              </a:rPr>
              <a:t>K1 · A1</a:t>
            </a:r>
          </a:p>
        </p:txBody>
      </p:sp>
      <p:sp>
        <p:nvSpPr>
          <p:cNvPr id="11" name="TextBox 10"/>
          <p:cNvSpPr txBox="1"/>
          <p:nvPr/>
        </p:nvSpPr>
        <p:spPr>
          <a:xfrm>
            <a:off x="777240" y="2331720"/>
            <a:ext cx="10698480" cy="1371600"/>
          </a:xfrm>
          <a:prstGeom prst="rect">
            <a:avLst/>
          </a:prstGeom>
          <a:noFill/>
        </p:spPr>
        <p:txBody>
          <a:bodyPr wrap="square" anchor="t">
            <a:spAutoFit/>
          </a:bodyPr>
          <a:lstStyle/>
          <a:p>
            <a:pPr algn="l">
              <a:spcAft>
                <a:spcPts val="400"/>
              </a:spcAft>
            </a:pPr>
            <a:r>
              <a:rPr sz="1900" b="0">
                <a:solidFill>
                  <a:srgbClr val="161B26"/>
                </a:solidFill>
                <a:latin typeface="Arial"/>
              </a:rPr>
              <a:t>The learner confirms which Copilot surface they are licensed for, learns how grounding and permissions work, writes prompts using the four-part prompt contract, and records a review decision for every generated claim.</a:t>
            </a:r>
          </a:p>
        </p:txBody>
      </p:sp>
      <p:sp>
        <p:nvSpPr>
          <p:cNvPr id="12" name="Rectangle 11"/>
          <p:cNvSpPr/>
          <p:nvPr/>
        </p:nvSpPr>
        <p:spPr>
          <a:xfrm>
            <a:off x="777240" y="3886200"/>
            <a:ext cx="10698480"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88620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11480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 will build</a:t>
            </a:r>
          </a:p>
        </p:txBody>
      </p:sp>
      <p:sp>
        <p:nvSpPr>
          <p:cNvPr id="15" name="TextBox 14"/>
          <p:cNvSpPr txBox="1"/>
          <p:nvPr/>
        </p:nvSpPr>
        <p:spPr>
          <a:xfrm>
            <a:off x="1005840" y="4480560"/>
            <a:ext cx="10149840" cy="640080"/>
          </a:xfrm>
          <a:prstGeom prst="rect">
            <a:avLst/>
          </a:prstGeom>
          <a:noFill/>
        </p:spPr>
        <p:txBody>
          <a:bodyPr wrap="square" anchor="t">
            <a:spAutoFit/>
          </a:bodyPr>
          <a:lstStyle/>
          <a:p>
            <a:pPr algn="l">
              <a:spcAft>
                <a:spcPts val="400"/>
              </a:spcAft>
            </a:pPr>
            <a:r>
              <a:rPr sz="1700" b="1">
                <a:solidFill>
                  <a:srgbClr val="161B26"/>
                </a:solidFill>
                <a:latin typeface="Arial"/>
              </a:rPr>
              <a:t>A completed setup, grounding and prompt-review register in Excel</a:t>
            </a:r>
          </a:p>
        </p:txBody>
      </p:sp>
      <p:sp>
        <p:nvSpPr>
          <p:cNvPr id="16" name="TextBox 15"/>
          <p:cNvSpPr txBox="1"/>
          <p:nvPr/>
        </p:nvSpPr>
        <p:spPr>
          <a:xfrm>
            <a:off x="1005840" y="5212080"/>
            <a:ext cx="10241280" cy="365760"/>
          </a:xfrm>
          <a:prstGeom prst="rect">
            <a:avLst/>
          </a:prstGeom>
          <a:noFill/>
        </p:spPr>
        <p:txBody>
          <a:bodyPr wrap="square" anchor="t">
            <a:spAutoFit/>
          </a:bodyPr>
          <a:lstStyle/>
          <a:p>
            <a:pPr algn="l">
              <a:spcAft>
                <a:spcPts val="400"/>
              </a:spcAft>
            </a:pPr>
            <a:r>
              <a:rPr sz="1200" b="1">
                <a:solidFill>
                  <a:srgbClr val="5B6372"/>
                </a:solidFill>
                <a:latin typeface="Arial"/>
              </a:rPr>
              <a:t>Apps:  </a:t>
            </a:r>
            <a:r>
              <a:rPr sz="1200" b="0">
                <a:solidFill>
                  <a:srgbClr val="5B6372"/>
                </a:solidFill>
                <a:latin typeface="Arial"/>
              </a:rPr>
              <a:t>Microsoft 365 Copilot Chat, Excel</a:t>
            </a:r>
          </a:p>
        </p:txBody>
      </p:sp>
      <p:sp>
        <p:nvSpPr>
          <p:cNvPr id="17" name="Rectangle 16"/>
          <p:cNvSpPr/>
          <p:nvPr/>
        </p:nvSpPr>
        <p:spPr>
          <a:xfrm>
            <a:off x="777240"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5943600"/>
            <a:ext cx="64008"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5943600"/>
            <a:ext cx="3154680" cy="457200"/>
          </a:xfrm>
          <a:prstGeom prst="rect">
            <a:avLst/>
          </a:prstGeom>
          <a:noFill/>
        </p:spPr>
        <p:txBody>
          <a:bodyPr wrap="square" anchor="ctr">
            <a:spAutoFit/>
          </a:bodyPr>
          <a:lstStyle/>
          <a:p>
            <a:pPr algn="l">
              <a:spcAft>
                <a:spcPts val="400"/>
              </a:spcAft>
            </a:pPr>
            <a:r>
              <a:rPr sz="900" b="1">
                <a:solidFill>
                  <a:srgbClr val="1F6FEB"/>
                </a:solidFill>
                <a:latin typeface="Arial"/>
              </a:rPr>
              <a:t>ASSESSED   </a:t>
            </a:r>
            <a:r>
              <a:rPr sz="1050" b="0">
                <a:solidFill>
                  <a:srgbClr val="161B26"/>
                </a:solidFill>
                <a:latin typeface="Arial"/>
              </a:rPr>
              <a:t>K1 · A1</a:t>
            </a:r>
          </a:p>
        </p:txBody>
      </p:sp>
      <p:sp>
        <p:nvSpPr>
          <p:cNvPr id="20" name="Rectangle 19"/>
          <p:cNvSpPr/>
          <p:nvPr/>
        </p:nvSpPr>
        <p:spPr>
          <a:xfrm>
            <a:off x="4407408"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07408" y="5943600"/>
            <a:ext cx="64008"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0" y="5943600"/>
            <a:ext cx="3154680" cy="457200"/>
          </a:xfrm>
          <a:prstGeom prst="rect">
            <a:avLst/>
          </a:prstGeom>
          <a:noFill/>
        </p:spPr>
        <p:txBody>
          <a:bodyPr wrap="square" anchor="ctr">
            <a:spAutoFit/>
          </a:bodyPr>
          <a:lstStyle/>
          <a:p>
            <a:pPr algn="l">
              <a:spcAft>
                <a:spcPts val="400"/>
              </a:spcAft>
            </a:pPr>
            <a:r>
              <a:rPr sz="900" b="1">
                <a:solidFill>
                  <a:srgbClr val="10B981"/>
                </a:solidFill>
                <a:latin typeface="Arial"/>
              </a:rPr>
              <a:t>LEVEL   </a:t>
            </a:r>
            <a:r>
              <a:rPr sz="1050" b="0">
                <a:solidFill>
                  <a:srgbClr val="161B26"/>
                </a:solidFill>
                <a:latin typeface="Arial"/>
              </a:rPr>
              <a:t>Foundation</a:t>
            </a:r>
          </a:p>
        </p:txBody>
      </p:sp>
      <p:sp>
        <p:nvSpPr>
          <p:cNvPr id="23" name="Rectangle 22"/>
          <p:cNvSpPr/>
          <p:nvPr/>
        </p:nvSpPr>
        <p:spPr>
          <a:xfrm>
            <a:off x="8037576"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37576" y="5943600"/>
            <a:ext cx="64008"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02168" y="5943600"/>
            <a:ext cx="3154680" cy="457200"/>
          </a:xfrm>
          <a:prstGeom prst="rect">
            <a:avLst/>
          </a:prstGeom>
          <a:noFill/>
        </p:spPr>
        <p:txBody>
          <a:bodyPr wrap="square" anchor="ctr">
            <a:spAutoFit/>
          </a:bodyPr>
          <a:lstStyle/>
          <a:p>
            <a:pPr algn="l">
              <a:spcAft>
                <a:spcPts val="400"/>
              </a:spcAft>
            </a:pPr>
            <a:r>
              <a:rPr sz="900" b="1">
                <a:solidFill>
                  <a:srgbClr val="7C3AED"/>
                </a:solidFill>
                <a:latin typeface="Arial"/>
              </a:rPr>
              <a:t>EVIDENCE   </a:t>
            </a:r>
            <a:r>
              <a:rPr sz="1050" b="0">
                <a:solidFill>
                  <a:srgbClr val="161B26"/>
                </a:solidFill>
                <a:latin typeface="Arial"/>
              </a:rPr>
              <a:t>Workbook · screenshot · reviewer</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01 · PROCESS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How Lab 01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Prepare</a:t>
            </a:r>
          </a:p>
        </p:txBody>
      </p:sp>
      <p:sp>
        <p:nvSpPr>
          <p:cNvPr id="10" name="TextBox 9"/>
          <p:cNvSpPr txBox="1"/>
          <p:nvPr/>
        </p:nvSpPr>
        <p:spPr>
          <a:xfrm>
            <a:off x="905256"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Confirm your Copilot surface</a:t>
            </a:r>
          </a:p>
        </p:txBody>
      </p:sp>
      <p:sp>
        <p:nvSpPr>
          <p:cNvPr id="11" name="Rectangle 10"/>
          <p:cNvSpPr/>
          <p:nvPr/>
        </p:nvSpPr>
        <p:spPr>
          <a:xfrm>
            <a:off x="3175254"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3292298"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50158"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50158"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78174"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Generate</a:t>
            </a:r>
          </a:p>
        </p:txBody>
      </p:sp>
      <p:sp>
        <p:nvSpPr>
          <p:cNvPr id="16" name="TextBox 15"/>
          <p:cNvSpPr txBox="1"/>
          <p:nvPr/>
        </p:nvSpPr>
        <p:spPr>
          <a:xfrm>
            <a:off x="3678174"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Write a four-part prompt</a:t>
            </a:r>
          </a:p>
        </p:txBody>
      </p:sp>
      <p:sp>
        <p:nvSpPr>
          <p:cNvPr id="17" name="Rectangle 16"/>
          <p:cNvSpPr/>
          <p:nvPr/>
        </p:nvSpPr>
        <p:spPr>
          <a:xfrm>
            <a:off x="5948172"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6065216"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3076"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23076"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1092"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Verify</a:t>
            </a:r>
          </a:p>
        </p:txBody>
      </p:sp>
      <p:sp>
        <p:nvSpPr>
          <p:cNvPr id="22" name="TextBox 21"/>
          <p:cNvSpPr txBox="1"/>
          <p:nvPr/>
        </p:nvSpPr>
        <p:spPr>
          <a:xfrm>
            <a:off x="6451092"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Identify claims to verify</a:t>
            </a:r>
          </a:p>
        </p:txBody>
      </p:sp>
      <p:sp>
        <p:nvSpPr>
          <p:cNvPr id="23" name="Rectangle 22"/>
          <p:cNvSpPr/>
          <p:nvPr/>
        </p:nvSpPr>
        <p:spPr>
          <a:xfrm>
            <a:off x="8721090"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8838134"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095994"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5994"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24010"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Record</a:t>
            </a:r>
          </a:p>
        </p:txBody>
      </p:sp>
      <p:sp>
        <p:nvSpPr>
          <p:cNvPr id="28" name="TextBox 27"/>
          <p:cNvSpPr txBox="1"/>
          <p:nvPr/>
        </p:nvSpPr>
        <p:spPr>
          <a:xfrm>
            <a:off x="9224010"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Record the review decision</a:t>
            </a:r>
          </a:p>
        </p:txBody>
      </p:sp>
      <p:sp>
        <p:nvSpPr>
          <p:cNvPr id="29" name="Rectangle 28"/>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0B981"/>
                </a:solidFill>
                <a:latin typeface="Arial"/>
              </a:rPr>
              <a:t>WHY IT MATTERS   </a:t>
            </a:r>
            <a:r>
              <a:rPr sz="1300" b="0">
                <a:solidFill>
                  <a:srgbClr val="161B26"/>
                </a:solidFill>
                <a:latin typeface="Arial"/>
              </a:rPr>
              <a:t>The shape of the work. Full step-by-step is in the Learner Guide (Lab 01) and the lab's instruction PDF.</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01 · ACCEPTANCE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Set Up Microsoft 365 Copilot and Prompt Safely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46888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03120"/>
            <a:ext cx="10698480" cy="9144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423160"/>
            <a:ext cx="10058400" cy="457200"/>
          </a:xfrm>
          <a:prstGeom prst="rect">
            <a:avLst/>
          </a:prstGeom>
          <a:noFill/>
        </p:spPr>
        <p:txBody>
          <a:bodyPr wrap="square" anchor="t">
            <a:spAutoFit/>
          </a:bodyPr>
          <a:lstStyle/>
          <a:p>
            <a:pPr algn="l">
              <a:spcAft>
                <a:spcPts val="400"/>
              </a:spcAft>
            </a:pPr>
            <a:r>
              <a:rPr sz="1900" b="1">
                <a:solidFill>
                  <a:srgbClr val="127A3E"/>
                </a:solidFill>
                <a:latin typeface="Arial"/>
              </a:rPr>
              <a:t>✅  Acceptance check</a:t>
            </a:r>
          </a:p>
        </p:txBody>
      </p:sp>
      <p:sp>
        <p:nvSpPr>
          <p:cNvPr id="10" name="TextBox 9"/>
          <p:cNvSpPr txBox="1"/>
          <p:nvPr/>
        </p:nvSpPr>
        <p:spPr>
          <a:xfrm>
            <a:off x="1097280" y="3063240"/>
            <a:ext cx="10149840" cy="1371600"/>
          </a:xfrm>
          <a:prstGeom prst="rect">
            <a:avLst/>
          </a:prstGeom>
          <a:noFill/>
        </p:spPr>
        <p:txBody>
          <a:bodyPr wrap="square" anchor="t">
            <a:spAutoFit/>
          </a:bodyPr>
          <a:lstStyle/>
          <a:p>
            <a:pPr algn="l">
              <a:spcAft>
                <a:spcPts val="400"/>
              </a:spcAft>
            </a:pPr>
            <a:r>
              <a:rPr sz="1700" b="0">
                <a:solidFill>
                  <a:srgbClr val="161B26"/>
                </a:solidFill>
                <a:latin typeface="Arial"/>
              </a:rPr>
              <a:t>The register identifies the active Copilot surface, the grounding source, three evidence-backed gaps, and a verification status for every claim.</a:t>
            </a:r>
          </a:p>
        </p:txBody>
      </p:sp>
      <p:sp>
        <p:nvSpPr>
          <p:cNvPr id="11" name="Rectangle 10"/>
          <p:cNvSpPr/>
          <p:nvPr/>
        </p:nvSpPr>
        <p:spPr>
          <a:xfrm>
            <a:off x="777240" y="4800600"/>
            <a:ext cx="10698480" cy="1143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4800600"/>
            <a:ext cx="10698480"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956048"/>
            <a:ext cx="10058400" cy="320040"/>
          </a:xfrm>
          <a:prstGeom prst="rect">
            <a:avLst/>
          </a:prstGeom>
          <a:noFill/>
        </p:spPr>
        <p:txBody>
          <a:bodyPr wrap="square" anchor="t">
            <a:spAutoFit/>
          </a:bodyPr>
          <a:lstStyle/>
          <a:p>
            <a:pPr algn="l">
              <a:spcAft>
                <a:spcPts val="400"/>
              </a:spcAft>
            </a:pPr>
            <a:r>
              <a:rPr sz="1100" b="1">
                <a:solidFill>
                  <a:srgbClr val="F59E0B"/>
                </a:solidFill>
                <a:latin typeface="Arial"/>
              </a:rPr>
              <a:t>IF IT DOES NOT WORK</a:t>
            </a:r>
          </a:p>
        </p:txBody>
      </p:sp>
      <p:sp>
        <p:nvSpPr>
          <p:cNvPr id="14" name="Oval 13"/>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Re-read the step inputs before you change anything.</a:t>
            </a:r>
          </a:p>
        </p:txBody>
      </p:sp>
      <p:sp>
        <p:nvSpPr>
          <p:cNvPr id="16" name="Oval 15"/>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Check the source is attached and the value inserted, not typed.</a:t>
            </a:r>
          </a:p>
        </p:txBody>
      </p:sp>
      <p:sp>
        <p:nvSpPr>
          <p:cNvPr id="18" name="Oval 17"/>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3816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Full step-by-step: Learner Guide and the lab instruction PDF.</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FOUNDATION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Draft a Project Brief in Word from Excel Evidence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371600" cy="4389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371600" cy="365760"/>
          </a:xfrm>
          <a:prstGeom prst="rect">
            <a:avLst/>
          </a:prstGeom>
          <a:noFill/>
        </p:spPr>
        <p:txBody>
          <a:bodyPr wrap="square" anchor="t">
            <a:spAutoFit/>
          </a:bodyPr>
          <a:lstStyle/>
          <a:p>
            <a:pPr algn="ctr">
              <a:spcAft>
                <a:spcPts val="400"/>
              </a:spcAft>
            </a:pPr>
            <a:r>
              <a:rPr sz="1500" b="1">
                <a:solidFill>
                  <a:srgbClr val="FFFFFF"/>
                </a:solidFill>
                <a:latin typeface="Arial"/>
              </a:rPr>
              <a:t>LAB 02</a:t>
            </a:r>
          </a:p>
        </p:txBody>
      </p:sp>
      <p:sp>
        <p:nvSpPr>
          <p:cNvPr id="9" name="Rectangle 8"/>
          <p:cNvSpPr/>
          <p:nvPr/>
        </p:nvSpPr>
        <p:spPr>
          <a:xfrm>
            <a:off x="2286000" y="1691640"/>
            <a:ext cx="1371600" cy="438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0" y="1737360"/>
            <a:ext cx="1371600" cy="365760"/>
          </a:xfrm>
          <a:prstGeom prst="rect">
            <a:avLst/>
          </a:prstGeom>
          <a:noFill/>
        </p:spPr>
        <p:txBody>
          <a:bodyPr wrap="square" anchor="t">
            <a:spAutoFit/>
          </a:bodyPr>
          <a:lstStyle/>
          <a:p>
            <a:pPr algn="ctr">
              <a:spcAft>
                <a:spcPts val="400"/>
              </a:spcAft>
            </a:pPr>
            <a:r>
              <a:rPr sz="1300" b="1">
                <a:solidFill>
                  <a:srgbClr val="5B6372"/>
                </a:solidFill>
                <a:latin typeface="Arial"/>
              </a:rPr>
              <a:t>K2 · A2</a:t>
            </a:r>
          </a:p>
        </p:txBody>
      </p:sp>
      <p:sp>
        <p:nvSpPr>
          <p:cNvPr id="11" name="TextBox 10"/>
          <p:cNvSpPr txBox="1"/>
          <p:nvPr/>
        </p:nvSpPr>
        <p:spPr>
          <a:xfrm>
            <a:off x="777240" y="2331720"/>
            <a:ext cx="10698480" cy="1371600"/>
          </a:xfrm>
          <a:prstGeom prst="rect">
            <a:avLst/>
          </a:prstGeom>
          <a:noFill/>
        </p:spPr>
        <p:txBody>
          <a:bodyPr wrap="square" anchor="t">
            <a:spAutoFit/>
          </a:bodyPr>
          <a:lstStyle/>
          <a:p>
            <a:pPr algn="l">
              <a:spcAft>
                <a:spcPts val="400"/>
              </a:spcAft>
            </a:pPr>
            <a:r>
              <a:rPr sz="1900" b="0">
                <a:solidFill>
                  <a:srgbClr val="161B26"/>
                </a:solidFill>
                <a:latin typeface="Arial"/>
              </a:rPr>
              <a:t>The learner uses Copilot in Word with a supplied template and workbook to draft a two-page launch brief, then traces every objective, milestone, risk and number back to the workbook.</a:t>
            </a:r>
          </a:p>
        </p:txBody>
      </p:sp>
      <p:sp>
        <p:nvSpPr>
          <p:cNvPr id="12" name="Rectangle 11"/>
          <p:cNvSpPr/>
          <p:nvPr/>
        </p:nvSpPr>
        <p:spPr>
          <a:xfrm>
            <a:off x="777240" y="3886200"/>
            <a:ext cx="10698480"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88620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11480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 will build</a:t>
            </a:r>
          </a:p>
        </p:txBody>
      </p:sp>
      <p:sp>
        <p:nvSpPr>
          <p:cNvPr id="15" name="TextBox 14"/>
          <p:cNvSpPr txBox="1"/>
          <p:nvPr/>
        </p:nvSpPr>
        <p:spPr>
          <a:xfrm>
            <a:off x="1005840" y="4480560"/>
            <a:ext cx="10149840" cy="640080"/>
          </a:xfrm>
          <a:prstGeom prst="rect">
            <a:avLst/>
          </a:prstGeom>
          <a:noFill/>
        </p:spPr>
        <p:txBody>
          <a:bodyPr wrap="square" anchor="t">
            <a:spAutoFit/>
          </a:bodyPr>
          <a:lstStyle/>
          <a:p>
            <a:pPr algn="l">
              <a:spcAft>
                <a:spcPts val="400"/>
              </a:spcAft>
            </a:pPr>
            <a:r>
              <a:rPr sz="1700" b="1">
                <a:solidFill>
                  <a:srgbClr val="161B26"/>
                </a:solidFill>
                <a:latin typeface="Arial"/>
              </a:rPr>
              <a:t>A two-page launch brief with cited objectives, milestones, risks and open questions</a:t>
            </a:r>
          </a:p>
        </p:txBody>
      </p:sp>
      <p:sp>
        <p:nvSpPr>
          <p:cNvPr id="16" name="TextBox 15"/>
          <p:cNvSpPr txBox="1"/>
          <p:nvPr/>
        </p:nvSpPr>
        <p:spPr>
          <a:xfrm>
            <a:off x="1005840" y="5212080"/>
            <a:ext cx="10241280" cy="365760"/>
          </a:xfrm>
          <a:prstGeom prst="rect">
            <a:avLst/>
          </a:prstGeom>
          <a:noFill/>
        </p:spPr>
        <p:txBody>
          <a:bodyPr wrap="square" anchor="t">
            <a:spAutoFit/>
          </a:bodyPr>
          <a:lstStyle/>
          <a:p>
            <a:pPr algn="l">
              <a:spcAft>
                <a:spcPts val="400"/>
              </a:spcAft>
            </a:pPr>
            <a:r>
              <a:rPr sz="1200" b="1">
                <a:solidFill>
                  <a:srgbClr val="5B6372"/>
                </a:solidFill>
                <a:latin typeface="Arial"/>
              </a:rPr>
              <a:t>Apps:  </a:t>
            </a:r>
            <a:r>
              <a:rPr sz="1200" b="0">
                <a:solidFill>
                  <a:srgbClr val="5B6372"/>
                </a:solidFill>
                <a:latin typeface="Arial"/>
              </a:rPr>
              <a:t>Word, Excel, Copilot</a:t>
            </a:r>
          </a:p>
        </p:txBody>
      </p:sp>
      <p:sp>
        <p:nvSpPr>
          <p:cNvPr id="17" name="Rectangle 16"/>
          <p:cNvSpPr/>
          <p:nvPr/>
        </p:nvSpPr>
        <p:spPr>
          <a:xfrm>
            <a:off x="777240"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5943600"/>
            <a:ext cx="64008"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5943600"/>
            <a:ext cx="3154680" cy="457200"/>
          </a:xfrm>
          <a:prstGeom prst="rect">
            <a:avLst/>
          </a:prstGeom>
          <a:noFill/>
        </p:spPr>
        <p:txBody>
          <a:bodyPr wrap="square" anchor="ctr">
            <a:spAutoFit/>
          </a:bodyPr>
          <a:lstStyle/>
          <a:p>
            <a:pPr algn="l">
              <a:spcAft>
                <a:spcPts val="400"/>
              </a:spcAft>
            </a:pPr>
            <a:r>
              <a:rPr sz="900" b="1">
                <a:solidFill>
                  <a:srgbClr val="1F6FEB"/>
                </a:solidFill>
                <a:latin typeface="Arial"/>
              </a:rPr>
              <a:t>ASSESSED   </a:t>
            </a:r>
            <a:r>
              <a:rPr sz="1050" b="0">
                <a:solidFill>
                  <a:srgbClr val="161B26"/>
                </a:solidFill>
                <a:latin typeface="Arial"/>
              </a:rPr>
              <a:t>K2 · A2</a:t>
            </a:r>
          </a:p>
        </p:txBody>
      </p:sp>
      <p:sp>
        <p:nvSpPr>
          <p:cNvPr id="20" name="Rectangle 19"/>
          <p:cNvSpPr/>
          <p:nvPr/>
        </p:nvSpPr>
        <p:spPr>
          <a:xfrm>
            <a:off x="4407408"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07408" y="5943600"/>
            <a:ext cx="64008"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0" y="5943600"/>
            <a:ext cx="3154680" cy="457200"/>
          </a:xfrm>
          <a:prstGeom prst="rect">
            <a:avLst/>
          </a:prstGeom>
          <a:noFill/>
        </p:spPr>
        <p:txBody>
          <a:bodyPr wrap="square" anchor="ctr">
            <a:spAutoFit/>
          </a:bodyPr>
          <a:lstStyle/>
          <a:p>
            <a:pPr algn="l">
              <a:spcAft>
                <a:spcPts val="400"/>
              </a:spcAft>
            </a:pPr>
            <a:r>
              <a:rPr sz="900" b="1">
                <a:solidFill>
                  <a:srgbClr val="10B981"/>
                </a:solidFill>
                <a:latin typeface="Arial"/>
              </a:rPr>
              <a:t>LEVEL   </a:t>
            </a:r>
            <a:r>
              <a:rPr sz="1050" b="0">
                <a:solidFill>
                  <a:srgbClr val="161B26"/>
                </a:solidFill>
                <a:latin typeface="Arial"/>
              </a:rPr>
              <a:t>Foundation</a:t>
            </a:r>
          </a:p>
        </p:txBody>
      </p:sp>
      <p:sp>
        <p:nvSpPr>
          <p:cNvPr id="23" name="Rectangle 22"/>
          <p:cNvSpPr/>
          <p:nvPr/>
        </p:nvSpPr>
        <p:spPr>
          <a:xfrm>
            <a:off x="8037576"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37576" y="5943600"/>
            <a:ext cx="64008"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02168" y="5943600"/>
            <a:ext cx="3154680" cy="457200"/>
          </a:xfrm>
          <a:prstGeom prst="rect">
            <a:avLst/>
          </a:prstGeom>
          <a:noFill/>
        </p:spPr>
        <p:txBody>
          <a:bodyPr wrap="square" anchor="ctr">
            <a:spAutoFit/>
          </a:bodyPr>
          <a:lstStyle/>
          <a:p>
            <a:pPr algn="l">
              <a:spcAft>
                <a:spcPts val="400"/>
              </a:spcAft>
            </a:pPr>
            <a:r>
              <a:rPr sz="900" b="1">
                <a:solidFill>
                  <a:srgbClr val="7C3AED"/>
                </a:solidFill>
                <a:latin typeface="Arial"/>
              </a:rPr>
              <a:t>EVIDENCE   </a:t>
            </a:r>
            <a:r>
              <a:rPr sz="1050" b="0">
                <a:solidFill>
                  <a:srgbClr val="161B26"/>
                </a:solidFill>
                <a:latin typeface="Arial"/>
              </a:rPr>
              <a:t>Workbook · screenshot · reviewer</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02 · PROCESS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How Lab 02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Prepare</a:t>
            </a:r>
          </a:p>
        </p:txBody>
      </p:sp>
      <p:sp>
        <p:nvSpPr>
          <p:cNvPr id="10" name="TextBox 9"/>
          <p:cNvSpPr txBox="1"/>
          <p:nvPr/>
        </p:nvSpPr>
        <p:spPr>
          <a:xfrm>
            <a:off x="905256"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Open the brief template</a:t>
            </a:r>
          </a:p>
        </p:txBody>
      </p:sp>
      <p:sp>
        <p:nvSpPr>
          <p:cNvPr id="11" name="Rectangle 10"/>
          <p:cNvSpPr/>
          <p:nvPr/>
        </p:nvSpPr>
        <p:spPr>
          <a:xfrm>
            <a:off x="3175254"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3292298"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50158"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50158"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78174"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Generate</a:t>
            </a:r>
          </a:p>
        </p:txBody>
      </p:sp>
      <p:sp>
        <p:nvSpPr>
          <p:cNvPr id="16" name="TextBox 15"/>
          <p:cNvSpPr txBox="1"/>
          <p:nvPr/>
        </p:nvSpPr>
        <p:spPr>
          <a:xfrm>
            <a:off x="3678174"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Draft from the workbook</a:t>
            </a:r>
          </a:p>
        </p:txBody>
      </p:sp>
      <p:sp>
        <p:nvSpPr>
          <p:cNvPr id="17" name="Rectangle 16"/>
          <p:cNvSpPr/>
          <p:nvPr/>
        </p:nvSpPr>
        <p:spPr>
          <a:xfrm>
            <a:off x="5948172"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6065216"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3076"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23076"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1092"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Verify</a:t>
            </a:r>
          </a:p>
        </p:txBody>
      </p:sp>
      <p:sp>
        <p:nvSpPr>
          <p:cNvPr id="22" name="TextBox 21"/>
          <p:cNvSpPr txBox="1"/>
          <p:nvPr/>
        </p:nvSpPr>
        <p:spPr>
          <a:xfrm>
            <a:off x="6451092"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Rewrite unsupported claims</a:t>
            </a:r>
          </a:p>
        </p:txBody>
      </p:sp>
      <p:sp>
        <p:nvSpPr>
          <p:cNvPr id="23" name="Rectangle 22"/>
          <p:cNvSpPr/>
          <p:nvPr/>
        </p:nvSpPr>
        <p:spPr>
          <a:xfrm>
            <a:off x="8721090"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8838134"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095994"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5994"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24010"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Record</a:t>
            </a:r>
          </a:p>
        </p:txBody>
      </p:sp>
      <p:sp>
        <p:nvSpPr>
          <p:cNvPr id="28" name="TextBox 27"/>
          <p:cNvSpPr txBox="1"/>
          <p:nvPr/>
        </p:nvSpPr>
        <p:spPr>
          <a:xfrm>
            <a:off x="9224010"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Record the approver</a:t>
            </a:r>
          </a:p>
        </p:txBody>
      </p:sp>
      <p:sp>
        <p:nvSpPr>
          <p:cNvPr id="29" name="Rectangle 28"/>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0B981"/>
                </a:solidFill>
                <a:latin typeface="Arial"/>
              </a:rPr>
              <a:t>WHY IT MATTERS   </a:t>
            </a:r>
            <a:r>
              <a:rPr sz="1300" b="0">
                <a:solidFill>
                  <a:srgbClr val="161B26"/>
                </a:solidFill>
                <a:latin typeface="Arial"/>
              </a:rPr>
              <a:t>The shape of the work. Full step-by-step is in the Learner Guide (Lab 02) and the lab's instruction PDF.</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02 · ACCEPTANCE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Draft a Project Brief in Word from Excel Evidence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46888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03120"/>
            <a:ext cx="10698480" cy="9144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423160"/>
            <a:ext cx="10058400" cy="457200"/>
          </a:xfrm>
          <a:prstGeom prst="rect">
            <a:avLst/>
          </a:prstGeom>
          <a:noFill/>
        </p:spPr>
        <p:txBody>
          <a:bodyPr wrap="square" anchor="t">
            <a:spAutoFit/>
          </a:bodyPr>
          <a:lstStyle/>
          <a:p>
            <a:pPr algn="l">
              <a:spcAft>
                <a:spcPts val="400"/>
              </a:spcAft>
            </a:pPr>
            <a:r>
              <a:rPr sz="1900" b="1">
                <a:solidFill>
                  <a:srgbClr val="127A3E"/>
                </a:solidFill>
                <a:latin typeface="Arial"/>
              </a:rPr>
              <a:t>✅  Acceptance check</a:t>
            </a:r>
          </a:p>
        </p:txBody>
      </p:sp>
      <p:sp>
        <p:nvSpPr>
          <p:cNvPr id="10" name="TextBox 9"/>
          <p:cNvSpPr txBox="1"/>
          <p:nvPr/>
        </p:nvSpPr>
        <p:spPr>
          <a:xfrm>
            <a:off x="1097280" y="3063240"/>
            <a:ext cx="10149840" cy="1371600"/>
          </a:xfrm>
          <a:prstGeom prst="rect">
            <a:avLst/>
          </a:prstGeom>
          <a:noFill/>
        </p:spPr>
        <p:txBody>
          <a:bodyPr wrap="square" anchor="t">
            <a:spAutoFit/>
          </a:bodyPr>
          <a:lstStyle/>
          <a:p>
            <a:pPr algn="l">
              <a:spcAft>
                <a:spcPts val="400"/>
              </a:spcAft>
            </a:pPr>
            <a:r>
              <a:rPr sz="1700" b="0">
                <a:solidFill>
                  <a:srgbClr val="161B26"/>
                </a:solidFill>
                <a:latin typeface="Arial"/>
              </a:rPr>
              <a:t>The brief fills every template heading, all figures trace to the workbook, and unsupported statements appear as open questions rather than claims.</a:t>
            </a:r>
          </a:p>
        </p:txBody>
      </p:sp>
      <p:sp>
        <p:nvSpPr>
          <p:cNvPr id="11" name="Rectangle 10"/>
          <p:cNvSpPr/>
          <p:nvPr/>
        </p:nvSpPr>
        <p:spPr>
          <a:xfrm>
            <a:off x="777240" y="4800600"/>
            <a:ext cx="10698480" cy="1143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4800600"/>
            <a:ext cx="10698480"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956048"/>
            <a:ext cx="10058400" cy="320040"/>
          </a:xfrm>
          <a:prstGeom prst="rect">
            <a:avLst/>
          </a:prstGeom>
          <a:noFill/>
        </p:spPr>
        <p:txBody>
          <a:bodyPr wrap="square" anchor="t">
            <a:spAutoFit/>
          </a:bodyPr>
          <a:lstStyle/>
          <a:p>
            <a:pPr algn="l">
              <a:spcAft>
                <a:spcPts val="400"/>
              </a:spcAft>
            </a:pPr>
            <a:r>
              <a:rPr sz="1100" b="1">
                <a:solidFill>
                  <a:srgbClr val="F59E0B"/>
                </a:solidFill>
                <a:latin typeface="Arial"/>
              </a:rPr>
              <a:t>IF IT DOES NOT WORK</a:t>
            </a:r>
          </a:p>
        </p:txBody>
      </p:sp>
      <p:sp>
        <p:nvSpPr>
          <p:cNvPr id="14" name="Oval 13"/>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Re-read the step inputs before you change anything.</a:t>
            </a:r>
          </a:p>
        </p:txBody>
      </p:sp>
      <p:sp>
        <p:nvSpPr>
          <p:cNvPr id="16" name="Oval 15"/>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Check the source is attached and the value inserted, not typed.</a:t>
            </a:r>
          </a:p>
        </p:txBody>
      </p:sp>
      <p:sp>
        <p:nvSpPr>
          <p:cNvPr id="18" name="Oval 17"/>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3816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Full step-by-step: Learner Guide and the lab instruction PDF.</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INTERMEDIATE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Refine a Responsible Copilot Use Policy in Word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371600" cy="4389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371600" cy="365760"/>
          </a:xfrm>
          <a:prstGeom prst="rect">
            <a:avLst/>
          </a:prstGeom>
          <a:noFill/>
        </p:spPr>
        <p:txBody>
          <a:bodyPr wrap="square" anchor="t">
            <a:spAutoFit/>
          </a:bodyPr>
          <a:lstStyle/>
          <a:p>
            <a:pPr algn="ctr">
              <a:spcAft>
                <a:spcPts val="400"/>
              </a:spcAft>
            </a:pPr>
            <a:r>
              <a:rPr sz="1500" b="1">
                <a:solidFill>
                  <a:srgbClr val="FFFFFF"/>
                </a:solidFill>
                <a:latin typeface="Arial"/>
              </a:rPr>
              <a:t>LAB 03</a:t>
            </a:r>
          </a:p>
        </p:txBody>
      </p:sp>
      <p:sp>
        <p:nvSpPr>
          <p:cNvPr id="9" name="Rectangle 8"/>
          <p:cNvSpPr/>
          <p:nvPr/>
        </p:nvSpPr>
        <p:spPr>
          <a:xfrm>
            <a:off x="2286000" y="1691640"/>
            <a:ext cx="1371600" cy="438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0" y="1737360"/>
            <a:ext cx="1371600" cy="365760"/>
          </a:xfrm>
          <a:prstGeom prst="rect">
            <a:avLst/>
          </a:prstGeom>
          <a:noFill/>
        </p:spPr>
        <p:txBody>
          <a:bodyPr wrap="square" anchor="t">
            <a:spAutoFit/>
          </a:bodyPr>
          <a:lstStyle/>
          <a:p>
            <a:pPr algn="ctr">
              <a:spcAft>
                <a:spcPts val="400"/>
              </a:spcAft>
            </a:pPr>
            <a:r>
              <a:rPr sz="1300" b="1">
                <a:solidFill>
                  <a:srgbClr val="5B6372"/>
                </a:solidFill>
                <a:latin typeface="Arial"/>
              </a:rPr>
              <a:t>K1 · A2</a:t>
            </a:r>
          </a:p>
        </p:txBody>
      </p:sp>
      <p:sp>
        <p:nvSpPr>
          <p:cNvPr id="11" name="TextBox 10"/>
          <p:cNvSpPr txBox="1"/>
          <p:nvPr/>
        </p:nvSpPr>
        <p:spPr>
          <a:xfrm>
            <a:off x="777240" y="2331720"/>
            <a:ext cx="10698480" cy="1371600"/>
          </a:xfrm>
          <a:prstGeom prst="rect">
            <a:avLst/>
          </a:prstGeom>
          <a:noFill/>
        </p:spPr>
        <p:txBody>
          <a:bodyPr wrap="square" anchor="t">
            <a:spAutoFit/>
          </a:bodyPr>
          <a:lstStyle/>
          <a:p>
            <a:pPr algn="l">
              <a:spcAft>
                <a:spcPts val="400"/>
              </a:spcAft>
            </a:pPr>
            <a:r>
              <a:rPr sz="1900" b="0">
                <a:solidFill>
                  <a:srgbClr val="161B26"/>
                </a:solidFill>
                <a:latin typeface="Arial"/>
              </a:rPr>
              <a:t>The learner reviews a draft internal policy with Copilot, identifies gaps and ambiguities, rewrites the weak clauses, and produces a one-page staff quick-reference from the approved text.</a:t>
            </a:r>
          </a:p>
        </p:txBody>
      </p:sp>
      <p:sp>
        <p:nvSpPr>
          <p:cNvPr id="12" name="Rectangle 11"/>
          <p:cNvSpPr/>
          <p:nvPr/>
        </p:nvSpPr>
        <p:spPr>
          <a:xfrm>
            <a:off x="777240" y="3886200"/>
            <a:ext cx="10698480"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88620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11480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 will build</a:t>
            </a:r>
          </a:p>
        </p:txBody>
      </p:sp>
      <p:sp>
        <p:nvSpPr>
          <p:cNvPr id="15" name="TextBox 14"/>
          <p:cNvSpPr txBox="1"/>
          <p:nvPr/>
        </p:nvSpPr>
        <p:spPr>
          <a:xfrm>
            <a:off x="1005840" y="4480560"/>
            <a:ext cx="10149840" cy="640080"/>
          </a:xfrm>
          <a:prstGeom prst="rect">
            <a:avLst/>
          </a:prstGeom>
          <a:noFill/>
        </p:spPr>
        <p:txBody>
          <a:bodyPr wrap="square" anchor="t">
            <a:spAutoFit/>
          </a:bodyPr>
          <a:lstStyle/>
          <a:p>
            <a:pPr algn="l">
              <a:spcAft>
                <a:spcPts val="400"/>
              </a:spcAft>
            </a:pPr>
            <a:r>
              <a:rPr sz="1700" b="1">
                <a:solidFill>
                  <a:srgbClr val="161B26"/>
                </a:solidFill>
                <a:latin typeface="Arial"/>
              </a:rPr>
              <a:t>An approved policy draft, an issue log and a staff quick-reference checklist</a:t>
            </a:r>
          </a:p>
        </p:txBody>
      </p:sp>
      <p:sp>
        <p:nvSpPr>
          <p:cNvPr id="16" name="TextBox 15"/>
          <p:cNvSpPr txBox="1"/>
          <p:nvPr/>
        </p:nvSpPr>
        <p:spPr>
          <a:xfrm>
            <a:off x="1005840" y="5212080"/>
            <a:ext cx="10241280" cy="365760"/>
          </a:xfrm>
          <a:prstGeom prst="rect">
            <a:avLst/>
          </a:prstGeom>
          <a:noFill/>
        </p:spPr>
        <p:txBody>
          <a:bodyPr wrap="square" anchor="t">
            <a:spAutoFit/>
          </a:bodyPr>
          <a:lstStyle/>
          <a:p>
            <a:pPr algn="l">
              <a:spcAft>
                <a:spcPts val="400"/>
              </a:spcAft>
            </a:pPr>
            <a:r>
              <a:rPr sz="1200" b="1">
                <a:solidFill>
                  <a:srgbClr val="5B6372"/>
                </a:solidFill>
                <a:latin typeface="Arial"/>
              </a:rPr>
              <a:t>Apps:  </a:t>
            </a:r>
            <a:r>
              <a:rPr sz="1200" b="0">
                <a:solidFill>
                  <a:srgbClr val="5B6372"/>
                </a:solidFill>
                <a:latin typeface="Arial"/>
              </a:rPr>
              <a:t>Word, Excel, Copilot</a:t>
            </a:r>
          </a:p>
        </p:txBody>
      </p:sp>
      <p:sp>
        <p:nvSpPr>
          <p:cNvPr id="17" name="Rectangle 16"/>
          <p:cNvSpPr/>
          <p:nvPr/>
        </p:nvSpPr>
        <p:spPr>
          <a:xfrm>
            <a:off x="777240"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5943600"/>
            <a:ext cx="64008"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5943600"/>
            <a:ext cx="3154680" cy="457200"/>
          </a:xfrm>
          <a:prstGeom prst="rect">
            <a:avLst/>
          </a:prstGeom>
          <a:noFill/>
        </p:spPr>
        <p:txBody>
          <a:bodyPr wrap="square" anchor="ctr">
            <a:spAutoFit/>
          </a:bodyPr>
          <a:lstStyle/>
          <a:p>
            <a:pPr algn="l">
              <a:spcAft>
                <a:spcPts val="400"/>
              </a:spcAft>
            </a:pPr>
            <a:r>
              <a:rPr sz="900" b="1">
                <a:solidFill>
                  <a:srgbClr val="1F6FEB"/>
                </a:solidFill>
                <a:latin typeface="Arial"/>
              </a:rPr>
              <a:t>ASSESSED   </a:t>
            </a:r>
            <a:r>
              <a:rPr sz="1050" b="0">
                <a:solidFill>
                  <a:srgbClr val="161B26"/>
                </a:solidFill>
                <a:latin typeface="Arial"/>
              </a:rPr>
              <a:t>K1 · A2</a:t>
            </a:r>
          </a:p>
        </p:txBody>
      </p:sp>
      <p:sp>
        <p:nvSpPr>
          <p:cNvPr id="20" name="Rectangle 19"/>
          <p:cNvSpPr/>
          <p:nvPr/>
        </p:nvSpPr>
        <p:spPr>
          <a:xfrm>
            <a:off x="4407408"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07408" y="5943600"/>
            <a:ext cx="64008"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0" y="5943600"/>
            <a:ext cx="3154680" cy="457200"/>
          </a:xfrm>
          <a:prstGeom prst="rect">
            <a:avLst/>
          </a:prstGeom>
          <a:noFill/>
        </p:spPr>
        <p:txBody>
          <a:bodyPr wrap="square" anchor="ctr">
            <a:spAutoFit/>
          </a:bodyPr>
          <a:lstStyle/>
          <a:p>
            <a:pPr algn="l">
              <a:spcAft>
                <a:spcPts val="400"/>
              </a:spcAft>
            </a:pPr>
            <a:r>
              <a:rPr sz="900" b="1">
                <a:solidFill>
                  <a:srgbClr val="10B981"/>
                </a:solidFill>
                <a:latin typeface="Arial"/>
              </a:rPr>
              <a:t>LEVEL   </a:t>
            </a:r>
            <a:r>
              <a:rPr sz="1050" b="0">
                <a:solidFill>
                  <a:srgbClr val="161B26"/>
                </a:solidFill>
                <a:latin typeface="Arial"/>
              </a:rPr>
              <a:t>Intermediate</a:t>
            </a:r>
          </a:p>
        </p:txBody>
      </p:sp>
      <p:sp>
        <p:nvSpPr>
          <p:cNvPr id="23" name="Rectangle 22"/>
          <p:cNvSpPr/>
          <p:nvPr/>
        </p:nvSpPr>
        <p:spPr>
          <a:xfrm>
            <a:off x="8037576"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37576" y="5943600"/>
            <a:ext cx="64008"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02168" y="5943600"/>
            <a:ext cx="3154680" cy="457200"/>
          </a:xfrm>
          <a:prstGeom prst="rect">
            <a:avLst/>
          </a:prstGeom>
          <a:noFill/>
        </p:spPr>
        <p:txBody>
          <a:bodyPr wrap="square" anchor="ctr">
            <a:spAutoFit/>
          </a:bodyPr>
          <a:lstStyle/>
          <a:p>
            <a:pPr algn="l">
              <a:spcAft>
                <a:spcPts val="400"/>
              </a:spcAft>
            </a:pPr>
            <a:r>
              <a:rPr sz="900" b="1">
                <a:solidFill>
                  <a:srgbClr val="7C3AED"/>
                </a:solidFill>
                <a:latin typeface="Arial"/>
              </a:rPr>
              <a:t>EVIDENCE   </a:t>
            </a:r>
            <a:r>
              <a:rPr sz="1050" b="0">
                <a:solidFill>
                  <a:srgbClr val="161B26"/>
                </a:solidFill>
                <a:latin typeface="Arial"/>
              </a:rPr>
              <a:t>Workbook · screenshot · reviewer</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03 · PROCESS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How Lab 03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Prepare</a:t>
            </a:r>
          </a:p>
        </p:txBody>
      </p:sp>
      <p:sp>
        <p:nvSpPr>
          <p:cNvPr id="10" name="TextBox 9"/>
          <p:cNvSpPr txBox="1"/>
          <p:nvPr/>
        </p:nvSpPr>
        <p:spPr>
          <a:xfrm>
            <a:off x="905256"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Open the policy draft</a:t>
            </a:r>
          </a:p>
        </p:txBody>
      </p:sp>
      <p:sp>
        <p:nvSpPr>
          <p:cNvPr id="11" name="Rectangle 10"/>
          <p:cNvSpPr/>
          <p:nvPr/>
        </p:nvSpPr>
        <p:spPr>
          <a:xfrm>
            <a:off x="3175254"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3292298"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50158"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50158"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78174"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Generate</a:t>
            </a:r>
          </a:p>
        </p:txBody>
      </p:sp>
      <p:sp>
        <p:nvSpPr>
          <p:cNvPr id="16" name="TextBox 15"/>
          <p:cNvSpPr txBox="1"/>
          <p:nvPr/>
        </p:nvSpPr>
        <p:spPr>
          <a:xfrm>
            <a:off x="3678174"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Classify each issue</a:t>
            </a:r>
          </a:p>
        </p:txBody>
      </p:sp>
      <p:sp>
        <p:nvSpPr>
          <p:cNvPr id="17" name="Rectangle 16"/>
          <p:cNvSpPr/>
          <p:nvPr/>
        </p:nvSpPr>
        <p:spPr>
          <a:xfrm>
            <a:off x="5948172"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6065216"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3076"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23076"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1092"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Verify</a:t>
            </a:r>
          </a:p>
        </p:txBody>
      </p:sp>
      <p:sp>
        <p:nvSpPr>
          <p:cNvPr id="22" name="TextBox 21"/>
          <p:cNvSpPr txBox="1"/>
          <p:nvPr/>
        </p:nvSpPr>
        <p:spPr>
          <a:xfrm>
            <a:off x="6451092"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Check it matches reality</a:t>
            </a:r>
          </a:p>
        </p:txBody>
      </p:sp>
      <p:sp>
        <p:nvSpPr>
          <p:cNvPr id="23" name="Rectangle 22"/>
          <p:cNvSpPr/>
          <p:nvPr/>
        </p:nvSpPr>
        <p:spPr>
          <a:xfrm>
            <a:off x="8721090"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8838134"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095994"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5994"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24010"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Record</a:t>
            </a:r>
          </a:p>
        </p:txBody>
      </p:sp>
      <p:sp>
        <p:nvSpPr>
          <p:cNvPr id="28" name="TextBox 27"/>
          <p:cNvSpPr txBox="1"/>
          <p:nvPr/>
        </p:nvSpPr>
        <p:spPr>
          <a:xfrm>
            <a:off x="9224010"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Record the approval</a:t>
            </a:r>
          </a:p>
        </p:txBody>
      </p:sp>
      <p:sp>
        <p:nvSpPr>
          <p:cNvPr id="29" name="Rectangle 28"/>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0B981"/>
                </a:solidFill>
                <a:latin typeface="Arial"/>
              </a:rPr>
              <a:t>WHY IT MATTERS   </a:t>
            </a:r>
            <a:r>
              <a:rPr sz="1300" b="0">
                <a:solidFill>
                  <a:srgbClr val="161B26"/>
                </a:solidFill>
                <a:latin typeface="Arial"/>
              </a:rPr>
              <a:t>The shape of the work. Full step-by-step is in the Learner Guide (Lab 03) and the lab's instruction PDF.</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03 · ACCEPTANCE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Refine a Responsible Copilot Use Policy in Word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46888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03120"/>
            <a:ext cx="10698480" cy="9144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423160"/>
            <a:ext cx="10058400" cy="457200"/>
          </a:xfrm>
          <a:prstGeom prst="rect">
            <a:avLst/>
          </a:prstGeom>
          <a:noFill/>
        </p:spPr>
        <p:txBody>
          <a:bodyPr wrap="square" anchor="t">
            <a:spAutoFit/>
          </a:bodyPr>
          <a:lstStyle/>
          <a:p>
            <a:pPr algn="l">
              <a:spcAft>
                <a:spcPts val="400"/>
              </a:spcAft>
            </a:pPr>
            <a:r>
              <a:rPr sz="1900" b="1">
                <a:solidFill>
                  <a:srgbClr val="127A3E"/>
                </a:solidFill>
                <a:latin typeface="Arial"/>
              </a:rPr>
              <a:t>✅  Acceptance check</a:t>
            </a:r>
          </a:p>
        </p:txBody>
      </p:sp>
      <p:sp>
        <p:nvSpPr>
          <p:cNvPr id="10" name="TextBox 9"/>
          <p:cNvSpPr txBox="1"/>
          <p:nvPr/>
        </p:nvSpPr>
        <p:spPr>
          <a:xfrm>
            <a:off x="1097280" y="3063240"/>
            <a:ext cx="10149840" cy="1371600"/>
          </a:xfrm>
          <a:prstGeom prst="rect">
            <a:avLst/>
          </a:prstGeom>
          <a:noFill/>
        </p:spPr>
        <p:txBody>
          <a:bodyPr wrap="square" anchor="t">
            <a:spAutoFit/>
          </a:bodyPr>
          <a:lstStyle/>
          <a:p>
            <a:pPr algn="l">
              <a:spcAft>
                <a:spcPts val="400"/>
              </a:spcAft>
            </a:pPr>
            <a:r>
              <a:rPr sz="1700" b="0">
                <a:solidFill>
                  <a:srgbClr val="161B26"/>
                </a:solidFill>
                <a:latin typeface="Arial"/>
              </a:rPr>
              <a:t>Every logged issue has a decision and a rationale, the rewritten policy keeps its defined terms, and the quick-reference matches the approved text.</a:t>
            </a:r>
          </a:p>
        </p:txBody>
      </p:sp>
      <p:sp>
        <p:nvSpPr>
          <p:cNvPr id="11" name="Rectangle 10"/>
          <p:cNvSpPr/>
          <p:nvPr/>
        </p:nvSpPr>
        <p:spPr>
          <a:xfrm>
            <a:off x="777240" y="4800600"/>
            <a:ext cx="10698480" cy="1143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4800600"/>
            <a:ext cx="10698480"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956048"/>
            <a:ext cx="10058400" cy="320040"/>
          </a:xfrm>
          <a:prstGeom prst="rect">
            <a:avLst/>
          </a:prstGeom>
          <a:noFill/>
        </p:spPr>
        <p:txBody>
          <a:bodyPr wrap="square" anchor="t">
            <a:spAutoFit/>
          </a:bodyPr>
          <a:lstStyle/>
          <a:p>
            <a:pPr algn="l">
              <a:spcAft>
                <a:spcPts val="400"/>
              </a:spcAft>
            </a:pPr>
            <a:r>
              <a:rPr sz="1100" b="1">
                <a:solidFill>
                  <a:srgbClr val="F59E0B"/>
                </a:solidFill>
                <a:latin typeface="Arial"/>
              </a:rPr>
              <a:t>IF IT DOES NOT WORK</a:t>
            </a:r>
          </a:p>
        </p:txBody>
      </p:sp>
      <p:sp>
        <p:nvSpPr>
          <p:cNvPr id="14" name="Oval 13"/>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Re-read the step inputs before you change anything.</a:t>
            </a:r>
          </a:p>
        </p:txBody>
      </p:sp>
      <p:sp>
        <p:nvSpPr>
          <p:cNvPr id="16" name="Oval 15"/>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Check the source is attached and the value inserted, not typed.</a:t>
            </a:r>
          </a:p>
        </p:txBody>
      </p:sp>
      <p:sp>
        <p:nvSpPr>
          <p:cNvPr id="18" name="Oval 17"/>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3816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Full step-by-step: Learner Guide and the lab instruction PDF.</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INTERMEDIATE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Build a PowerPoint Story from Word and Excel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371600" cy="4389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371600" cy="365760"/>
          </a:xfrm>
          <a:prstGeom prst="rect">
            <a:avLst/>
          </a:prstGeom>
          <a:noFill/>
        </p:spPr>
        <p:txBody>
          <a:bodyPr wrap="square" anchor="t">
            <a:spAutoFit/>
          </a:bodyPr>
          <a:lstStyle/>
          <a:p>
            <a:pPr algn="ctr">
              <a:spcAft>
                <a:spcPts val="400"/>
              </a:spcAft>
            </a:pPr>
            <a:r>
              <a:rPr sz="1500" b="1">
                <a:solidFill>
                  <a:srgbClr val="FFFFFF"/>
                </a:solidFill>
                <a:latin typeface="Arial"/>
              </a:rPr>
              <a:t>LAB 04</a:t>
            </a:r>
          </a:p>
        </p:txBody>
      </p:sp>
      <p:sp>
        <p:nvSpPr>
          <p:cNvPr id="9" name="Rectangle 8"/>
          <p:cNvSpPr/>
          <p:nvPr/>
        </p:nvSpPr>
        <p:spPr>
          <a:xfrm>
            <a:off x="2286000" y="1691640"/>
            <a:ext cx="1371600" cy="438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0" y="1737360"/>
            <a:ext cx="1371600" cy="365760"/>
          </a:xfrm>
          <a:prstGeom prst="rect">
            <a:avLst/>
          </a:prstGeom>
          <a:noFill/>
        </p:spPr>
        <p:txBody>
          <a:bodyPr wrap="square" anchor="t">
            <a:spAutoFit/>
          </a:bodyPr>
          <a:lstStyle/>
          <a:p>
            <a:pPr algn="ctr">
              <a:spcAft>
                <a:spcPts val="400"/>
              </a:spcAft>
            </a:pPr>
            <a:r>
              <a:rPr sz="1300" b="1">
                <a:solidFill>
                  <a:srgbClr val="5B6372"/>
                </a:solidFill>
                <a:latin typeface="Arial"/>
              </a:rPr>
              <a:t>K2 · A2</a:t>
            </a:r>
          </a:p>
        </p:txBody>
      </p:sp>
      <p:sp>
        <p:nvSpPr>
          <p:cNvPr id="11" name="TextBox 10"/>
          <p:cNvSpPr txBox="1"/>
          <p:nvPr/>
        </p:nvSpPr>
        <p:spPr>
          <a:xfrm>
            <a:off x="777240" y="2331720"/>
            <a:ext cx="10698480" cy="1371600"/>
          </a:xfrm>
          <a:prstGeom prst="rect">
            <a:avLst/>
          </a:prstGeom>
          <a:noFill/>
        </p:spPr>
        <p:txBody>
          <a:bodyPr wrap="square" anchor="t">
            <a:spAutoFit/>
          </a:bodyPr>
          <a:lstStyle/>
          <a:p>
            <a:pPr algn="l">
              <a:spcAft>
                <a:spcPts val="400"/>
              </a:spcAft>
            </a:pPr>
            <a:r>
              <a:rPr sz="1900" b="0">
                <a:solidFill>
                  <a:srgbClr val="161B26"/>
                </a:solidFill>
                <a:latin typeface="Arial"/>
              </a:rPr>
              <a:t>The learner generates a leadership deck from the approved brief and workbook, checks every claim against its source, and ends the deck with a specific decision request.</a:t>
            </a:r>
          </a:p>
        </p:txBody>
      </p:sp>
      <p:sp>
        <p:nvSpPr>
          <p:cNvPr id="12" name="Rectangle 11"/>
          <p:cNvSpPr/>
          <p:nvPr/>
        </p:nvSpPr>
        <p:spPr>
          <a:xfrm>
            <a:off x="777240" y="3886200"/>
            <a:ext cx="10698480"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88620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11480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 will build</a:t>
            </a:r>
          </a:p>
        </p:txBody>
      </p:sp>
      <p:sp>
        <p:nvSpPr>
          <p:cNvPr id="15" name="TextBox 14"/>
          <p:cNvSpPr txBox="1"/>
          <p:nvPr/>
        </p:nvSpPr>
        <p:spPr>
          <a:xfrm>
            <a:off x="1005840" y="4480560"/>
            <a:ext cx="10149840" cy="640080"/>
          </a:xfrm>
          <a:prstGeom prst="rect">
            <a:avLst/>
          </a:prstGeom>
          <a:noFill/>
        </p:spPr>
        <p:txBody>
          <a:bodyPr wrap="square" anchor="t">
            <a:spAutoFit/>
          </a:bodyPr>
          <a:lstStyle/>
          <a:p>
            <a:pPr algn="l">
              <a:spcAft>
                <a:spcPts val="400"/>
              </a:spcAft>
            </a:pPr>
            <a:r>
              <a:rPr sz="1700" b="1">
                <a:solidFill>
                  <a:srgbClr val="161B26"/>
                </a:solidFill>
                <a:latin typeface="Arial"/>
              </a:rPr>
              <a:t>An eight-slide leadership deck with one message per slide and a documented evidence map</a:t>
            </a:r>
          </a:p>
        </p:txBody>
      </p:sp>
      <p:sp>
        <p:nvSpPr>
          <p:cNvPr id="16" name="TextBox 15"/>
          <p:cNvSpPr txBox="1"/>
          <p:nvPr/>
        </p:nvSpPr>
        <p:spPr>
          <a:xfrm>
            <a:off x="1005840" y="5212080"/>
            <a:ext cx="10241280" cy="365760"/>
          </a:xfrm>
          <a:prstGeom prst="rect">
            <a:avLst/>
          </a:prstGeom>
          <a:noFill/>
        </p:spPr>
        <p:txBody>
          <a:bodyPr wrap="square" anchor="t">
            <a:spAutoFit/>
          </a:bodyPr>
          <a:lstStyle/>
          <a:p>
            <a:pPr algn="l">
              <a:spcAft>
                <a:spcPts val="400"/>
              </a:spcAft>
            </a:pPr>
            <a:r>
              <a:rPr sz="1200" b="1">
                <a:solidFill>
                  <a:srgbClr val="5B6372"/>
                </a:solidFill>
                <a:latin typeface="Arial"/>
              </a:rPr>
              <a:t>Apps:  </a:t>
            </a:r>
            <a:r>
              <a:rPr sz="1200" b="0">
                <a:solidFill>
                  <a:srgbClr val="5B6372"/>
                </a:solidFill>
                <a:latin typeface="Arial"/>
              </a:rPr>
              <a:t>PowerPoint, Word, Excel, Copilot</a:t>
            </a:r>
          </a:p>
        </p:txBody>
      </p:sp>
      <p:sp>
        <p:nvSpPr>
          <p:cNvPr id="17" name="Rectangle 16"/>
          <p:cNvSpPr/>
          <p:nvPr/>
        </p:nvSpPr>
        <p:spPr>
          <a:xfrm>
            <a:off x="777240"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5943600"/>
            <a:ext cx="64008"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5943600"/>
            <a:ext cx="3154680" cy="457200"/>
          </a:xfrm>
          <a:prstGeom prst="rect">
            <a:avLst/>
          </a:prstGeom>
          <a:noFill/>
        </p:spPr>
        <p:txBody>
          <a:bodyPr wrap="square" anchor="ctr">
            <a:spAutoFit/>
          </a:bodyPr>
          <a:lstStyle/>
          <a:p>
            <a:pPr algn="l">
              <a:spcAft>
                <a:spcPts val="400"/>
              </a:spcAft>
            </a:pPr>
            <a:r>
              <a:rPr sz="900" b="1">
                <a:solidFill>
                  <a:srgbClr val="1F6FEB"/>
                </a:solidFill>
                <a:latin typeface="Arial"/>
              </a:rPr>
              <a:t>ASSESSED   </a:t>
            </a:r>
            <a:r>
              <a:rPr sz="1050" b="0">
                <a:solidFill>
                  <a:srgbClr val="161B26"/>
                </a:solidFill>
                <a:latin typeface="Arial"/>
              </a:rPr>
              <a:t>K2 · A2</a:t>
            </a:r>
          </a:p>
        </p:txBody>
      </p:sp>
      <p:sp>
        <p:nvSpPr>
          <p:cNvPr id="20" name="Rectangle 19"/>
          <p:cNvSpPr/>
          <p:nvPr/>
        </p:nvSpPr>
        <p:spPr>
          <a:xfrm>
            <a:off x="4407408"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07408" y="5943600"/>
            <a:ext cx="64008"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0" y="5943600"/>
            <a:ext cx="3154680" cy="457200"/>
          </a:xfrm>
          <a:prstGeom prst="rect">
            <a:avLst/>
          </a:prstGeom>
          <a:noFill/>
        </p:spPr>
        <p:txBody>
          <a:bodyPr wrap="square" anchor="ctr">
            <a:spAutoFit/>
          </a:bodyPr>
          <a:lstStyle/>
          <a:p>
            <a:pPr algn="l">
              <a:spcAft>
                <a:spcPts val="400"/>
              </a:spcAft>
            </a:pPr>
            <a:r>
              <a:rPr sz="900" b="1">
                <a:solidFill>
                  <a:srgbClr val="10B981"/>
                </a:solidFill>
                <a:latin typeface="Arial"/>
              </a:rPr>
              <a:t>LEVEL   </a:t>
            </a:r>
            <a:r>
              <a:rPr sz="1050" b="0">
                <a:solidFill>
                  <a:srgbClr val="161B26"/>
                </a:solidFill>
                <a:latin typeface="Arial"/>
              </a:rPr>
              <a:t>Intermediate</a:t>
            </a:r>
          </a:p>
        </p:txBody>
      </p:sp>
      <p:sp>
        <p:nvSpPr>
          <p:cNvPr id="23" name="Rectangle 22"/>
          <p:cNvSpPr/>
          <p:nvPr/>
        </p:nvSpPr>
        <p:spPr>
          <a:xfrm>
            <a:off x="8037576"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37576" y="5943600"/>
            <a:ext cx="64008"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02168" y="5943600"/>
            <a:ext cx="3154680" cy="457200"/>
          </a:xfrm>
          <a:prstGeom prst="rect">
            <a:avLst/>
          </a:prstGeom>
          <a:noFill/>
        </p:spPr>
        <p:txBody>
          <a:bodyPr wrap="square" anchor="ctr">
            <a:spAutoFit/>
          </a:bodyPr>
          <a:lstStyle/>
          <a:p>
            <a:pPr algn="l">
              <a:spcAft>
                <a:spcPts val="400"/>
              </a:spcAft>
            </a:pPr>
            <a:r>
              <a:rPr sz="900" b="1">
                <a:solidFill>
                  <a:srgbClr val="7C3AED"/>
                </a:solidFill>
                <a:latin typeface="Arial"/>
              </a:rPr>
              <a:t>EVIDENCE   </a:t>
            </a:r>
            <a:r>
              <a:rPr sz="1050" b="0">
                <a:solidFill>
                  <a:srgbClr val="161B26"/>
                </a:solidFill>
                <a:latin typeface="Arial"/>
              </a:rPr>
              <a:t>Workbook · screenshot · reviewer</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04 · PROCESS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How Lab 04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Prepare</a:t>
            </a:r>
          </a:p>
        </p:txBody>
      </p:sp>
      <p:sp>
        <p:nvSpPr>
          <p:cNvPr id="10" name="TextBox 9"/>
          <p:cNvSpPr txBox="1"/>
          <p:nvPr/>
        </p:nvSpPr>
        <p:spPr>
          <a:xfrm>
            <a:off x="905256"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Review brief and data</a:t>
            </a:r>
          </a:p>
        </p:txBody>
      </p:sp>
      <p:sp>
        <p:nvSpPr>
          <p:cNvPr id="11" name="Rectangle 10"/>
          <p:cNvSpPr/>
          <p:nvPr/>
        </p:nvSpPr>
        <p:spPr>
          <a:xfrm>
            <a:off x="3175254"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3292298"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50158"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50158"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78174"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Generate</a:t>
            </a:r>
          </a:p>
        </p:txBody>
      </p:sp>
      <p:sp>
        <p:nvSpPr>
          <p:cNvPr id="16" name="TextBox 15"/>
          <p:cNvSpPr txBox="1"/>
          <p:nvPr/>
        </p:nvSpPr>
        <p:spPr>
          <a:xfrm>
            <a:off x="3678174"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Create the outline</a:t>
            </a:r>
          </a:p>
        </p:txBody>
      </p:sp>
      <p:sp>
        <p:nvSpPr>
          <p:cNvPr id="17" name="Rectangle 16"/>
          <p:cNvSpPr/>
          <p:nvPr/>
        </p:nvSpPr>
        <p:spPr>
          <a:xfrm>
            <a:off x="5948172"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6065216"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3076"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23076"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1092"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Verify</a:t>
            </a:r>
          </a:p>
        </p:txBody>
      </p:sp>
      <p:sp>
        <p:nvSpPr>
          <p:cNvPr id="22" name="TextBox 21"/>
          <p:cNvSpPr txBox="1"/>
          <p:nvPr/>
        </p:nvSpPr>
        <p:spPr>
          <a:xfrm>
            <a:off x="6451092"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Generate and replace imagery</a:t>
            </a:r>
          </a:p>
        </p:txBody>
      </p:sp>
      <p:sp>
        <p:nvSpPr>
          <p:cNvPr id="23" name="Rectangle 22"/>
          <p:cNvSpPr/>
          <p:nvPr/>
        </p:nvSpPr>
        <p:spPr>
          <a:xfrm>
            <a:off x="8721090"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8838134"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095994"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5994"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24010"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Record</a:t>
            </a:r>
          </a:p>
        </p:txBody>
      </p:sp>
      <p:sp>
        <p:nvSpPr>
          <p:cNvPr id="28" name="TextBox 27"/>
          <p:cNvSpPr txBox="1"/>
          <p:nvPr/>
        </p:nvSpPr>
        <p:spPr>
          <a:xfrm>
            <a:off x="9224010"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Run an accessibility check</a:t>
            </a:r>
          </a:p>
        </p:txBody>
      </p:sp>
      <p:sp>
        <p:nvSpPr>
          <p:cNvPr id="29" name="Rectangle 28"/>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0B981"/>
                </a:solidFill>
                <a:latin typeface="Arial"/>
              </a:rPr>
              <a:t>WHY IT MATTERS   </a:t>
            </a:r>
            <a:r>
              <a:rPr sz="1300" b="0">
                <a:solidFill>
                  <a:srgbClr val="161B26"/>
                </a:solidFill>
                <a:latin typeface="Arial"/>
              </a:rPr>
              <a:t>The shape of the work. Full step-by-step is in the Learner Guide (Lab 04) and the lab's instruction PDF.</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04 · ACCEPTANCE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Build a PowerPoint Story from Word and Excel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46888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03120"/>
            <a:ext cx="10698480" cy="9144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423160"/>
            <a:ext cx="10058400" cy="457200"/>
          </a:xfrm>
          <a:prstGeom prst="rect">
            <a:avLst/>
          </a:prstGeom>
          <a:noFill/>
        </p:spPr>
        <p:txBody>
          <a:bodyPr wrap="square" anchor="t">
            <a:spAutoFit/>
          </a:bodyPr>
          <a:lstStyle/>
          <a:p>
            <a:pPr algn="l">
              <a:spcAft>
                <a:spcPts val="400"/>
              </a:spcAft>
            </a:pPr>
            <a:r>
              <a:rPr sz="1900" b="1">
                <a:solidFill>
                  <a:srgbClr val="127A3E"/>
                </a:solidFill>
                <a:latin typeface="Arial"/>
              </a:rPr>
              <a:t>✅  Acceptance check</a:t>
            </a:r>
          </a:p>
        </p:txBody>
      </p:sp>
      <p:sp>
        <p:nvSpPr>
          <p:cNvPr id="10" name="TextBox 9"/>
          <p:cNvSpPr txBox="1"/>
          <p:nvPr/>
        </p:nvSpPr>
        <p:spPr>
          <a:xfrm>
            <a:off x="1097280" y="3063240"/>
            <a:ext cx="10149840" cy="1371600"/>
          </a:xfrm>
          <a:prstGeom prst="rect">
            <a:avLst/>
          </a:prstGeom>
          <a:noFill/>
        </p:spPr>
        <p:txBody>
          <a:bodyPr wrap="square" anchor="t">
            <a:spAutoFit/>
          </a:bodyPr>
          <a:lstStyle/>
          <a:p>
            <a:pPr algn="l">
              <a:spcAft>
                <a:spcPts val="400"/>
              </a:spcAft>
            </a:pPr>
            <a:r>
              <a:rPr sz="1700" b="0">
                <a:solidFill>
                  <a:srgbClr val="161B26"/>
                </a:solidFill>
                <a:latin typeface="Arial"/>
              </a:rPr>
              <a:t>The deck contains eight coherent slides, all quantitative claims trace to the workbook, and the final slide asks for a specific decision.</a:t>
            </a:r>
          </a:p>
        </p:txBody>
      </p:sp>
      <p:sp>
        <p:nvSpPr>
          <p:cNvPr id="11" name="Rectangle 10"/>
          <p:cNvSpPr/>
          <p:nvPr/>
        </p:nvSpPr>
        <p:spPr>
          <a:xfrm>
            <a:off x="777240" y="4800600"/>
            <a:ext cx="10698480" cy="1143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4800600"/>
            <a:ext cx="10698480"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956048"/>
            <a:ext cx="10058400" cy="320040"/>
          </a:xfrm>
          <a:prstGeom prst="rect">
            <a:avLst/>
          </a:prstGeom>
          <a:noFill/>
        </p:spPr>
        <p:txBody>
          <a:bodyPr wrap="square" anchor="t">
            <a:spAutoFit/>
          </a:bodyPr>
          <a:lstStyle/>
          <a:p>
            <a:pPr algn="l">
              <a:spcAft>
                <a:spcPts val="400"/>
              </a:spcAft>
            </a:pPr>
            <a:r>
              <a:rPr sz="1100" b="1">
                <a:solidFill>
                  <a:srgbClr val="F59E0B"/>
                </a:solidFill>
                <a:latin typeface="Arial"/>
              </a:rPr>
              <a:t>IF IT DOES NOT WORK</a:t>
            </a:r>
          </a:p>
        </p:txBody>
      </p:sp>
      <p:sp>
        <p:nvSpPr>
          <p:cNvPr id="14" name="Oval 13"/>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Re-read the step inputs before you change anything.</a:t>
            </a:r>
          </a:p>
        </p:txBody>
      </p:sp>
      <p:sp>
        <p:nvSpPr>
          <p:cNvPr id="16" name="Oval 15"/>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Check the source is attached and the value inserted, not typed.</a:t>
            </a:r>
          </a:p>
        </p:txBody>
      </p:sp>
      <p:sp>
        <p:nvSpPr>
          <p:cNvPr id="18" name="Oval 17"/>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3816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Full step-by-step: Learner Guide and the lab instruction PDF.</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INTERMEDIATE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Enhance PowerPoint with Native Charts and Speaker Notes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371600" cy="4389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371600" cy="365760"/>
          </a:xfrm>
          <a:prstGeom prst="rect">
            <a:avLst/>
          </a:prstGeom>
          <a:noFill/>
        </p:spPr>
        <p:txBody>
          <a:bodyPr wrap="square" anchor="t">
            <a:spAutoFit/>
          </a:bodyPr>
          <a:lstStyle/>
          <a:p>
            <a:pPr algn="ctr">
              <a:spcAft>
                <a:spcPts val="400"/>
              </a:spcAft>
            </a:pPr>
            <a:r>
              <a:rPr sz="1500" b="1">
                <a:solidFill>
                  <a:srgbClr val="FFFFFF"/>
                </a:solidFill>
                <a:latin typeface="Arial"/>
              </a:rPr>
              <a:t>LAB 05</a:t>
            </a:r>
          </a:p>
        </p:txBody>
      </p:sp>
      <p:sp>
        <p:nvSpPr>
          <p:cNvPr id="9" name="Rectangle 8"/>
          <p:cNvSpPr/>
          <p:nvPr/>
        </p:nvSpPr>
        <p:spPr>
          <a:xfrm>
            <a:off x="2286000" y="1691640"/>
            <a:ext cx="1371600" cy="438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0" y="1737360"/>
            <a:ext cx="1371600" cy="365760"/>
          </a:xfrm>
          <a:prstGeom prst="rect">
            <a:avLst/>
          </a:prstGeom>
          <a:noFill/>
        </p:spPr>
        <p:txBody>
          <a:bodyPr wrap="square" anchor="t">
            <a:spAutoFit/>
          </a:bodyPr>
          <a:lstStyle/>
          <a:p>
            <a:pPr algn="ctr">
              <a:spcAft>
                <a:spcPts val="400"/>
              </a:spcAft>
            </a:pPr>
            <a:r>
              <a:rPr sz="1300" b="1">
                <a:solidFill>
                  <a:srgbClr val="5B6372"/>
                </a:solidFill>
                <a:latin typeface="Arial"/>
              </a:rPr>
              <a:t>K2 · A2</a:t>
            </a:r>
          </a:p>
        </p:txBody>
      </p:sp>
      <p:sp>
        <p:nvSpPr>
          <p:cNvPr id="11" name="TextBox 10"/>
          <p:cNvSpPr txBox="1"/>
          <p:nvPr/>
        </p:nvSpPr>
        <p:spPr>
          <a:xfrm>
            <a:off x="777240" y="2331720"/>
            <a:ext cx="10698480" cy="1371600"/>
          </a:xfrm>
          <a:prstGeom prst="rect">
            <a:avLst/>
          </a:prstGeom>
          <a:noFill/>
        </p:spPr>
        <p:txBody>
          <a:bodyPr wrap="square" anchor="t">
            <a:spAutoFit/>
          </a:bodyPr>
          <a:lstStyle/>
          <a:p>
            <a:pPr algn="l">
              <a:spcAft>
                <a:spcPts val="400"/>
              </a:spcAft>
            </a:pPr>
            <a:r>
              <a:rPr sz="1900" b="0">
                <a:solidFill>
                  <a:srgbClr val="161B26"/>
                </a:solidFill>
                <a:latin typeface="Arial"/>
              </a:rPr>
              <a:t>The learner replaces picture-charts with native editable PowerPoint charts driven by the workbook, then generates and verifies speaker notes that match what each chart actually shows.</a:t>
            </a:r>
          </a:p>
        </p:txBody>
      </p:sp>
      <p:sp>
        <p:nvSpPr>
          <p:cNvPr id="12" name="Rectangle 11"/>
          <p:cNvSpPr/>
          <p:nvPr/>
        </p:nvSpPr>
        <p:spPr>
          <a:xfrm>
            <a:off x="777240" y="3886200"/>
            <a:ext cx="10698480"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88620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11480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 will build</a:t>
            </a:r>
          </a:p>
        </p:txBody>
      </p:sp>
      <p:sp>
        <p:nvSpPr>
          <p:cNvPr id="15" name="TextBox 14"/>
          <p:cNvSpPr txBox="1"/>
          <p:nvPr/>
        </p:nvSpPr>
        <p:spPr>
          <a:xfrm>
            <a:off x="1005840" y="4480560"/>
            <a:ext cx="10149840" cy="640080"/>
          </a:xfrm>
          <a:prstGeom prst="rect">
            <a:avLst/>
          </a:prstGeom>
          <a:noFill/>
        </p:spPr>
        <p:txBody>
          <a:bodyPr wrap="square" anchor="t">
            <a:spAutoFit/>
          </a:bodyPr>
          <a:lstStyle/>
          <a:p>
            <a:pPr algn="l">
              <a:spcAft>
                <a:spcPts val="400"/>
              </a:spcAft>
            </a:pPr>
            <a:r>
              <a:rPr sz="1700" b="1">
                <a:solidFill>
                  <a:srgbClr val="161B26"/>
                </a:solidFill>
                <a:latin typeface="Arial"/>
              </a:rPr>
              <a:t>A polished deck with native trend, contribution and variance charts plus verified speaker notes</a:t>
            </a:r>
          </a:p>
        </p:txBody>
      </p:sp>
      <p:sp>
        <p:nvSpPr>
          <p:cNvPr id="16" name="TextBox 15"/>
          <p:cNvSpPr txBox="1"/>
          <p:nvPr/>
        </p:nvSpPr>
        <p:spPr>
          <a:xfrm>
            <a:off x="1005840" y="5212080"/>
            <a:ext cx="10241280" cy="365760"/>
          </a:xfrm>
          <a:prstGeom prst="rect">
            <a:avLst/>
          </a:prstGeom>
          <a:noFill/>
        </p:spPr>
        <p:txBody>
          <a:bodyPr wrap="square" anchor="t">
            <a:spAutoFit/>
          </a:bodyPr>
          <a:lstStyle/>
          <a:p>
            <a:pPr algn="l">
              <a:spcAft>
                <a:spcPts val="400"/>
              </a:spcAft>
            </a:pPr>
            <a:r>
              <a:rPr sz="1200" b="1">
                <a:solidFill>
                  <a:srgbClr val="5B6372"/>
                </a:solidFill>
                <a:latin typeface="Arial"/>
              </a:rPr>
              <a:t>Apps:  </a:t>
            </a:r>
            <a:r>
              <a:rPr sz="1200" b="0">
                <a:solidFill>
                  <a:srgbClr val="5B6372"/>
                </a:solidFill>
                <a:latin typeface="Arial"/>
              </a:rPr>
              <a:t>PowerPoint, Excel, Copilot</a:t>
            </a:r>
          </a:p>
        </p:txBody>
      </p:sp>
      <p:sp>
        <p:nvSpPr>
          <p:cNvPr id="17" name="Rectangle 16"/>
          <p:cNvSpPr/>
          <p:nvPr/>
        </p:nvSpPr>
        <p:spPr>
          <a:xfrm>
            <a:off x="777240"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5943600"/>
            <a:ext cx="64008"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5943600"/>
            <a:ext cx="3154680" cy="457200"/>
          </a:xfrm>
          <a:prstGeom prst="rect">
            <a:avLst/>
          </a:prstGeom>
          <a:noFill/>
        </p:spPr>
        <p:txBody>
          <a:bodyPr wrap="square" anchor="ctr">
            <a:spAutoFit/>
          </a:bodyPr>
          <a:lstStyle/>
          <a:p>
            <a:pPr algn="l">
              <a:spcAft>
                <a:spcPts val="400"/>
              </a:spcAft>
            </a:pPr>
            <a:r>
              <a:rPr sz="900" b="1">
                <a:solidFill>
                  <a:srgbClr val="1F6FEB"/>
                </a:solidFill>
                <a:latin typeface="Arial"/>
              </a:rPr>
              <a:t>ASSESSED   </a:t>
            </a:r>
            <a:r>
              <a:rPr sz="1050" b="0">
                <a:solidFill>
                  <a:srgbClr val="161B26"/>
                </a:solidFill>
                <a:latin typeface="Arial"/>
              </a:rPr>
              <a:t>K2 · A2</a:t>
            </a:r>
          </a:p>
        </p:txBody>
      </p:sp>
      <p:sp>
        <p:nvSpPr>
          <p:cNvPr id="20" name="Rectangle 19"/>
          <p:cNvSpPr/>
          <p:nvPr/>
        </p:nvSpPr>
        <p:spPr>
          <a:xfrm>
            <a:off x="4407408"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07408" y="5943600"/>
            <a:ext cx="64008"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0" y="5943600"/>
            <a:ext cx="3154680" cy="457200"/>
          </a:xfrm>
          <a:prstGeom prst="rect">
            <a:avLst/>
          </a:prstGeom>
          <a:noFill/>
        </p:spPr>
        <p:txBody>
          <a:bodyPr wrap="square" anchor="ctr">
            <a:spAutoFit/>
          </a:bodyPr>
          <a:lstStyle/>
          <a:p>
            <a:pPr algn="l">
              <a:spcAft>
                <a:spcPts val="400"/>
              </a:spcAft>
            </a:pPr>
            <a:r>
              <a:rPr sz="900" b="1">
                <a:solidFill>
                  <a:srgbClr val="10B981"/>
                </a:solidFill>
                <a:latin typeface="Arial"/>
              </a:rPr>
              <a:t>LEVEL   </a:t>
            </a:r>
            <a:r>
              <a:rPr sz="1050" b="0">
                <a:solidFill>
                  <a:srgbClr val="161B26"/>
                </a:solidFill>
                <a:latin typeface="Arial"/>
              </a:rPr>
              <a:t>Intermediate</a:t>
            </a:r>
          </a:p>
        </p:txBody>
      </p:sp>
      <p:sp>
        <p:nvSpPr>
          <p:cNvPr id="23" name="Rectangle 22"/>
          <p:cNvSpPr/>
          <p:nvPr/>
        </p:nvSpPr>
        <p:spPr>
          <a:xfrm>
            <a:off x="8037576"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37576" y="5943600"/>
            <a:ext cx="64008"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02168" y="5943600"/>
            <a:ext cx="3154680" cy="457200"/>
          </a:xfrm>
          <a:prstGeom prst="rect">
            <a:avLst/>
          </a:prstGeom>
          <a:noFill/>
        </p:spPr>
        <p:txBody>
          <a:bodyPr wrap="square" anchor="ctr">
            <a:spAutoFit/>
          </a:bodyPr>
          <a:lstStyle/>
          <a:p>
            <a:pPr algn="l">
              <a:spcAft>
                <a:spcPts val="400"/>
              </a:spcAft>
            </a:pPr>
            <a:r>
              <a:rPr sz="900" b="1">
                <a:solidFill>
                  <a:srgbClr val="7C3AED"/>
                </a:solidFill>
                <a:latin typeface="Arial"/>
              </a:rPr>
              <a:t>EVIDENCE   </a:t>
            </a:r>
            <a:r>
              <a:rPr sz="1050" b="0">
                <a:solidFill>
                  <a:srgbClr val="161B26"/>
                </a:solidFill>
                <a:latin typeface="Arial"/>
              </a:rPr>
              <a:t>Workbook · screenshot · reviewer</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05 · PROCESS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How Lab 05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Prepare</a:t>
            </a:r>
          </a:p>
        </p:txBody>
      </p:sp>
      <p:sp>
        <p:nvSpPr>
          <p:cNvPr id="10" name="TextBox 9"/>
          <p:cNvSpPr txBox="1"/>
          <p:nvPr/>
        </p:nvSpPr>
        <p:spPr>
          <a:xfrm>
            <a:off x="905256"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Find the quantitative slides</a:t>
            </a:r>
          </a:p>
        </p:txBody>
      </p:sp>
      <p:sp>
        <p:nvSpPr>
          <p:cNvPr id="11" name="Rectangle 10"/>
          <p:cNvSpPr/>
          <p:nvPr/>
        </p:nvSpPr>
        <p:spPr>
          <a:xfrm>
            <a:off x="3175254"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3292298"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50158"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50158"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78174"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Generate</a:t>
            </a:r>
          </a:p>
        </p:txBody>
      </p:sp>
      <p:sp>
        <p:nvSpPr>
          <p:cNvPr id="16" name="TextBox 15"/>
          <p:cNvSpPr txBox="1"/>
          <p:nvPr/>
        </p:nvSpPr>
        <p:spPr>
          <a:xfrm>
            <a:off x="3678174"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Insert native charts</a:t>
            </a:r>
          </a:p>
        </p:txBody>
      </p:sp>
      <p:sp>
        <p:nvSpPr>
          <p:cNvPr id="17" name="Rectangle 16"/>
          <p:cNvSpPr/>
          <p:nvPr/>
        </p:nvSpPr>
        <p:spPr>
          <a:xfrm>
            <a:off x="5948172"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6065216"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3076"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23076"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1092"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Verify</a:t>
            </a:r>
          </a:p>
        </p:txBody>
      </p:sp>
      <p:sp>
        <p:nvSpPr>
          <p:cNvPr id="22" name="TextBox 21"/>
          <p:cNvSpPr txBox="1"/>
          <p:nvPr/>
        </p:nvSpPr>
        <p:spPr>
          <a:xfrm>
            <a:off x="6451092"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Draft and check speaker notes</a:t>
            </a:r>
          </a:p>
        </p:txBody>
      </p:sp>
      <p:sp>
        <p:nvSpPr>
          <p:cNvPr id="23" name="Rectangle 22"/>
          <p:cNvSpPr/>
          <p:nvPr/>
        </p:nvSpPr>
        <p:spPr>
          <a:xfrm>
            <a:off x="8721090"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8838134"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095994"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5994"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24010"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Record</a:t>
            </a:r>
          </a:p>
        </p:txBody>
      </p:sp>
      <p:sp>
        <p:nvSpPr>
          <p:cNvPr id="28" name="TextBox 27"/>
          <p:cNvSpPr txBox="1"/>
          <p:nvPr/>
        </p:nvSpPr>
        <p:spPr>
          <a:xfrm>
            <a:off x="9224010"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Complete the acceptance check</a:t>
            </a:r>
          </a:p>
        </p:txBody>
      </p:sp>
      <p:sp>
        <p:nvSpPr>
          <p:cNvPr id="29" name="Rectangle 28"/>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0B981"/>
                </a:solidFill>
                <a:latin typeface="Arial"/>
              </a:rPr>
              <a:t>WHY IT MATTERS   </a:t>
            </a:r>
            <a:r>
              <a:rPr sz="1300" b="0">
                <a:solidFill>
                  <a:srgbClr val="161B26"/>
                </a:solidFill>
                <a:latin typeface="Arial"/>
              </a:rPr>
              <a:t>The shape of the work. Full step-by-step is in the Learner Guide (Lab 05) and the lab's instruction PDF.</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05 · ACCEPTANCE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Enhance PowerPoint with Native Charts and Speaker Notes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46888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03120"/>
            <a:ext cx="10698480" cy="9144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423160"/>
            <a:ext cx="10058400" cy="457200"/>
          </a:xfrm>
          <a:prstGeom prst="rect">
            <a:avLst/>
          </a:prstGeom>
          <a:noFill/>
        </p:spPr>
        <p:txBody>
          <a:bodyPr wrap="square" anchor="t">
            <a:spAutoFit/>
          </a:bodyPr>
          <a:lstStyle/>
          <a:p>
            <a:pPr algn="l">
              <a:spcAft>
                <a:spcPts val="400"/>
              </a:spcAft>
            </a:pPr>
            <a:r>
              <a:rPr sz="1900" b="1">
                <a:solidFill>
                  <a:srgbClr val="127A3E"/>
                </a:solidFill>
                <a:latin typeface="Arial"/>
              </a:rPr>
              <a:t>✅  Acceptance check</a:t>
            </a:r>
          </a:p>
        </p:txBody>
      </p:sp>
      <p:sp>
        <p:nvSpPr>
          <p:cNvPr id="10" name="TextBox 9"/>
          <p:cNvSpPr txBox="1"/>
          <p:nvPr/>
        </p:nvSpPr>
        <p:spPr>
          <a:xfrm>
            <a:off x="1097280" y="3063240"/>
            <a:ext cx="10149840" cy="1371600"/>
          </a:xfrm>
          <a:prstGeom prst="rect">
            <a:avLst/>
          </a:prstGeom>
          <a:noFill/>
        </p:spPr>
        <p:txBody>
          <a:bodyPr wrap="square" anchor="t">
            <a:spAutoFit/>
          </a:bodyPr>
          <a:lstStyle/>
          <a:p>
            <a:pPr algn="l">
              <a:spcAft>
                <a:spcPts val="400"/>
              </a:spcAft>
            </a:pPr>
            <a:r>
              <a:rPr sz="1700" b="0">
                <a:solidFill>
                  <a:srgbClr val="161B26"/>
                </a:solidFill>
                <a:latin typeface="Arial"/>
              </a:rPr>
              <a:t>Every data slide carries a native, labelled chart traceable to the workbook, and each speaker note states only what its chart actually shows.</a:t>
            </a:r>
          </a:p>
        </p:txBody>
      </p:sp>
      <p:sp>
        <p:nvSpPr>
          <p:cNvPr id="11" name="Rectangle 10"/>
          <p:cNvSpPr/>
          <p:nvPr/>
        </p:nvSpPr>
        <p:spPr>
          <a:xfrm>
            <a:off x="777240" y="4800600"/>
            <a:ext cx="10698480" cy="1143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4800600"/>
            <a:ext cx="10698480"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956048"/>
            <a:ext cx="10058400" cy="320040"/>
          </a:xfrm>
          <a:prstGeom prst="rect">
            <a:avLst/>
          </a:prstGeom>
          <a:noFill/>
        </p:spPr>
        <p:txBody>
          <a:bodyPr wrap="square" anchor="t">
            <a:spAutoFit/>
          </a:bodyPr>
          <a:lstStyle/>
          <a:p>
            <a:pPr algn="l">
              <a:spcAft>
                <a:spcPts val="400"/>
              </a:spcAft>
            </a:pPr>
            <a:r>
              <a:rPr sz="1100" b="1">
                <a:solidFill>
                  <a:srgbClr val="F59E0B"/>
                </a:solidFill>
                <a:latin typeface="Arial"/>
              </a:rPr>
              <a:t>IF IT DOES NOT WORK</a:t>
            </a:r>
          </a:p>
        </p:txBody>
      </p:sp>
      <p:sp>
        <p:nvSpPr>
          <p:cNvPr id="14" name="Oval 13"/>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Re-read the step inputs before you change anything.</a:t>
            </a:r>
          </a:p>
        </p:txBody>
      </p:sp>
      <p:sp>
        <p:nvSpPr>
          <p:cNvPr id="16" name="Oval 15"/>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Check the source is attached and the value inserted, not typed.</a:t>
            </a:r>
          </a:p>
        </p:txBody>
      </p:sp>
      <p:sp>
        <p:nvSpPr>
          <p:cNvPr id="18" name="Oval 17"/>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3816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Full step-by-step: Learner Guide and the lab instruction PDF.</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 CAN NOW DO</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Recap — Topic 01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Lab 01</a:t>
            </a:r>
          </a:p>
          <a:p>
            <a:pPr algn="l">
              <a:spcAft>
                <a:spcPts val="300"/>
              </a:spcAft>
            </a:pPr>
            <a:r>
              <a:rPr sz="1000" b="0">
                <a:solidFill>
                  <a:srgbClr val="5B6372"/>
                </a:solidFill>
                <a:latin typeface="Arial"/>
              </a:rPr>
              <a:t>Identify where Copilot is available, how it is grounded, and the verification duty that comes with it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Lab 02</a:t>
            </a:r>
          </a:p>
          <a:p>
            <a:pPr algn="l">
              <a:spcAft>
                <a:spcPts val="300"/>
              </a:spcAft>
            </a:pPr>
            <a:r>
              <a:rPr sz="1000" b="0">
                <a:solidFill>
                  <a:srgbClr val="5B6372"/>
                </a:solidFill>
                <a:latin typeface="Arial"/>
              </a:rPr>
              <a:t>Produce a governed business document in Word grounded in an approved data source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29000"/>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Lab 03</a:t>
            </a:r>
          </a:p>
          <a:p>
            <a:pPr algn="l">
              <a:spcAft>
                <a:spcPts val="300"/>
              </a:spcAft>
            </a:pPr>
            <a:r>
              <a:rPr sz="1000" b="0">
                <a:solidFill>
                  <a:srgbClr val="5B6372"/>
                </a:solidFill>
                <a:latin typeface="Arial"/>
              </a:rPr>
              <a:t>Use Copilot to review, improve and simplify an existing governance document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29000"/>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Lab 04</a:t>
            </a:r>
          </a:p>
          <a:p>
            <a:pPr algn="l">
              <a:spcAft>
                <a:spcPts val="300"/>
              </a:spcAft>
            </a:pPr>
            <a:r>
              <a:rPr sz="1000" b="0">
                <a:solidFill>
                  <a:srgbClr val="5B6372"/>
                </a:solidFill>
                <a:latin typeface="Arial"/>
              </a:rPr>
              <a:t>Convert an approved brief and supporting data into a decision-led presentation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65192"/>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Lab 05</a:t>
            </a:r>
          </a:p>
          <a:p>
            <a:pPr algn="l">
              <a:spcAft>
                <a:spcPts val="300"/>
              </a:spcAft>
            </a:pPr>
            <a:r>
              <a:rPr sz="1000" b="0">
                <a:solidFill>
                  <a:srgbClr val="5B6372"/>
                </a:solidFill>
                <a:latin typeface="Arial"/>
              </a:rPr>
              <a:t>Turn a draft deck into a presentation-ready story with verifiable native charts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600" b="1">
                <a:solidFill>
                  <a:srgbClr val="161B26"/>
                </a:solidFill>
                <a:latin typeface="Arial"/>
              </a:rPr>
              <a:t>End of Day 1</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100" b="1">
                <a:solidFill>
                  <a:srgbClr val="10B981"/>
                </a:solidFill>
                <a:latin typeface="Arial"/>
              </a:rPr>
              <a:t>See you tomorrow</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02</a:t>
            </a:r>
          </a:p>
        </p:txBody>
      </p:sp>
      <p:sp>
        <p:nvSpPr>
          <p:cNvPr id="6" name="TextBox 5"/>
          <p:cNvSpPr txBox="1"/>
          <p:nvPr/>
        </p:nvSpPr>
        <p:spPr>
          <a:xfrm>
            <a:off x="1143000" y="2743200"/>
            <a:ext cx="9692640" cy="1463040"/>
          </a:xfrm>
          <a:prstGeom prst="rect">
            <a:avLst/>
          </a:prstGeom>
          <a:noFill/>
        </p:spPr>
        <p:txBody>
          <a:bodyPr wrap="square" anchor="t">
            <a:spAutoFit/>
          </a:bodyPr>
          <a:lstStyle/>
          <a:p>
            <a:pPr algn="l">
              <a:spcAft>
                <a:spcPts val="400"/>
              </a:spcAft>
            </a:pPr>
            <a:r>
              <a:rPr sz="3600" b="1">
                <a:solidFill>
                  <a:srgbClr val="161B26"/>
                </a:solidFill>
                <a:latin typeface="Arial"/>
              </a:rPr>
              <a:t>Copilot for Excel and Outlook: Analysis and Communication</a:t>
            </a:r>
          </a:p>
        </p:txBody>
      </p:sp>
      <p:sp>
        <p:nvSpPr>
          <p:cNvPr id="7" name="TextBox 6"/>
          <p:cNvSpPr txBox="1"/>
          <p:nvPr/>
        </p:nvSpPr>
        <p:spPr>
          <a:xfrm>
            <a:off x="1161288" y="4343400"/>
            <a:ext cx="9692640" cy="822960"/>
          </a:xfrm>
          <a:prstGeom prst="rect">
            <a:avLst/>
          </a:prstGeom>
          <a:noFill/>
        </p:spPr>
        <p:txBody>
          <a:bodyPr wrap="square" anchor="t">
            <a:spAutoFit/>
          </a:bodyPr>
          <a:lstStyle/>
          <a:p>
            <a:pPr algn="l">
              <a:spcAft>
                <a:spcPts val="400"/>
              </a:spcAft>
            </a:pPr>
            <a:r>
              <a:rPr sz="1500" b="0">
                <a:solidFill>
                  <a:srgbClr val="5B6372"/>
                </a:solidFill>
                <a:latin typeface="Arial"/>
              </a:rPr>
              <a:t>Analysis-ready data · formulas · diagnostics · forecasting · inbox triage · controlled replies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DAY 2 · WHAT THIS TOPIC COVERS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Key Concepts — Topic 02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74520"/>
            <a:ext cx="4027932" cy="1152144"/>
          </a:xfrm>
          <a:prstGeom prst="rect">
            <a:avLst/>
          </a:prstGeom>
          <a:noFill/>
        </p:spPr>
        <p:txBody>
          <a:bodyPr wrap="square" anchor="ctr">
            <a:spAutoFit/>
          </a:bodyPr>
          <a:lstStyle/>
          <a:p>
            <a:pPr algn="l">
              <a:spcAft>
                <a:spcPts val="400"/>
              </a:spcAft>
            </a:pPr>
            <a:r>
              <a:rPr sz="1400" b="0">
                <a:solidFill>
                  <a:srgbClr val="161B26"/>
                </a:solidFill>
                <a:latin typeface="Arial"/>
              </a:rPr>
              <a:t>Copilot analyses an Excel Table with one header row, one record per row and consistent data types.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74520"/>
            <a:ext cx="4027932" cy="1152144"/>
          </a:xfrm>
          <a:prstGeom prst="rect">
            <a:avLst/>
          </a:prstGeom>
          <a:noFill/>
        </p:spPr>
        <p:txBody>
          <a:bodyPr wrap="square" anchor="ctr">
            <a:spAutoFit/>
          </a:bodyPr>
          <a:lstStyle/>
          <a:p>
            <a:pPr algn="l">
              <a:spcAft>
                <a:spcPts val="400"/>
              </a:spcAft>
            </a:pPr>
            <a:r>
              <a:rPr sz="1400" b="0">
                <a:solidFill>
                  <a:srgbClr val="161B26"/>
                </a:solidFill>
                <a:latin typeface="Arial"/>
              </a:rPr>
              <a:t>Analysis progresses from descriptive to diagnostic, then predictive and prescriptive questions.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0712"/>
            <a:ext cx="4027932" cy="1152144"/>
          </a:xfrm>
          <a:prstGeom prst="rect">
            <a:avLst/>
          </a:prstGeom>
          <a:noFill/>
        </p:spPr>
        <p:txBody>
          <a:bodyPr wrap="square" anchor="ctr">
            <a:spAutoFit/>
          </a:bodyPr>
          <a:lstStyle/>
          <a:p>
            <a:pPr algn="l">
              <a:spcAft>
                <a:spcPts val="400"/>
              </a:spcAft>
            </a:pPr>
            <a:r>
              <a:rPr sz="1400" b="0">
                <a:solidFill>
                  <a:srgbClr val="161B26"/>
                </a:solidFill>
                <a:latin typeface="Arial"/>
              </a:rPr>
              <a:t>A suggested formula is a proposal: check its logic, references and edge cases before you accept it.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10712"/>
            <a:ext cx="4027932" cy="1152144"/>
          </a:xfrm>
          <a:prstGeom prst="rect">
            <a:avLst/>
          </a:prstGeom>
          <a:noFill/>
        </p:spPr>
        <p:txBody>
          <a:bodyPr wrap="square" anchor="ctr">
            <a:spAutoFit/>
          </a:bodyPr>
          <a:lstStyle/>
          <a:p>
            <a:pPr algn="l">
              <a:spcAft>
                <a:spcPts val="400"/>
              </a:spcAft>
            </a:pPr>
            <a:r>
              <a:rPr sz="1400" b="0">
                <a:solidFill>
                  <a:srgbClr val="161B26"/>
                </a:solidFill>
                <a:latin typeface="Arial"/>
              </a:rPr>
              <a:t>Scenario modelling separates assumptions from formulas so base, downside and upside cases can be compared.</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6904"/>
            <a:ext cx="4027932" cy="1152144"/>
          </a:xfrm>
          <a:prstGeom prst="rect">
            <a:avLst/>
          </a:prstGeom>
          <a:noFill/>
        </p:spPr>
        <p:txBody>
          <a:bodyPr wrap="square" anchor="ctr">
            <a:spAutoFit/>
          </a:bodyPr>
          <a:lstStyle/>
          <a:p>
            <a:pPr algn="l">
              <a:spcAft>
                <a:spcPts val="400"/>
              </a:spcAft>
            </a:pPr>
            <a:r>
              <a:rPr sz="1400" b="0">
                <a:solidFill>
                  <a:srgbClr val="161B26"/>
                </a:solidFill>
                <a:latin typeface="Arial"/>
              </a:rPr>
              <a:t>Outlook Copilot triages a mailbox, summarises a thread and drafts a reply, but a person always sends it.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46904"/>
            <a:ext cx="4027932" cy="1152144"/>
          </a:xfrm>
          <a:prstGeom prst="rect">
            <a:avLst/>
          </a:prstGeom>
          <a:noFill/>
        </p:spPr>
        <p:txBody>
          <a:bodyPr wrap="square" anchor="ctr">
            <a:spAutoFit/>
          </a:bodyPr>
          <a:lstStyle/>
          <a:p>
            <a:pPr algn="l">
              <a:spcAft>
                <a:spcPts val="400"/>
              </a:spcAft>
            </a:pPr>
            <a:r>
              <a:rPr sz="1400" b="0">
                <a:solidFill>
                  <a:srgbClr val="161B26"/>
                </a:solidFill>
                <a:latin typeface="Arial"/>
              </a:rPr>
              <a:t>Every quantitative claim must trace back to a named sheet and cell range before it is used in a decision.</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 WILL DO</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Hands-On Labs — Topic 02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640080"/>
          </a:xfrm>
          <a:prstGeom prst="rect">
            <a:avLst/>
          </a:prstGeom>
          <a:noFill/>
        </p:spPr>
        <p:txBody>
          <a:bodyPr wrap="square" anchor="t">
            <a:spAutoFit/>
          </a:bodyPr>
          <a:lstStyle/>
          <a:p>
            <a:pPr algn="l">
              <a:spcAft>
                <a:spcPts val="400"/>
              </a:spcAft>
            </a:pPr>
            <a:r>
              <a:rPr sz="1800" b="1">
                <a:solidFill>
                  <a:srgbClr val="1F6FEB"/>
                </a:solidFill>
                <a:latin typeface="Arial"/>
              </a:rPr>
              <a:t>Labs 06–07</a:t>
            </a:r>
          </a:p>
        </p:txBody>
      </p:sp>
      <p:sp>
        <p:nvSpPr>
          <p:cNvPr id="10" name="TextBox 9"/>
          <p:cNvSpPr txBox="1"/>
          <p:nvPr/>
        </p:nvSpPr>
        <p:spPr>
          <a:xfrm>
            <a:off x="1005840" y="2743200"/>
            <a:ext cx="2926080" cy="3063240"/>
          </a:xfrm>
          <a:prstGeom prst="rect">
            <a:avLst/>
          </a:prstGeom>
          <a:noFill/>
        </p:spPr>
        <p:txBody>
          <a:bodyPr wrap="square">
            <a:spAutoFit/>
          </a:bodyPr>
          <a:lstStyle/>
          <a:p>
            <a:pPr>
              <a:spcAft>
                <a:spcPts val="900"/>
              </a:spcAft>
            </a:pPr>
            <a:r>
              <a:rPr sz="1300">
                <a:solidFill>
                  <a:srgbClr val="161B26"/>
                </a:solidFill>
                <a:latin typeface="Arial"/>
              </a:rPr>
              <a:t>•  Build and Audit Excel Formulas with Copilot</a:t>
            </a:r>
          </a:p>
          <a:p>
            <a:pPr>
              <a:spcAft>
                <a:spcPts val="900"/>
              </a:spcAft>
            </a:pPr>
            <a:r>
              <a:rPr sz="1300">
                <a:solidFill>
                  <a:srgbClr val="161B26"/>
                </a:solidFill>
                <a:latin typeface="Arial"/>
              </a:rPr>
              <a:t>•  Run Deep Descriptive and Diagnostic Analysis in Excel</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640080"/>
          </a:xfrm>
          <a:prstGeom prst="rect">
            <a:avLst/>
          </a:prstGeom>
          <a:noFill/>
        </p:spPr>
        <p:txBody>
          <a:bodyPr wrap="square" anchor="t">
            <a:spAutoFit/>
          </a:bodyPr>
          <a:lstStyle/>
          <a:p>
            <a:pPr algn="l">
              <a:spcAft>
                <a:spcPts val="400"/>
              </a:spcAft>
            </a:pPr>
            <a:r>
              <a:rPr sz="1800" b="1">
                <a:solidFill>
                  <a:srgbClr val="10B981"/>
                </a:solidFill>
                <a:latin typeface="Arial"/>
              </a:rPr>
              <a:t>Labs 08–09</a:t>
            </a:r>
          </a:p>
        </p:txBody>
      </p:sp>
      <p:sp>
        <p:nvSpPr>
          <p:cNvPr id="14" name="TextBox 13"/>
          <p:cNvSpPr txBox="1"/>
          <p:nvPr/>
        </p:nvSpPr>
        <p:spPr>
          <a:xfrm>
            <a:off x="4800600" y="2743200"/>
            <a:ext cx="2926080" cy="3063240"/>
          </a:xfrm>
          <a:prstGeom prst="rect">
            <a:avLst/>
          </a:prstGeom>
          <a:noFill/>
        </p:spPr>
        <p:txBody>
          <a:bodyPr wrap="square">
            <a:spAutoFit/>
          </a:bodyPr>
          <a:lstStyle/>
          <a:p>
            <a:pPr>
              <a:spcAft>
                <a:spcPts val="900"/>
              </a:spcAft>
            </a:pPr>
            <a:r>
              <a:rPr sz="1300">
                <a:solidFill>
                  <a:srgbClr val="161B26"/>
                </a:solidFill>
                <a:latin typeface="Arial"/>
              </a:rPr>
              <a:t>•  Forecast and Stress-Test a Campaign with Copilot</a:t>
            </a:r>
          </a:p>
          <a:p>
            <a:pPr>
              <a:spcAft>
                <a:spcPts val="900"/>
              </a:spcAft>
            </a:pPr>
            <a:r>
              <a:rPr sz="1300">
                <a:solidFill>
                  <a:srgbClr val="161B26"/>
                </a:solidFill>
                <a:latin typeface="Arial"/>
              </a:rPr>
              <a:t>•  Triage an Outlook Inbox and Draft a Controlled Reply</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640080"/>
          </a:xfrm>
          <a:prstGeom prst="rect">
            <a:avLst/>
          </a:prstGeom>
          <a:noFill/>
        </p:spPr>
        <p:txBody>
          <a:bodyPr wrap="square" anchor="t">
            <a:spAutoFit/>
          </a:bodyPr>
          <a:lstStyle/>
          <a:p>
            <a:pPr algn="l">
              <a:spcAft>
                <a:spcPts val="400"/>
              </a:spcAft>
            </a:pPr>
            <a:r>
              <a:rPr sz="1800" b="1">
                <a:solidFill>
                  <a:srgbClr val="7C3AED"/>
                </a:solidFill>
                <a:latin typeface="Arial"/>
              </a:rPr>
              <a:t>Labs 10–10</a:t>
            </a:r>
          </a:p>
        </p:txBody>
      </p:sp>
      <p:sp>
        <p:nvSpPr>
          <p:cNvPr id="18" name="TextBox 17"/>
          <p:cNvSpPr txBox="1"/>
          <p:nvPr/>
        </p:nvSpPr>
        <p:spPr>
          <a:xfrm>
            <a:off x="8595360" y="2743200"/>
            <a:ext cx="2926080" cy="3063240"/>
          </a:xfrm>
          <a:prstGeom prst="rect">
            <a:avLst/>
          </a:prstGeom>
          <a:noFill/>
        </p:spPr>
        <p:txBody>
          <a:bodyPr wrap="square">
            <a:spAutoFit/>
          </a:bodyPr>
          <a:lstStyle/>
          <a:p>
            <a:pPr>
              <a:spcAft>
                <a:spcPts val="900"/>
              </a:spcAft>
            </a:pPr>
            <a:r>
              <a:rPr sz="1300">
                <a:solidFill>
                  <a:srgbClr val="161B26"/>
                </a:solidFill>
                <a:latin typeface="Arial"/>
              </a:rPr>
              <a:t>•  Turn Meeting Notes into an Action Register</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BEFORE YOU ASK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Makes Data Analysis-Ready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a:spAutoFit/>
          </a:bodyPr>
          <a:lstStyle/>
          <a:p>
            <a:pPr algn="l">
              <a:spcAft>
                <a:spcPts val="300"/>
              </a:spcAft>
            </a:pPr>
            <a:r>
              <a:rPr sz="1700" b="1">
                <a:solidFill>
                  <a:srgbClr val="161B26"/>
                </a:solidFill>
                <a:latin typeface="Arial"/>
              </a:rPr>
              <a:t>One header row</a:t>
            </a:r>
          </a:p>
          <a:p>
            <a:pPr algn="l">
              <a:spcAft>
                <a:spcPts val="300"/>
              </a:spcAft>
            </a:pPr>
            <a:r>
              <a:rPr sz="1300" b="0">
                <a:solidFill>
                  <a:srgbClr val="5B6372"/>
                </a:solidFill>
                <a:latin typeface="Arial"/>
              </a:rPr>
              <a:t>A single, clear name for every column.</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a:spAutoFit/>
          </a:bodyPr>
          <a:lstStyle/>
          <a:p>
            <a:pPr algn="l">
              <a:spcAft>
                <a:spcPts val="300"/>
              </a:spcAft>
            </a:pPr>
            <a:r>
              <a:rPr sz="1700" b="1">
                <a:solidFill>
                  <a:srgbClr val="161B26"/>
                </a:solidFill>
                <a:latin typeface="Arial"/>
              </a:rPr>
              <a:t>One record per row</a:t>
            </a:r>
          </a:p>
          <a:p>
            <a:pPr algn="l">
              <a:spcAft>
                <a:spcPts val="300"/>
              </a:spcAft>
            </a:pPr>
            <a:r>
              <a:rPr sz="1300" b="0">
                <a:solidFill>
                  <a:srgbClr val="5B6372"/>
                </a:solidFill>
                <a:latin typeface="Arial"/>
              </a:rPr>
              <a:t>No merged cells and no stacked sub-tables.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a:spAutoFit/>
          </a:bodyPr>
          <a:lstStyle/>
          <a:p>
            <a:pPr algn="l">
              <a:spcAft>
                <a:spcPts val="300"/>
              </a:spcAft>
            </a:pPr>
            <a:r>
              <a:rPr sz="1700" b="1">
                <a:solidFill>
                  <a:srgbClr val="161B26"/>
                </a:solidFill>
                <a:latin typeface="Arial"/>
              </a:rPr>
              <a:t>Consistent types</a:t>
            </a:r>
          </a:p>
          <a:p>
            <a:pPr algn="l">
              <a:spcAft>
                <a:spcPts val="300"/>
              </a:spcAft>
            </a:pPr>
            <a:r>
              <a:rPr sz="1300" b="0">
                <a:solidFill>
                  <a:srgbClr val="5B6372"/>
                </a:solidFill>
                <a:latin typeface="Arial"/>
              </a:rPr>
              <a:t>A number column holds numbers, not text like 'n/a'.</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a:spAutoFit/>
          </a:bodyPr>
          <a:lstStyle/>
          <a:p>
            <a:pPr algn="l">
              <a:spcAft>
                <a:spcPts val="300"/>
              </a:spcAft>
            </a:pPr>
            <a:r>
              <a:rPr sz="1700" b="1">
                <a:solidFill>
                  <a:srgbClr val="161B26"/>
                </a:solidFill>
                <a:latin typeface="Arial"/>
              </a:rPr>
              <a:t>An Excel Table</a:t>
            </a:r>
          </a:p>
          <a:p>
            <a:pPr algn="l">
              <a:spcAft>
                <a:spcPts val="300"/>
              </a:spcAft>
            </a:pPr>
            <a:r>
              <a:rPr sz="1300" b="0">
                <a:solidFill>
                  <a:srgbClr val="5B6372"/>
                </a:solidFill>
                <a:latin typeface="Arial"/>
              </a:rPr>
              <a:t>Structured references that survive inserted rows.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PROGRESSIVE ANALYSIS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Four Analytical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2315718"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231571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Descriptive</a:t>
            </a:r>
          </a:p>
        </p:txBody>
      </p:sp>
      <p:sp>
        <p:nvSpPr>
          <p:cNvPr id="10" name="TextBox 9"/>
          <p:cNvSpPr txBox="1"/>
          <p:nvPr/>
        </p:nvSpPr>
        <p:spPr>
          <a:xfrm>
            <a:off x="905256"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What happened?</a:t>
            </a:r>
          </a:p>
        </p:txBody>
      </p:sp>
      <p:sp>
        <p:nvSpPr>
          <p:cNvPr id="11" name="Rectangle 10"/>
          <p:cNvSpPr/>
          <p:nvPr/>
        </p:nvSpPr>
        <p:spPr>
          <a:xfrm>
            <a:off x="3175254"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3292298"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50158" y="2468880"/>
            <a:ext cx="2315718"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50158" y="2468880"/>
            <a:ext cx="231571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78174"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Diagnostic</a:t>
            </a:r>
          </a:p>
        </p:txBody>
      </p:sp>
      <p:sp>
        <p:nvSpPr>
          <p:cNvPr id="16" name="TextBox 15"/>
          <p:cNvSpPr txBox="1"/>
          <p:nvPr/>
        </p:nvSpPr>
        <p:spPr>
          <a:xfrm>
            <a:off x="3678174"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Why did it happen?</a:t>
            </a:r>
          </a:p>
        </p:txBody>
      </p:sp>
      <p:sp>
        <p:nvSpPr>
          <p:cNvPr id="17" name="Rectangle 16"/>
          <p:cNvSpPr/>
          <p:nvPr/>
        </p:nvSpPr>
        <p:spPr>
          <a:xfrm>
            <a:off x="5948172"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6065216"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3076" y="2468880"/>
            <a:ext cx="2315718"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23076" y="2468880"/>
            <a:ext cx="231571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1092"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Predictive</a:t>
            </a:r>
          </a:p>
        </p:txBody>
      </p:sp>
      <p:sp>
        <p:nvSpPr>
          <p:cNvPr id="22" name="TextBox 21"/>
          <p:cNvSpPr txBox="1"/>
          <p:nvPr/>
        </p:nvSpPr>
        <p:spPr>
          <a:xfrm>
            <a:off x="6451092"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What is likely next?</a:t>
            </a:r>
          </a:p>
        </p:txBody>
      </p:sp>
      <p:sp>
        <p:nvSpPr>
          <p:cNvPr id="23" name="Rectangle 22"/>
          <p:cNvSpPr/>
          <p:nvPr/>
        </p:nvSpPr>
        <p:spPr>
          <a:xfrm>
            <a:off x="8721090"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8838134"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095994" y="2468880"/>
            <a:ext cx="2315718"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5994" y="2468880"/>
            <a:ext cx="231571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24010"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Prescriptive</a:t>
            </a:r>
          </a:p>
        </p:txBody>
      </p:sp>
      <p:sp>
        <p:nvSpPr>
          <p:cNvPr id="28" name="TextBox 27"/>
          <p:cNvSpPr txBox="1"/>
          <p:nvPr/>
        </p:nvSpPr>
        <p:spPr>
          <a:xfrm>
            <a:off x="9224010"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What should we do?</a:t>
            </a:r>
          </a:p>
        </p:txBody>
      </p:sp>
      <p:sp>
        <p:nvSpPr>
          <p:cNvPr id="29" name="Rectangle 28"/>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F6FEB"/>
                </a:solidFill>
                <a:latin typeface="Arial"/>
              </a:rPr>
              <a:t>WHY IT MATTERS   </a:t>
            </a:r>
            <a:r>
              <a:rPr sz="1300" b="0">
                <a:solidFill>
                  <a:srgbClr val="161B26"/>
                </a:solidFill>
                <a:latin typeface="Arial"/>
              </a:rPr>
              <a:t>Asking a prescriptive question of data you have not described yet produces confident nonsense.</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CHART SELECTION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Choosing the Honest Chart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2764962" cy="548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28800"/>
            <a:ext cx="2490642" cy="548640"/>
          </a:xfrm>
          <a:prstGeom prst="rect">
            <a:avLst/>
          </a:prstGeom>
          <a:noFill/>
        </p:spPr>
        <p:txBody>
          <a:bodyPr wrap="square" anchor="ctr">
            <a:spAutoFit/>
          </a:bodyPr>
          <a:lstStyle/>
          <a:p>
            <a:pPr algn="l">
              <a:spcAft>
                <a:spcPts val="400"/>
              </a:spcAft>
            </a:pPr>
            <a:r>
              <a:rPr sz="1300" b="1">
                <a:solidFill>
                  <a:srgbClr val="FFFFFF"/>
                </a:solidFill>
                <a:latin typeface="Arial"/>
              </a:rPr>
              <a:t>The question</a:t>
            </a:r>
          </a:p>
        </p:txBody>
      </p:sp>
      <p:sp>
        <p:nvSpPr>
          <p:cNvPr id="9" name="Rectangle 8"/>
          <p:cNvSpPr/>
          <p:nvPr/>
        </p:nvSpPr>
        <p:spPr>
          <a:xfrm>
            <a:off x="3542202" y="1828800"/>
            <a:ext cx="3934755" cy="548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1930" y="1828800"/>
            <a:ext cx="3715299" cy="548640"/>
          </a:xfrm>
          <a:prstGeom prst="rect">
            <a:avLst/>
          </a:prstGeom>
          <a:noFill/>
        </p:spPr>
        <p:txBody>
          <a:bodyPr wrap="square" anchor="ctr">
            <a:spAutoFit/>
          </a:bodyPr>
          <a:lstStyle/>
          <a:p>
            <a:pPr algn="ctr">
              <a:spcAft>
                <a:spcPts val="400"/>
              </a:spcAft>
            </a:pPr>
            <a:r>
              <a:rPr sz="1300" b="1">
                <a:solidFill>
                  <a:srgbClr val="FFFFFF"/>
                </a:solidFill>
                <a:latin typeface="Arial"/>
              </a:rPr>
              <a:t>Chart type</a:t>
            </a:r>
          </a:p>
        </p:txBody>
      </p:sp>
      <p:sp>
        <p:nvSpPr>
          <p:cNvPr id="11" name="Rectangle 10"/>
          <p:cNvSpPr/>
          <p:nvPr/>
        </p:nvSpPr>
        <p:spPr>
          <a:xfrm>
            <a:off x="7476957" y="1828800"/>
            <a:ext cx="3934755" cy="548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6685" y="1828800"/>
            <a:ext cx="3715299" cy="548640"/>
          </a:xfrm>
          <a:prstGeom prst="rect">
            <a:avLst/>
          </a:prstGeom>
          <a:noFill/>
        </p:spPr>
        <p:txBody>
          <a:bodyPr wrap="square" anchor="ctr">
            <a:spAutoFit/>
          </a:bodyPr>
          <a:lstStyle/>
          <a:p>
            <a:pPr algn="ctr">
              <a:spcAft>
                <a:spcPts val="400"/>
              </a:spcAft>
            </a:pPr>
            <a:r>
              <a:rPr sz="1300" b="1">
                <a:solidFill>
                  <a:srgbClr val="FFFFFF"/>
                </a:solidFill>
                <a:latin typeface="Arial"/>
              </a:rPr>
              <a:t>Why</a:t>
            </a:r>
          </a:p>
        </p:txBody>
      </p:sp>
      <p:sp>
        <p:nvSpPr>
          <p:cNvPr id="13" name="Rectangle 12"/>
          <p:cNvSpPr/>
          <p:nvPr/>
        </p:nvSpPr>
        <p:spPr>
          <a:xfrm>
            <a:off x="777240" y="2377440"/>
            <a:ext cx="2764962"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377440"/>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Trend over time</a:t>
            </a:r>
          </a:p>
        </p:txBody>
      </p:sp>
      <p:sp>
        <p:nvSpPr>
          <p:cNvPr id="15" name="Rectangle 14"/>
          <p:cNvSpPr/>
          <p:nvPr/>
        </p:nvSpPr>
        <p:spPr>
          <a:xfrm>
            <a:off x="3542202" y="2377440"/>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1930" y="2377440"/>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Line</a:t>
            </a:r>
          </a:p>
        </p:txBody>
      </p:sp>
      <p:sp>
        <p:nvSpPr>
          <p:cNvPr id="17" name="Rectangle 16"/>
          <p:cNvSpPr/>
          <p:nvPr/>
        </p:nvSpPr>
        <p:spPr>
          <a:xfrm>
            <a:off x="7476957" y="2377440"/>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6685" y="2377440"/>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Ordered time on a continuous axis</a:t>
            </a:r>
          </a:p>
        </p:txBody>
      </p:sp>
      <p:sp>
        <p:nvSpPr>
          <p:cNvPr id="19" name="Rectangle 18"/>
          <p:cNvSpPr/>
          <p:nvPr/>
        </p:nvSpPr>
        <p:spPr>
          <a:xfrm>
            <a:off x="777240" y="2852928"/>
            <a:ext cx="2764962"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2852928"/>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Comparison across groups</a:t>
            </a:r>
          </a:p>
        </p:txBody>
      </p:sp>
      <p:sp>
        <p:nvSpPr>
          <p:cNvPr id="21" name="Rectangle 20"/>
          <p:cNvSpPr/>
          <p:nvPr/>
        </p:nvSpPr>
        <p:spPr>
          <a:xfrm>
            <a:off x="3542202" y="2852928"/>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1930" y="2852928"/>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Bar or column</a:t>
            </a:r>
          </a:p>
        </p:txBody>
      </p:sp>
      <p:sp>
        <p:nvSpPr>
          <p:cNvPr id="23" name="Rectangle 22"/>
          <p:cNvSpPr/>
          <p:nvPr/>
        </p:nvSpPr>
        <p:spPr>
          <a:xfrm>
            <a:off x="7476957" y="2852928"/>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86685" y="2852928"/>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Length is easy to compare</a:t>
            </a:r>
          </a:p>
        </p:txBody>
      </p:sp>
      <p:sp>
        <p:nvSpPr>
          <p:cNvPr id="25" name="Rectangle 24"/>
          <p:cNvSpPr/>
          <p:nvPr/>
        </p:nvSpPr>
        <p:spPr>
          <a:xfrm>
            <a:off x="777240" y="3328416"/>
            <a:ext cx="2764962"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3328416"/>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Contribution to a total</a:t>
            </a:r>
          </a:p>
        </p:txBody>
      </p:sp>
      <p:sp>
        <p:nvSpPr>
          <p:cNvPr id="27" name="Rectangle 26"/>
          <p:cNvSpPr/>
          <p:nvPr/>
        </p:nvSpPr>
        <p:spPr>
          <a:xfrm>
            <a:off x="3542202" y="3328416"/>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1930" y="3328416"/>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Stacked bar or sorted bar</a:t>
            </a:r>
          </a:p>
        </p:txBody>
      </p:sp>
      <p:sp>
        <p:nvSpPr>
          <p:cNvPr id="29" name="Rectangle 28"/>
          <p:cNvSpPr/>
          <p:nvPr/>
        </p:nvSpPr>
        <p:spPr>
          <a:xfrm>
            <a:off x="7476957" y="3328416"/>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86685" y="3328416"/>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Shows the parts and the whole</a:t>
            </a:r>
          </a:p>
        </p:txBody>
      </p:sp>
      <p:sp>
        <p:nvSpPr>
          <p:cNvPr id="31" name="Rectangle 30"/>
          <p:cNvSpPr/>
          <p:nvPr/>
        </p:nvSpPr>
        <p:spPr>
          <a:xfrm>
            <a:off x="777240" y="3803904"/>
            <a:ext cx="2764962"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3803904"/>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Relationship between two measures</a:t>
            </a:r>
          </a:p>
        </p:txBody>
      </p:sp>
      <p:sp>
        <p:nvSpPr>
          <p:cNvPr id="33" name="Rectangle 32"/>
          <p:cNvSpPr/>
          <p:nvPr/>
        </p:nvSpPr>
        <p:spPr>
          <a:xfrm>
            <a:off x="3542202" y="3803904"/>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51930" y="3803904"/>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Scatter</a:t>
            </a:r>
          </a:p>
        </p:txBody>
      </p:sp>
      <p:sp>
        <p:nvSpPr>
          <p:cNvPr id="35" name="Rectangle 34"/>
          <p:cNvSpPr/>
          <p:nvPr/>
        </p:nvSpPr>
        <p:spPr>
          <a:xfrm>
            <a:off x="7476957" y="3803904"/>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586685" y="3803904"/>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Shows correlation and outliers</a:t>
            </a:r>
          </a:p>
        </p:txBody>
      </p:sp>
      <p:sp>
        <p:nvSpPr>
          <p:cNvPr id="37" name="TextBox 36"/>
          <p:cNvSpPr txBox="1"/>
          <p:nvPr/>
        </p:nvSpPr>
        <p:spPr>
          <a:xfrm>
            <a:off x="777240" y="4507992"/>
            <a:ext cx="10634472" cy="457200"/>
          </a:xfrm>
          <a:prstGeom prst="rect">
            <a:avLst/>
          </a:prstGeom>
          <a:noFill/>
        </p:spPr>
        <p:txBody>
          <a:bodyPr wrap="square" anchor="t">
            <a:spAutoFit/>
          </a:bodyPr>
          <a:lstStyle/>
          <a:p>
            <a:pPr algn="l">
              <a:spcAft>
                <a:spcPts val="400"/>
              </a:spcAft>
            </a:pPr>
            <a:r>
              <a:rPr sz="1100" b="1">
                <a:solidFill>
                  <a:srgbClr val="1F6FEB"/>
                </a:solidFill>
                <a:latin typeface="Arial"/>
              </a:rPr>
              <a:t>RULE   </a:t>
            </a:r>
            <a:r>
              <a:rPr sz="1300" b="0">
                <a:solidFill>
                  <a:srgbClr val="161B26"/>
                </a:solidFill>
                <a:latin typeface="Arial"/>
              </a:rPr>
              <a:t>The question chooses the chart. Preference does not.</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NEVER ACCEPT BLIND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Auditing a Generated Formula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Read the logic</a:t>
            </a:r>
          </a:p>
          <a:p>
            <a:pPr algn="l">
              <a:spcAft>
                <a:spcPts val="300"/>
              </a:spcAft>
            </a:pPr>
            <a:r>
              <a:rPr sz="1200" b="0">
                <a:solidFill>
                  <a:srgbClr val="5B6372"/>
                </a:solidFill>
                <a:latin typeface="Arial"/>
              </a:rPr>
              <a:t>Does it compute what you actually asked for?</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Check the references</a:t>
            </a:r>
          </a:p>
          <a:p>
            <a:pPr algn="l">
              <a:spcAft>
                <a:spcPts val="300"/>
              </a:spcAft>
            </a:pPr>
            <a:r>
              <a:rPr sz="1200" b="0">
                <a:solidFill>
                  <a:srgbClr val="5B6372"/>
                </a:solidFill>
                <a:latin typeface="Arial"/>
              </a:rPr>
              <a:t>Right column, right table, absolute where needed.</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Test the edge cases</a:t>
            </a:r>
          </a:p>
          <a:p>
            <a:pPr algn="l">
              <a:spcAft>
                <a:spcPts val="300"/>
              </a:spcAft>
            </a:pPr>
            <a:r>
              <a:rPr sz="1200" b="0">
                <a:solidFill>
                  <a:srgbClr val="5B6372"/>
                </a:solidFill>
                <a:latin typeface="Arial"/>
              </a:rPr>
              <a:t>Zero, blank, negative and text values.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Confirm the rounding</a:t>
            </a:r>
          </a:p>
          <a:p>
            <a:pPr algn="l">
              <a:spcAft>
                <a:spcPts val="300"/>
              </a:spcAft>
            </a:pPr>
            <a:r>
              <a:rPr sz="1200" b="0">
                <a:solidFill>
                  <a:srgbClr val="5B6372"/>
                </a:solidFill>
                <a:latin typeface="Arial"/>
              </a:rPr>
              <a:t>Rounding at the wrong step changes a total.</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FORMULA DISCIPLINE</a:t>
            </a:r>
          </a:p>
        </p:txBody>
      </p:sp>
      <p:sp>
        <p:nvSpPr>
          <p:cNvPr id="5" name="TextBox 4"/>
          <p:cNvSpPr txBox="1"/>
          <p:nvPr/>
        </p:nvSpPr>
        <p:spPr>
          <a:xfrm>
            <a:off x="1005840" y="2560320"/>
            <a:ext cx="10332720" cy="2011680"/>
          </a:xfrm>
          <a:prstGeom prst="rect">
            <a:avLst/>
          </a:prstGeom>
          <a:noFill/>
        </p:spPr>
        <p:txBody>
          <a:bodyPr wrap="square" anchor="t">
            <a:spAutoFit/>
          </a:bodyPr>
          <a:lstStyle/>
          <a:p>
            <a:pPr algn="l">
              <a:spcAft>
                <a:spcPts val="400"/>
              </a:spcAft>
            </a:pPr>
            <a:r>
              <a:rPr sz="3600" b="1">
                <a:solidFill>
                  <a:srgbClr val="161B26"/>
                </a:solidFill>
                <a:latin typeface="Arial"/>
              </a:rPr>
              <a:t>A formula you did not check is a number you cannot defend.</a:t>
            </a:r>
          </a:p>
        </p:txBody>
      </p:sp>
      <p:sp>
        <p:nvSpPr>
          <p:cNvPr id="6" name="TextBox 5"/>
          <p:cNvSpPr txBox="1"/>
          <p:nvPr/>
        </p:nvSpPr>
        <p:spPr>
          <a:xfrm>
            <a:off x="1024128" y="4572000"/>
            <a:ext cx="10058400" cy="1097280"/>
          </a:xfrm>
          <a:prstGeom prst="rect">
            <a:avLst/>
          </a:prstGeom>
          <a:noFill/>
        </p:spPr>
        <p:txBody>
          <a:bodyPr wrap="square" anchor="t">
            <a:spAutoFit/>
          </a:bodyPr>
          <a:lstStyle/>
          <a:p>
            <a:pPr algn="l">
              <a:spcAft>
                <a:spcPts val="400"/>
              </a:spcAft>
            </a:pPr>
            <a:r>
              <a:rPr sz="1900" b="0">
                <a:solidFill>
                  <a:srgbClr val="5B6372"/>
                </a:solidFill>
                <a:latin typeface="Arial"/>
              </a:rPr>
              <a:t>Copilot writes the formula in seconds. Auditing it is the part that makes it yours.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NATIVE CHART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Revenue Grows While Margin Tightens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828800"/>
          <a:ext cx="7498079" cy="4114800"/>
        </p:xfrm>
        <a:graphic>
          <a:graphicData uri="http://schemas.openxmlformats.org/drawingml/2006/chart">
            <c:chart xmlns:c="http://schemas.openxmlformats.org/drawingml/2006/chart" r:id="rId2"/>
          </a:graphicData>
        </a:graphic>
      </p:graphicFrame>
      <p:sp>
        <p:nvSpPr>
          <p:cNvPr id="8" name="Rectangle 7"/>
          <p:cNvSpPr/>
          <p:nvPr/>
        </p:nvSpPr>
        <p:spPr>
          <a:xfrm>
            <a:off x="8503920" y="1828800"/>
            <a:ext cx="2926080" cy="4114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503920" y="1828800"/>
            <a:ext cx="2926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0" y="2103120"/>
            <a:ext cx="2377440" cy="365760"/>
          </a:xfrm>
          <a:prstGeom prst="rect">
            <a:avLst/>
          </a:prstGeom>
          <a:noFill/>
        </p:spPr>
        <p:txBody>
          <a:bodyPr wrap="square" anchor="t">
            <a:spAutoFit/>
          </a:bodyPr>
          <a:lstStyle/>
          <a:p>
            <a:pPr algn="l">
              <a:spcAft>
                <a:spcPts val="400"/>
              </a:spcAft>
            </a:pPr>
            <a:r>
              <a:rPr sz="1200" b="1">
                <a:solidFill>
                  <a:srgbClr val="1F6FEB"/>
                </a:solidFill>
                <a:latin typeface="Arial"/>
              </a:rPr>
              <a:t>DECISION LENS</a:t>
            </a:r>
          </a:p>
        </p:txBody>
      </p:sp>
      <p:sp>
        <p:nvSpPr>
          <p:cNvPr id="11" name="TextBox 10"/>
          <p:cNvSpPr txBox="1"/>
          <p:nvPr/>
        </p:nvSpPr>
        <p:spPr>
          <a:xfrm>
            <a:off x="8778240" y="2560320"/>
            <a:ext cx="2377440" cy="1737360"/>
          </a:xfrm>
          <a:prstGeom prst="rect">
            <a:avLst/>
          </a:prstGeom>
          <a:noFill/>
        </p:spPr>
        <p:txBody>
          <a:bodyPr wrap="square" anchor="t">
            <a:spAutoFit/>
          </a:bodyPr>
          <a:lstStyle/>
          <a:p>
            <a:pPr algn="l">
              <a:spcAft>
                <a:spcPts val="400"/>
              </a:spcAft>
            </a:pPr>
            <a:r>
              <a:rPr sz="1300" b="0">
                <a:solidFill>
                  <a:srgbClr val="161B26"/>
                </a:solidFill>
                <a:latin typeface="Arial"/>
              </a:rPr>
              <a:t>Two series tell the real story: growth alone would have looked like success.</a:t>
            </a:r>
          </a:p>
        </p:txBody>
      </p:sp>
      <p:sp>
        <p:nvSpPr>
          <p:cNvPr id="12" name="Rectangle 11"/>
          <p:cNvSpPr/>
          <p:nvPr/>
        </p:nvSpPr>
        <p:spPr>
          <a:xfrm>
            <a:off x="8732520" y="4343400"/>
            <a:ext cx="24688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778240" y="4526280"/>
            <a:ext cx="310896" cy="31089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0" y="4526280"/>
            <a:ext cx="310896" cy="310896"/>
          </a:xfrm>
          <a:prstGeom prst="rect">
            <a:avLst/>
          </a:prstGeom>
          <a:noFill/>
        </p:spPr>
        <p:txBody>
          <a:bodyPr wrap="square" anchor="ctr">
            <a:spAutoFit/>
          </a:bodyPr>
          <a:lstStyle/>
          <a:p>
            <a:pPr algn="ctr">
              <a:spcAft>
                <a:spcPts val="400"/>
              </a:spcAft>
            </a:pPr>
            <a:r>
              <a:rPr sz="1300" b="1">
                <a:solidFill>
                  <a:srgbClr val="FFFFFF"/>
                </a:solidFill>
                <a:latin typeface="Arial"/>
              </a:rPr>
              <a:t>?</a:t>
            </a:r>
          </a:p>
        </p:txBody>
      </p:sp>
      <p:sp>
        <p:nvSpPr>
          <p:cNvPr id="15" name="TextBox 14"/>
          <p:cNvSpPr txBox="1"/>
          <p:nvPr/>
        </p:nvSpPr>
        <p:spPr>
          <a:xfrm>
            <a:off x="9189720" y="4507992"/>
            <a:ext cx="2011680" cy="777240"/>
          </a:xfrm>
          <a:prstGeom prst="rect">
            <a:avLst/>
          </a:prstGeom>
          <a:noFill/>
        </p:spPr>
        <p:txBody>
          <a:bodyPr wrap="square" anchor="t">
            <a:spAutoFit/>
          </a:bodyPr>
          <a:lstStyle/>
          <a:p>
            <a:pPr algn="l">
              <a:spcAft>
                <a:spcPts val="100"/>
              </a:spcAft>
            </a:pPr>
            <a:r>
              <a:rPr sz="1050" b="0">
                <a:solidFill>
                  <a:srgbClr val="5B6372"/>
                </a:solidFill>
                <a:latin typeface="Arial"/>
              </a:rPr>
              <a:t>Check the axis, the units</a:t>
            </a:r>
          </a:p>
          <a:p>
            <a:pPr algn="l">
              <a:spcAft>
                <a:spcPts val="100"/>
              </a:spcAft>
            </a:pPr>
            <a:r>
              <a:rPr sz="1050" b="0">
                <a:solidFill>
                  <a:srgbClr val="5B6372"/>
                </a:solidFill>
                <a:latin typeface="Arial"/>
              </a:rPr>
              <a:t>and the source before you act.</a:t>
            </a:r>
          </a:p>
        </p:txBody>
      </p:sp>
      <p:sp>
        <p:nvSpPr>
          <p:cNvPr id="16" name="Rectangle 15"/>
          <p:cNvSpPr/>
          <p:nvPr/>
        </p:nvSpPr>
        <p:spPr>
          <a:xfrm>
            <a:off x="8778240" y="5440680"/>
            <a:ext cx="2377440" cy="3840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69680" y="5440680"/>
            <a:ext cx="2194560" cy="384048"/>
          </a:xfrm>
          <a:prstGeom prst="rect">
            <a:avLst/>
          </a:prstGeom>
          <a:noFill/>
        </p:spPr>
        <p:txBody>
          <a:bodyPr wrap="square" anchor="ctr">
            <a:spAutoFit/>
          </a:bodyPr>
          <a:lstStyle/>
          <a:p>
            <a:pPr algn="l">
              <a:spcAft>
                <a:spcPts val="400"/>
              </a:spcAft>
            </a:pPr>
            <a:r>
              <a:rPr sz="900" b="0">
                <a:solidFill>
                  <a:srgbClr val="5B6372"/>
                </a:solidFill>
                <a:latin typeface="Arial"/>
              </a:rPr>
              <a:t>Native PowerPoint chart · editable data · verify source and units</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DECISION RULE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Is This an Anomaly or a Signal?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331720"/>
            <a:ext cx="3017520" cy="210312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788920"/>
            <a:ext cx="2468880" cy="1188720"/>
          </a:xfrm>
          <a:prstGeom prst="rect">
            <a:avLst/>
          </a:prstGeom>
          <a:noFill/>
        </p:spPr>
        <p:txBody>
          <a:bodyPr wrap="square" anchor="ctr">
            <a:spAutoFit/>
          </a:bodyPr>
          <a:lstStyle/>
          <a:p>
            <a:pPr algn="ctr">
              <a:spcAft>
                <a:spcPts val="400"/>
              </a:spcAft>
            </a:pPr>
            <a:r>
              <a:rPr sz="1300" b="1">
                <a:solidFill>
                  <a:srgbClr val="FFFFFF"/>
                </a:solidFill>
                <a:latin typeface="Arial"/>
              </a:rPr>
              <a:t>Can the spike be explained by a known event?</a:t>
            </a:r>
          </a:p>
        </p:txBody>
      </p:sp>
      <p:sp>
        <p:nvSpPr>
          <p:cNvPr id="9" name="Rectangle 8"/>
          <p:cNvSpPr/>
          <p:nvPr/>
        </p:nvSpPr>
        <p:spPr>
          <a:xfrm>
            <a:off x="3931920" y="2761488"/>
            <a:ext cx="32004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reeform 9"/>
          <p:cNvSpPr/>
          <p:nvPr/>
        </p:nvSpPr>
        <p:spPr>
          <a:xfrm>
            <a:off x="4251960" y="2732227"/>
            <a:ext cx="182880" cy="113385"/>
          </a:xfrm>
          <a:custGeom>
            <a:avLst/>
            <a:gdLst/>
            <a:ahLst/>
            <a:cxnLst/>
            <a:rect l="l" t="t" r="r" b="b"/>
            <a:pathLst>
              <a:path w="182880" h="113385">
                <a:moveTo>
                  <a:pt x="0" y="0"/>
                </a:moveTo>
                <a:lnTo>
                  <a:pt x="182880" y="56693"/>
                </a:lnTo>
                <a:lnTo>
                  <a:pt x="0" y="113385"/>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0" y="1965960"/>
            <a:ext cx="6858000" cy="1920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965960"/>
            <a:ext cx="91440" cy="19202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28032" y="2112264"/>
            <a:ext cx="6400800" cy="365760"/>
          </a:xfrm>
          <a:prstGeom prst="rect">
            <a:avLst/>
          </a:prstGeom>
          <a:noFill/>
        </p:spPr>
        <p:txBody>
          <a:bodyPr wrap="square" anchor="t">
            <a:spAutoFit/>
          </a:bodyPr>
          <a:lstStyle/>
          <a:p>
            <a:pPr algn="l">
              <a:spcAft>
                <a:spcPts val="400"/>
              </a:spcAft>
            </a:pPr>
            <a:r>
              <a:rPr sz="1300" b="1">
                <a:solidFill>
                  <a:srgbClr val="10B981"/>
                </a:solidFill>
                <a:latin typeface="Arial"/>
              </a:rPr>
              <a:t>YES</a:t>
            </a:r>
          </a:p>
        </p:txBody>
      </p:sp>
      <p:sp>
        <p:nvSpPr>
          <p:cNvPr id="14" name="TextBox 13"/>
          <p:cNvSpPr txBox="1"/>
          <p:nvPr/>
        </p:nvSpPr>
        <p:spPr>
          <a:xfrm>
            <a:off x="4828032" y="2514600"/>
            <a:ext cx="6400800" cy="1280160"/>
          </a:xfrm>
          <a:prstGeom prst="rect">
            <a:avLst/>
          </a:prstGeom>
          <a:noFill/>
        </p:spPr>
        <p:txBody>
          <a:bodyPr wrap="square">
            <a:spAutoFit/>
          </a:bodyPr>
          <a:lstStyle/>
          <a:p>
            <a:pPr>
              <a:spcAft>
                <a:spcPts val="600"/>
              </a:spcAft>
            </a:pPr>
            <a:r>
              <a:rPr sz="1300">
                <a:solidFill>
                  <a:srgbClr val="161B26"/>
                </a:solidFill>
                <a:latin typeface="Arial"/>
              </a:rPr>
              <a:t>•  Annotate it and keep it in the analysis</a:t>
            </a:r>
          </a:p>
          <a:p>
            <a:pPr>
              <a:spcAft>
                <a:spcPts val="600"/>
              </a:spcAft>
            </a:pPr>
            <a:r>
              <a:rPr sz="1300">
                <a:solidFill>
                  <a:srgbClr val="161B26"/>
                </a:solidFill>
                <a:latin typeface="Arial"/>
              </a:rPr>
              <a:t>•  Record the explanation as evidence</a:t>
            </a:r>
          </a:p>
        </p:txBody>
      </p:sp>
      <p:sp>
        <p:nvSpPr>
          <p:cNvPr id="15" name="Rectangle 14"/>
          <p:cNvSpPr/>
          <p:nvPr/>
        </p:nvSpPr>
        <p:spPr>
          <a:xfrm>
            <a:off x="3931920" y="5001768"/>
            <a:ext cx="32004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reeform 15"/>
          <p:cNvSpPr/>
          <p:nvPr/>
        </p:nvSpPr>
        <p:spPr>
          <a:xfrm>
            <a:off x="4251960" y="4972507"/>
            <a:ext cx="182880" cy="113385"/>
          </a:xfrm>
          <a:custGeom>
            <a:avLst/>
            <a:gdLst/>
            <a:ahLst/>
            <a:cxnLst/>
            <a:rect l="l" t="t" r="r" b="b"/>
            <a:pathLst>
              <a:path w="182880" h="113385">
                <a:moveTo>
                  <a:pt x="0" y="0"/>
                </a:moveTo>
                <a:lnTo>
                  <a:pt x="182880" y="56693"/>
                </a:lnTo>
                <a:lnTo>
                  <a:pt x="0" y="113385"/>
                </a:lnTo>
                <a:close/>
              </a:path>
            </a:pathLst>
          </a:cu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0" y="4206240"/>
            <a:ext cx="6858000" cy="1920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0" y="4206240"/>
            <a:ext cx="91440" cy="19202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28032" y="4352544"/>
            <a:ext cx="6400800" cy="365760"/>
          </a:xfrm>
          <a:prstGeom prst="rect">
            <a:avLst/>
          </a:prstGeom>
          <a:noFill/>
        </p:spPr>
        <p:txBody>
          <a:bodyPr wrap="square" anchor="t">
            <a:spAutoFit/>
          </a:bodyPr>
          <a:lstStyle/>
          <a:p>
            <a:pPr algn="l">
              <a:spcAft>
                <a:spcPts val="400"/>
              </a:spcAft>
            </a:pPr>
            <a:r>
              <a:rPr sz="1300" b="1">
                <a:solidFill>
                  <a:srgbClr val="F59E0B"/>
                </a:solidFill>
                <a:latin typeface="Arial"/>
              </a:rPr>
              <a:t>NO</a:t>
            </a:r>
          </a:p>
        </p:txBody>
      </p:sp>
      <p:sp>
        <p:nvSpPr>
          <p:cNvPr id="20" name="TextBox 19"/>
          <p:cNvSpPr txBox="1"/>
          <p:nvPr/>
        </p:nvSpPr>
        <p:spPr>
          <a:xfrm>
            <a:off x="4828032" y="4754880"/>
            <a:ext cx="6400800" cy="1280160"/>
          </a:xfrm>
          <a:prstGeom prst="rect">
            <a:avLst/>
          </a:prstGeom>
          <a:noFill/>
        </p:spPr>
        <p:txBody>
          <a:bodyPr wrap="square">
            <a:spAutoFit/>
          </a:bodyPr>
          <a:lstStyle/>
          <a:p>
            <a:pPr>
              <a:spcAft>
                <a:spcPts val="600"/>
              </a:spcAft>
            </a:pPr>
            <a:r>
              <a:rPr sz="1300">
                <a:solidFill>
                  <a:srgbClr val="161B26"/>
                </a:solidFill>
                <a:latin typeface="Arial"/>
              </a:rPr>
              <a:t>•  Log it in the anomaly register</a:t>
            </a:r>
          </a:p>
          <a:p>
            <a:pPr>
              <a:spcAft>
                <a:spcPts val="600"/>
              </a:spcAft>
            </a:pPr>
            <a:r>
              <a:rPr sz="1300">
                <a:solidFill>
                  <a:srgbClr val="161B26"/>
                </a:solidFill>
                <a:latin typeface="Arial"/>
              </a:rPr>
              <a:t>•  Investigate before it drives a decision</a:t>
            </a:r>
          </a:p>
        </p:txBody>
      </p:sp>
      <p:sp>
        <p:nvSpPr>
          <p:cNvPr id="21" name="TextBox 20"/>
          <p:cNvSpPr txBox="1"/>
          <p:nvPr/>
        </p:nvSpPr>
        <p:spPr>
          <a:xfrm>
            <a:off x="777240" y="5989320"/>
            <a:ext cx="10607040" cy="457200"/>
          </a:xfrm>
          <a:prstGeom prst="rect">
            <a:avLst/>
          </a:prstGeom>
          <a:noFill/>
        </p:spPr>
        <p:txBody>
          <a:bodyPr wrap="square" anchor="t">
            <a:spAutoFit/>
          </a:bodyPr>
          <a:lstStyle/>
          <a:p>
            <a:pPr algn="l">
              <a:spcAft>
                <a:spcPts val="400"/>
              </a:spcAft>
            </a:pPr>
            <a:r>
              <a:rPr sz="1100" b="1">
                <a:solidFill>
                  <a:srgbClr val="7C3AED"/>
                </a:solidFill>
                <a:latin typeface="Arial"/>
              </a:rPr>
              <a:t>RULE   </a:t>
            </a:r>
            <a:r>
              <a:rPr sz="1300" b="0">
                <a:solidFill>
                  <a:srgbClr val="161B26"/>
                </a:solidFill>
                <a:latin typeface="Arial"/>
              </a:rPr>
              <a:t>An unexplained outlier is a question, not a data-entry error to be quietly deleted.</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NATIVE CHART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Where the Revenue Gap Sits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828800"/>
          <a:ext cx="7498079" cy="4114800"/>
        </p:xfrm>
        <a:graphic>
          <a:graphicData uri="http://schemas.openxmlformats.org/drawingml/2006/chart">
            <c:chart xmlns:c="http://schemas.openxmlformats.org/drawingml/2006/chart" r:id="rId2"/>
          </a:graphicData>
        </a:graphic>
      </p:graphicFrame>
      <p:sp>
        <p:nvSpPr>
          <p:cNvPr id="8" name="Rectangle 7"/>
          <p:cNvSpPr/>
          <p:nvPr/>
        </p:nvSpPr>
        <p:spPr>
          <a:xfrm>
            <a:off x="8503920" y="1828800"/>
            <a:ext cx="2926080" cy="4114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503920" y="1828800"/>
            <a:ext cx="2926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0" y="2103120"/>
            <a:ext cx="2377440" cy="365760"/>
          </a:xfrm>
          <a:prstGeom prst="rect">
            <a:avLst/>
          </a:prstGeom>
          <a:noFill/>
        </p:spPr>
        <p:txBody>
          <a:bodyPr wrap="square" anchor="t">
            <a:spAutoFit/>
          </a:bodyPr>
          <a:lstStyle/>
          <a:p>
            <a:pPr algn="l">
              <a:spcAft>
                <a:spcPts val="400"/>
              </a:spcAft>
            </a:pPr>
            <a:r>
              <a:rPr sz="1200" b="1">
                <a:solidFill>
                  <a:srgbClr val="1F6FEB"/>
                </a:solidFill>
                <a:latin typeface="Arial"/>
              </a:rPr>
              <a:t>DECISION LENS</a:t>
            </a:r>
          </a:p>
        </p:txBody>
      </p:sp>
      <p:sp>
        <p:nvSpPr>
          <p:cNvPr id="11" name="TextBox 10"/>
          <p:cNvSpPr txBox="1"/>
          <p:nvPr/>
        </p:nvSpPr>
        <p:spPr>
          <a:xfrm>
            <a:off x="8778240" y="2560320"/>
            <a:ext cx="2377440" cy="1737360"/>
          </a:xfrm>
          <a:prstGeom prst="rect">
            <a:avLst/>
          </a:prstGeom>
          <a:noFill/>
        </p:spPr>
        <p:txBody>
          <a:bodyPr wrap="square" anchor="t">
            <a:spAutoFit/>
          </a:bodyPr>
          <a:lstStyle/>
          <a:p>
            <a:pPr algn="l">
              <a:spcAft>
                <a:spcPts val="400"/>
              </a:spcAft>
            </a:pPr>
            <a:r>
              <a:rPr sz="1300" b="0">
                <a:solidFill>
                  <a:srgbClr val="161B26"/>
                </a:solidFill>
                <a:latin typeface="Arial"/>
              </a:rPr>
              <a:t>Two regions carry the shortfall. The average concealed both of them.</a:t>
            </a:r>
          </a:p>
        </p:txBody>
      </p:sp>
      <p:sp>
        <p:nvSpPr>
          <p:cNvPr id="12" name="Rectangle 11"/>
          <p:cNvSpPr/>
          <p:nvPr/>
        </p:nvSpPr>
        <p:spPr>
          <a:xfrm>
            <a:off x="8732520" y="4343400"/>
            <a:ext cx="24688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778240" y="4526280"/>
            <a:ext cx="310896" cy="31089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0" y="4526280"/>
            <a:ext cx="310896" cy="310896"/>
          </a:xfrm>
          <a:prstGeom prst="rect">
            <a:avLst/>
          </a:prstGeom>
          <a:noFill/>
        </p:spPr>
        <p:txBody>
          <a:bodyPr wrap="square" anchor="ctr">
            <a:spAutoFit/>
          </a:bodyPr>
          <a:lstStyle/>
          <a:p>
            <a:pPr algn="ctr">
              <a:spcAft>
                <a:spcPts val="400"/>
              </a:spcAft>
            </a:pPr>
            <a:r>
              <a:rPr sz="1300" b="1">
                <a:solidFill>
                  <a:srgbClr val="FFFFFF"/>
                </a:solidFill>
                <a:latin typeface="Arial"/>
              </a:rPr>
              <a:t>?</a:t>
            </a:r>
          </a:p>
        </p:txBody>
      </p:sp>
      <p:sp>
        <p:nvSpPr>
          <p:cNvPr id="15" name="TextBox 14"/>
          <p:cNvSpPr txBox="1"/>
          <p:nvPr/>
        </p:nvSpPr>
        <p:spPr>
          <a:xfrm>
            <a:off x="9189720" y="4507992"/>
            <a:ext cx="2011680" cy="777240"/>
          </a:xfrm>
          <a:prstGeom prst="rect">
            <a:avLst/>
          </a:prstGeom>
          <a:noFill/>
        </p:spPr>
        <p:txBody>
          <a:bodyPr wrap="square" anchor="t">
            <a:spAutoFit/>
          </a:bodyPr>
          <a:lstStyle/>
          <a:p>
            <a:pPr algn="l">
              <a:spcAft>
                <a:spcPts val="100"/>
              </a:spcAft>
            </a:pPr>
            <a:r>
              <a:rPr sz="1050" b="0">
                <a:solidFill>
                  <a:srgbClr val="5B6372"/>
                </a:solidFill>
                <a:latin typeface="Arial"/>
              </a:rPr>
              <a:t>Check the axis, the units</a:t>
            </a:r>
          </a:p>
          <a:p>
            <a:pPr algn="l">
              <a:spcAft>
                <a:spcPts val="100"/>
              </a:spcAft>
            </a:pPr>
            <a:r>
              <a:rPr sz="1050" b="0">
                <a:solidFill>
                  <a:srgbClr val="5B6372"/>
                </a:solidFill>
                <a:latin typeface="Arial"/>
              </a:rPr>
              <a:t>and the source before you act.</a:t>
            </a:r>
          </a:p>
        </p:txBody>
      </p:sp>
      <p:sp>
        <p:nvSpPr>
          <p:cNvPr id="16" name="Rectangle 15"/>
          <p:cNvSpPr/>
          <p:nvPr/>
        </p:nvSpPr>
        <p:spPr>
          <a:xfrm>
            <a:off x="8778240" y="5440680"/>
            <a:ext cx="2377440" cy="3840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69680" y="5440680"/>
            <a:ext cx="2194560" cy="384048"/>
          </a:xfrm>
          <a:prstGeom prst="rect">
            <a:avLst/>
          </a:prstGeom>
          <a:noFill/>
        </p:spPr>
        <p:txBody>
          <a:bodyPr wrap="square" anchor="ctr">
            <a:spAutoFit/>
          </a:bodyPr>
          <a:lstStyle/>
          <a:p>
            <a:pPr algn="l">
              <a:spcAft>
                <a:spcPts val="400"/>
              </a:spcAft>
            </a:pPr>
            <a:r>
              <a:rPr sz="900" b="0">
                <a:solidFill>
                  <a:srgbClr val="5B6372"/>
                </a:solidFill>
                <a:latin typeface="Arial"/>
              </a:rPr>
              <a:t>Native PowerPoint chart · editable data · verify source and units</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BASE, DOWNSIDE, UPSIDE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Scenario Modelling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Assumptions live in one place</a:t>
            </a:r>
          </a:p>
          <a:p>
            <a:pPr algn="l">
              <a:spcAft>
                <a:spcPts val="300"/>
              </a:spcAft>
            </a:pPr>
            <a:r>
              <a:rPr sz="1200" b="0">
                <a:solidFill>
                  <a:srgbClr val="5B6372"/>
                </a:solidFill>
                <a:latin typeface="Arial"/>
              </a:rPr>
              <a:t>Every driver is a labelled cell, never a typed constant.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Formulas reference assumptions</a:t>
            </a:r>
          </a:p>
          <a:p>
            <a:pPr algn="l">
              <a:spcAft>
                <a:spcPts val="300"/>
              </a:spcAft>
            </a:pPr>
            <a:r>
              <a:rPr sz="1200" b="0">
                <a:solidFill>
                  <a:srgbClr val="5B6372"/>
                </a:solidFill>
                <a:latin typeface="Arial"/>
              </a:rPr>
              <a:t>Changing a scenario changes cells, not formulas.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Scenarios differ only by inputs</a:t>
            </a:r>
          </a:p>
          <a:p>
            <a:pPr algn="l">
              <a:spcAft>
                <a:spcPts val="300"/>
              </a:spcAft>
            </a:pPr>
            <a:r>
              <a:rPr sz="1200" b="0">
                <a:solidFill>
                  <a:srgbClr val="5B6372"/>
                </a:solidFill>
                <a:latin typeface="Arial"/>
              </a:rPr>
              <a:t>If a scenario needs new logic, the model is wrong.</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State the limits</a:t>
            </a:r>
          </a:p>
          <a:p>
            <a:pPr algn="l">
              <a:spcAft>
                <a:spcPts val="300"/>
              </a:spcAft>
            </a:pPr>
            <a:r>
              <a:rPr sz="1200" b="0">
                <a:solidFill>
                  <a:srgbClr val="5B6372"/>
                </a:solidFill>
                <a:latin typeface="Arial"/>
              </a:rPr>
              <a:t>Say when the forecast stops being valid.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NATIVE CHART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Forecast Range, Not a Single Number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828800"/>
          <a:ext cx="7498079" cy="4114800"/>
        </p:xfrm>
        <a:graphic>
          <a:graphicData uri="http://schemas.openxmlformats.org/drawingml/2006/chart">
            <c:chart xmlns:c="http://schemas.openxmlformats.org/drawingml/2006/chart" r:id="rId2"/>
          </a:graphicData>
        </a:graphic>
      </p:graphicFrame>
      <p:sp>
        <p:nvSpPr>
          <p:cNvPr id="8" name="Rectangle 7"/>
          <p:cNvSpPr/>
          <p:nvPr/>
        </p:nvSpPr>
        <p:spPr>
          <a:xfrm>
            <a:off x="8503920" y="1828800"/>
            <a:ext cx="2926080" cy="4114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503920" y="1828800"/>
            <a:ext cx="2926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0" y="2103120"/>
            <a:ext cx="2377440" cy="365760"/>
          </a:xfrm>
          <a:prstGeom prst="rect">
            <a:avLst/>
          </a:prstGeom>
          <a:noFill/>
        </p:spPr>
        <p:txBody>
          <a:bodyPr wrap="square" anchor="t">
            <a:spAutoFit/>
          </a:bodyPr>
          <a:lstStyle/>
          <a:p>
            <a:pPr algn="l">
              <a:spcAft>
                <a:spcPts val="400"/>
              </a:spcAft>
            </a:pPr>
            <a:r>
              <a:rPr sz="1200" b="1">
                <a:solidFill>
                  <a:srgbClr val="1F6FEB"/>
                </a:solidFill>
                <a:latin typeface="Arial"/>
              </a:rPr>
              <a:t>DECISION LENS</a:t>
            </a:r>
          </a:p>
        </p:txBody>
      </p:sp>
      <p:sp>
        <p:nvSpPr>
          <p:cNvPr id="11" name="TextBox 10"/>
          <p:cNvSpPr txBox="1"/>
          <p:nvPr/>
        </p:nvSpPr>
        <p:spPr>
          <a:xfrm>
            <a:off x="8778240" y="2560320"/>
            <a:ext cx="2377440" cy="1737360"/>
          </a:xfrm>
          <a:prstGeom prst="rect">
            <a:avLst/>
          </a:prstGeom>
          <a:noFill/>
        </p:spPr>
        <p:txBody>
          <a:bodyPr wrap="square" anchor="t">
            <a:spAutoFit/>
          </a:bodyPr>
          <a:lstStyle/>
          <a:p>
            <a:pPr algn="l">
              <a:spcAft>
                <a:spcPts val="400"/>
              </a:spcAft>
            </a:pPr>
            <a:r>
              <a:rPr sz="1300" b="0">
                <a:solidFill>
                  <a:srgbClr val="161B26"/>
                </a:solidFill>
                <a:latin typeface="Arial"/>
              </a:rPr>
              <a:t>Presenting one line implies a precision the model does not have.</a:t>
            </a:r>
          </a:p>
        </p:txBody>
      </p:sp>
      <p:sp>
        <p:nvSpPr>
          <p:cNvPr id="12" name="Rectangle 11"/>
          <p:cNvSpPr/>
          <p:nvPr/>
        </p:nvSpPr>
        <p:spPr>
          <a:xfrm>
            <a:off x="8732520" y="4343400"/>
            <a:ext cx="24688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778240" y="4526280"/>
            <a:ext cx="310896" cy="31089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0" y="4526280"/>
            <a:ext cx="310896" cy="310896"/>
          </a:xfrm>
          <a:prstGeom prst="rect">
            <a:avLst/>
          </a:prstGeom>
          <a:noFill/>
        </p:spPr>
        <p:txBody>
          <a:bodyPr wrap="square" anchor="ctr">
            <a:spAutoFit/>
          </a:bodyPr>
          <a:lstStyle/>
          <a:p>
            <a:pPr algn="ctr">
              <a:spcAft>
                <a:spcPts val="400"/>
              </a:spcAft>
            </a:pPr>
            <a:r>
              <a:rPr sz="1300" b="1">
                <a:solidFill>
                  <a:srgbClr val="FFFFFF"/>
                </a:solidFill>
                <a:latin typeface="Arial"/>
              </a:rPr>
              <a:t>?</a:t>
            </a:r>
          </a:p>
        </p:txBody>
      </p:sp>
      <p:sp>
        <p:nvSpPr>
          <p:cNvPr id="15" name="TextBox 14"/>
          <p:cNvSpPr txBox="1"/>
          <p:nvPr/>
        </p:nvSpPr>
        <p:spPr>
          <a:xfrm>
            <a:off x="9189720" y="4507992"/>
            <a:ext cx="2011680" cy="777240"/>
          </a:xfrm>
          <a:prstGeom prst="rect">
            <a:avLst/>
          </a:prstGeom>
          <a:noFill/>
        </p:spPr>
        <p:txBody>
          <a:bodyPr wrap="square" anchor="t">
            <a:spAutoFit/>
          </a:bodyPr>
          <a:lstStyle/>
          <a:p>
            <a:pPr algn="l">
              <a:spcAft>
                <a:spcPts val="100"/>
              </a:spcAft>
            </a:pPr>
            <a:r>
              <a:rPr sz="1050" b="0">
                <a:solidFill>
                  <a:srgbClr val="5B6372"/>
                </a:solidFill>
                <a:latin typeface="Arial"/>
              </a:rPr>
              <a:t>Check the axis, the units</a:t>
            </a:r>
          </a:p>
          <a:p>
            <a:pPr algn="l">
              <a:spcAft>
                <a:spcPts val="100"/>
              </a:spcAft>
            </a:pPr>
            <a:r>
              <a:rPr sz="1050" b="0">
                <a:solidFill>
                  <a:srgbClr val="5B6372"/>
                </a:solidFill>
                <a:latin typeface="Arial"/>
              </a:rPr>
              <a:t>and the source before you act.</a:t>
            </a:r>
          </a:p>
        </p:txBody>
      </p:sp>
      <p:sp>
        <p:nvSpPr>
          <p:cNvPr id="16" name="Rectangle 15"/>
          <p:cNvSpPr/>
          <p:nvPr/>
        </p:nvSpPr>
        <p:spPr>
          <a:xfrm>
            <a:off x="8778240" y="5440680"/>
            <a:ext cx="2377440" cy="3840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69680" y="5440680"/>
            <a:ext cx="2194560" cy="384048"/>
          </a:xfrm>
          <a:prstGeom prst="rect">
            <a:avLst/>
          </a:prstGeom>
          <a:noFill/>
        </p:spPr>
        <p:txBody>
          <a:bodyPr wrap="square" anchor="ctr">
            <a:spAutoFit/>
          </a:bodyPr>
          <a:lstStyle/>
          <a:p>
            <a:pPr algn="l">
              <a:spcAft>
                <a:spcPts val="400"/>
              </a:spcAft>
            </a:pPr>
            <a:r>
              <a:rPr sz="900" b="0">
                <a:solidFill>
                  <a:srgbClr val="5B6372"/>
                </a:solidFill>
                <a:latin typeface="Arial"/>
              </a:rPr>
              <a:t>Native PowerPoint chart · editable data · verify source and units</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TRIAGE TO SEND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Outlook Communication Workflow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2670048"/>
            <a:ext cx="1505102" cy="713232"/>
          </a:xfrm>
          <a:prstGeom prst="rect">
            <a:avLst/>
          </a:prstGeom>
          <a:noFill/>
        </p:spPr>
        <p:txBody>
          <a:bodyPr wrap="square" anchor="ctr">
            <a:spAutoFit/>
          </a:bodyPr>
          <a:lstStyle/>
          <a:p>
            <a:pPr algn="ctr">
              <a:spcAft>
                <a:spcPts val="400"/>
              </a:spcAft>
            </a:pPr>
            <a:r>
              <a:rPr sz="1500" b="1">
                <a:solidFill>
                  <a:srgbClr val="161B26"/>
                </a:solidFill>
                <a:latin typeface="Arial"/>
              </a:rPr>
              <a:t>Triage</a:t>
            </a:r>
          </a:p>
        </p:txBody>
      </p:sp>
      <p:sp>
        <p:nvSpPr>
          <p:cNvPr id="10" name="TextBox 9"/>
          <p:cNvSpPr txBox="1"/>
          <p:nvPr/>
        </p:nvSpPr>
        <p:spPr>
          <a:xfrm>
            <a:off x="905256" y="3401568"/>
            <a:ext cx="1505102" cy="804672"/>
          </a:xfrm>
          <a:prstGeom prst="rect">
            <a:avLst/>
          </a:prstGeom>
          <a:noFill/>
        </p:spPr>
        <p:txBody>
          <a:bodyPr wrap="square" anchor="t">
            <a:spAutoFit/>
          </a:bodyPr>
          <a:lstStyle/>
          <a:p>
            <a:pPr algn="ctr">
              <a:spcAft>
                <a:spcPts val="400"/>
              </a:spcAft>
            </a:pPr>
            <a:r>
              <a:rPr sz="1100" b="0">
                <a:solidFill>
                  <a:srgbClr val="5B6372"/>
                </a:solidFill>
                <a:latin typeface="Arial"/>
              </a:rPr>
              <a:t>Classify what needs action</a:t>
            </a:r>
          </a:p>
        </p:txBody>
      </p:sp>
      <p:sp>
        <p:nvSpPr>
          <p:cNvPr id="11" name="Rectangle 10"/>
          <p:cNvSpPr/>
          <p:nvPr/>
        </p:nvSpPr>
        <p:spPr>
          <a:xfrm>
            <a:off x="2620670"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2737714"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995574"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95574"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23590" y="2670048"/>
            <a:ext cx="1505102" cy="713232"/>
          </a:xfrm>
          <a:prstGeom prst="rect">
            <a:avLst/>
          </a:prstGeom>
          <a:noFill/>
        </p:spPr>
        <p:txBody>
          <a:bodyPr wrap="square" anchor="ctr">
            <a:spAutoFit/>
          </a:bodyPr>
          <a:lstStyle/>
          <a:p>
            <a:pPr algn="ctr">
              <a:spcAft>
                <a:spcPts val="400"/>
              </a:spcAft>
            </a:pPr>
            <a:r>
              <a:rPr sz="1500" b="1">
                <a:solidFill>
                  <a:srgbClr val="161B26"/>
                </a:solidFill>
                <a:latin typeface="Arial"/>
              </a:rPr>
              <a:t>Understand</a:t>
            </a:r>
          </a:p>
        </p:txBody>
      </p:sp>
      <p:sp>
        <p:nvSpPr>
          <p:cNvPr id="16" name="TextBox 15"/>
          <p:cNvSpPr txBox="1"/>
          <p:nvPr/>
        </p:nvSpPr>
        <p:spPr>
          <a:xfrm>
            <a:off x="3123590" y="3401568"/>
            <a:ext cx="1505102" cy="804672"/>
          </a:xfrm>
          <a:prstGeom prst="rect">
            <a:avLst/>
          </a:prstGeom>
          <a:noFill/>
        </p:spPr>
        <p:txBody>
          <a:bodyPr wrap="square" anchor="t">
            <a:spAutoFit/>
          </a:bodyPr>
          <a:lstStyle/>
          <a:p>
            <a:pPr algn="ctr">
              <a:spcAft>
                <a:spcPts val="400"/>
              </a:spcAft>
            </a:pPr>
            <a:r>
              <a:rPr sz="1100" b="0">
                <a:solidFill>
                  <a:srgbClr val="5B6372"/>
                </a:solidFill>
                <a:latin typeface="Arial"/>
              </a:rPr>
              <a:t>Summarise the thread</a:t>
            </a:r>
          </a:p>
        </p:txBody>
      </p:sp>
      <p:sp>
        <p:nvSpPr>
          <p:cNvPr id="17" name="Rectangle 16"/>
          <p:cNvSpPr/>
          <p:nvPr/>
        </p:nvSpPr>
        <p:spPr>
          <a:xfrm>
            <a:off x="4839004"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4956048"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213908"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213908"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41924" y="2670048"/>
            <a:ext cx="1505102" cy="713232"/>
          </a:xfrm>
          <a:prstGeom prst="rect">
            <a:avLst/>
          </a:prstGeom>
          <a:noFill/>
        </p:spPr>
        <p:txBody>
          <a:bodyPr wrap="square" anchor="ctr">
            <a:spAutoFit/>
          </a:bodyPr>
          <a:lstStyle/>
          <a:p>
            <a:pPr algn="ctr">
              <a:spcAft>
                <a:spcPts val="400"/>
              </a:spcAft>
            </a:pPr>
            <a:r>
              <a:rPr sz="1500" b="1">
                <a:solidFill>
                  <a:srgbClr val="161B26"/>
                </a:solidFill>
                <a:latin typeface="Arial"/>
              </a:rPr>
              <a:t>Verify</a:t>
            </a:r>
          </a:p>
        </p:txBody>
      </p:sp>
      <p:sp>
        <p:nvSpPr>
          <p:cNvPr id="22" name="TextBox 21"/>
          <p:cNvSpPr txBox="1"/>
          <p:nvPr/>
        </p:nvSpPr>
        <p:spPr>
          <a:xfrm>
            <a:off x="5341924" y="3401568"/>
            <a:ext cx="1505102" cy="804672"/>
          </a:xfrm>
          <a:prstGeom prst="rect">
            <a:avLst/>
          </a:prstGeom>
          <a:noFill/>
        </p:spPr>
        <p:txBody>
          <a:bodyPr wrap="square" anchor="t">
            <a:spAutoFit/>
          </a:bodyPr>
          <a:lstStyle/>
          <a:p>
            <a:pPr algn="ctr">
              <a:spcAft>
                <a:spcPts val="400"/>
              </a:spcAft>
            </a:pPr>
            <a:r>
              <a:rPr sz="1100" b="0">
                <a:solidFill>
                  <a:srgbClr val="5B6372"/>
                </a:solidFill>
                <a:latin typeface="Arial"/>
              </a:rPr>
              <a:t>Check the summary against the messages</a:t>
            </a:r>
          </a:p>
        </p:txBody>
      </p:sp>
      <p:sp>
        <p:nvSpPr>
          <p:cNvPr id="23" name="Rectangle 22"/>
          <p:cNvSpPr/>
          <p:nvPr/>
        </p:nvSpPr>
        <p:spPr>
          <a:xfrm>
            <a:off x="7057338"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7174382"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432242"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32242"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60258" y="2670048"/>
            <a:ext cx="1505102" cy="713232"/>
          </a:xfrm>
          <a:prstGeom prst="rect">
            <a:avLst/>
          </a:prstGeom>
          <a:noFill/>
        </p:spPr>
        <p:txBody>
          <a:bodyPr wrap="square" anchor="ctr">
            <a:spAutoFit/>
          </a:bodyPr>
          <a:lstStyle/>
          <a:p>
            <a:pPr algn="ctr">
              <a:spcAft>
                <a:spcPts val="400"/>
              </a:spcAft>
            </a:pPr>
            <a:r>
              <a:rPr sz="1500" b="1">
                <a:solidFill>
                  <a:srgbClr val="161B26"/>
                </a:solidFill>
                <a:latin typeface="Arial"/>
              </a:rPr>
              <a:t>Draft</a:t>
            </a:r>
          </a:p>
        </p:txBody>
      </p:sp>
      <p:sp>
        <p:nvSpPr>
          <p:cNvPr id="28" name="TextBox 27"/>
          <p:cNvSpPr txBox="1"/>
          <p:nvPr/>
        </p:nvSpPr>
        <p:spPr>
          <a:xfrm>
            <a:off x="7560258" y="3401568"/>
            <a:ext cx="1505102" cy="804672"/>
          </a:xfrm>
          <a:prstGeom prst="rect">
            <a:avLst/>
          </a:prstGeom>
          <a:noFill/>
        </p:spPr>
        <p:txBody>
          <a:bodyPr wrap="square" anchor="t">
            <a:spAutoFit/>
          </a:bodyPr>
          <a:lstStyle/>
          <a:p>
            <a:pPr algn="ctr">
              <a:spcAft>
                <a:spcPts val="400"/>
              </a:spcAft>
            </a:pPr>
            <a:r>
              <a:rPr sz="1100" b="0">
                <a:solidFill>
                  <a:srgbClr val="5B6372"/>
                </a:solidFill>
                <a:latin typeface="Arial"/>
              </a:rPr>
              <a:t>Copilot proposes a reply</a:t>
            </a:r>
          </a:p>
        </p:txBody>
      </p:sp>
      <p:sp>
        <p:nvSpPr>
          <p:cNvPr id="29" name="Rectangle 28"/>
          <p:cNvSpPr/>
          <p:nvPr/>
        </p:nvSpPr>
        <p:spPr>
          <a:xfrm>
            <a:off x="9275672"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Freeform 29"/>
          <p:cNvSpPr/>
          <p:nvPr/>
        </p:nvSpPr>
        <p:spPr>
          <a:xfrm>
            <a:off x="9392716"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650576"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650576"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778592" y="2670048"/>
            <a:ext cx="1505102" cy="713232"/>
          </a:xfrm>
          <a:prstGeom prst="rect">
            <a:avLst/>
          </a:prstGeom>
          <a:noFill/>
        </p:spPr>
        <p:txBody>
          <a:bodyPr wrap="square" anchor="ctr">
            <a:spAutoFit/>
          </a:bodyPr>
          <a:lstStyle/>
          <a:p>
            <a:pPr algn="ctr">
              <a:spcAft>
                <a:spcPts val="400"/>
              </a:spcAft>
            </a:pPr>
            <a:r>
              <a:rPr sz="1500" b="1">
                <a:solidFill>
                  <a:srgbClr val="161B26"/>
                </a:solidFill>
                <a:latin typeface="Arial"/>
              </a:rPr>
              <a:t>Approve and send</a:t>
            </a:r>
          </a:p>
        </p:txBody>
      </p:sp>
      <p:sp>
        <p:nvSpPr>
          <p:cNvPr id="34" name="TextBox 33"/>
          <p:cNvSpPr txBox="1"/>
          <p:nvPr/>
        </p:nvSpPr>
        <p:spPr>
          <a:xfrm>
            <a:off x="9778592" y="3401568"/>
            <a:ext cx="1505102" cy="804672"/>
          </a:xfrm>
          <a:prstGeom prst="rect">
            <a:avLst/>
          </a:prstGeom>
          <a:noFill/>
        </p:spPr>
        <p:txBody>
          <a:bodyPr wrap="square" anchor="t">
            <a:spAutoFit/>
          </a:bodyPr>
          <a:lstStyle/>
          <a:p>
            <a:pPr algn="ctr">
              <a:spcAft>
                <a:spcPts val="400"/>
              </a:spcAft>
            </a:pPr>
            <a:r>
              <a:rPr sz="1100" b="0">
                <a:solidFill>
                  <a:srgbClr val="5B6372"/>
                </a:solidFill>
                <a:latin typeface="Arial"/>
              </a:rPr>
              <a:t>A person checks and sends</a:t>
            </a:r>
          </a:p>
        </p:txBody>
      </p:sp>
      <p:sp>
        <p:nvSpPr>
          <p:cNvPr id="35" name="Rectangle 34"/>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F6FEB"/>
                </a:solidFill>
                <a:latin typeface="Arial"/>
              </a:rPr>
              <a:t>WHY IT MATTERS   </a:t>
            </a:r>
            <a:r>
              <a:rPr sz="1300" b="0">
                <a:solidFill>
                  <a:srgbClr val="161B26"/>
                </a:solidFill>
                <a:latin typeface="Arial"/>
              </a:rPr>
              <a:t>The send button is the control. Copilot never presses it.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READING A LONG THREAD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a Thread Summary Must Separate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Decisions made</a:t>
            </a:r>
          </a:p>
          <a:p>
            <a:pPr algn="l">
              <a:spcAft>
                <a:spcPts val="300"/>
              </a:spcAft>
            </a:pPr>
            <a:r>
              <a:rPr sz="1200" b="0">
                <a:solidFill>
                  <a:srgbClr val="5B6372"/>
                </a:solidFill>
                <a:latin typeface="Arial"/>
              </a:rPr>
              <a:t>What was actually agreed, and by whom.</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Open questions</a:t>
            </a:r>
          </a:p>
          <a:p>
            <a:pPr algn="l">
              <a:spcAft>
                <a:spcPts val="300"/>
              </a:spcAft>
            </a:pPr>
            <a:r>
              <a:rPr sz="1200" b="0">
                <a:solidFill>
                  <a:srgbClr val="5B6372"/>
                </a:solidFill>
                <a:latin typeface="Arial"/>
              </a:rPr>
              <a:t>What is still unresolved.</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Actions and owners</a:t>
            </a:r>
          </a:p>
          <a:p>
            <a:pPr algn="l">
              <a:spcAft>
                <a:spcPts val="300"/>
              </a:spcAft>
            </a:pPr>
            <a:r>
              <a:rPr sz="1200" b="0">
                <a:solidFill>
                  <a:srgbClr val="5B6372"/>
                </a:solidFill>
                <a:latin typeface="Arial"/>
              </a:rPr>
              <a:t>Who committed to what, and by when.</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Contradictions</a:t>
            </a:r>
          </a:p>
          <a:p>
            <a:pPr algn="l">
              <a:spcAft>
                <a:spcPts val="300"/>
              </a:spcAft>
            </a:pPr>
            <a:r>
              <a:rPr sz="1200" b="0">
                <a:solidFill>
                  <a:srgbClr val="5B6372"/>
                </a:solidFill>
                <a:latin typeface="Arial"/>
              </a:rPr>
              <a:t>Where two messages disagree — surface it, do not resolve it.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VERIFY BEFORE YOU ACT</a:t>
            </a:r>
          </a:p>
        </p:txBody>
      </p:sp>
      <p:sp>
        <p:nvSpPr>
          <p:cNvPr id="5" name="TextBox 4"/>
          <p:cNvSpPr txBox="1"/>
          <p:nvPr/>
        </p:nvSpPr>
        <p:spPr>
          <a:xfrm>
            <a:off x="1005840" y="2560320"/>
            <a:ext cx="10332720" cy="2011680"/>
          </a:xfrm>
          <a:prstGeom prst="rect">
            <a:avLst/>
          </a:prstGeom>
          <a:noFill/>
        </p:spPr>
        <p:txBody>
          <a:bodyPr wrap="square" anchor="t">
            <a:spAutoFit/>
          </a:bodyPr>
          <a:lstStyle/>
          <a:p>
            <a:pPr algn="l">
              <a:spcAft>
                <a:spcPts val="400"/>
              </a:spcAft>
            </a:pPr>
            <a:r>
              <a:rPr sz="3600" b="1">
                <a:solidFill>
                  <a:srgbClr val="161B26"/>
                </a:solidFill>
                <a:latin typeface="Arial"/>
              </a:rPr>
              <a:t>A plausible summary is not a correct summary.</a:t>
            </a:r>
          </a:p>
        </p:txBody>
      </p:sp>
      <p:sp>
        <p:nvSpPr>
          <p:cNvPr id="6" name="TextBox 5"/>
          <p:cNvSpPr txBox="1"/>
          <p:nvPr/>
        </p:nvSpPr>
        <p:spPr>
          <a:xfrm>
            <a:off x="1024128" y="4572000"/>
            <a:ext cx="10058400" cy="1097280"/>
          </a:xfrm>
          <a:prstGeom prst="rect">
            <a:avLst/>
          </a:prstGeom>
          <a:noFill/>
        </p:spPr>
        <p:txBody>
          <a:bodyPr wrap="square" anchor="t">
            <a:spAutoFit/>
          </a:bodyPr>
          <a:lstStyle/>
          <a:p>
            <a:pPr algn="l">
              <a:spcAft>
                <a:spcPts val="400"/>
              </a:spcAft>
            </a:pPr>
            <a:r>
              <a:rPr sz="1900" b="0">
                <a:solidFill>
                  <a:srgbClr val="5B6372"/>
                </a:solidFill>
                <a:latin typeface="Arial"/>
              </a:rPr>
              <a:t>The check is not whether it reads well. It is whether each stated decision appears in the thread.</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BEFORE ANYTHING LEAVES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Human-Send Gate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Recipients</a:t>
            </a:r>
          </a:p>
          <a:p>
            <a:pPr algn="l">
              <a:spcAft>
                <a:spcPts val="300"/>
              </a:spcAft>
            </a:pPr>
            <a:r>
              <a:rPr sz="1200" b="0">
                <a:solidFill>
                  <a:srgbClr val="5B6372"/>
                </a:solidFill>
                <a:latin typeface="Arial"/>
              </a:rPr>
              <a:t>Check the To and Cc lines — especially on a reply-all.</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Facts</a:t>
            </a:r>
          </a:p>
          <a:p>
            <a:pPr algn="l">
              <a:spcAft>
                <a:spcPts val="300"/>
              </a:spcAft>
            </a:pPr>
            <a:r>
              <a:rPr sz="1200" b="0">
                <a:solidFill>
                  <a:srgbClr val="5B6372"/>
                </a:solidFill>
                <a:latin typeface="Arial"/>
              </a:rPr>
              <a:t>Every claim in the reply is one you can support.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Attachments</a:t>
            </a:r>
          </a:p>
          <a:p>
            <a:pPr algn="l">
              <a:spcAft>
                <a:spcPts val="300"/>
              </a:spcAft>
            </a:pPr>
            <a:r>
              <a:rPr sz="1200" b="0">
                <a:solidFill>
                  <a:srgbClr val="5B6372"/>
                </a:solidFill>
                <a:latin typeface="Arial"/>
              </a:rPr>
              <a:t>The right file, and only the right file.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Tone</a:t>
            </a:r>
          </a:p>
          <a:p>
            <a:pPr algn="l">
              <a:spcAft>
                <a:spcPts val="300"/>
              </a:spcAft>
            </a:pPr>
            <a:r>
              <a:rPr sz="1200" b="0">
                <a:solidFill>
                  <a:srgbClr val="5B6372"/>
                </a:solidFill>
                <a:latin typeface="Arial"/>
              </a:rPr>
              <a:t>Appropriate for the actual relationship, not the average one.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6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100" b="1">
                <a:solidFill>
                  <a:srgbClr val="F59E0B"/>
                </a:solidFill>
                <a:latin typeface="Arial"/>
              </a:rPr>
              <a:t>10 minutes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CLEAN FIRST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Common Data Problems Copilot Cannot Fix</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Merged cells</a:t>
            </a:r>
          </a:p>
          <a:p>
            <a:pPr algn="l">
              <a:spcAft>
                <a:spcPts val="300"/>
              </a:spcAft>
            </a:pPr>
            <a:r>
              <a:rPr sz="1200" b="0">
                <a:solidFill>
                  <a:srgbClr val="5B6372"/>
                </a:solidFill>
                <a:latin typeface="Arial"/>
              </a:rPr>
              <a:t>They break the one-record-per-row rule that analysis depends on.</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Mixed types</a:t>
            </a:r>
          </a:p>
          <a:p>
            <a:pPr algn="l">
              <a:spcAft>
                <a:spcPts val="300"/>
              </a:spcAft>
            </a:pPr>
            <a:r>
              <a:rPr sz="1200" b="0">
                <a:solidFill>
                  <a:srgbClr val="5B6372"/>
                </a:solidFill>
                <a:latin typeface="Arial"/>
              </a:rPr>
              <a:t>Text like 'n/a' in a number column silently breaks aggregation.</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Repeated headers</a:t>
            </a:r>
          </a:p>
          <a:p>
            <a:pPr algn="l">
              <a:spcAft>
                <a:spcPts val="300"/>
              </a:spcAft>
            </a:pPr>
            <a:r>
              <a:rPr sz="1200" b="0">
                <a:solidFill>
                  <a:srgbClr val="5B6372"/>
                </a:solidFill>
                <a:latin typeface="Arial"/>
              </a:rPr>
              <a:t>A header in the middle of the data becomes a phantom record.</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Hidden totals</a:t>
            </a:r>
          </a:p>
          <a:p>
            <a:pPr algn="l">
              <a:spcAft>
                <a:spcPts val="300"/>
              </a:spcAft>
            </a:pPr>
            <a:r>
              <a:rPr sz="1200" b="0">
                <a:solidFill>
                  <a:srgbClr val="5B6372"/>
                </a:solidFill>
                <a:latin typeface="Arial"/>
              </a:rPr>
              <a:t>A total row inside the data gets counted as another record.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FOUR QUESTION TYPES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Descriptive, Diagnostic, Predictive, Prescriptive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2764962" cy="548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28800"/>
            <a:ext cx="2490642" cy="548640"/>
          </a:xfrm>
          <a:prstGeom prst="rect">
            <a:avLst/>
          </a:prstGeom>
          <a:noFill/>
        </p:spPr>
        <p:txBody>
          <a:bodyPr wrap="square" anchor="ctr">
            <a:spAutoFit/>
          </a:bodyPr>
          <a:lstStyle/>
          <a:p>
            <a:pPr algn="l">
              <a:spcAft>
                <a:spcPts val="400"/>
              </a:spcAft>
            </a:pPr>
            <a:r>
              <a:rPr sz="1300" b="1">
                <a:solidFill>
                  <a:srgbClr val="FFFFFF"/>
                </a:solidFill>
                <a:latin typeface="Arial"/>
              </a:rPr>
              <a:t>Type</a:t>
            </a:r>
          </a:p>
        </p:txBody>
      </p:sp>
      <p:sp>
        <p:nvSpPr>
          <p:cNvPr id="9" name="Rectangle 8"/>
          <p:cNvSpPr/>
          <p:nvPr/>
        </p:nvSpPr>
        <p:spPr>
          <a:xfrm>
            <a:off x="3542202" y="1828800"/>
            <a:ext cx="3934755" cy="548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1930" y="1828800"/>
            <a:ext cx="3715299" cy="548640"/>
          </a:xfrm>
          <a:prstGeom prst="rect">
            <a:avLst/>
          </a:prstGeom>
          <a:noFill/>
        </p:spPr>
        <p:txBody>
          <a:bodyPr wrap="square" anchor="ctr">
            <a:spAutoFit/>
          </a:bodyPr>
          <a:lstStyle/>
          <a:p>
            <a:pPr algn="ctr">
              <a:spcAft>
                <a:spcPts val="400"/>
              </a:spcAft>
            </a:pPr>
            <a:r>
              <a:rPr sz="1300" b="1">
                <a:solidFill>
                  <a:srgbClr val="FFFFFF"/>
                </a:solidFill>
                <a:latin typeface="Arial"/>
              </a:rPr>
              <a:t>The question</a:t>
            </a:r>
          </a:p>
        </p:txBody>
      </p:sp>
      <p:sp>
        <p:nvSpPr>
          <p:cNvPr id="11" name="Rectangle 10"/>
          <p:cNvSpPr/>
          <p:nvPr/>
        </p:nvSpPr>
        <p:spPr>
          <a:xfrm>
            <a:off x="7476957" y="1828800"/>
            <a:ext cx="3934755" cy="548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6685" y="1828800"/>
            <a:ext cx="3715299" cy="548640"/>
          </a:xfrm>
          <a:prstGeom prst="rect">
            <a:avLst/>
          </a:prstGeom>
          <a:noFill/>
        </p:spPr>
        <p:txBody>
          <a:bodyPr wrap="square" anchor="ctr">
            <a:spAutoFit/>
          </a:bodyPr>
          <a:lstStyle/>
          <a:p>
            <a:pPr algn="ctr">
              <a:spcAft>
                <a:spcPts val="400"/>
              </a:spcAft>
            </a:pPr>
            <a:r>
              <a:rPr sz="1300" b="1">
                <a:solidFill>
                  <a:srgbClr val="FFFFFF"/>
                </a:solidFill>
                <a:latin typeface="Arial"/>
              </a:rPr>
              <a:t>What it needs</a:t>
            </a:r>
          </a:p>
        </p:txBody>
      </p:sp>
      <p:sp>
        <p:nvSpPr>
          <p:cNvPr id="13" name="Rectangle 12"/>
          <p:cNvSpPr/>
          <p:nvPr/>
        </p:nvSpPr>
        <p:spPr>
          <a:xfrm>
            <a:off x="777240" y="2377440"/>
            <a:ext cx="2764962"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377440"/>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Descriptive</a:t>
            </a:r>
          </a:p>
        </p:txBody>
      </p:sp>
      <p:sp>
        <p:nvSpPr>
          <p:cNvPr id="15" name="Rectangle 14"/>
          <p:cNvSpPr/>
          <p:nvPr/>
        </p:nvSpPr>
        <p:spPr>
          <a:xfrm>
            <a:off x="3542202" y="2377440"/>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1930" y="2377440"/>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What happened?</a:t>
            </a:r>
          </a:p>
        </p:txBody>
      </p:sp>
      <p:sp>
        <p:nvSpPr>
          <p:cNvPr id="17" name="Rectangle 16"/>
          <p:cNvSpPr/>
          <p:nvPr/>
        </p:nvSpPr>
        <p:spPr>
          <a:xfrm>
            <a:off x="7476957" y="2377440"/>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6685" y="2377440"/>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Clean, complete data</a:t>
            </a:r>
          </a:p>
        </p:txBody>
      </p:sp>
      <p:sp>
        <p:nvSpPr>
          <p:cNvPr id="19" name="Rectangle 18"/>
          <p:cNvSpPr/>
          <p:nvPr/>
        </p:nvSpPr>
        <p:spPr>
          <a:xfrm>
            <a:off x="777240" y="2852928"/>
            <a:ext cx="2764962"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2852928"/>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Diagnostic</a:t>
            </a:r>
          </a:p>
        </p:txBody>
      </p:sp>
      <p:sp>
        <p:nvSpPr>
          <p:cNvPr id="21" name="Rectangle 20"/>
          <p:cNvSpPr/>
          <p:nvPr/>
        </p:nvSpPr>
        <p:spPr>
          <a:xfrm>
            <a:off x="3542202" y="2852928"/>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1930" y="2852928"/>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Why did it happen?</a:t>
            </a:r>
          </a:p>
        </p:txBody>
      </p:sp>
      <p:sp>
        <p:nvSpPr>
          <p:cNvPr id="23" name="Rectangle 22"/>
          <p:cNvSpPr/>
          <p:nvPr/>
        </p:nvSpPr>
        <p:spPr>
          <a:xfrm>
            <a:off x="7476957" y="2852928"/>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86685" y="2852928"/>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Segmentation and comparison</a:t>
            </a:r>
          </a:p>
        </p:txBody>
      </p:sp>
      <p:sp>
        <p:nvSpPr>
          <p:cNvPr id="25" name="Rectangle 24"/>
          <p:cNvSpPr/>
          <p:nvPr/>
        </p:nvSpPr>
        <p:spPr>
          <a:xfrm>
            <a:off x="777240" y="3328416"/>
            <a:ext cx="2764962"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3328416"/>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Predictive</a:t>
            </a:r>
          </a:p>
        </p:txBody>
      </p:sp>
      <p:sp>
        <p:nvSpPr>
          <p:cNvPr id="27" name="Rectangle 26"/>
          <p:cNvSpPr/>
          <p:nvPr/>
        </p:nvSpPr>
        <p:spPr>
          <a:xfrm>
            <a:off x="3542202" y="3328416"/>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1930" y="3328416"/>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What is likely next?</a:t>
            </a:r>
          </a:p>
        </p:txBody>
      </p:sp>
      <p:sp>
        <p:nvSpPr>
          <p:cNvPr id="29" name="Rectangle 28"/>
          <p:cNvSpPr/>
          <p:nvPr/>
        </p:nvSpPr>
        <p:spPr>
          <a:xfrm>
            <a:off x="7476957" y="3328416"/>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86685" y="3328416"/>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History plus stated assumptions</a:t>
            </a:r>
          </a:p>
        </p:txBody>
      </p:sp>
      <p:sp>
        <p:nvSpPr>
          <p:cNvPr id="31" name="Rectangle 30"/>
          <p:cNvSpPr/>
          <p:nvPr/>
        </p:nvSpPr>
        <p:spPr>
          <a:xfrm>
            <a:off x="777240" y="3803904"/>
            <a:ext cx="2764962"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3803904"/>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Prescriptive</a:t>
            </a:r>
          </a:p>
        </p:txBody>
      </p:sp>
      <p:sp>
        <p:nvSpPr>
          <p:cNvPr id="33" name="Rectangle 32"/>
          <p:cNvSpPr/>
          <p:nvPr/>
        </p:nvSpPr>
        <p:spPr>
          <a:xfrm>
            <a:off x="3542202" y="3803904"/>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51930" y="3803904"/>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What should we do?</a:t>
            </a:r>
          </a:p>
        </p:txBody>
      </p:sp>
      <p:sp>
        <p:nvSpPr>
          <p:cNvPr id="35" name="Rectangle 34"/>
          <p:cNvSpPr/>
          <p:nvPr/>
        </p:nvSpPr>
        <p:spPr>
          <a:xfrm>
            <a:off x="7476957" y="3803904"/>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586685" y="3803904"/>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All of the above plus a decision rule</a:t>
            </a:r>
          </a:p>
        </p:txBody>
      </p:sp>
      <p:sp>
        <p:nvSpPr>
          <p:cNvPr id="37" name="TextBox 36"/>
          <p:cNvSpPr txBox="1"/>
          <p:nvPr/>
        </p:nvSpPr>
        <p:spPr>
          <a:xfrm>
            <a:off x="777240" y="4507992"/>
            <a:ext cx="10634472" cy="457200"/>
          </a:xfrm>
          <a:prstGeom prst="rect">
            <a:avLst/>
          </a:prstGeom>
          <a:noFill/>
        </p:spPr>
        <p:txBody>
          <a:bodyPr wrap="square" anchor="t">
            <a:spAutoFit/>
          </a:bodyPr>
          <a:lstStyle/>
          <a:p>
            <a:pPr algn="l">
              <a:spcAft>
                <a:spcPts val="400"/>
              </a:spcAft>
            </a:pPr>
            <a:r>
              <a:rPr sz="1100" b="1">
                <a:solidFill>
                  <a:srgbClr val="1F6FEB"/>
                </a:solidFill>
                <a:latin typeface="Arial"/>
              </a:rPr>
              <a:t>RULE   </a:t>
            </a:r>
            <a:r>
              <a:rPr sz="1300" b="0">
                <a:solidFill>
                  <a:srgbClr val="161B26"/>
                </a:solidFill>
                <a:latin typeface="Arial"/>
              </a:rPr>
              <a:t>Each level depends on the one before it being sound.</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EXCEL TABLES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Structured References and Why They Matter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They name the column</a:t>
            </a:r>
          </a:p>
          <a:p>
            <a:pPr algn="l">
              <a:spcAft>
                <a:spcPts val="300"/>
              </a:spcAft>
            </a:pPr>
            <a:r>
              <a:rPr sz="1200" b="0">
                <a:solidFill>
                  <a:srgbClr val="5B6372"/>
                </a:solidFill>
                <a:latin typeface="Arial"/>
              </a:rPr>
              <a:t>A formula reads as a sentence, not a grid coordinate.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They survive edits</a:t>
            </a:r>
          </a:p>
          <a:p>
            <a:pPr algn="l">
              <a:spcAft>
                <a:spcPts val="300"/>
              </a:spcAft>
            </a:pPr>
            <a:r>
              <a:rPr sz="1200" b="0">
                <a:solidFill>
                  <a:srgbClr val="5B6372"/>
                </a:solidFill>
                <a:latin typeface="Arial"/>
              </a:rPr>
              <a:t>Inserting a row does not silently break the range.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They auto-fill</a:t>
            </a:r>
          </a:p>
          <a:p>
            <a:pPr algn="l">
              <a:spcAft>
                <a:spcPts val="300"/>
              </a:spcAft>
            </a:pPr>
            <a:r>
              <a:rPr sz="1200" b="0">
                <a:solidFill>
                  <a:srgbClr val="5B6372"/>
                </a:solidFill>
                <a:latin typeface="Arial"/>
              </a:rPr>
              <a:t>A new record inherits the derived columns.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Copilot reads them better</a:t>
            </a:r>
          </a:p>
          <a:p>
            <a:pPr algn="l">
              <a:spcAft>
                <a:spcPts val="300"/>
              </a:spcAft>
            </a:pPr>
            <a:r>
              <a:rPr sz="1200" b="0">
                <a:solidFill>
                  <a:srgbClr val="5B6372"/>
                </a:solidFill>
                <a:latin typeface="Arial"/>
              </a:rPr>
              <a:t>A named table is unambiguous; a loose range is not.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DECISION RULE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Should I Accept This Suggested Formula?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331720"/>
            <a:ext cx="3017520" cy="210312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788920"/>
            <a:ext cx="2468880" cy="1188720"/>
          </a:xfrm>
          <a:prstGeom prst="rect">
            <a:avLst/>
          </a:prstGeom>
          <a:noFill/>
        </p:spPr>
        <p:txBody>
          <a:bodyPr wrap="square" anchor="ctr">
            <a:spAutoFit/>
          </a:bodyPr>
          <a:lstStyle/>
          <a:p>
            <a:pPr algn="ctr">
              <a:spcAft>
                <a:spcPts val="400"/>
              </a:spcAft>
            </a:pPr>
            <a:r>
              <a:rPr sz="1300" b="1">
                <a:solidFill>
                  <a:srgbClr val="FFFFFF"/>
                </a:solidFill>
                <a:latin typeface="Arial"/>
              </a:rPr>
              <a:t>Can you explain what every part of it does?</a:t>
            </a:r>
          </a:p>
        </p:txBody>
      </p:sp>
      <p:sp>
        <p:nvSpPr>
          <p:cNvPr id="9" name="Rectangle 8"/>
          <p:cNvSpPr/>
          <p:nvPr/>
        </p:nvSpPr>
        <p:spPr>
          <a:xfrm>
            <a:off x="3931920" y="2761488"/>
            <a:ext cx="32004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reeform 9"/>
          <p:cNvSpPr/>
          <p:nvPr/>
        </p:nvSpPr>
        <p:spPr>
          <a:xfrm>
            <a:off x="4251960" y="2732227"/>
            <a:ext cx="182880" cy="113385"/>
          </a:xfrm>
          <a:custGeom>
            <a:avLst/>
            <a:gdLst/>
            <a:ahLst/>
            <a:cxnLst/>
            <a:rect l="l" t="t" r="r" b="b"/>
            <a:pathLst>
              <a:path w="182880" h="113385">
                <a:moveTo>
                  <a:pt x="0" y="0"/>
                </a:moveTo>
                <a:lnTo>
                  <a:pt x="182880" y="56693"/>
                </a:lnTo>
                <a:lnTo>
                  <a:pt x="0" y="113385"/>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0" y="1965960"/>
            <a:ext cx="6858000" cy="1920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965960"/>
            <a:ext cx="91440" cy="19202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28032" y="2112264"/>
            <a:ext cx="6400800" cy="365760"/>
          </a:xfrm>
          <a:prstGeom prst="rect">
            <a:avLst/>
          </a:prstGeom>
          <a:noFill/>
        </p:spPr>
        <p:txBody>
          <a:bodyPr wrap="square" anchor="t">
            <a:spAutoFit/>
          </a:bodyPr>
          <a:lstStyle/>
          <a:p>
            <a:pPr algn="l">
              <a:spcAft>
                <a:spcPts val="400"/>
              </a:spcAft>
            </a:pPr>
            <a:r>
              <a:rPr sz="1300" b="1">
                <a:solidFill>
                  <a:srgbClr val="10B981"/>
                </a:solidFill>
                <a:latin typeface="Arial"/>
              </a:rPr>
              <a:t>YES</a:t>
            </a:r>
          </a:p>
        </p:txBody>
      </p:sp>
      <p:sp>
        <p:nvSpPr>
          <p:cNvPr id="14" name="TextBox 13"/>
          <p:cNvSpPr txBox="1"/>
          <p:nvPr/>
        </p:nvSpPr>
        <p:spPr>
          <a:xfrm>
            <a:off x="4828032" y="2514600"/>
            <a:ext cx="6400800" cy="1280160"/>
          </a:xfrm>
          <a:prstGeom prst="rect">
            <a:avLst/>
          </a:prstGeom>
          <a:noFill/>
        </p:spPr>
        <p:txBody>
          <a:bodyPr wrap="square">
            <a:spAutoFit/>
          </a:bodyPr>
          <a:lstStyle/>
          <a:p>
            <a:pPr>
              <a:spcAft>
                <a:spcPts val="600"/>
              </a:spcAft>
            </a:pPr>
            <a:r>
              <a:rPr sz="1300">
                <a:solidFill>
                  <a:srgbClr val="161B26"/>
                </a:solidFill>
                <a:latin typeface="Arial"/>
              </a:rPr>
              <a:t>•  Accept it, and record it in the formula audit</a:t>
            </a:r>
          </a:p>
          <a:p>
            <a:pPr>
              <a:spcAft>
                <a:spcPts val="600"/>
              </a:spcAft>
            </a:pPr>
            <a:r>
              <a:rPr sz="1300">
                <a:solidFill>
                  <a:srgbClr val="161B26"/>
                </a:solidFill>
                <a:latin typeface="Arial"/>
              </a:rPr>
              <a:t>•  Test the zero, blank and negative cases first</a:t>
            </a:r>
          </a:p>
        </p:txBody>
      </p:sp>
      <p:sp>
        <p:nvSpPr>
          <p:cNvPr id="15" name="Rectangle 14"/>
          <p:cNvSpPr/>
          <p:nvPr/>
        </p:nvSpPr>
        <p:spPr>
          <a:xfrm>
            <a:off x="3931920" y="5001768"/>
            <a:ext cx="32004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reeform 15"/>
          <p:cNvSpPr/>
          <p:nvPr/>
        </p:nvSpPr>
        <p:spPr>
          <a:xfrm>
            <a:off x="4251960" y="4972507"/>
            <a:ext cx="182880" cy="113385"/>
          </a:xfrm>
          <a:custGeom>
            <a:avLst/>
            <a:gdLst/>
            <a:ahLst/>
            <a:cxnLst/>
            <a:rect l="l" t="t" r="r" b="b"/>
            <a:pathLst>
              <a:path w="182880" h="113385">
                <a:moveTo>
                  <a:pt x="0" y="0"/>
                </a:moveTo>
                <a:lnTo>
                  <a:pt x="182880" y="56693"/>
                </a:lnTo>
                <a:lnTo>
                  <a:pt x="0" y="113385"/>
                </a:lnTo>
                <a:close/>
              </a:path>
            </a:pathLst>
          </a:cu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0" y="4206240"/>
            <a:ext cx="6858000" cy="1920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0" y="4206240"/>
            <a:ext cx="91440" cy="19202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28032" y="4352544"/>
            <a:ext cx="6400800" cy="365760"/>
          </a:xfrm>
          <a:prstGeom prst="rect">
            <a:avLst/>
          </a:prstGeom>
          <a:noFill/>
        </p:spPr>
        <p:txBody>
          <a:bodyPr wrap="square" anchor="t">
            <a:spAutoFit/>
          </a:bodyPr>
          <a:lstStyle/>
          <a:p>
            <a:pPr algn="l">
              <a:spcAft>
                <a:spcPts val="400"/>
              </a:spcAft>
            </a:pPr>
            <a:r>
              <a:rPr sz="1300" b="1">
                <a:solidFill>
                  <a:srgbClr val="F59E0B"/>
                </a:solidFill>
                <a:latin typeface="Arial"/>
              </a:rPr>
              <a:t>NO</a:t>
            </a:r>
          </a:p>
        </p:txBody>
      </p:sp>
      <p:sp>
        <p:nvSpPr>
          <p:cNvPr id="20" name="TextBox 19"/>
          <p:cNvSpPr txBox="1"/>
          <p:nvPr/>
        </p:nvSpPr>
        <p:spPr>
          <a:xfrm>
            <a:off x="4828032" y="4754880"/>
            <a:ext cx="6400800" cy="1280160"/>
          </a:xfrm>
          <a:prstGeom prst="rect">
            <a:avLst/>
          </a:prstGeom>
          <a:noFill/>
        </p:spPr>
        <p:txBody>
          <a:bodyPr wrap="square">
            <a:spAutoFit/>
          </a:bodyPr>
          <a:lstStyle/>
          <a:p>
            <a:pPr>
              <a:spcAft>
                <a:spcPts val="600"/>
              </a:spcAft>
            </a:pPr>
            <a:r>
              <a:rPr sz="1300">
                <a:solidFill>
                  <a:srgbClr val="161B26"/>
                </a:solidFill>
                <a:latin typeface="Arial"/>
              </a:rPr>
              <a:t>•  Do not accept it yet</a:t>
            </a:r>
          </a:p>
          <a:p>
            <a:pPr>
              <a:spcAft>
                <a:spcPts val="600"/>
              </a:spcAft>
            </a:pPr>
            <a:r>
              <a:rPr sz="1300">
                <a:solidFill>
                  <a:srgbClr val="161B26"/>
                </a:solidFill>
                <a:latin typeface="Arial"/>
              </a:rPr>
              <a:t>•  Ask Copilot to explain it, then re-read it yourself</a:t>
            </a:r>
          </a:p>
        </p:txBody>
      </p:sp>
      <p:sp>
        <p:nvSpPr>
          <p:cNvPr id="21" name="TextBox 20"/>
          <p:cNvSpPr txBox="1"/>
          <p:nvPr/>
        </p:nvSpPr>
        <p:spPr>
          <a:xfrm>
            <a:off x="777240" y="5989320"/>
            <a:ext cx="10607040" cy="457200"/>
          </a:xfrm>
          <a:prstGeom prst="rect">
            <a:avLst/>
          </a:prstGeom>
          <a:noFill/>
        </p:spPr>
        <p:txBody>
          <a:bodyPr wrap="square" anchor="t">
            <a:spAutoFit/>
          </a:bodyPr>
          <a:lstStyle/>
          <a:p>
            <a:pPr algn="l">
              <a:spcAft>
                <a:spcPts val="400"/>
              </a:spcAft>
            </a:pPr>
            <a:r>
              <a:rPr sz="1100" b="1">
                <a:solidFill>
                  <a:srgbClr val="7C3AED"/>
                </a:solidFill>
                <a:latin typeface="Arial"/>
              </a:rPr>
              <a:t>RULE   </a:t>
            </a:r>
            <a:r>
              <a:rPr sz="1300" b="0">
                <a:solidFill>
                  <a:srgbClr val="161B26"/>
                </a:solidFill>
                <a:latin typeface="Arial"/>
              </a:rPr>
              <a:t>A formula you cannot explain is a formula you cannot defend in a review.</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NATIVE CHART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Conversion Varies More Than Traffic</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828800"/>
          <a:ext cx="7498079" cy="4114800"/>
        </p:xfrm>
        <a:graphic>
          <a:graphicData uri="http://schemas.openxmlformats.org/drawingml/2006/chart">
            <c:chart xmlns:c="http://schemas.openxmlformats.org/drawingml/2006/chart" r:id="rId2"/>
          </a:graphicData>
        </a:graphic>
      </p:graphicFrame>
      <p:sp>
        <p:nvSpPr>
          <p:cNvPr id="8" name="Rectangle 7"/>
          <p:cNvSpPr/>
          <p:nvPr/>
        </p:nvSpPr>
        <p:spPr>
          <a:xfrm>
            <a:off x="8503920" y="1828800"/>
            <a:ext cx="2926080" cy="4114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503920" y="1828800"/>
            <a:ext cx="2926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0" y="2103120"/>
            <a:ext cx="2377440" cy="365760"/>
          </a:xfrm>
          <a:prstGeom prst="rect">
            <a:avLst/>
          </a:prstGeom>
          <a:noFill/>
        </p:spPr>
        <p:txBody>
          <a:bodyPr wrap="square" anchor="t">
            <a:spAutoFit/>
          </a:bodyPr>
          <a:lstStyle/>
          <a:p>
            <a:pPr algn="l">
              <a:spcAft>
                <a:spcPts val="400"/>
              </a:spcAft>
            </a:pPr>
            <a:r>
              <a:rPr sz="1200" b="1">
                <a:solidFill>
                  <a:srgbClr val="1F6FEB"/>
                </a:solidFill>
                <a:latin typeface="Arial"/>
              </a:rPr>
              <a:t>DECISION LENS</a:t>
            </a:r>
          </a:p>
        </p:txBody>
      </p:sp>
      <p:sp>
        <p:nvSpPr>
          <p:cNvPr id="11" name="TextBox 10"/>
          <p:cNvSpPr txBox="1"/>
          <p:nvPr/>
        </p:nvSpPr>
        <p:spPr>
          <a:xfrm>
            <a:off x="8778240" y="2560320"/>
            <a:ext cx="2377440" cy="1737360"/>
          </a:xfrm>
          <a:prstGeom prst="rect">
            <a:avLst/>
          </a:prstGeom>
          <a:noFill/>
        </p:spPr>
        <p:txBody>
          <a:bodyPr wrap="square" anchor="t">
            <a:spAutoFit/>
          </a:bodyPr>
          <a:lstStyle/>
          <a:p>
            <a:pPr algn="l">
              <a:spcAft>
                <a:spcPts val="400"/>
              </a:spcAft>
            </a:pPr>
            <a:r>
              <a:rPr sz="1300" b="0">
                <a:solidFill>
                  <a:srgbClr val="161B26"/>
                </a:solidFill>
                <a:latin typeface="Arial"/>
              </a:rPr>
              <a:t>Retail draws fewer people and converts more of them. Averaging the channels hides both facts.</a:t>
            </a:r>
          </a:p>
        </p:txBody>
      </p:sp>
      <p:sp>
        <p:nvSpPr>
          <p:cNvPr id="12" name="Rectangle 11"/>
          <p:cNvSpPr/>
          <p:nvPr/>
        </p:nvSpPr>
        <p:spPr>
          <a:xfrm>
            <a:off x="8732520" y="4343400"/>
            <a:ext cx="24688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778240" y="4526280"/>
            <a:ext cx="310896" cy="31089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0" y="4526280"/>
            <a:ext cx="310896" cy="310896"/>
          </a:xfrm>
          <a:prstGeom prst="rect">
            <a:avLst/>
          </a:prstGeom>
          <a:noFill/>
        </p:spPr>
        <p:txBody>
          <a:bodyPr wrap="square" anchor="ctr">
            <a:spAutoFit/>
          </a:bodyPr>
          <a:lstStyle/>
          <a:p>
            <a:pPr algn="ctr">
              <a:spcAft>
                <a:spcPts val="400"/>
              </a:spcAft>
            </a:pPr>
            <a:r>
              <a:rPr sz="1300" b="1">
                <a:solidFill>
                  <a:srgbClr val="FFFFFF"/>
                </a:solidFill>
                <a:latin typeface="Arial"/>
              </a:rPr>
              <a:t>?</a:t>
            </a:r>
          </a:p>
        </p:txBody>
      </p:sp>
      <p:sp>
        <p:nvSpPr>
          <p:cNvPr id="15" name="TextBox 14"/>
          <p:cNvSpPr txBox="1"/>
          <p:nvPr/>
        </p:nvSpPr>
        <p:spPr>
          <a:xfrm>
            <a:off x="9189720" y="4507992"/>
            <a:ext cx="2011680" cy="777240"/>
          </a:xfrm>
          <a:prstGeom prst="rect">
            <a:avLst/>
          </a:prstGeom>
          <a:noFill/>
        </p:spPr>
        <p:txBody>
          <a:bodyPr wrap="square" anchor="t">
            <a:spAutoFit/>
          </a:bodyPr>
          <a:lstStyle/>
          <a:p>
            <a:pPr algn="l">
              <a:spcAft>
                <a:spcPts val="100"/>
              </a:spcAft>
            </a:pPr>
            <a:r>
              <a:rPr sz="1050" b="0">
                <a:solidFill>
                  <a:srgbClr val="5B6372"/>
                </a:solidFill>
                <a:latin typeface="Arial"/>
              </a:rPr>
              <a:t>Check the axis, the units</a:t>
            </a:r>
          </a:p>
          <a:p>
            <a:pPr algn="l">
              <a:spcAft>
                <a:spcPts val="100"/>
              </a:spcAft>
            </a:pPr>
            <a:r>
              <a:rPr sz="1050" b="0">
                <a:solidFill>
                  <a:srgbClr val="5B6372"/>
                </a:solidFill>
                <a:latin typeface="Arial"/>
              </a:rPr>
              <a:t>and the source before you act.</a:t>
            </a:r>
          </a:p>
        </p:txBody>
      </p:sp>
      <p:sp>
        <p:nvSpPr>
          <p:cNvPr id="16" name="Rectangle 15"/>
          <p:cNvSpPr/>
          <p:nvPr/>
        </p:nvSpPr>
        <p:spPr>
          <a:xfrm>
            <a:off x="8778240" y="5440680"/>
            <a:ext cx="2377440" cy="3840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69680" y="5440680"/>
            <a:ext cx="2194560" cy="384048"/>
          </a:xfrm>
          <a:prstGeom prst="rect">
            <a:avLst/>
          </a:prstGeom>
          <a:noFill/>
        </p:spPr>
        <p:txBody>
          <a:bodyPr wrap="square" anchor="ctr">
            <a:spAutoFit/>
          </a:bodyPr>
          <a:lstStyle/>
          <a:p>
            <a:pPr algn="l">
              <a:spcAft>
                <a:spcPts val="400"/>
              </a:spcAft>
            </a:pPr>
            <a:r>
              <a:rPr sz="900" b="0">
                <a:solidFill>
                  <a:srgbClr val="5B6372"/>
                </a:solidFill>
                <a:latin typeface="Arial"/>
              </a:rPr>
              <a:t>Native PowerPoint chart · editable data · verify source and units</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WRITING UP ANALYSIS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a Good Finding Contains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The observation</a:t>
            </a:r>
          </a:p>
          <a:p>
            <a:pPr algn="l">
              <a:spcAft>
                <a:spcPts val="300"/>
              </a:spcAft>
            </a:pPr>
            <a:r>
              <a:rPr sz="1200" b="0">
                <a:solidFill>
                  <a:srgbClr val="5B6372"/>
                </a:solidFill>
                <a:latin typeface="Arial"/>
              </a:rPr>
              <a:t>What the data actually shows, stated plainly.</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The evidence</a:t>
            </a:r>
          </a:p>
          <a:p>
            <a:pPr algn="l">
              <a:spcAft>
                <a:spcPts val="300"/>
              </a:spcAft>
            </a:pPr>
            <a:r>
              <a:rPr sz="1200" b="0">
                <a:solidFill>
                  <a:srgbClr val="5B6372"/>
                </a:solidFill>
                <a:latin typeface="Arial"/>
              </a:rPr>
              <a:t>The sheet and cell range it came from.</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The caveat</a:t>
            </a:r>
          </a:p>
          <a:p>
            <a:pPr algn="l">
              <a:spcAft>
                <a:spcPts val="300"/>
              </a:spcAft>
            </a:pPr>
            <a:r>
              <a:rPr sz="1200" b="0">
                <a:solidFill>
                  <a:srgbClr val="5B6372"/>
                </a:solidFill>
                <a:latin typeface="Arial"/>
              </a:rPr>
              <a:t>What could make this conclusion wrong.</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The action</a:t>
            </a:r>
          </a:p>
          <a:p>
            <a:pPr algn="l">
              <a:spcAft>
                <a:spcPts val="300"/>
              </a:spcAft>
            </a:pPr>
            <a:r>
              <a:rPr sz="1200" b="0">
                <a:solidFill>
                  <a:srgbClr val="5B6372"/>
                </a:solidFill>
                <a:latin typeface="Arial"/>
              </a:rPr>
              <a:t>What should now happen, and who owns it.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MODELLING DISCIPLINE</a:t>
            </a:r>
          </a:p>
        </p:txBody>
      </p:sp>
      <p:sp>
        <p:nvSpPr>
          <p:cNvPr id="5" name="TextBox 4"/>
          <p:cNvSpPr txBox="1"/>
          <p:nvPr/>
        </p:nvSpPr>
        <p:spPr>
          <a:xfrm>
            <a:off x="1005840" y="2560320"/>
            <a:ext cx="10332720" cy="2011680"/>
          </a:xfrm>
          <a:prstGeom prst="rect">
            <a:avLst/>
          </a:prstGeom>
          <a:noFill/>
        </p:spPr>
        <p:txBody>
          <a:bodyPr wrap="square" anchor="t">
            <a:spAutoFit/>
          </a:bodyPr>
          <a:lstStyle/>
          <a:p>
            <a:pPr algn="l">
              <a:spcAft>
                <a:spcPts val="400"/>
              </a:spcAft>
            </a:pPr>
            <a:r>
              <a:rPr sz="3600" b="1">
                <a:solidFill>
                  <a:srgbClr val="161B26"/>
                </a:solidFill>
                <a:latin typeface="Arial"/>
              </a:rPr>
              <a:t>Separate the assumption from the formula.</a:t>
            </a:r>
          </a:p>
        </p:txBody>
      </p:sp>
      <p:sp>
        <p:nvSpPr>
          <p:cNvPr id="6" name="TextBox 5"/>
          <p:cNvSpPr txBox="1"/>
          <p:nvPr/>
        </p:nvSpPr>
        <p:spPr>
          <a:xfrm>
            <a:off x="1024128" y="4572000"/>
            <a:ext cx="10058400" cy="1097280"/>
          </a:xfrm>
          <a:prstGeom prst="rect">
            <a:avLst/>
          </a:prstGeom>
          <a:noFill/>
        </p:spPr>
        <p:txBody>
          <a:bodyPr wrap="square" anchor="t">
            <a:spAutoFit/>
          </a:bodyPr>
          <a:lstStyle/>
          <a:p>
            <a:pPr algn="l">
              <a:spcAft>
                <a:spcPts val="400"/>
              </a:spcAft>
            </a:pPr>
            <a:r>
              <a:rPr sz="1900" b="0">
                <a:solidFill>
                  <a:srgbClr val="5B6372"/>
                </a:solidFill>
                <a:latin typeface="Arial"/>
              </a:rPr>
              <a:t>If a scenario needs you to edit a formula, you have built a spreadsheet, not a model.</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IT DOES WELL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Outlook Copilot in Practice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Summarise a long thread</a:t>
            </a:r>
          </a:p>
          <a:p>
            <a:pPr algn="l">
              <a:spcAft>
                <a:spcPts val="300"/>
              </a:spcAft>
            </a:pPr>
            <a:r>
              <a:rPr sz="1200" b="0">
                <a:solidFill>
                  <a:srgbClr val="5B6372"/>
                </a:solidFill>
                <a:latin typeface="Arial"/>
              </a:rPr>
              <a:t>Turn forty messages into decisions and open questions.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Draft a reply</a:t>
            </a:r>
          </a:p>
          <a:p>
            <a:pPr algn="l">
              <a:spcAft>
                <a:spcPts val="300"/>
              </a:spcAft>
            </a:pPr>
            <a:r>
              <a:rPr sz="1200" b="0">
                <a:solidFill>
                  <a:srgbClr val="5B6372"/>
                </a:solidFill>
                <a:latin typeface="Arial"/>
              </a:rPr>
              <a:t>Propose a response in a tone and length you specify.</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Coach a draft</a:t>
            </a:r>
          </a:p>
          <a:p>
            <a:pPr algn="l">
              <a:spcAft>
                <a:spcPts val="300"/>
              </a:spcAft>
            </a:pPr>
            <a:r>
              <a:rPr sz="1200" b="0">
                <a:solidFill>
                  <a:srgbClr val="5B6372"/>
                </a:solidFill>
                <a:latin typeface="Arial"/>
              </a:rPr>
              <a:t>Critique your own writing before you send it.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Catch up</a:t>
            </a:r>
          </a:p>
          <a:p>
            <a:pPr algn="l">
              <a:spcAft>
                <a:spcPts val="300"/>
              </a:spcAft>
            </a:pPr>
            <a:r>
              <a:rPr sz="1200" b="0">
                <a:solidFill>
                  <a:srgbClr val="5B6372"/>
                </a:solidFill>
                <a:latin typeface="Arial"/>
              </a:rPr>
              <a:t>Find what changed while you were away.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FOUNDATION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Build and Audit Excel Formulas with Copilot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371600" cy="4389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371600" cy="365760"/>
          </a:xfrm>
          <a:prstGeom prst="rect">
            <a:avLst/>
          </a:prstGeom>
          <a:noFill/>
        </p:spPr>
        <p:txBody>
          <a:bodyPr wrap="square" anchor="t">
            <a:spAutoFit/>
          </a:bodyPr>
          <a:lstStyle/>
          <a:p>
            <a:pPr algn="ctr">
              <a:spcAft>
                <a:spcPts val="400"/>
              </a:spcAft>
            </a:pPr>
            <a:r>
              <a:rPr sz="1500" b="1">
                <a:solidFill>
                  <a:srgbClr val="FFFFFF"/>
                </a:solidFill>
                <a:latin typeface="Arial"/>
              </a:rPr>
              <a:t>LAB 06</a:t>
            </a:r>
          </a:p>
        </p:txBody>
      </p:sp>
      <p:sp>
        <p:nvSpPr>
          <p:cNvPr id="9" name="Rectangle 8"/>
          <p:cNvSpPr/>
          <p:nvPr/>
        </p:nvSpPr>
        <p:spPr>
          <a:xfrm>
            <a:off x="2286000" y="1691640"/>
            <a:ext cx="1371600" cy="438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0" y="1737360"/>
            <a:ext cx="1371600" cy="365760"/>
          </a:xfrm>
          <a:prstGeom prst="rect">
            <a:avLst/>
          </a:prstGeom>
          <a:noFill/>
        </p:spPr>
        <p:txBody>
          <a:bodyPr wrap="square" anchor="t">
            <a:spAutoFit/>
          </a:bodyPr>
          <a:lstStyle/>
          <a:p>
            <a:pPr algn="ctr">
              <a:spcAft>
                <a:spcPts val="400"/>
              </a:spcAft>
            </a:pPr>
            <a:r>
              <a:rPr sz="1300" b="1">
                <a:solidFill>
                  <a:srgbClr val="5B6372"/>
                </a:solidFill>
                <a:latin typeface="Arial"/>
              </a:rPr>
              <a:t>K2 · A2</a:t>
            </a:r>
          </a:p>
        </p:txBody>
      </p:sp>
      <p:sp>
        <p:nvSpPr>
          <p:cNvPr id="11" name="TextBox 10"/>
          <p:cNvSpPr txBox="1"/>
          <p:nvPr/>
        </p:nvSpPr>
        <p:spPr>
          <a:xfrm>
            <a:off x="777240" y="2331720"/>
            <a:ext cx="10698480" cy="1371600"/>
          </a:xfrm>
          <a:prstGeom prst="rect">
            <a:avLst/>
          </a:prstGeom>
          <a:noFill/>
        </p:spPr>
        <p:txBody>
          <a:bodyPr wrap="square" anchor="t">
            <a:spAutoFit/>
          </a:bodyPr>
          <a:lstStyle/>
          <a:p>
            <a:pPr algn="l">
              <a:spcAft>
                <a:spcPts val="400"/>
              </a:spcAft>
            </a:pPr>
            <a:r>
              <a:rPr sz="1900" b="0">
                <a:solidFill>
                  <a:srgbClr val="161B26"/>
                </a:solidFill>
                <a:latin typeface="Arial"/>
              </a:rPr>
              <a:t>The learner converts a flat range into an Excel Table, asks Copilot to add derived margin, conversion and status columns, then audits each generated formula against the assumptions sheet.</a:t>
            </a:r>
          </a:p>
        </p:txBody>
      </p:sp>
      <p:sp>
        <p:nvSpPr>
          <p:cNvPr id="12" name="Rectangle 11"/>
          <p:cNvSpPr/>
          <p:nvPr/>
        </p:nvSpPr>
        <p:spPr>
          <a:xfrm>
            <a:off x="777240" y="3886200"/>
            <a:ext cx="10698480"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88620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11480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 will build</a:t>
            </a:r>
          </a:p>
        </p:txBody>
      </p:sp>
      <p:sp>
        <p:nvSpPr>
          <p:cNvPr id="15" name="TextBox 14"/>
          <p:cNvSpPr txBox="1"/>
          <p:nvPr/>
        </p:nvSpPr>
        <p:spPr>
          <a:xfrm>
            <a:off x="1005840" y="4480560"/>
            <a:ext cx="10149840" cy="640080"/>
          </a:xfrm>
          <a:prstGeom prst="rect">
            <a:avLst/>
          </a:prstGeom>
          <a:noFill/>
        </p:spPr>
        <p:txBody>
          <a:bodyPr wrap="square" anchor="t">
            <a:spAutoFit/>
          </a:bodyPr>
          <a:lstStyle/>
          <a:p>
            <a:pPr algn="l">
              <a:spcAft>
                <a:spcPts val="400"/>
              </a:spcAft>
            </a:pPr>
            <a:r>
              <a:rPr sz="1700" b="1">
                <a:solidFill>
                  <a:srgbClr val="161B26"/>
                </a:solidFill>
                <a:latin typeface="Arial"/>
              </a:rPr>
              <a:t>A formula-driven campaign table with revenue, margin, conversion, status and error controls</a:t>
            </a:r>
          </a:p>
        </p:txBody>
      </p:sp>
      <p:sp>
        <p:nvSpPr>
          <p:cNvPr id="16" name="TextBox 15"/>
          <p:cNvSpPr txBox="1"/>
          <p:nvPr/>
        </p:nvSpPr>
        <p:spPr>
          <a:xfrm>
            <a:off x="1005840" y="5212080"/>
            <a:ext cx="10241280" cy="365760"/>
          </a:xfrm>
          <a:prstGeom prst="rect">
            <a:avLst/>
          </a:prstGeom>
          <a:noFill/>
        </p:spPr>
        <p:txBody>
          <a:bodyPr wrap="square" anchor="t">
            <a:spAutoFit/>
          </a:bodyPr>
          <a:lstStyle/>
          <a:p>
            <a:pPr algn="l">
              <a:spcAft>
                <a:spcPts val="400"/>
              </a:spcAft>
            </a:pPr>
            <a:r>
              <a:rPr sz="1200" b="1">
                <a:solidFill>
                  <a:srgbClr val="5B6372"/>
                </a:solidFill>
                <a:latin typeface="Arial"/>
              </a:rPr>
              <a:t>Apps:  </a:t>
            </a:r>
            <a:r>
              <a:rPr sz="1200" b="0">
                <a:solidFill>
                  <a:srgbClr val="5B6372"/>
                </a:solidFill>
                <a:latin typeface="Arial"/>
              </a:rPr>
              <a:t>Excel, Copilot</a:t>
            </a:r>
          </a:p>
        </p:txBody>
      </p:sp>
      <p:sp>
        <p:nvSpPr>
          <p:cNvPr id="17" name="Rectangle 16"/>
          <p:cNvSpPr/>
          <p:nvPr/>
        </p:nvSpPr>
        <p:spPr>
          <a:xfrm>
            <a:off x="777240"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5943600"/>
            <a:ext cx="64008"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5943600"/>
            <a:ext cx="3154680" cy="457200"/>
          </a:xfrm>
          <a:prstGeom prst="rect">
            <a:avLst/>
          </a:prstGeom>
          <a:noFill/>
        </p:spPr>
        <p:txBody>
          <a:bodyPr wrap="square" anchor="ctr">
            <a:spAutoFit/>
          </a:bodyPr>
          <a:lstStyle/>
          <a:p>
            <a:pPr algn="l">
              <a:spcAft>
                <a:spcPts val="400"/>
              </a:spcAft>
            </a:pPr>
            <a:r>
              <a:rPr sz="900" b="1">
                <a:solidFill>
                  <a:srgbClr val="1F6FEB"/>
                </a:solidFill>
                <a:latin typeface="Arial"/>
              </a:rPr>
              <a:t>ASSESSED   </a:t>
            </a:r>
            <a:r>
              <a:rPr sz="1050" b="0">
                <a:solidFill>
                  <a:srgbClr val="161B26"/>
                </a:solidFill>
                <a:latin typeface="Arial"/>
              </a:rPr>
              <a:t>K2 · A2</a:t>
            </a:r>
          </a:p>
        </p:txBody>
      </p:sp>
      <p:sp>
        <p:nvSpPr>
          <p:cNvPr id="20" name="Rectangle 19"/>
          <p:cNvSpPr/>
          <p:nvPr/>
        </p:nvSpPr>
        <p:spPr>
          <a:xfrm>
            <a:off x="4407408"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07408" y="5943600"/>
            <a:ext cx="64008"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0" y="5943600"/>
            <a:ext cx="3154680" cy="457200"/>
          </a:xfrm>
          <a:prstGeom prst="rect">
            <a:avLst/>
          </a:prstGeom>
          <a:noFill/>
        </p:spPr>
        <p:txBody>
          <a:bodyPr wrap="square" anchor="ctr">
            <a:spAutoFit/>
          </a:bodyPr>
          <a:lstStyle/>
          <a:p>
            <a:pPr algn="l">
              <a:spcAft>
                <a:spcPts val="400"/>
              </a:spcAft>
            </a:pPr>
            <a:r>
              <a:rPr sz="900" b="1">
                <a:solidFill>
                  <a:srgbClr val="10B981"/>
                </a:solidFill>
                <a:latin typeface="Arial"/>
              </a:rPr>
              <a:t>LEVEL   </a:t>
            </a:r>
            <a:r>
              <a:rPr sz="1050" b="0">
                <a:solidFill>
                  <a:srgbClr val="161B26"/>
                </a:solidFill>
                <a:latin typeface="Arial"/>
              </a:rPr>
              <a:t>Foundation</a:t>
            </a:r>
          </a:p>
        </p:txBody>
      </p:sp>
      <p:sp>
        <p:nvSpPr>
          <p:cNvPr id="23" name="Rectangle 22"/>
          <p:cNvSpPr/>
          <p:nvPr/>
        </p:nvSpPr>
        <p:spPr>
          <a:xfrm>
            <a:off x="8037576"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37576" y="5943600"/>
            <a:ext cx="64008"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02168" y="5943600"/>
            <a:ext cx="3154680" cy="457200"/>
          </a:xfrm>
          <a:prstGeom prst="rect">
            <a:avLst/>
          </a:prstGeom>
          <a:noFill/>
        </p:spPr>
        <p:txBody>
          <a:bodyPr wrap="square" anchor="ctr">
            <a:spAutoFit/>
          </a:bodyPr>
          <a:lstStyle/>
          <a:p>
            <a:pPr algn="l">
              <a:spcAft>
                <a:spcPts val="400"/>
              </a:spcAft>
            </a:pPr>
            <a:r>
              <a:rPr sz="900" b="1">
                <a:solidFill>
                  <a:srgbClr val="7C3AED"/>
                </a:solidFill>
                <a:latin typeface="Arial"/>
              </a:rPr>
              <a:t>EVIDENCE   </a:t>
            </a:r>
            <a:r>
              <a:rPr sz="1050" b="0">
                <a:solidFill>
                  <a:srgbClr val="161B26"/>
                </a:solidFill>
                <a:latin typeface="Arial"/>
              </a:rPr>
              <a:t>Workbook · screenshot · reviewer</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06 · PROCESS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How Lab 06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Prepare</a:t>
            </a:r>
          </a:p>
        </p:txBody>
      </p:sp>
      <p:sp>
        <p:nvSpPr>
          <p:cNvPr id="10" name="TextBox 9"/>
          <p:cNvSpPr txBox="1"/>
          <p:nvPr/>
        </p:nvSpPr>
        <p:spPr>
          <a:xfrm>
            <a:off x="905256"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Convert the range to a Table</a:t>
            </a:r>
          </a:p>
        </p:txBody>
      </p:sp>
      <p:sp>
        <p:nvSpPr>
          <p:cNvPr id="11" name="Rectangle 10"/>
          <p:cNvSpPr/>
          <p:nvPr/>
        </p:nvSpPr>
        <p:spPr>
          <a:xfrm>
            <a:off x="3175254"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3292298"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50158"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50158"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78174"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Generate</a:t>
            </a:r>
          </a:p>
        </p:txBody>
      </p:sp>
      <p:sp>
        <p:nvSpPr>
          <p:cNvPr id="16" name="TextBox 15"/>
          <p:cNvSpPr txBox="1"/>
          <p:nvPr/>
        </p:nvSpPr>
        <p:spPr>
          <a:xfrm>
            <a:off x="3678174"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Add the derived columns</a:t>
            </a:r>
          </a:p>
        </p:txBody>
      </p:sp>
      <p:sp>
        <p:nvSpPr>
          <p:cNvPr id="17" name="Rectangle 16"/>
          <p:cNvSpPr/>
          <p:nvPr/>
        </p:nvSpPr>
        <p:spPr>
          <a:xfrm>
            <a:off x="5948172"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6065216"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3076"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23076"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1092"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Verify</a:t>
            </a:r>
          </a:p>
        </p:txBody>
      </p:sp>
      <p:sp>
        <p:nvSpPr>
          <p:cNvPr id="22" name="TextBox 21"/>
          <p:cNvSpPr txBox="1"/>
          <p:nvPr/>
        </p:nvSpPr>
        <p:spPr>
          <a:xfrm>
            <a:off x="6451092"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Test the edge cases</a:t>
            </a:r>
          </a:p>
        </p:txBody>
      </p:sp>
      <p:sp>
        <p:nvSpPr>
          <p:cNvPr id="23" name="Rectangle 22"/>
          <p:cNvSpPr/>
          <p:nvPr/>
        </p:nvSpPr>
        <p:spPr>
          <a:xfrm>
            <a:off x="8721090"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8838134"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095994"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5994"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24010"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Record</a:t>
            </a:r>
          </a:p>
        </p:txBody>
      </p:sp>
      <p:sp>
        <p:nvSpPr>
          <p:cNvPr id="28" name="TextBox 27"/>
          <p:cNvSpPr txBox="1"/>
          <p:nvPr/>
        </p:nvSpPr>
        <p:spPr>
          <a:xfrm>
            <a:off x="9224010"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Log each accepted formula</a:t>
            </a:r>
          </a:p>
        </p:txBody>
      </p:sp>
      <p:sp>
        <p:nvSpPr>
          <p:cNvPr id="29" name="Rectangle 28"/>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0B981"/>
                </a:solidFill>
                <a:latin typeface="Arial"/>
              </a:rPr>
              <a:t>WHY IT MATTERS   </a:t>
            </a:r>
            <a:r>
              <a:rPr sz="1300" b="0">
                <a:solidFill>
                  <a:srgbClr val="161B26"/>
                </a:solidFill>
                <a:latin typeface="Arial"/>
              </a:rPr>
              <a:t>The shape of the work. Full step-by-step is in the Learner Guide (Lab 06) and the lab's instruction PDF.</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06 · ACCEPTANCE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Build and Audit Excel Formulas with Copilot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46888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03120"/>
            <a:ext cx="10698480" cy="9144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423160"/>
            <a:ext cx="10058400" cy="457200"/>
          </a:xfrm>
          <a:prstGeom prst="rect">
            <a:avLst/>
          </a:prstGeom>
          <a:noFill/>
        </p:spPr>
        <p:txBody>
          <a:bodyPr wrap="square" anchor="t">
            <a:spAutoFit/>
          </a:bodyPr>
          <a:lstStyle/>
          <a:p>
            <a:pPr algn="l">
              <a:spcAft>
                <a:spcPts val="400"/>
              </a:spcAft>
            </a:pPr>
            <a:r>
              <a:rPr sz="1900" b="1">
                <a:solidFill>
                  <a:srgbClr val="127A3E"/>
                </a:solidFill>
                <a:latin typeface="Arial"/>
              </a:rPr>
              <a:t>✅  Acceptance check</a:t>
            </a:r>
          </a:p>
        </p:txBody>
      </p:sp>
      <p:sp>
        <p:nvSpPr>
          <p:cNvPr id="10" name="TextBox 9"/>
          <p:cNvSpPr txBox="1"/>
          <p:nvPr/>
        </p:nvSpPr>
        <p:spPr>
          <a:xfrm>
            <a:off x="1097280" y="3063240"/>
            <a:ext cx="10149840" cy="1371600"/>
          </a:xfrm>
          <a:prstGeom prst="rect">
            <a:avLst/>
          </a:prstGeom>
          <a:noFill/>
        </p:spPr>
        <p:txBody>
          <a:bodyPr wrap="square" anchor="t">
            <a:spAutoFit/>
          </a:bodyPr>
          <a:lstStyle/>
          <a:p>
            <a:pPr algn="l">
              <a:spcAft>
                <a:spcPts val="400"/>
              </a:spcAft>
            </a:pPr>
            <a:r>
              <a:rPr sz="1700" b="0">
                <a:solidFill>
                  <a:srgbClr val="161B26"/>
                </a:solidFill>
                <a:latin typeface="Arial"/>
              </a:rPr>
              <a:t>Every derived column uses a checked structured-reference formula, no error values remain, and the Controls sheet matches the expected record count and zero exceptions.</a:t>
            </a:r>
          </a:p>
        </p:txBody>
      </p:sp>
      <p:sp>
        <p:nvSpPr>
          <p:cNvPr id="11" name="Rectangle 10"/>
          <p:cNvSpPr/>
          <p:nvPr/>
        </p:nvSpPr>
        <p:spPr>
          <a:xfrm>
            <a:off x="777240" y="4800600"/>
            <a:ext cx="10698480" cy="1143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4800600"/>
            <a:ext cx="10698480"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956048"/>
            <a:ext cx="10058400" cy="320040"/>
          </a:xfrm>
          <a:prstGeom prst="rect">
            <a:avLst/>
          </a:prstGeom>
          <a:noFill/>
        </p:spPr>
        <p:txBody>
          <a:bodyPr wrap="square" anchor="t">
            <a:spAutoFit/>
          </a:bodyPr>
          <a:lstStyle/>
          <a:p>
            <a:pPr algn="l">
              <a:spcAft>
                <a:spcPts val="400"/>
              </a:spcAft>
            </a:pPr>
            <a:r>
              <a:rPr sz="1100" b="1">
                <a:solidFill>
                  <a:srgbClr val="F59E0B"/>
                </a:solidFill>
                <a:latin typeface="Arial"/>
              </a:rPr>
              <a:t>IF IT DOES NOT WORK</a:t>
            </a:r>
          </a:p>
        </p:txBody>
      </p:sp>
      <p:sp>
        <p:nvSpPr>
          <p:cNvPr id="14" name="Oval 13"/>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Re-read the step inputs before you change anything.</a:t>
            </a:r>
          </a:p>
        </p:txBody>
      </p:sp>
      <p:sp>
        <p:nvSpPr>
          <p:cNvPr id="16" name="Oval 15"/>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Check the source is attached and the value inserted, not typed.</a:t>
            </a:r>
          </a:p>
        </p:txBody>
      </p:sp>
      <p:sp>
        <p:nvSpPr>
          <p:cNvPr id="18" name="Oval 17"/>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3816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Full step-by-step: Learner Guide and the lab instruction PDF.</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INTERMEDIATE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Run Deep Descriptive and Diagnostic Analysis in Excel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371600" cy="4389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371600" cy="365760"/>
          </a:xfrm>
          <a:prstGeom prst="rect">
            <a:avLst/>
          </a:prstGeom>
          <a:noFill/>
        </p:spPr>
        <p:txBody>
          <a:bodyPr wrap="square" anchor="t">
            <a:spAutoFit/>
          </a:bodyPr>
          <a:lstStyle/>
          <a:p>
            <a:pPr algn="ctr">
              <a:spcAft>
                <a:spcPts val="400"/>
              </a:spcAft>
            </a:pPr>
            <a:r>
              <a:rPr sz="1500" b="1">
                <a:solidFill>
                  <a:srgbClr val="FFFFFF"/>
                </a:solidFill>
                <a:latin typeface="Arial"/>
              </a:rPr>
              <a:t>LAB 07</a:t>
            </a:r>
          </a:p>
        </p:txBody>
      </p:sp>
      <p:sp>
        <p:nvSpPr>
          <p:cNvPr id="9" name="Rectangle 8"/>
          <p:cNvSpPr/>
          <p:nvPr/>
        </p:nvSpPr>
        <p:spPr>
          <a:xfrm>
            <a:off x="2286000" y="1691640"/>
            <a:ext cx="1371600" cy="438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0" y="1737360"/>
            <a:ext cx="1371600" cy="365760"/>
          </a:xfrm>
          <a:prstGeom prst="rect">
            <a:avLst/>
          </a:prstGeom>
          <a:noFill/>
        </p:spPr>
        <p:txBody>
          <a:bodyPr wrap="square" anchor="t">
            <a:spAutoFit/>
          </a:bodyPr>
          <a:lstStyle/>
          <a:p>
            <a:pPr algn="ctr">
              <a:spcAft>
                <a:spcPts val="400"/>
              </a:spcAft>
            </a:pPr>
            <a:r>
              <a:rPr sz="1300" b="1">
                <a:solidFill>
                  <a:srgbClr val="5B6372"/>
                </a:solidFill>
                <a:latin typeface="Arial"/>
              </a:rPr>
              <a:t>K2 · A2</a:t>
            </a:r>
          </a:p>
        </p:txBody>
      </p:sp>
      <p:sp>
        <p:nvSpPr>
          <p:cNvPr id="11" name="TextBox 10"/>
          <p:cNvSpPr txBox="1"/>
          <p:nvPr/>
        </p:nvSpPr>
        <p:spPr>
          <a:xfrm>
            <a:off x="777240" y="2331720"/>
            <a:ext cx="10698480" cy="1371600"/>
          </a:xfrm>
          <a:prstGeom prst="rect">
            <a:avLst/>
          </a:prstGeom>
          <a:noFill/>
        </p:spPr>
        <p:txBody>
          <a:bodyPr wrap="square" anchor="t">
            <a:spAutoFit/>
          </a:bodyPr>
          <a:lstStyle/>
          <a:p>
            <a:pPr algn="l">
              <a:spcAft>
                <a:spcPts val="400"/>
              </a:spcAft>
            </a:pPr>
            <a:r>
              <a:rPr sz="1900" b="0">
                <a:solidFill>
                  <a:srgbClr val="161B26"/>
                </a:solidFill>
                <a:latin typeface="Arial"/>
              </a:rPr>
              <a:t>The learner uses Copilot to summarise performance, segment it by region, channel and product, isolate anomalies, and write management findings that each cite the cells they came from.</a:t>
            </a:r>
          </a:p>
        </p:txBody>
      </p:sp>
      <p:sp>
        <p:nvSpPr>
          <p:cNvPr id="12" name="Rectangle 11"/>
          <p:cNvSpPr/>
          <p:nvPr/>
        </p:nvSpPr>
        <p:spPr>
          <a:xfrm>
            <a:off x="777240" y="3886200"/>
            <a:ext cx="10698480"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88620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11480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 will build</a:t>
            </a:r>
          </a:p>
        </p:txBody>
      </p:sp>
      <p:sp>
        <p:nvSpPr>
          <p:cNvPr id="15" name="TextBox 14"/>
          <p:cNvSpPr txBox="1"/>
          <p:nvPr/>
        </p:nvSpPr>
        <p:spPr>
          <a:xfrm>
            <a:off x="1005840" y="4480560"/>
            <a:ext cx="10149840" cy="640080"/>
          </a:xfrm>
          <a:prstGeom prst="rect">
            <a:avLst/>
          </a:prstGeom>
          <a:noFill/>
        </p:spPr>
        <p:txBody>
          <a:bodyPr wrap="square" anchor="t">
            <a:spAutoFit/>
          </a:bodyPr>
          <a:lstStyle/>
          <a:p>
            <a:pPr algn="l">
              <a:spcAft>
                <a:spcPts val="400"/>
              </a:spcAft>
            </a:pPr>
            <a:r>
              <a:rPr sz="1700" b="1">
                <a:solidFill>
                  <a:srgbClr val="161B26"/>
                </a:solidFill>
                <a:latin typeface="Arial"/>
              </a:rPr>
              <a:t>A diagnostic workbook with a KPI summary, segment analysis, an anomaly log and management findings</a:t>
            </a:r>
          </a:p>
        </p:txBody>
      </p:sp>
      <p:sp>
        <p:nvSpPr>
          <p:cNvPr id="16" name="TextBox 15"/>
          <p:cNvSpPr txBox="1"/>
          <p:nvPr/>
        </p:nvSpPr>
        <p:spPr>
          <a:xfrm>
            <a:off x="1005840" y="5212080"/>
            <a:ext cx="10241280" cy="365760"/>
          </a:xfrm>
          <a:prstGeom prst="rect">
            <a:avLst/>
          </a:prstGeom>
          <a:noFill/>
        </p:spPr>
        <p:txBody>
          <a:bodyPr wrap="square" anchor="t">
            <a:spAutoFit/>
          </a:bodyPr>
          <a:lstStyle/>
          <a:p>
            <a:pPr algn="l">
              <a:spcAft>
                <a:spcPts val="400"/>
              </a:spcAft>
            </a:pPr>
            <a:r>
              <a:rPr sz="1200" b="1">
                <a:solidFill>
                  <a:srgbClr val="5B6372"/>
                </a:solidFill>
                <a:latin typeface="Arial"/>
              </a:rPr>
              <a:t>Apps:  </a:t>
            </a:r>
            <a:r>
              <a:rPr sz="1200" b="0">
                <a:solidFill>
                  <a:srgbClr val="5B6372"/>
                </a:solidFill>
                <a:latin typeface="Arial"/>
              </a:rPr>
              <a:t>Excel, Copilot</a:t>
            </a:r>
          </a:p>
        </p:txBody>
      </p:sp>
      <p:sp>
        <p:nvSpPr>
          <p:cNvPr id="17" name="Rectangle 16"/>
          <p:cNvSpPr/>
          <p:nvPr/>
        </p:nvSpPr>
        <p:spPr>
          <a:xfrm>
            <a:off x="777240"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5943600"/>
            <a:ext cx="64008"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5943600"/>
            <a:ext cx="3154680" cy="457200"/>
          </a:xfrm>
          <a:prstGeom prst="rect">
            <a:avLst/>
          </a:prstGeom>
          <a:noFill/>
        </p:spPr>
        <p:txBody>
          <a:bodyPr wrap="square" anchor="ctr">
            <a:spAutoFit/>
          </a:bodyPr>
          <a:lstStyle/>
          <a:p>
            <a:pPr algn="l">
              <a:spcAft>
                <a:spcPts val="400"/>
              </a:spcAft>
            </a:pPr>
            <a:r>
              <a:rPr sz="900" b="1">
                <a:solidFill>
                  <a:srgbClr val="1F6FEB"/>
                </a:solidFill>
                <a:latin typeface="Arial"/>
              </a:rPr>
              <a:t>ASSESSED   </a:t>
            </a:r>
            <a:r>
              <a:rPr sz="1050" b="0">
                <a:solidFill>
                  <a:srgbClr val="161B26"/>
                </a:solidFill>
                <a:latin typeface="Arial"/>
              </a:rPr>
              <a:t>K2 · A2</a:t>
            </a:r>
          </a:p>
        </p:txBody>
      </p:sp>
      <p:sp>
        <p:nvSpPr>
          <p:cNvPr id="20" name="Rectangle 19"/>
          <p:cNvSpPr/>
          <p:nvPr/>
        </p:nvSpPr>
        <p:spPr>
          <a:xfrm>
            <a:off x="4407408"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07408" y="5943600"/>
            <a:ext cx="64008"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0" y="5943600"/>
            <a:ext cx="3154680" cy="457200"/>
          </a:xfrm>
          <a:prstGeom prst="rect">
            <a:avLst/>
          </a:prstGeom>
          <a:noFill/>
        </p:spPr>
        <p:txBody>
          <a:bodyPr wrap="square" anchor="ctr">
            <a:spAutoFit/>
          </a:bodyPr>
          <a:lstStyle/>
          <a:p>
            <a:pPr algn="l">
              <a:spcAft>
                <a:spcPts val="400"/>
              </a:spcAft>
            </a:pPr>
            <a:r>
              <a:rPr sz="900" b="1">
                <a:solidFill>
                  <a:srgbClr val="10B981"/>
                </a:solidFill>
                <a:latin typeface="Arial"/>
              </a:rPr>
              <a:t>LEVEL   </a:t>
            </a:r>
            <a:r>
              <a:rPr sz="1050" b="0">
                <a:solidFill>
                  <a:srgbClr val="161B26"/>
                </a:solidFill>
                <a:latin typeface="Arial"/>
              </a:rPr>
              <a:t>Intermediate</a:t>
            </a:r>
          </a:p>
        </p:txBody>
      </p:sp>
      <p:sp>
        <p:nvSpPr>
          <p:cNvPr id="23" name="Rectangle 22"/>
          <p:cNvSpPr/>
          <p:nvPr/>
        </p:nvSpPr>
        <p:spPr>
          <a:xfrm>
            <a:off x="8037576"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37576" y="5943600"/>
            <a:ext cx="64008"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02168" y="5943600"/>
            <a:ext cx="3154680" cy="457200"/>
          </a:xfrm>
          <a:prstGeom prst="rect">
            <a:avLst/>
          </a:prstGeom>
          <a:noFill/>
        </p:spPr>
        <p:txBody>
          <a:bodyPr wrap="square" anchor="ctr">
            <a:spAutoFit/>
          </a:bodyPr>
          <a:lstStyle/>
          <a:p>
            <a:pPr algn="l">
              <a:spcAft>
                <a:spcPts val="400"/>
              </a:spcAft>
            </a:pPr>
            <a:r>
              <a:rPr sz="900" b="1">
                <a:solidFill>
                  <a:srgbClr val="7C3AED"/>
                </a:solidFill>
                <a:latin typeface="Arial"/>
              </a:rPr>
              <a:t>EVIDENCE   </a:t>
            </a:r>
            <a:r>
              <a:rPr sz="1050" b="0">
                <a:solidFill>
                  <a:srgbClr val="161B26"/>
                </a:solidFill>
                <a:latin typeface="Arial"/>
              </a:rPr>
              <a:t>Workbook · screenshot · reviewer</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07 · PROCESS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How Lab 07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Prepare</a:t>
            </a:r>
          </a:p>
        </p:txBody>
      </p:sp>
      <p:sp>
        <p:nvSpPr>
          <p:cNvPr id="10" name="TextBox 9"/>
          <p:cNvSpPr txBox="1"/>
          <p:nvPr/>
        </p:nvSpPr>
        <p:spPr>
          <a:xfrm>
            <a:off x="905256"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Ask what happened</a:t>
            </a:r>
          </a:p>
        </p:txBody>
      </p:sp>
      <p:sp>
        <p:nvSpPr>
          <p:cNvPr id="11" name="Rectangle 10"/>
          <p:cNvSpPr/>
          <p:nvPr/>
        </p:nvSpPr>
        <p:spPr>
          <a:xfrm>
            <a:off x="3175254"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3292298"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50158"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50158"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78174"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Generate</a:t>
            </a:r>
          </a:p>
        </p:txBody>
      </p:sp>
      <p:sp>
        <p:nvSpPr>
          <p:cNvPr id="16" name="TextBox 15"/>
          <p:cNvSpPr txBox="1"/>
          <p:nvPr/>
        </p:nvSpPr>
        <p:spPr>
          <a:xfrm>
            <a:off x="3678174"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Ask why it happened</a:t>
            </a:r>
          </a:p>
        </p:txBody>
      </p:sp>
      <p:sp>
        <p:nvSpPr>
          <p:cNvPr id="17" name="Rectangle 16"/>
          <p:cNvSpPr/>
          <p:nvPr/>
        </p:nvSpPr>
        <p:spPr>
          <a:xfrm>
            <a:off x="5948172"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6065216"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3076"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23076"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1092"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Verify</a:t>
            </a:r>
          </a:p>
        </p:txBody>
      </p:sp>
      <p:sp>
        <p:nvSpPr>
          <p:cNvPr id="22" name="TextBox 21"/>
          <p:cNvSpPr txBox="1"/>
          <p:nvPr/>
        </p:nvSpPr>
        <p:spPr>
          <a:xfrm>
            <a:off x="6451092"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Separate cause from correlation</a:t>
            </a:r>
          </a:p>
        </p:txBody>
      </p:sp>
      <p:sp>
        <p:nvSpPr>
          <p:cNvPr id="23" name="Rectangle 22"/>
          <p:cNvSpPr/>
          <p:nvPr/>
        </p:nvSpPr>
        <p:spPr>
          <a:xfrm>
            <a:off x="8721090"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8838134"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095994"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5994"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24010"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Record</a:t>
            </a:r>
          </a:p>
        </p:txBody>
      </p:sp>
      <p:sp>
        <p:nvSpPr>
          <p:cNvPr id="28" name="TextBox 27"/>
          <p:cNvSpPr txBox="1"/>
          <p:nvPr/>
        </p:nvSpPr>
        <p:spPr>
          <a:xfrm>
            <a:off x="9224010"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Write cited findings</a:t>
            </a:r>
          </a:p>
        </p:txBody>
      </p:sp>
      <p:sp>
        <p:nvSpPr>
          <p:cNvPr id="29" name="Rectangle 28"/>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0B981"/>
                </a:solidFill>
                <a:latin typeface="Arial"/>
              </a:rPr>
              <a:t>WHY IT MATTERS   </a:t>
            </a:r>
            <a:r>
              <a:rPr sz="1300" b="0">
                <a:solidFill>
                  <a:srgbClr val="161B26"/>
                </a:solidFill>
                <a:latin typeface="Arial"/>
              </a:rPr>
              <a:t>The shape of the work. Full step-by-step is in the Learner Guide (Lab 07) and the lab's instruction PDF.</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07 · ACCEPTANCE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Run Deep Descriptive and Diagnostic Analysis in Excel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46888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03120"/>
            <a:ext cx="10698480" cy="9144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423160"/>
            <a:ext cx="10058400" cy="457200"/>
          </a:xfrm>
          <a:prstGeom prst="rect">
            <a:avLst/>
          </a:prstGeom>
          <a:noFill/>
        </p:spPr>
        <p:txBody>
          <a:bodyPr wrap="square" anchor="t">
            <a:spAutoFit/>
          </a:bodyPr>
          <a:lstStyle/>
          <a:p>
            <a:pPr algn="l">
              <a:spcAft>
                <a:spcPts val="400"/>
              </a:spcAft>
            </a:pPr>
            <a:r>
              <a:rPr sz="1900" b="1">
                <a:solidFill>
                  <a:srgbClr val="127A3E"/>
                </a:solidFill>
                <a:latin typeface="Arial"/>
              </a:rPr>
              <a:t>✅  Acceptance check</a:t>
            </a:r>
          </a:p>
        </p:txBody>
      </p:sp>
      <p:sp>
        <p:nvSpPr>
          <p:cNvPr id="10" name="TextBox 9"/>
          <p:cNvSpPr txBox="1"/>
          <p:nvPr/>
        </p:nvSpPr>
        <p:spPr>
          <a:xfrm>
            <a:off x="1097280" y="3063240"/>
            <a:ext cx="10149840" cy="1371600"/>
          </a:xfrm>
          <a:prstGeom prst="rect">
            <a:avLst/>
          </a:prstGeom>
          <a:noFill/>
        </p:spPr>
        <p:txBody>
          <a:bodyPr wrap="square" anchor="t">
            <a:spAutoFit/>
          </a:bodyPr>
          <a:lstStyle/>
          <a:p>
            <a:pPr algn="l">
              <a:spcAft>
                <a:spcPts val="400"/>
              </a:spcAft>
            </a:pPr>
            <a:r>
              <a:rPr sz="1700" b="0">
                <a:solidFill>
                  <a:srgbClr val="161B26"/>
                </a:solidFill>
                <a:latin typeface="Arial"/>
              </a:rPr>
              <a:t>The workbook holds a KPI summary, a segment breakdown, a populated anomaly log, and findings that each cite the sheet and range supporting them.</a:t>
            </a:r>
          </a:p>
        </p:txBody>
      </p:sp>
      <p:sp>
        <p:nvSpPr>
          <p:cNvPr id="11" name="Rectangle 10"/>
          <p:cNvSpPr/>
          <p:nvPr/>
        </p:nvSpPr>
        <p:spPr>
          <a:xfrm>
            <a:off x="777240" y="4800600"/>
            <a:ext cx="10698480" cy="1143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4800600"/>
            <a:ext cx="10698480"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956048"/>
            <a:ext cx="10058400" cy="320040"/>
          </a:xfrm>
          <a:prstGeom prst="rect">
            <a:avLst/>
          </a:prstGeom>
          <a:noFill/>
        </p:spPr>
        <p:txBody>
          <a:bodyPr wrap="square" anchor="t">
            <a:spAutoFit/>
          </a:bodyPr>
          <a:lstStyle/>
          <a:p>
            <a:pPr algn="l">
              <a:spcAft>
                <a:spcPts val="400"/>
              </a:spcAft>
            </a:pPr>
            <a:r>
              <a:rPr sz="1100" b="1">
                <a:solidFill>
                  <a:srgbClr val="F59E0B"/>
                </a:solidFill>
                <a:latin typeface="Arial"/>
              </a:rPr>
              <a:t>IF IT DOES NOT WORK</a:t>
            </a:r>
          </a:p>
        </p:txBody>
      </p:sp>
      <p:sp>
        <p:nvSpPr>
          <p:cNvPr id="14" name="Oval 13"/>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Re-read the step inputs before you change anything.</a:t>
            </a:r>
          </a:p>
        </p:txBody>
      </p:sp>
      <p:sp>
        <p:nvSpPr>
          <p:cNvPr id="16" name="Oval 15"/>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Check the source is attached and the value inserted, not typed.</a:t>
            </a:r>
          </a:p>
        </p:txBody>
      </p:sp>
      <p:sp>
        <p:nvSpPr>
          <p:cNvPr id="18" name="Oval 17"/>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3816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Full step-by-step: Learner Guide and the lab instruction PDF.</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ADVANCED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Forecast and Stress-Test a Campaign with Copilot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371600" cy="4389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371600" cy="365760"/>
          </a:xfrm>
          <a:prstGeom prst="rect">
            <a:avLst/>
          </a:prstGeom>
          <a:noFill/>
        </p:spPr>
        <p:txBody>
          <a:bodyPr wrap="square" anchor="t">
            <a:spAutoFit/>
          </a:bodyPr>
          <a:lstStyle/>
          <a:p>
            <a:pPr algn="ctr">
              <a:spcAft>
                <a:spcPts val="400"/>
              </a:spcAft>
            </a:pPr>
            <a:r>
              <a:rPr sz="1500" b="1">
                <a:solidFill>
                  <a:srgbClr val="FFFFFF"/>
                </a:solidFill>
                <a:latin typeface="Arial"/>
              </a:rPr>
              <a:t>LAB 08</a:t>
            </a:r>
          </a:p>
        </p:txBody>
      </p:sp>
      <p:sp>
        <p:nvSpPr>
          <p:cNvPr id="9" name="Rectangle 8"/>
          <p:cNvSpPr/>
          <p:nvPr/>
        </p:nvSpPr>
        <p:spPr>
          <a:xfrm>
            <a:off x="2286000" y="1691640"/>
            <a:ext cx="1371600" cy="438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0" y="1737360"/>
            <a:ext cx="1371600" cy="365760"/>
          </a:xfrm>
          <a:prstGeom prst="rect">
            <a:avLst/>
          </a:prstGeom>
          <a:noFill/>
        </p:spPr>
        <p:txBody>
          <a:bodyPr wrap="square" anchor="t">
            <a:spAutoFit/>
          </a:bodyPr>
          <a:lstStyle/>
          <a:p>
            <a:pPr algn="ctr">
              <a:spcAft>
                <a:spcPts val="400"/>
              </a:spcAft>
            </a:pPr>
            <a:r>
              <a:rPr sz="1300" b="1">
                <a:solidFill>
                  <a:srgbClr val="5B6372"/>
                </a:solidFill>
                <a:latin typeface="Arial"/>
              </a:rPr>
              <a:t>K2 · A2</a:t>
            </a:r>
          </a:p>
        </p:txBody>
      </p:sp>
      <p:sp>
        <p:nvSpPr>
          <p:cNvPr id="11" name="TextBox 10"/>
          <p:cNvSpPr txBox="1"/>
          <p:nvPr/>
        </p:nvSpPr>
        <p:spPr>
          <a:xfrm>
            <a:off x="777240" y="2331720"/>
            <a:ext cx="10698480" cy="1371600"/>
          </a:xfrm>
          <a:prstGeom prst="rect">
            <a:avLst/>
          </a:prstGeom>
          <a:noFill/>
        </p:spPr>
        <p:txBody>
          <a:bodyPr wrap="square" anchor="t">
            <a:spAutoFit/>
          </a:bodyPr>
          <a:lstStyle/>
          <a:p>
            <a:pPr algn="l">
              <a:spcAft>
                <a:spcPts val="400"/>
              </a:spcAft>
            </a:pPr>
            <a:r>
              <a:rPr sz="1900" b="0">
                <a:solidFill>
                  <a:srgbClr val="161B26"/>
                </a:solidFill>
                <a:latin typeface="Arial"/>
              </a:rPr>
              <a:t>The learner builds base, downside and upside forecasts from the historical data, runs a sensitivity table across the key drivers, and records the guardrails that say when the forecast should not be trusted.</a:t>
            </a:r>
          </a:p>
        </p:txBody>
      </p:sp>
      <p:sp>
        <p:nvSpPr>
          <p:cNvPr id="12" name="Rectangle 11"/>
          <p:cNvSpPr/>
          <p:nvPr/>
        </p:nvSpPr>
        <p:spPr>
          <a:xfrm>
            <a:off x="777240" y="3886200"/>
            <a:ext cx="10698480"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88620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11480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 will build</a:t>
            </a:r>
          </a:p>
        </p:txBody>
      </p:sp>
      <p:sp>
        <p:nvSpPr>
          <p:cNvPr id="15" name="TextBox 14"/>
          <p:cNvSpPr txBox="1"/>
          <p:nvPr/>
        </p:nvSpPr>
        <p:spPr>
          <a:xfrm>
            <a:off x="1005840" y="4480560"/>
            <a:ext cx="10149840" cy="640080"/>
          </a:xfrm>
          <a:prstGeom prst="rect">
            <a:avLst/>
          </a:prstGeom>
          <a:noFill/>
        </p:spPr>
        <p:txBody>
          <a:bodyPr wrap="square" anchor="t">
            <a:spAutoFit/>
          </a:bodyPr>
          <a:lstStyle/>
          <a:p>
            <a:pPr algn="l">
              <a:spcAft>
                <a:spcPts val="400"/>
              </a:spcAft>
            </a:pPr>
            <a:r>
              <a:rPr sz="1700" b="1">
                <a:solidFill>
                  <a:srgbClr val="161B26"/>
                </a:solidFill>
                <a:latin typeface="Arial"/>
              </a:rPr>
              <a:t>A forecast model with base, downside and upside scenarios, a sensitivity table and decision guardrails</a:t>
            </a:r>
          </a:p>
        </p:txBody>
      </p:sp>
      <p:sp>
        <p:nvSpPr>
          <p:cNvPr id="16" name="TextBox 15"/>
          <p:cNvSpPr txBox="1"/>
          <p:nvPr/>
        </p:nvSpPr>
        <p:spPr>
          <a:xfrm>
            <a:off x="1005840" y="5212080"/>
            <a:ext cx="10241280" cy="365760"/>
          </a:xfrm>
          <a:prstGeom prst="rect">
            <a:avLst/>
          </a:prstGeom>
          <a:noFill/>
        </p:spPr>
        <p:txBody>
          <a:bodyPr wrap="square" anchor="t">
            <a:spAutoFit/>
          </a:bodyPr>
          <a:lstStyle/>
          <a:p>
            <a:pPr algn="l">
              <a:spcAft>
                <a:spcPts val="400"/>
              </a:spcAft>
            </a:pPr>
            <a:r>
              <a:rPr sz="1200" b="1">
                <a:solidFill>
                  <a:srgbClr val="5B6372"/>
                </a:solidFill>
                <a:latin typeface="Arial"/>
              </a:rPr>
              <a:t>Apps:  </a:t>
            </a:r>
            <a:r>
              <a:rPr sz="1200" b="0">
                <a:solidFill>
                  <a:srgbClr val="5B6372"/>
                </a:solidFill>
                <a:latin typeface="Arial"/>
              </a:rPr>
              <a:t>Excel, Copilot</a:t>
            </a:r>
          </a:p>
        </p:txBody>
      </p:sp>
      <p:sp>
        <p:nvSpPr>
          <p:cNvPr id="17" name="Rectangle 16"/>
          <p:cNvSpPr/>
          <p:nvPr/>
        </p:nvSpPr>
        <p:spPr>
          <a:xfrm>
            <a:off x="777240"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5943600"/>
            <a:ext cx="64008"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5943600"/>
            <a:ext cx="3154680" cy="457200"/>
          </a:xfrm>
          <a:prstGeom prst="rect">
            <a:avLst/>
          </a:prstGeom>
          <a:noFill/>
        </p:spPr>
        <p:txBody>
          <a:bodyPr wrap="square" anchor="ctr">
            <a:spAutoFit/>
          </a:bodyPr>
          <a:lstStyle/>
          <a:p>
            <a:pPr algn="l">
              <a:spcAft>
                <a:spcPts val="400"/>
              </a:spcAft>
            </a:pPr>
            <a:r>
              <a:rPr sz="900" b="1">
                <a:solidFill>
                  <a:srgbClr val="1F6FEB"/>
                </a:solidFill>
                <a:latin typeface="Arial"/>
              </a:rPr>
              <a:t>ASSESSED   </a:t>
            </a:r>
            <a:r>
              <a:rPr sz="1050" b="0">
                <a:solidFill>
                  <a:srgbClr val="161B26"/>
                </a:solidFill>
                <a:latin typeface="Arial"/>
              </a:rPr>
              <a:t>K2 · A2</a:t>
            </a:r>
          </a:p>
        </p:txBody>
      </p:sp>
      <p:sp>
        <p:nvSpPr>
          <p:cNvPr id="20" name="Rectangle 19"/>
          <p:cNvSpPr/>
          <p:nvPr/>
        </p:nvSpPr>
        <p:spPr>
          <a:xfrm>
            <a:off x="4407408"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07408" y="5943600"/>
            <a:ext cx="64008"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0" y="5943600"/>
            <a:ext cx="3154680" cy="457200"/>
          </a:xfrm>
          <a:prstGeom prst="rect">
            <a:avLst/>
          </a:prstGeom>
          <a:noFill/>
        </p:spPr>
        <p:txBody>
          <a:bodyPr wrap="square" anchor="ctr">
            <a:spAutoFit/>
          </a:bodyPr>
          <a:lstStyle/>
          <a:p>
            <a:pPr algn="l">
              <a:spcAft>
                <a:spcPts val="400"/>
              </a:spcAft>
            </a:pPr>
            <a:r>
              <a:rPr sz="900" b="1">
                <a:solidFill>
                  <a:srgbClr val="10B981"/>
                </a:solidFill>
                <a:latin typeface="Arial"/>
              </a:rPr>
              <a:t>LEVEL   </a:t>
            </a:r>
            <a:r>
              <a:rPr sz="1050" b="0">
                <a:solidFill>
                  <a:srgbClr val="161B26"/>
                </a:solidFill>
                <a:latin typeface="Arial"/>
              </a:rPr>
              <a:t>Advanced</a:t>
            </a:r>
          </a:p>
        </p:txBody>
      </p:sp>
      <p:sp>
        <p:nvSpPr>
          <p:cNvPr id="23" name="Rectangle 22"/>
          <p:cNvSpPr/>
          <p:nvPr/>
        </p:nvSpPr>
        <p:spPr>
          <a:xfrm>
            <a:off x="8037576"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37576" y="5943600"/>
            <a:ext cx="64008"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02168" y="5943600"/>
            <a:ext cx="3154680" cy="457200"/>
          </a:xfrm>
          <a:prstGeom prst="rect">
            <a:avLst/>
          </a:prstGeom>
          <a:noFill/>
        </p:spPr>
        <p:txBody>
          <a:bodyPr wrap="square" anchor="ctr">
            <a:spAutoFit/>
          </a:bodyPr>
          <a:lstStyle/>
          <a:p>
            <a:pPr algn="l">
              <a:spcAft>
                <a:spcPts val="400"/>
              </a:spcAft>
            </a:pPr>
            <a:r>
              <a:rPr sz="900" b="1">
                <a:solidFill>
                  <a:srgbClr val="7C3AED"/>
                </a:solidFill>
                <a:latin typeface="Arial"/>
              </a:rPr>
              <a:t>EVIDENCE   </a:t>
            </a:r>
            <a:r>
              <a:rPr sz="1050" b="0">
                <a:solidFill>
                  <a:srgbClr val="161B26"/>
                </a:solidFill>
                <a:latin typeface="Arial"/>
              </a:rPr>
              <a:t>Workbook · screenshot · reviewer</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08 · PROCESS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How Lab 08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Prepare</a:t>
            </a:r>
          </a:p>
        </p:txBody>
      </p:sp>
      <p:sp>
        <p:nvSpPr>
          <p:cNvPr id="10" name="TextBox 9"/>
          <p:cNvSpPr txBox="1"/>
          <p:nvPr/>
        </p:nvSpPr>
        <p:spPr>
          <a:xfrm>
            <a:off x="905256"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Separate assumptions</a:t>
            </a:r>
          </a:p>
        </p:txBody>
      </p:sp>
      <p:sp>
        <p:nvSpPr>
          <p:cNvPr id="11" name="Rectangle 10"/>
          <p:cNvSpPr/>
          <p:nvPr/>
        </p:nvSpPr>
        <p:spPr>
          <a:xfrm>
            <a:off x="3175254"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3292298"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50158"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50158"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78174"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Generate</a:t>
            </a:r>
          </a:p>
        </p:txBody>
      </p:sp>
      <p:sp>
        <p:nvSpPr>
          <p:cNvPr id="16" name="TextBox 15"/>
          <p:cNvSpPr txBox="1"/>
          <p:nvPr/>
        </p:nvSpPr>
        <p:spPr>
          <a:xfrm>
            <a:off x="3678174"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Add downside and upside</a:t>
            </a:r>
          </a:p>
        </p:txBody>
      </p:sp>
      <p:sp>
        <p:nvSpPr>
          <p:cNvPr id="17" name="Rectangle 16"/>
          <p:cNvSpPr/>
          <p:nvPr/>
        </p:nvSpPr>
        <p:spPr>
          <a:xfrm>
            <a:off x="5948172"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6065216"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3076"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23076"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1092"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Verify</a:t>
            </a:r>
          </a:p>
        </p:txBody>
      </p:sp>
      <p:sp>
        <p:nvSpPr>
          <p:cNvPr id="22" name="TextBox 21"/>
          <p:cNvSpPr txBox="1"/>
          <p:nvPr/>
        </p:nvSpPr>
        <p:spPr>
          <a:xfrm>
            <a:off x="6451092"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State the forecast limits</a:t>
            </a:r>
          </a:p>
        </p:txBody>
      </p:sp>
      <p:sp>
        <p:nvSpPr>
          <p:cNvPr id="23" name="Rectangle 22"/>
          <p:cNvSpPr/>
          <p:nvPr/>
        </p:nvSpPr>
        <p:spPr>
          <a:xfrm>
            <a:off x="8721090"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8838134"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095994"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5994"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24010"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Record</a:t>
            </a:r>
          </a:p>
        </p:txBody>
      </p:sp>
      <p:sp>
        <p:nvSpPr>
          <p:cNvPr id="28" name="TextBox 27"/>
          <p:cNvSpPr txBox="1"/>
          <p:nvPr/>
        </p:nvSpPr>
        <p:spPr>
          <a:xfrm>
            <a:off x="9224010"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Record the guardrails</a:t>
            </a:r>
          </a:p>
        </p:txBody>
      </p:sp>
      <p:sp>
        <p:nvSpPr>
          <p:cNvPr id="29" name="Rectangle 28"/>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0B981"/>
                </a:solidFill>
                <a:latin typeface="Arial"/>
              </a:rPr>
              <a:t>WHY IT MATTERS   </a:t>
            </a:r>
            <a:r>
              <a:rPr sz="1300" b="0">
                <a:solidFill>
                  <a:srgbClr val="161B26"/>
                </a:solidFill>
                <a:latin typeface="Arial"/>
              </a:rPr>
              <a:t>The shape of the work. Full step-by-step is in the Learner Guide (Lab 08) and the lab's instruction PDF.</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08 · ACCEPTANCE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Forecast and Stress-Test a Campaign with Copilot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46888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03120"/>
            <a:ext cx="10698480" cy="9144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423160"/>
            <a:ext cx="10058400" cy="457200"/>
          </a:xfrm>
          <a:prstGeom prst="rect">
            <a:avLst/>
          </a:prstGeom>
          <a:noFill/>
        </p:spPr>
        <p:txBody>
          <a:bodyPr wrap="square" anchor="t">
            <a:spAutoFit/>
          </a:bodyPr>
          <a:lstStyle/>
          <a:p>
            <a:pPr algn="l">
              <a:spcAft>
                <a:spcPts val="400"/>
              </a:spcAft>
            </a:pPr>
            <a:r>
              <a:rPr sz="1900" b="1">
                <a:solidFill>
                  <a:srgbClr val="127A3E"/>
                </a:solidFill>
                <a:latin typeface="Arial"/>
              </a:rPr>
              <a:t>✅  Acceptance check</a:t>
            </a:r>
          </a:p>
        </p:txBody>
      </p:sp>
      <p:sp>
        <p:nvSpPr>
          <p:cNvPr id="10" name="TextBox 9"/>
          <p:cNvSpPr txBox="1"/>
          <p:nvPr/>
        </p:nvSpPr>
        <p:spPr>
          <a:xfrm>
            <a:off x="1097280" y="3063240"/>
            <a:ext cx="10149840" cy="1371600"/>
          </a:xfrm>
          <a:prstGeom prst="rect">
            <a:avLst/>
          </a:prstGeom>
          <a:noFill/>
        </p:spPr>
        <p:txBody>
          <a:bodyPr wrap="square" anchor="t">
            <a:spAutoFit/>
          </a:bodyPr>
          <a:lstStyle/>
          <a:p>
            <a:pPr algn="l">
              <a:spcAft>
                <a:spcPts val="400"/>
              </a:spcAft>
            </a:pPr>
            <a:r>
              <a:rPr sz="1700" b="0">
                <a:solidFill>
                  <a:srgbClr val="161B26"/>
                </a:solidFill>
                <a:latin typeface="Arial"/>
              </a:rPr>
              <a:t>Changing a single assumption cell updates all three scenarios and the sensitivity table, and the workbook states the conditions under which the forecast does not hold.</a:t>
            </a:r>
          </a:p>
        </p:txBody>
      </p:sp>
      <p:sp>
        <p:nvSpPr>
          <p:cNvPr id="11" name="Rectangle 10"/>
          <p:cNvSpPr/>
          <p:nvPr/>
        </p:nvSpPr>
        <p:spPr>
          <a:xfrm>
            <a:off x="777240" y="4800600"/>
            <a:ext cx="10698480" cy="1143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4800600"/>
            <a:ext cx="10698480"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956048"/>
            <a:ext cx="10058400" cy="320040"/>
          </a:xfrm>
          <a:prstGeom prst="rect">
            <a:avLst/>
          </a:prstGeom>
          <a:noFill/>
        </p:spPr>
        <p:txBody>
          <a:bodyPr wrap="square" anchor="t">
            <a:spAutoFit/>
          </a:bodyPr>
          <a:lstStyle/>
          <a:p>
            <a:pPr algn="l">
              <a:spcAft>
                <a:spcPts val="400"/>
              </a:spcAft>
            </a:pPr>
            <a:r>
              <a:rPr sz="1100" b="1">
                <a:solidFill>
                  <a:srgbClr val="F59E0B"/>
                </a:solidFill>
                <a:latin typeface="Arial"/>
              </a:rPr>
              <a:t>IF IT DOES NOT WORK</a:t>
            </a:r>
          </a:p>
        </p:txBody>
      </p:sp>
      <p:sp>
        <p:nvSpPr>
          <p:cNvPr id="14" name="Oval 13"/>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Re-read the step inputs before you change anything.</a:t>
            </a:r>
          </a:p>
        </p:txBody>
      </p:sp>
      <p:sp>
        <p:nvSpPr>
          <p:cNvPr id="16" name="Oval 15"/>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Check the source is attached and the value inserted, not typed.</a:t>
            </a:r>
          </a:p>
        </p:txBody>
      </p:sp>
      <p:sp>
        <p:nvSpPr>
          <p:cNvPr id="18" name="Oval 17"/>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3816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Full step-by-step: Learner Guide and the lab instruction PDF.</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INTERMEDIATE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Triage an Outlook Inbox and Draft a Controlled Reply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371600" cy="4389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371600" cy="365760"/>
          </a:xfrm>
          <a:prstGeom prst="rect">
            <a:avLst/>
          </a:prstGeom>
          <a:noFill/>
        </p:spPr>
        <p:txBody>
          <a:bodyPr wrap="square" anchor="t">
            <a:spAutoFit/>
          </a:bodyPr>
          <a:lstStyle/>
          <a:p>
            <a:pPr algn="ctr">
              <a:spcAft>
                <a:spcPts val="400"/>
              </a:spcAft>
            </a:pPr>
            <a:r>
              <a:rPr sz="1500" b="1">
                <a:solidFill>
                  <a:srgbClr val="FFFFFF"/>
                </a:solidFill>
                <a:latin typeface="Arial"/>
              </a:rPr>
              <a:t>LAB 09</a:t>
            </a:r>
          </a:p>
        </p:txBody>
      </p:sp>
      <p:sp>
        <p:nvSpPr>
          <p:cNvPr id="9" name="Rectangle 8"/>
          <p:cNvSpPr/>
          <p:nvPr/>
        </p:nvSpPr>
        <p:spPr>
          <a:xfrm>
            <a:off x="2286000" y="1691640"/>
            <a:ext cx="1371600" cy="438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0" y="1737360"/>
            <a:ext cx="1371600" cy="365760"/>
          </a:xfrm>
          <a:prstGeom prst="rect">
            <a:avLst/>
          </a:prstGeom>
          <a:noFill/>
        </p:spPr>
        <p:txBody>
          <a:bodyPr wrap="square" anchor="t">
            <a:spAutoFit/>
          </a:bodyPr>
          <a:lstStyle/>
          <a:p>
            <a:pPr algn="ctr">
              <a:spcAft>
                <a:spcPts val="400"/>
              </a:spcAft>
            </a:pPr>
            <a:r>
              <a:rPr sz="1300" b="1">
                <a:solidFill>
                  <a:srgbClr val="5B6372"/>
                </a:solidFill>
                <a:latin typeface="Arial"/>
              </a:rPr>
              <a:t>K2 · A2</a:t>
            </a:r>
          </a:p>
        </p:txBody>
      </p:sp>
      <p:sp>
        <p:nvSpPr>
          <p:cNvPr id="11" name="TextBox 10"/>
          <p:cNvSpPr txBox="1"/>
          <p:nvPr/>
        </p:nvSpPr>
        <p:spPr>
          <a:xfrm>
            <a:off x="777240" y="2331720"/>
            <a:ext cx="10698480" cy="1371600"/>
          </a:xfrm>
          <a:prstGeom prst="rect">
            <a:avLst/>
          </a:prstGeom>
          <a:noFill/>
        </p:spPr>
        <p:txBody>
          <a:bodyPr wrap="square" anchor="t">
            <a:spAutoFit/>
          </a:bodyPr>
          <a:lstStyle/>
          <a:p>
            <a:pPr algn="l">
              <a:spcAft>
                <a:spcPts val="400"/>
              </a:spcAft>
            </a:pPr>
            <a:r>
              <a:rPr sz="1900" b="0">
                <a:solidFill>
                  <a:srgbClr val="161B26"/>
                </a:solidFill>
                <a:latin typeface="Arial"/>
              </a:rPr>
              <a:t>The learner triages a supplied mail pack, summarises a long thread, verifies the summary against the original messages, and drafts one reply that is explicitly approved before it would be sent.</a:t>
            </a:r>
          </a:p>
        </p:txBody>
      </p:sp>
      <p:sp>
        <p:nvSpPr>
          <p:cNvPr id="12" name="Rectangle 11"/>
          <p:cNvSpPr/>
          <p:nvPr/>
        </p:nvSpPr>
        <p:spPr>
          <a:xfrm>
            <a:off x="777240" y="3886200"/>
            <a:ext cx="10698480"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88620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11480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 will build</a:t>
            </a:r>
          </a:p>
        </p:txBody>
      </p:sp>
      <p:sp>
        <p:nvSpPr>
          <p:cNvPr id="15" name="TextBox 14"/>
          <p:cNvSpPr txBox="1"/>
          <p:nvPr/>
        </p:nvSpPr>
        <p:spPr>
          <a:xfrm>
            <a:off x="1005840" y="4480560"/>
            <a:ext cx="10149840" cy="640080"/>
          </a:xfrm>
          <a:prstGeom prst="rect">
            <a:avLst/>
          </a:prstGeom>
          <a:noFill/>
        </p:spPr>
        <p:txBody>
          <a:bodyPr wrap="square" anchor="t">
            <a:spAutoFit/>
          </a:bodyPr>
          <a:lstStyle/>
          <a:p>
            <a:pPr algn="l">
              <a:spcAft>
                <a:spcPts val="400"/>
              </a:spcAft>
            </a:pPr>
            <a:r>
              <a:rPr sz="1700" b="1">
                <a:solidFill>
                  <a:srgbClr val="161B26"/>
                </a:solidFill>
                <a:latin typeface="Arial"/>
              </a:rPr>
              <a:t>An inbox triage register, a verified thread summary and one approval-ready draft reply</a:t>
            </a:r>
          </a:p>
        </p:txBody>
      </p:sp>
      <p:sp>
        <p:nvSpPr>
          <p:cNvPr id="16" name="TextBox 15"/>
          <p:cNvSpPr txBox="1"/>
          <p:nvPr/>
        </p:nvSpPr>
        <p:spPr>
          <a:xfrm>
            <a:off x="1005840" y="5212080"/>
            <a:ext cx="10241280" cy="365760"/>
          </a:xfrm>
          <a:prstGeom prst="rect">
            <a:avLst/>
          </a:prstGeom>
          <a:noFill/>
        </p:spPr>
        <p:txBody>
          <a:bodyPr wrap="square" anchor="t">
            <a:spAutoFit/>
          </a:bodyPr>
          <a:lstStyle/>
          <a:p>
            <a:pPr algn="l">
              <a:spcAft>
                <a:spcPts val="400"/>
              </a:spcAft>
            </a:pPr>
            <a:r>
              <a:rPr sz="1200" b="1">
                <a:solidFill>
                  <a:srgbClr val="5B6372"/>
                </a:solidFill>
                <a:latin typeface="Arial"/>
              </a:rPr>
              <a:t>Apps:  </a:t>
            </a:r>
            <a:r>
              <a:rPr sz="1200" b="0">
                <a:solidFill>
                  <a:srgbClr val="5B6372"/>
                </a:solidFill>
                <a:latin typeface="Arial"/>
              </a:rPr>
              <a:t>Outlook, Excel, Copilot</a:t>
            </a:r>
          </a:p>
        </p:txBody>
      </p:sp>
      <p:sp>
        <p:nvSpPr>
          <p:cNvPr id="17" name="Rectangle 16"/>
          <p:cNvSpPr/>
          <p:nvPr/>
        </p:nvSpPr>
        <p:spPr>
          <a:xfrm>
            <a:off x="777240"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5943600"/>
            <a:ext cx="64008"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5943600"/>
            <a:ext cx="3154680" cy="457200"/>
          </a:xfrm>
          <a:prstGeom prst="rect">
            <a:avLst/>
          </a:prstGeom>
          <a:noFill/>
        </p:spPr>
        <p:txBody>
          <a:bodyPr wrap="square" anchor="ctr">
            <a:spAutoFit/>
          </a:bodyPr>
          <a:lstStyle/>
          <a:p>
            <a:pPr algn="l">
              <a:spcAft>
                <a:spcPts val="400"/>
              </a:spcAft>
            </a:pPr>
            <a:r>
              <a:rPr sz="900" b="1">
                <a:solidFill>
                  <a:srgbClr val="1F6FEB"/>
                </a:solidFill>
                <a:latin typeface="Arial"/>
              </a:rPr>
              <a:t>ASSESSED   </a:t>
            </a:r>
            <a:r>
              <a:rPr sz="1050" b="0">
                <a:solidFill>
                  <a:srgbClr val="161B26"/>
                </a:solidFill>
                <a:latin typeface="Arial"/>
              </a:rPr>
              <a:t>K2 · A2</a:t>
            </a:r>
          </a:p>
        </p:txBody>
      </p:sp>
      <p:sp>
        <p:nvSpPr>
          <p:cNvPr id="20" name="Rectangle 19"/>
          <p:cNvSpPr/>
          <p:nvPr/>
        </p:nvSpPr>
        <p:spPr>
          <a:xfrm>
            <a:off x="4407408"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07408" y="5943600"/>
            <a:ext cx="64008"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0" y="5943600"/>
            <a:ext cx="3154680" cy="457200"/>
          </a:xfrm>
          <a:prstGeom prst="rect">
            <a:avLst/>
          </a:prstGeom>
          <a:noFill/>
        </p:spPr>
        <p:txBody>
          <a:bodyPr wrap="square" anchor="ctr">
            <a:spAutoFit/>
          </a:bodyPr>
          <a:lstStyle/>
          <a:p>
            <a:pPr algn="l">
              <a:spcAft>
                <a:spcPts val="400"/>
              </a:spcAft>
            </a:pPr>
            <a:r>
              <a:rPr sz="900" b="1">
                <a:solidFill>
                  <a:srgbClr val="10B981"/>
                </a:solidFill>
                <a:latin typeface="Arial"/>
              </a:rPr>
              <a:t>LEVEL   </a:t>
            </a:r>
            <a:r>
              <a:rPr sz="1050" b="0">
                <a:solidFill>
                  <a:srgbClr val="161B26"/>
                </a:solidFill>
                <a:latin typeface="Arial"/>
              </a:rPr>
              <a:t>Intermediate</a:t>
            </a:r>
          </a:p>
        </p:txBody>
      </p:sp>
      <p:sp>
        <p:nvSpPr>
          <p:cNvPr id="23" name="Rectangle 22"/>
          <p:cNvSpPr/>
          <p:nvPr/>
        </p:nvSpPr>
        <p:spPr>
          <a:xfrm>
            <a:off x="8037576"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37576" y="5943600"/>
            <a:ext cx="64008"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02168" y="5943600"/>
            <a:ext cx="3154680" cy="457200"/>
          </a:xfrm>
          <a:prstGeom prst="rect">
            <a:avLst/>
          </a:prstGeom>
          <a:noFill/>
        </p:spPr>
        <p:txBody>
          <a:bodyPr wrap="square" anchor="ctr">
            <a:spAutoFit/>
          </a:bodyPr>
          <a:lstStyle/>
          <a:p>
            <a:pPr algn="l">
              <a:spcAft>
                <a:spcPts val="400"/>
              </a:spcAft>
            </a:pPr>
            <a:r>
              <a:rPr sz="900" b="1">
                <a:solidFill>
                  <a:srgbClr val="7C3AED"/>
                </a:solidFill>
                <a:latin typeface="Arial"/>
              </a:rPr>
              <a:t>EVIDENCE   </a:t>
            </a:r>
            <a:r>
              <a:rPr sz="1050" b="0">
                <a:solidFill>
                  <a:srgbClr val="161B26"/>
                </a:solidFill>
                <a:latin typeface="Arial"/>
              </a:rPr>
              <a:t>Workbook · screenshot · reviewer</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09 · PROCESS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How Lab 09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Prepare</a:t>
            </a:r>
          </a:p>
        </p:txBody>
      </p:sp>
      <p:sp>
        <p:nvSpPr>
          <p:cNvPr id="10" name="TextBox 9"/>
          <p:cNvSpPr txBox="1"/>
          <p:nvPr/>
        </p:nvSpPr>
        <p:spPr>
          <a:xfrm>
            <a:off x="905256"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Triage the thread pack</a:t>
            </a:r>
          </a:p>
        </p:txBody>
      </p:sp>
      <p:sp>
        <p:nvSpPr>
          <p:cNvPr id="11" name="Rectangle 10"/>
          <p:cNvSpPr/>
          <p:nvPr/>
        </p:nvSpPr>
        <p:spPr>
          <a:xfrm>
            <a:off x="3175254"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3292298"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50158"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50158"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78174"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Generate</a:t>
            </a:r>
          </a:p>
        </p:txBody>
      </p:sp>
      <p:sp>
        <p:nvSpPr>
          <p:cNvPr id="16" name="TextBox 15"/>
          <p:cNvSpPr txBox="1"/>
          <p:nvPr/>
        </p:nvSpPr>
        <p:spPr>
          <a:xfrm>
            <a:off x="3678174"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Verify the summary</a:t>
            </a:r>
          </a:p>
        </p:txBody>
      </p:sp>
      <p:sp>
        <p:nvSpPr>
          <p:cNvPr id="17" name="Rectangle 16"/>
          <p:cNvSpPr/>
          <p:nvPr/>
        </p:nvSpPr>
        <p:spPr>
          <a:xfrm>
            <a:off x="5948172"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6065216"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3076"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23076"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1092"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Verify</a:t>
            </a:r>
          </a:p>
        </p:txBody>
      </p:sp>
      <p:sp>
        <p:nvSpPr>
          <p:cNvPr id="22" name="TextBox 21"/>
          <p:cNvSpPr txBox="1"/>
          <p:nvPr/>
        </p:nvSpPr>
        <p:spPr>
          <a:xfrm>
            <a:off x="6451092"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Draft one reply</a:t>
            </a:r>
          </a:p>
        </p:txBody>
      </p:sp>
      <p:sp>
        <p:nvSpPr>
          <p:cNvPr id="23" name="Rectangle 22"/>
          <p:cNvSpPr/>
          <p:nvPr/>
        </p:nvSpPr>
        <p:spPr>
          <a:xfrm>
            <a:off x="8721090"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8838134"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095994"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5994"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24010"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Record</a:t>
            </a:r>
          </a:p>
        </p:txBody>
      </p:sp>
      <p:sp>
        <p:nvSpPr>
          <p:cNvPr id="28" name="TextBox 27"/>
          <p:cNvSpPr txBox="1"/>
          <p:nvPr/>
        </p:nvSpPr>
        <p:spPr>
          <a:xfrm>
            <a:off x="9224010"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Record the approval</a:t>
            </a:r>
          </a:p>
        </p:txBody>
      </p:sp>
      <p:sp>
        <p:nvSpPr>
          <p:cNvPr id="29" name="Rectangle 28"/>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0B981"/>
                </a:solidFill>
                <a:latin typeface="Arial"/>
              </a:rPr>
              <a:t>WHY IT MATTERS   </a:t>
            </a:r>
            <a:r>
              <a:rPr sz="1300" b="0">
                <a:solidFill>
                  <a:srgbClr val="161B26"/>
                </a:solidFill>
                <a:latin typeface="Arial"/>
              </a:rPr>
              <a:t>The shape of the work. Full step-by-step is in the Learner Guide (Lab 09) and the lab's instruction PDF.</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09 · ACCEPTANCE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Triage an Outlook Inbox and Draft a Controlled Reply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46888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03120"/>
            <a:ext cx="10698480" cy="9144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423160"/>
            <a:ext cx="10058400" cy="457200"/>
          </a:xfrm>
          <a:prstGeom prst="rect">
            <a:avLst/>
          </a:prstGeom>
          <a:noFill/>
        </p:spPr>
        <p:txBody>
          <a:bodyPr wrap="square" anchor="t">
            <a:spAutoFit/>
          </a:bodyPr>
          <a:lstStyle/>
          <a:p>
            <a:pPr algn="l">
              <a:spcAft>
                <a:spcPts val="400"/>
              </a:spcAft>
            </a:pPr>
            <a:r>
              <a:rPr sz="1900" b="1">
                <a:solidFill>
                  <a:srgbClr val="127A3E"/>
                </a:solidFill>
                <a:latin typeface="Arial"/>
              </a:rPr>
              <a:t>✅  Acceptance check</a:t>
            </a:r>
          </a:p>
        </p:txBody>
      </p:sp>
      <p:sp>
        <p:nvSpPr>
          <p:cNvPr id="10" name="TextBox 9"/>
          <p:cNvSpPr txBox="1"/>
          <p:nvPr/>
        </p:nvSpPr>
        <p:spPr>
          <a:xfrm>
            <a:off x="1097280" y="3063240"/>
            <a:ext cx="10149840" cy="1371600"/>
          </a:xfrm>
          <a:prstGeom prst="rect">
            <a:avLst/>
          </a:prstGeom>
          <a:noFill/>
        </p:spPr>
        <p:txBody>
          <a:bodyPr wrap="square" anchor="t">
            <a:spAutoFit/>
          </a:bodyPr>
          <a:lstStyle/>
          <a:p>
            <a:pPr algn="l">
              <a:spcAft>
                <a:spcPts val="400"/>
              </a:spcAft>
            </a:pPr>
            <a:r>
              <a:rPr sz="1700" b="0">
                <a:solidFill>
                  <a:srgbClr val="161B26"/>
                </a:solidFill>
                <a:latin typeface="Arial"/>
              </a:rPr>
              <a:t>The triage register classifies every message, the thread summary matches the original messages, and the draft reply carries a named approver before any send.</a:t>
            </a:r>
          </a:p>
        </p:txBody>
      </p:sp>
      <p:sp>
        <p:nvSpPr>
          <p:cNvPr id="11" name="Rectangle 10"/>
          <p:cNvSpPr/>
          <p:nvPr/>
        </p:nvSpPr>
        <p:spPr>
          <a:xfrm>
            <a:off x="777240" y="4800600"/>
            <a:ext cx="10698480" cy="1143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4800600"/>
            <a:ext cx="10698480"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956048"/>
            <a:ext cx="10058400" cy="320040"/>
          </a:xfrm>
          <a:prstGeom prst="rect">
            <a:avLst/>
          </a:prstGeom>
          <a:noFill/>
        </p:spPr>
        <p:txBody>
          <a:bodyPr wrap="square" anchor="t">
            <a:spAutoFit/>
          </a:bodyPr>
          <a:lstStyle/>
          <a:p>
            <a:pPr algn="l">
              <a:spcAft>
                <a:spcPts val="400"/>
              </a:spcAft>
            </a:pPr>
            <a:r>
              <a:rPr sz="1100" b="1">
                <a:solidFill>
                  <a:srgbClr val="F59E0B"/>
                </a:solidFill>
                <a:latin typeface="Arial"/>
              </a:rPr>
              <a:t>IF IT DOES NOT WORK</a:t>
            </a:r>
          </a:p>
        </p:txBody>
      </p:sp>
      <p:sp>
        <p:nvSpPr>
          <p:cNvPr id="14" name="Oval 13"/>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Re-read the step inputs before you change anything.</a:t>
            </a:r>
          </a:p>
        </p:txBody>
      </p:sp>
      <p:sp>
        <p:nvSpPr>
          <p:cNvPr id="16" name="Oval 15"/>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Check the source is attached and the value inserted, not typed.</a:t>
            </a:r>
          </a:p>
        </p:txBody>
      </p:sp>
      <p:sp>
        <p:nvSpPr>
          <p:cNvPr id="18" name="Oval 17"/>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3816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Full step-by-step: Learner Guide and the lab instruction PDF.</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INTERMEDIATE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Turn Meeting Notes into an Action Register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371600" cy="4389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371600" cy="365760"/>
          </a:xfrm>
          <a:prstGeom prst="rect">
            <a:avLst/>
          </a:prstGeom>
          <a:noFill/>
        </p:spPr>
        <p:txBody>
          <a:bodyPr wrap="square" anchor="t">
            <a:spAutoFit/>
          </a:bodyPr>
          <a:lstStyle/>
          <a:p>
            <a:pPr algn="ctr">
              <a:spcAft>
                <a:spcPts val="400"/>
              </a:spcAft>
            </a:pPr>
            <a:r>
              <a:rPr sz="1500" b="1">
                <a:solidFill>
                  <a:srgbClr val="FFFFFF"/>
                </a:solidFill>
                <a:latin typeface="Arial"/>
              </a:rPr>
              <a:t>LAB 10</a:t>
            </a:r>
          </a:p>
        </p:txBody>
      </p:sp>
      <p:sp>
        <p:nvSpPr>
          <p:cNvPr id="9" name="Rectangle 8"/>
          <p:cNvSpPr/>
          <p:nvPr/>
        </p:nvSpPr>
        <p:spPr>
          <a:xfrm>
            <a:off x="2286000" y="1691640"/>
            <a:ext cx="1371600" cy="438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0" y="1737360"/>
            <a:ext cx="1371600" cy="365760"/>
          </a:xfrm>
          <a:prstGeom prst="rect">
            <a:avLst/>
          </a:prstGeom>
          <a:noFill/>
        </p:spPr>
        <p:txBody>
          <a:bodyPr wrap="square" anchor="t">
            <a:spAutoFit/>
          </a:bodyPr>
          <a:lstStyle/>
          <a:p>
            <a:pPr algn="ctr">
              <a:spcAft>
                <a:spcPts val="400"/>
              </a:spcAft>
            </a:pPr>
            <a:r>
              <a:rPr sz="1300" b="1">
                <a:solidFill>
                  <a:srgbClr val="5B6372"/>
                </a:solidFill>
                <a:latin typeface="Arial"/>
              </a:rPr>
              <a:t>K2 · A2</a:t>
            </a:r>
          </a:p>
        </p:txBody>
      </p:sp>
      <p:sp>
        <p:nvSpPr>
          <p:cNvPr id="11" name="TextBox 10"/>
          <p:cNvSpPr txBox="1"/>
          <p:nvPr/>
        </p:nvSpPr>
        <p:spPr>
          <a:xfrm>
            <a:off x="777240" y="2331720"/>
            <a:ext cx="10698480" cy="1371600"/>
          </a:xfrm>
          <a:prstGeom prst="rect">
            <a:avLst/>
          </a:prstGeom>
          <a:noFill/>
        </p:spPr>
        <p:txBody>
          <a:bodyPr wrap="square" anchor="t">
            <a:spAutoFit/>
          </a:bodyPr>
          <a:lstStyle/>
          <a:p>
            <a:pPr algn="l">
              <a:spcAft>
                <a:spcPts val="400"/>
              </a:spcAft>
            </a:pPr>
            <a:r>
              <a:rPr sz="1900" b="0">
                <a:solidFill>
                  <a:srgbClr val="161B26"/>
                </a:solidFill>
                <a:latin typeface="Arial"/>
              </a:rPr>
              <a:t>The learner turns a supplied meeting-notes document into a decision log and an action register with named owners and due dates, then verifies every action against the source notes.</a:t>
            </a:r>
          </a:p>
        </p:txBody>
      </p:sp>
      <p:sp>
        <p:nvSpPr>
          <p:cNvPr id="12" name="Rectangle 11"/>
          <p:cNvSpPr/>
          <p:nvPr/>
        </p:nvSpPr>
        <p:spPr>
          <a:xfrm>
            <a:off x="777240" y="3886200"/>
            <a:ext cx="10698480"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88620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11480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 will build</a:t>
            </a:r>
          </a:p>
        </p:txBody>
      </p:sp>
      <p:sp>
        <p:nvSpPr>
          <p:cNvPr id="15" name="TextBox 14"/>
          <p:cNvSpPr txBox="1"/>
          <p:nvPr/>
        </p:nvSpPr>
        <p:spPr>
          <a:xfrm>
            <a:off x="1005840" y="4480560"/>
            <a:ext cx="10149840" cy="640080"/>
          </a:xfrm>
          <a:prstGeom prst="rect">
            <a:avLst/>
          </a:prstGeom>
          <a:noFill/>
        </p:spPr>
        <p:txBody>
          <a:bodyPr wrap="square" anchor="t">
            <a:spAutoFit/>
          </a:bodyPr>
          <a:lstStyle/>
          <a:p>
            <a:pPr algn="l">
              <a:spcAft>
                <a:spcPts val="400"/>
              </a:spcAft>
            </a:pPr>
            <a:r>
              <a:rPr sz="1700" b="1">
                <a:solidFill>
                  <a:srgbClr val="161B26"/>
                </a:solidFill>
                <a:latin typeface="Arial"/>
              </a:rPr>
              <a:t>A meeting brief, a decision log, an action register and a reviewed follow-up message</a:t>
            </a:r>
          </a:p>
        </p:txBody>
      </p:sp>
      <p:sp>
        <p:nvSpPr>
          <p:cNvPr id="16" name="TextBox 15"/>
          <p:cNvSpPr txBox="1"/>
          <p:nvPr/>
        </p:nvSpPr>
        <p:spPr>
          <a:xfrm>
            <a:off x="1005840" y="5212080"/>
            <a:ext cx="10241280" cy="365760"/>
          </a:xfrm>
          <a:prstGeom prst="rect">
            <a:avLst/>
          </a:prstGeom>
          <a:noFill/>
        </p:spPr>
        <p:txBody>
          <a:bodyPr wrap="square" anchor="t">
            <a:spAutoFit/>
          </a:bodyPr>
          <a:lstStyle/>
          <a:p>
            <a:pPr algn="l">
              <a:spcAft>
                <a:spcPts val="400"/>
              </a:spcAft>
            </a:pPr>
            <a:r>
              <a:rPr sz="1200" b="1">
                <a:solidFill>
                  <a:srgbClr val="5B6372"/>
                </a:solidFill>
                <a:latin typeface="Arial"/>
              </a:rPr>
              <a:t>Apps:  </a:t>
            </a:r>
            <a:r>
              <a:rPr sz="1200" b="0">
                <a:solidFill>
                  <a:srgbClr val="5B6372"/>
                </a:solidFill>
                <a:latin typeface="Arial"/>
              </a:rPr>
              <a:t>Teams, Word, Excel, Copilot</a:t>
            </a:r>
          </a:p>
        </p:txBody>
      </p:sp>
      <p:sp>
        <p:nvSpPr>
          <p:cNvPr id="17" name="Rectangle 16"/>
          <p:cNvSpPr/>
          <p:nvPr/>
        </p:nvSpPr>
        <p:spPr>
          <a:xfrm>
            <a:off x="777240"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5943600"/>
            <a:ext cx="64008"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5943600"/>
            <a:ext cx="3154680" cy="457200"/>
          </a:xfrm>
          <a:prstGeom prst="rect">
            <a:avLst/>
          </a:prstGeom>
          <a:noFill/>
        </p:spPr>
        <p:txBody>
          <a:bodyPr wrap="square" anchor="ctr">
            <a:spAutoFit/>
          </a:bodyPr>
          <a:lstStyle/>
          <a:p>
            <a:pPr algn="l">
              <a:spcAft>
                <a:spcPts val="400"/>
              </a:spcAft>
            </a:pPr>
            <a:r>
              <a:rPr sz="900" b="1">
                <a:solidFill>
                  <a:srgbClr val="1F6FEB"/>
                </a:solidFill>
                <a:latin typeface="Arial"/>
              </a:rPr>
              <a:t>ASSESSED   </a:t>
            </a:r>
            <a:r>
              <a:rPr sz="1050" b="0">
                <a:solidFill>
                  <a:srgbClr val="161B26"/>
                </a:solidFill>
                <a:latin typeface="Arial"/>
              </a:rPr>
              <a:t>K2 · A2</a:t>
            </a:r>
          </a:p>
        </p:txBody>
      </p:sp>
      <p:sp>
        <p:nvSpPr>
          <p:cNvPr id="20" name="Rectangle 19"/>
          <p:cNvSpPr/>
          <p:nvPr/>
        </p:nvSpPr>
        <p:spPr>
          <a:xfrm>
            <a:off x="4407408"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07408" y="5943600"/>
            <a:ext cx="64008"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0" y="5943600"/>
            <a:ext cx="3154680" cy="457200"/>
          </a:xfrm>
          <a:prstGeom prst="rect">
            <a:avLst/>
          </a:prstGeom>
          <a:noFill/>
        </p:spPr>
        <p:txBody>
          <a:bodyPr wrap="square" anchor="ctr">
            <a:spAutoFit/>
          </a:bodyPr>
          <a:lstStyle/>
          <a:p>
            <a:pPr algn="l">
              <a:spcAft>
                <a:spcPts val="400"/>
              </a:spcAft>
            </a:pPr>
            <a:r>
              <a:rPr sz="900" b="1">
                <a:solidFill>
                  <a:srgbClr val="10B981"/>
                </a:solidFill>
                <a:latin typeface="Arial"/>
              </a:rPr>
              <a:t>LEVEL   </a:t>
            </a:r>
            <a:r>
              <a:rPr sz="1050" b="0">
                <a:solidFill>
                  <a:srgbClr val="161B26"/>
                </a:solidFill>
                <a:latin typeface="Arial"/>
              </a:rPr>
              <a:t>Intermediate</a:t>
            </a:r>
          </a:p>
        </p:txBody>
      </p:sp>
      <p:sp>
        <p:nvSpPr>
          <p:cNvPr id="23" name="Rectangle 22"/>
          <p:cNvSpPr/>
          <p:nvPr/>
        </p:nvSpPr>
        <p:spPr>
          <a:xfrm>
            <a:off x="8037576"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37576" y="5943600"/>
            <a:ext cx="64008"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02168" y="5943600"/>
            <a:ext cx="3154680" cy="457200"/>
          </a:xfrm>
          <a:prstGeom prst="rect">
            <a:avLst/>
          </a:prstGeom>
          <a:noFill/>
        </p:spPr>
        <p:txBody>
          <a:bodyPr wrap="square" anchor="ctr">
            <a:spAutoFit/>
          </a:bodyPr>
          <a:lstStyle/>
          <a:p>
            <a:pPr algn="l">
              <a:spcAft>
                <a:spcPts val="400"/>
              </a:spcAft>
            </a:pPr>
            <a:r>
              <a:rPr sz="900" b="1">
                <a:solidFill>
                  <a:srgbClr val="7C3AED"/>
                </a:solidFill>
                <a:latin typeface="Arial"/>
              </a:rPr>
              <a:t>EVIDENCE   </a:t>
            </a:r>
            <a:r>
              <a:rPr sz="1050" b="0">
                <a:solidFill>
                  <a:srgbClr val="161B26"/>
                </a:solidFill>
                <a:latin typeface="Arial"/>
              </a:rPr>
              <a:t>Workbook · screenshot · reviewer</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10 · PROCESS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How Lab 10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Prepare</a:t>
            </a:r>
          </a:p>
        </p:txBody>
      </p:sp>
      <p:sp>
        <p:nvSpPr>
          <p:cNvPr id="10" name="TextBox 9"/>
          <p:cNvSpPr txBox="1"/>
          <p:nvPr/>
        </p:nvSpPr>
        <p:spPr>
          <a:xfrm>
            <a:off x="905256"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Read the meeting notes</a:t>
            </a:r>
          </a:p>
        </p:txBody>
      </p:sp>
      <p:sp>
        <p:nvSpPr>
          <p:cNvPr id="11" name="Rectangle 10"/>
          <p:cNvSpPr/>
          <p:nvPr/>
        </p:nvSpPr>
        <p:spPr>
          <a:xfrm>
            <a:off x="3175254"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3292298"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50158"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50158"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78174"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Generate</a:t>
            </a:r>
          </a:p>
        </p:txBody>
      </p:sp>
      <p:sp>
        <p:nvSpPr>
          <p:cNvPr id="16" name="TextBox 15"/>
          <p:cNvSpPr txBox="1"/>
          <p:nvPr/>
        </p:nvSpPr>
        <p:spPr>
          <a:xfrm>
            <a:off x="3678174"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Verify each action</a:t>
            </a:r>
          </a:p>
        </p:txBody>
      </p:sp>
      <p:sp>
        <p:nvSpPr>
          <p:cNvPr id="17" name="Rectangle 16"/>
          <p:cNvSpPr/>
          <p:nvPr/>
        </p:nvSpPr>
        <p:spPr>
          <a:xfrm>
            <a:off x="5948172"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6065216"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3076"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23076"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1092"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Verify</a:t>
            </a:r>
          </a:p>
        </p:txBody>
      </p:sp>
      <p:sp>
        <p:nvSpPr>
          <p:cNvPr id="22" name="TextBox 21"/>
          <p:cNvSpPr txBox="1"/>
          <p:nvPr/>
        </p:nvSpPr>
        <p:spPr>
          <a:xfrm>
            <a:off x="6451092"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Log open questions apart</a:t>
            </a:r>
          </a:p>
        </p:txBody>
      </p:sp>
      <p:sp>
        <p:nvSpPr>
          <p:cNvPr id="23" name="Rectangle 22"/>
          <p:cNvSpPr/>
          <p:nvPr/>
        </p:nvSpPr>
        <p:spPr>
          <a:xfrm>
            <a:off x="8721090"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8838134"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095994"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5994"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24010"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Record</a:t>
            </a:r>
          </a:p>
        </p:txBody>
      </p:sp>
      <p:sp>
        <p:nvSpPr>
          <p:cNvPr id="28" name="TextBox 27"/>
          <p:cNvSpPr txBox="1"/>
          <p:nvPr/>
        </p:nvSpPr>
        <p:spPr>
          <a:xfrm>
            <a:off x="9224010"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Review and approve</a:t>
            </a:r>
          </a:p>
        </p:txBody>
      </p:sp>
      <p:sp>
        <p:nvSpPr>
          <p:cNvPr id="29" name="Rectangle 28"/>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0B981"/>
                </a:solidFill>
                <a:latin typeface="Arial"/>
              </a:rPr>
              <a:t>WHY IT MATTERS   </a:t>
            </a:r>
            <a:r>
              <a:rPr sz="1300" b="0">
                <a:solidFill>
                  <a:srgbClr val="161B26"/>
                </a:solidFill>
                <a:latin typeface="Arial"/>
              </a:rPr>
              <a:t>The shape of the work. Full step-by-step is in the Learner Guide (Lab 10) and the lab's instruction PDF.</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10 · ACCEPTANCE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Turn Meeting Notes into an Action Register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46888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03120"/>
            <a:ext cx="10698480" cy="9144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423160"/>
            <a:ext cx="10058400" cy="457200"/>
          </a:xfrm>
          <a:prstGeom prst="rect">
            <a:avLst/>
          </a:prstGeom>
          <a:noFill/>
        </p:spPr>
        <p:txBody>
          <a:bodyPr wrap="square" anchor="t">
            <a:spAutoFit/>
          </a:bodyPr>
          <a:lstStyle/>
          <a:p>
            <a:pPr algn="l">
              <a:spcAft>
                <a:spcPts val="400"/>
              </a:spcAft>
            </a:pPr>
            <a:r>
              <a:rPr sz="1900" b="1">
                <a:solidFill>
                  <a:srgbClr val="127A3E"/>
                </a:solidFill>
                <a:latin typeface="Arial"/>
              </a:rPr>
              <a:t>✅  Acceptance check</a:t>
            </a:r>
          </a:p>
        </p:txBody>
      </p:sp>
      <p:sp>
        <p:nvSpPr>
          <p:cNvPr id="10" name="TextBox 9"/>
          <p:cNvSpPr txBox="1"/>
          <p:nvPr/>
        </p:nvSpPr>
        <p:spPr>
          <a:xfrm>
            <a:off x="1097280" y="3063240"/>
            <a:ext cx="10149840" cy="1371600"/>
          </a:xfrm>
          <a:prstGeom prst="rect">
            <a:avLst/>
          </a:prstGeom>
          <a:noFill/>
        </p:spPr>
        <p:txBody>
          <a:bodyPr wrap="square" anchor="t">
            <a:spAutoFit/>
          </a:bodyPr>
          <a:lstStyle/>
          <a:p>
            <a:pPr algn="l">
              <a:spcAft>
                <a:spcPts val="400"/>
              </a:spcAft>
            </a:pPr>
            <a:r>
              <a:rPr sz="1700" b="0">
                <a:solidFill>
                  <a:srgbClr val="161B26"/>
                </a:solidFill>
                <a:latin typeface="Arial"/>
              </a:rPr>
              <a:t>Every action in the register cites a supporting line from the notes and carries a named owner and due date, and unresolved questions are listed separately from actions.</a:t>
            </a:r>
          </a:p>
        </p:txBody>
      </p:sp>
      <p:sp>
        <p:nvSpPr>
          <p:cNvPr id="11" name="Rectangle 10"/>
          <p:cNvSpPr/>
          <p:nvPr/>
        </p:nvSpPr>
        <p:spPr>
          <a:xfrm>
            <a:off x="777240" y="4800600"/>
            <a:ext cx="10698480" cy="1143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4800600"/>
            <a:ext cx="10698480"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956048"/>
            <a:ext cx="10058400" cy="320040"/>
          </a:xfrm>
          <a:prstGeom prst="rect">
            <a:avLst/>
          </a:prstGeom>
          <a:noFill/>
        </p:spPr>
        <p:txBody>
          <a:bodyPr wrap="square" anchor="t">
            <a:spAutoFit/>
          </a:bodyPr>
          <a:lstStyle/>
          <a:p>
            <a:pPr algn="l">
              <a:spcAft>
                <a:spcPts val="400"/>
              </a:spcAft>
            </a:pPr>
            <a:r>
              <a:rPr sz="1100" b="1">
                <a:solidFill>
                  <a:srgbClr val="F59E0B"/>
                </a:solidFill>
                <a:latin typeface="Arial"/>
              </a:rPr>
              <a:t>IF IT DOES NOT WORK</a:t>
            </a:r>
          </a:p>
        </p:txBody>
      </p:sp>
      <p:sp>
        <p:nvSpPr>
          <p:cNvPr id="14" name="Oval 13"/>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Re-read the step inputs before you change anything.</a:t>
            </a:r>
          </a:p>
        </p:txBody>
      </p:sp>
      <p:sp>
        <p:nvSpPr>
          <p:cNvPr id="16" name="Oval 15"/>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Check the source is attached and the value inserted, not typed.</a:t>
            </a:r>
          </a:p>
        </p:txBody>
      </p:sp>
      <p:sp>
        <p:nvSpPr>
          <p:cNvPr id="18" name="Oval 17"/>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3816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Full step-by-step: Learner Guide and the lab instruction PDF.</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 CAN NOW DO</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Recap — Topic 02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Lab 06</a:t>
            </a:r>
          </a:p>
          <a:p>
            <a:pPr algn="l">
              <a:spcAft>
                <a:spcPts val="300"/>
              </a:spcAft>
            </a:pPr>
            <a:r>
              <a:rPr sz="1000" b="0">
                <a:solidFill>
                  <a:srgbClr val="5B6372"/>
                </a:solidFill>
                <a:latin typeface="Arial"/>
              </a:rPr>
              <a:t>Generate derived columns with Copilot and audit every formula before accepting it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Lab 07</a:t>
            </a:r>
          </a:p>
          <a:p>
            <a:pPr algn="l">
              <a:spcAft>
                <a:spcPts val="300"/>
              </a:spcAft>
            </a:pPr>
            <a:r>
              <a:rPr sz="1000" b="0">
                <a:solidFill>
                  <a:srgbClr val="5B6372"/>
                </a:solidFill>
                <a:latin typeface="Arial"/>
              </a:rPr>
              <a:t>Move from what happened to why it happened, with each finding traced to evidence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29000"/>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Lab 08</a:t>
            </a:r>
          </a:p>
          <a:p>
            <a:pPr algn="l">
              <a:spcAft>
                <a:spcPts val="300"/>
              </a:spcAft>
            </a:pPr>
            <a:r>
              <a:rPr sz="1000" b="0">
                <a:solidFill>
                  <a:srgbClr val="5B6372"/>
                </a:solidFill>
                <a:latin typeface="Arial"/>
              </a:rPr>
              <a:t>Build a scenario model that separates assumptions from formulas and states its own limits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29000"/>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Lab 09</a:t>
            </a:r>
          </a:p>
          <a:p>
            <a:pPr algn="l">
              <a:spcAft>
                <a:spcPts val="300"/>
              </a:spcAft>
            </a:pPr>
            <a:r>
              <a:rPr sz="1000" b="0">
                <a:solidFill>
                  <a:srgbClr val="5B6372"/>
                </a:solidFill>
                <a:latin typeface="Arial"/>
              </a:rPr>
              <a:t>Use Copilot to triage and summarise mail, then draft a reply that a person approves before sending</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65192"/>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Lab 10</a:t>
            </a:r>
          </a:p>
          <a:p>
            <a:pPr algn="l">
              <a:spcAft>
                <a:spcPts val="300"/>
              </a:spcAft>
            </a:pPr>
            <a:r>
              <a:rPr sz="1000" b="0">
                <a:solidFill>
                  <a:srgbClr val="5B6372"/>
                </a:solidFill>
                <a:latin typeface="Arial"/>
              </a:rPr>
              <a:t>Convert an unstructured meeting record into owned, dated and verifiable actions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600" b="1">
                <a:solidFill>
                  <a:srgbClr val="161B26"/>
                </a:solidFill>
                <a:latin typeface="Arial"/>
              </a:rPr>
              <a:t>End of Day 2</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100" b="1">
                <a:solidFill>
                  <a:srgbClr val="10B981"/>
                </a:solidFill>
                <a:latin typeface="Arial"/>
              </a:rPr>
              <a:t>See you tomorrow</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03</a:t>
            </a:r>
          </a:p>
        </p:txBody>
      </p:sp>
      <p:sp>
        <p:nvSpPr>
          <p:cNvPr id="6" name="TextBox 5"/>
          <p:cNvSpPr txBox="1"/>
          <p:nvPr/>
        </p:nvSpPr>
        <p:spPr>
          <a:xfrm>
            <a:off x="1143000" y="2743200"/>
            <a:ext cx="9692640" cy="1463040"/>
          </a:xfrm>
          <a:prstGeom prst="rect">
            <a:avLst/>
          </a:prstGeom>
          <a:noFill/>
        </p:spPr>
        <p:txBody>
          <a:bodyPr wrap="square" anchor="t">
            <a:spAutoFit/>
          </a:bodyPr>
          <a:lstStyle/>
          <a:p>
            <a:pPr algn="l">
              <a:spcAft>
                <a:spcPts val="400"/>
              </a:spcAft>
            </a:pPr>
            <a:r>
              <a:rPr sz="3600" b="1">
                <a:solidFill>
                  <a:srgbClr val="161B26"/>
                </a:solidFill>
                <a:latin typeface="Arial"/>
              </a:rPr>
              <a:t>Business Process Automation with Power Automate</a:t>
            </a:r>
          </a:p>
        </p:txBody>
      </p:sp>
      <p:sp>
        <p:nvSpPr>
          <p:cNvPr id="7" name="TextBox 6"/>
          <p:cNvSpPr txBox="1"/>
          <p:nvPr/>
        </p:nvSpPr>
        <p:spPr>
          <a:xfrm>
            <a:off x="1161288" y="4343400"/>
            <a:ext cx="9692640" cy="822960"/>
          </a:xfrm>
          <a:prstGeom prst="rect">
            <a:avLst/>
          </a:prstGeom>
          <a:noFill/>
        </p:spPr>
        <p:txBody>
          <a:bodyPr wrap="square" anchor="t">
            <a:spAutoFit/>
          </a:bodyPr>
          <a:lstStyle/>
          <a:p>
            <a:pPr algn="l">
              <a:spcAft>
                <a:spcPts val="400"/>
              </a:spcAft>
            </a:pPr>
            <a:r>
              <a:rPr sz="1500" b="0">
                <a:solidFill>
                  <a:srgbClr val="5B6372"/>
                </a:solidFill>
                <a:latin typeface="Arial"/>
              </a:rPr>
              <a:t>BPA · the Power Platform · triggers · actions · dynamic content · conditions · approvals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DAY 3 · WHAT THIS TOPIC COVERS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Key Concepts — Topic 03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74520"/>
            <a:ext cx="4027932" cy="1152144"/>
          </a:xfrm>
          <a:prstGeom prst="rect">
            <a:avLst/>
          </a:prstGeom>
          <a:noFill/>
        </p:spPr>
        <p:txBody>
          <a:bodyPr wrap="square" anchor="ctr">
            <a:spAutoFit/>
          </a:bodyPr>
          <a:lstStyle/>
          <a:p>
            <a:pPr algn="l">
              <a:spcAft>
                <a:spcPts val="400"/>
              </a:spcAft>
            </a:pPr>
            <a:r>
              <a:rPr sz="1400" b="0">
                <a:solidFill>
                  <a:srgbClr val="161B26"/>
                </a:solidFill>
                <a:latin typeface="Arial"/>
              </a:rPr>
              <a:t>Business process automation replaces repeated manual handovers with a reliable, auditable flow.</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74520"/>
            <a:ext cx="4027932" cy="1152144"/>
          </a:xfrm>
          <a:prstGeom prst="rect">
            <a:avLst/>
          </a:prstGeom>
          <a:noFill/>
        </p:spPr>
        <p:txBody>
          <a:bodyPr wrap="square" anchor="ctr">
            <a:spAutoFit/>
          </a:bodyPr>
          <a:lstStyle/>
          <a:p>
            <a:pPr algn="l">
              <a:spcAft>
                <a:spcPts val="400"/>
              </a:spcAft>
            </a:pPr>
            <a:r>
              <a:rPr sz="1400" b="0">
                <a:solidFill>
                  <a:srgbClr val="161B26"/>
                </a:solidFill>
                <a:latin typeface="Arial"/>
              </a:rPr>
              <a:t>Every flow is Trigger then Actions then Output: something happens, steps run, a result is produced.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0712"/>
            <a:ext cx="4027932" cy="1152144"/>
          </a:xfrm>
          <a:prstGeom prst="rect">
            <a:avLst/>
          </a:prstGeom>
          <a:noFill/>
        </p:spPr>
        <p:txBody>
          <a:bodyPr wrap="square" anchor="ctr">
            <a:spAutoFit/>
          </a:bodyPr>
          <a:lstStyle/>
          <a:p>
            <a:pPr algn="l">
              <a:spcAft>
                <a:spcPts val="400"/>
              </a:spcAft>
            </a:pPr>
            <a:r>
              <a:rPr sz="1400" b="0">
                <a:solidFill>
                  <a:srgbClr val="161B26"/>
                </a:solidFill>
                <a:latin typeface="Arial"/>
              </a:rPr>
              <a:t>The four trigger families are automated, instant, scheduled and business-process triggers.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10712"/>
            <a:ext cx="4027932" cy="1152144"/>
          </a:xfrm>
          <a:prstGeom prst="rect">
            <a:avLst/>
          </a:prstGeom>
          <a:noFill/>
        </p:spPr>
        <p:txBody>
          <a:bodyPr wrap="square" anchor="ctr">
            <a:spAutoFit/>
          </a:bodyPr>
          <a:lstStyle/>
          <a:p>
            <a:pPr algn="l">
              <a:spcAft>
                <a:spcPts val="400"/>
              </a:spcAft>
            </a:pPr>
            <a:r>
              <a:rPr sz="1400" b="0">
                <a:solidFill>
                  <a:srgbClr val="161B26"/>
                </a:solidFill>
                <a:latin typeface="Arial"/>
              </a:rPr>
              <a:t>Dynamic content passes data from one step to the next; the run history shows exactly what each step received.</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6904"/>
            <a:ext cx="4027932" cy="1152144"/>
          </a:xfrm>
          <a:prstGeom prst="rect">
            <a:avLst/>
          </a:prstGeom>
          <a:noFill/>
        </p:spPr>
        <p:txBody>
          <a:bodyPr wrap="square" anchor="ctr">
            <a:spAutoFit/>
          </a:bodyPr>
          <a:lstStyle/>
          <a:p>
            <a:pPr algn="l">
              <a:spcAft>
                <a:spcPts val="400"/>
              </a:spcAft>
            </a:pPr>
            <a:r>
              <a:rPr sz="1400" b="0">
                <a:solidFill>
                  <a:srgbClr val="161B26"/>
                </a:solidFill>
                <a:latin typeface="Arial"/>
              </a:rPr>
              <a:t>A condition branches a flow so different inputs follow different paths.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46904"/>
            <a:ext cx="4027932" cy="1152144"/>
          </a:xfrm>
          <a:prstGeom prst="rect">
            <a:avLst/>
          </a:prstGeom>
          <a:noFill/>
        </p:spPr>
        <p:txBody>
          <a:bodyPr wrap="square" anchor="ctr">
            <a:spAutoFit/>
          </a:bodyPr>
          <a:lstStyle/>
          <a:p>
            <a:pPr algn="l">
              <a:spcAft>
                <a:spcPts val="400"/>
              </a:spcAft>
            </a:pPr>
            <a:r>
              <a:rPr sz="1400" b="0">
                <a:solidFill>
                  <a:srgbClr val="161B26"/>
                </a:solidFill>
                <a:latin typeface="Arial"/>
              </a:rPr>
              <a:t>An approval action suspends the run until a named person responds, which is human-in-the-loop by design.</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102</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 WILL DO</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Hands-On Labs — Topic 03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640080"/>
          </a:xfrm>
          <a:prstGeom prst="rect">
            <a:avLst/>
          </a:prstGeom>
          <a:noFill/>
        </p:spPr>
        <p:txBody>
          <a:bodyPr wrap="square" anchor="t">
            <a:spAutoFit/>
          </a:bodyPr>
          <a:lstStyle/>
          <a:p>
            <a:pPr algn="l">
              <a:spcAft>
                <a:spcPts val="400"/>
              </a:spcAft>
            </a:pPr>
            <a:r>
              <a:rPr sz="1800" b="1">
                <a:solidFill>
                  <a:srgbClr val="1F6FEB"/>
                </a:solidFill>
                <a:latin typeface="Arial"/>
              </a:rPr>
              <a:t>Labs 11–12</a:t>
            </a:r>
          </a:p>
        </p:txBody>
      </p:sp>
      <p:sp>
        <p:nvSpPr>
          <p:cNvPr id="10" name="TextBox 9"/>
          <p:cNvSpPr txBox="1"/>
          <p:nvPr/>
        </p:nvSpPr>
        <p:spPr>
          <a:xfrm>
            <a:off x="1005840" y="2743200"/>
            <a:ext cx="2926080" cy="3063240"/>
          </a:xfrm>
          <a:prstGeom prst="rect">
            <a:avLst/>
          </a:prstGeom>
          <a:noFill/>
        </p:spPr>
        <p:txBody>
          <a:bodyPr wrap="square">
            <a:spAutoFit/>
          </a:bodyPr>
          <a:lstStyle/>
          <a:p>
            <a:pPr>
              <a:spcAft>
                <a:spcPts val="900"/>
              </a:spcAft>
            </a:pPr>
            <a:r>
              <a:rPr sz="1300">
                <a:solidFill>
                  <a:srgbClr val="161B26"/>
                </a:solidFill>
                <a:latin typeface="Arial"/>
              </a:rPr>
              <a:t>•  Prepare the Power Platform Environment</a:t>
            </a:r>
          </a:p>
          <a:p>
            <a:pPr>
              <a:spcAft>
                <a:spcPts val="900"/>
              </a:spcAft>
            </a:pPr>
            <a:r>
              <a:rPr sz="1300">
                <a:solidFill>
                  <a:srgbClr val="161B26"/>
                </a:solidFill>
                <a:latin typeface="Arial"/>
              </a:rPr>
              <a:t>•  Build a Trigger and Actions Flow from Microsoft Forms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640080"/>
          </a:xfrm>
          <a:prstGeom prst="rect">
            <a:avLst/>
          </a:prstGeom>
          <a:noFill/>
        </p:spPr>
        <p:txBody>
          <a:bodyPr wrap="square" anchor="t">
            <a:spAutoFit/>
          </a:bodyPr>
          <a:lstStyle/>
          <a:p>
            <a:pPr algn="l">
              <a:spcAft>
                <a:spcPts val="400"/>
              </a:spcAft>
            </a:pPr>
            <a:r>
              <a:rPr sz="1800" b="1">
                <a:solidFill>
                  <a:srgbClr val="10B981"/>
                </a:solidFill>
                <a:latin typeface="Arial"/>
              </a:rPr>
              <a:t>Labs 13–14</a:t>
            </a:r>
          </a:p>
        </p:txBody>
      </p:sp>
      <p:sp>
        <p:nvSpPr>
          <p:cNvPr id="14" name="TextBox 13"/>
          <p:cNvSpPr txBox="1"/>
          <p:nvPr/>
        </p:nvSpPr>
        <p:spPr>
          <a:xfrm>
            <a:off x="4800600" y="2743200"/>
            <a:ext cx="2926080" cy="3063240"/>
          </a:xfrm>
          <a:prstGeom prst="rect">
            <a:avLst/>
          </a:prstGeom>
          <a:noFill/>
        </p:spPr>
        <p:txBody>
          <a:bodyPr wrap="square">
            <a:spAutoFit/>
          </a:bodyPr>
          <a:lstStyle/>
          <a:p>
            <a:pPr>
              <a:spcAft>
                <a:spcPts val="900"/>
              </a:spcAft>
            </a:pPr>
            <a:r>
              <a:rPr sz="1300">
                <a:solidFill>
                  <a:srgbClr val="161B26"/>
                </a:solidFill>
                <a:latin typeface="Arial"/>
              </a:rPr>
              <a:t>•  Log Form Submissions to Excel Online</a:t>
            </a:r>
          </a:p>
          <a:p>
            <a:pPr>
              <a:spcAft>
                <a:spcPts val="900"/>
              </a:spcAft>
            </a:pPr>
            <a:r>
              <a:rPr sz="1300">
                <a:solidFill>
                  <a:srgbClr val="161B26"/>
                </a:solidFill>
                <a:latin typeface="Arial"/>
              </a:rPr>
              <a:t>•  Branch a Flow with a Condition</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640080"/>
          </a:xfrm>
          <a:prstGeom prst="rect">
            <a:avLst/>
          </a:prstGeom>
          <a:noFill/>
        </p:spPr>
        <p:txBody>
          <a:bodyPr wrap="square" anchor="t">
            <a:spAutoFit/>
          </a:bodyPr>
          <a:lstStyle/>
          <a:p>
            <a:pPr algn="l">
              <a:spcAft>
                <a:spcPts val="400"/>
              </a:spcAft>
            </a:pPr>
            <a:r>
              <a:rPr sz="1800" b="1">
                <a:solidFill>
                  <a:srgbClr val="7C3AED"/>
                </a:solidFill>
                <a:latin typeface="Arial"/>
              </a:rPr>
              <a:t>Labs 15–15</a:t>
            </a:r>
          </a:p>
        </p:txBody>
      </p:sp>
      <p:sp>
        <p:nvSpPr>
          <p:cNvPr id="18" name="TextBox 17"/>
          <p:cNvSpPr txBox="1"/>
          <p:nvPr/>
        </p:nvSpPr>
        <p:spPr>
          <a:xfrm>
            <a:off x="8595360" y="2743200"/>
            <a:ext cx="2926080" cy="3063240"/>
          </a:xfrm>
          <a:prstGeom prst="rect">
            <a:avLst/>
          </a:prstGeom>
          <a:noFill/>
        </p:spPr>
        <p:txBody>
          <a:bodyPr wrap="square">
            <a:spAutoFit/>
          </a:bodyPr>
          <a:lstStyle/>
          <a:p>
            <a:pPr>
              <a:spcAft>
                <a:spcPts val="900"/>
              </a:spcAft>
            </a:pPr>
            <a:r>
              <a:rPr sz="1300">
                <a:solidFill>
                  <a:srgbClr val="161B26"/>
                </a:solidFill>
                <a:latin typeface="Arial"/>
              </a:rPr>
              <a:t>•  Suspend a Flow for a Human Approval</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103</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HAND-OFF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Automation Actually Removes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a:spAutoFit/>
          </a:bodyPr>
          <a:lstStyle/>
          <a:p>
            <a:pPr algn="l">
              <a:spcAft>
                <a:spcPts val="300"/>
              </a:spcAft>
            </a:pPr>
            <a:r>
              <a:rPr sz="1700" b="1">
                <a:solidFill>
                  <a:srgbClr val="161B26"/>
                </a:solidFill>
                <a:latin typeface="Arial"/>
              </a:rPr>
              <a:t>The re-typing</a:t>
            </a:r>
          </a:p>
          <a:p>
            <a:pPr algn="l">
              <a:spcAft>
                <a:spcPts val="300"/>
              </a:spcAft>
            </a:pPr>
            <a:r>
              <a:rPr sz="1300" b="0">
                <a:solidFill>
                  <a:srgbClr val="5B6372"/>
                </a:solidFill>
                <a:latin typeface="Arial"/>
              </a:rPr>
              <a:t>Someone copying what another system already knows.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a:spAutoFit/>
          </a:bodyPr>
          <a:lstStyle/>
          <a:p>
            <a:pPr algn="l">
              <a:spcAft>
                <a:spcPts val="300"/>
              </a:spcAft>
            </a:pPr>
            <a:r>
              <a:rPr sz="1700" b="1">
                <a:solidFill>
                  <a:srgbClr val="161B26"/>
                </a:solidFill>
                <a:latin typeface="Arial"/>
              </a:rPr>
              <a:t>The delay</a:t>
            </a:r>
          </a:p>
          <a:p>
            <a:pPr algn="l">
              <a:spcAft>
                <a:spcPts val="300"/>
              </a:spcAft>
            </a:pPr>
            <a:r>
              <a:rPr sz="1300" b="0">
                <a:solidFill>
                  <a:srgbClr val="5B6372"/>
                </a:solidFill>
                <a:latin typeface="Arial"/>
              </a:rPr>
              <a:t>Work waiting for a person to notice it.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a:spAutoFit/>
          </a:bodyPr>
          <a:lstStyle/>
          <a:p>
            <a:pPr algn="l">
              <a:spcAft>
                <a:spcPts val="300"/>
              </a:spcAft>
            </a:pPr>
            <a:r>
              <a:rPr sz="1700" b="1">
                <a:solidFill>
                  <a:srgbClr val="161B26"/>
                </a:solidFill>
                <a:latin typeface="Arial"/>
              </a:rPr>
              <a:t>The forgotten step</a:t>
            </a:r>
          </a:p>
          <a:p>
            <a:pPr algn="l">
              <a:spcAft>
                <a:spcPts val="300"/>
              </a:spcAft>
            </a:pPr>
            <a:r>
              <a:rPr sz="1300" b="0">
                <a:solidFill>
                  <a:srgbClr val="5B6372"/>
                </a:solidFill>
                <a:latin typeface="Arial"/>
              </a:rPr>
              <a:t>The reply nobody remembered to send.</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a:spAutoFit/>
          </a:bodyPr>
          <a:lstStyle/>
          <a:p>
            <a:pPr algn="l">
              <a:spcAft>
                <a:spcPts val="300"/>
              </a:spcAft>
            </a:pPr>
            <a:r>
              <a:rPr sz="1700" b="1">
                <a:solidFill>
                  <a:srgbClr val="161B26"/>
                </a:solidFill>
                <a:latin typeface="Arial"/>
              </a:rPr>
              <a:t>The missing record</a:t>
            </a:r>
          </a:p>
          <a:p>
            <a:pPr algn="l">
              <a:spcAft>
                <a:spcPts val="300"/>
              </a:spcAft>
            </a:pPr>
            <a:r>
              <a:rPr sz="1300" b="0">
                <a:solidFill>
                  <a:srgbClr val="5B6372"/>
                </a:solidFill>
                <a:latin typeface="Arial"/>
              </a:rPr>
              <a:t>No trace of what happened, or when.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104</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WHY AUTOMATE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Manual Process vs Automated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2764962" cy="548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28800"/>
            <a:ext cx="2490642" cy="548640"/>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3542202" y="1828800"/>
            <a:ext cx="3934755" cy="548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1930" y="1828800"/>
            <a:ext cx="3715299" cy="548640"/>
          </a:xfrm>
          <a:prstGeom prst="rect">
            <a:avLst/>
          </a:prstGeom>
          <a:noFill/>
        </p:spPr>
        <p:txBody>
          <a:bodyPr wrap="square" anchor="ctr">
            <a:spAutoFit/>
          </a:bodyPr>
          <a:lstStyle/>
          <a:p>
            <a:pPr algn="ctr">
              <a:spcAft>
                <a:spcPts val="400"/>
              </a:spcAft>
            </a:pPr>
            <a:r>
              <a:rPr sz="1300" b="1">
                <a:solidFill>
                  <a:srgbClr val="FFFFFF"/>
                </a:solidFill>
                <a:latin typeface="Arial"/>
              </a:rPr>
              <a:t>Manual</a:t>
            </a:r>
          </a:p>
        </p:txBody>
      </p:sp>
      <p:sp>
        <p:nvSpPr>
          <p:cNvPr id="11" name="Rectangle 10"/>
          <p:cNvSpPr/>
          <p:nvPr/>
        </p:nvSpPr>
        <p:spPr>
          <a:xfrm>
            <a:off x="7476957" y="1828800"/>
            <a:ext cx="3934755" cy="548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6685" y="1828800"/>
            <a:ext cx="3715299" cy="548640"/>
          </a:xfrm>
          <a:prstGeom prst="rect">
            <a:avLst/>
          </a:prstGeom>
          <a:noFill/>
        </p:spPr>
        <p:txBody>
          <a:bodyPr wrap="square" anchor="ctr">
            <a:spAutoFit/>
          </a:bodyPr>
          <a:lstStyle/>
          <a:p>
            <a:pPr algn="ctr">
              <a:spcAft>
                <a:spcPts val="400"/>
              </a:spcAft>
            </a:pPr>
            <a:r>
              <a:rPr sz="1300" b="1">
                <a:solidFill>
                  <a:srgbClr val="FFFFFF"/>
                </a:solidFill>
                <a:latin typeface="Arial"/>
              </a:rPr>
              <a:t>Automated</a:t>
            </a:r>
          </a:p>
        </p:txBody>
      </p:sp>
      <p:sp>
        <p:nvSpPr>
          <p:cNvPr id="13" name="Rectangle 12"/>
          <p:cNvSpPr/>
          <p:nvPr/>
        </p:nvSpPr>
        <p:spPr>
          <a:xfrm>
            <a:off x="777240" y="2377440"/>
            <a:ext cx="2764962"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377440"/>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Steps</a:t>
            </a:r>
          </a:p>
        </p:txBody>
      </p:sp>
      <p:sp>
        <p:nvSpPr>
          <p:cNvPr id="15" name="Rectangle 14"/>
          <p:cNvSpPr/>
          <p:nvPr/>
        </p:nvSpPr>
        <p:spPr>
          <a:xfrm>
            <a:off x="3542202" y="2377440"/>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1930" y="2377440"/>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Form read, re-typed, reply remembered</a:t>
            </a:r>
          </a:p>
        </p:txBody>
      </p:sp>
      <p:sp>
        <p:nvSpPr>
          <p:cNvPr id="17" name="Rectangle 16"/>
          <p:cNvSpPr/>
          <p:nvPr/>
        </p:nvSpPr>
        <p:spPr>
          <a:xfrm>
            <a:off x="7476957" y="2377440"/>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6685" y="2377440"/>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Form submitted, row written, reply sent</a:t>
            </a:r>
          </a:p>
        </p:txBody>
      </p:sp>
      <p:sp>
        <p:nvSpPr>
          <p:cNvPr id="19" name="Rectangle 18"/>
          <p:cNvSpPr/>
          <p:nvPr/>
        </p:nvSpPr>
        <p:spPr>
          <a:xfrm>
            <a:off x="777240" y="2852928"/>
            <a:ext cx="2764962"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2852928"/>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Consistency</a:t>
            </a:r>
          </a:p>
        </p:txBody>
      </p:sp>
      <p:sp>
        <p:nvSpPr>
          <p:cNvPr id="21" name="Rectangle 20"/>
          <p:cNvSpPr/>
          <p:nvPr/>
        </p:nvSpPr>
        <p:spPr>
          <a:xfrm>
            <a:off x="3542202" y="2852928"/>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1930" y="2852928"/>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Depends who is on duty</a:t>
            </a:r>
          </a:p>
        </p:txBody>
      </p:sp>
      <p:sp>
        <p:nvSpPr>
          <p:cNvPr id="23" name="Rectangle 22"/>
          <p:cNvSpPr/>
          <p:nvPr/>
        </p:nvSpPr>
        <p:spPr>
          <a:xfrm>
            <a:off x="7476957" y="2852928"/>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86685" y="2852928"/>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The same every time, including at 3am</a:t>
            </a:r>
          </a:p>
        </p:txBody>
      </p:sp>
      <p:sp>
        <p:nvSpPr>
          <p:cNvPr id="25" name="Rectangle 24"/>
          <p:cNvSpPr/>
          <p:nvPr/>
        </p:nvSpPr>
        <p:spPr>
          <a:xfrm>
            <a:off x="777240" y="3328416"/>
            <a:ext cx="2764962"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3328416"/>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Record</a:t>
            </a:r>
          </a:p>
        </p:txBody>
      </p:sp>
      <p:sp>
        <p:nvSpPr>
          <p:cNvPr id="27" name="Rectangle 26"/>
          <p:cNvSpPr/>
          <p:nvPr/>
        </p:nvSpPr>
        <p:spPr>
          <a:xfrm>
            <a:off x="3542202" y="3328416"/>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1930" y="3328416"/>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Whatever someone wrote down</a:t>
            </a:r>
          </a:p>
        </p:txBody>
      </p:sp>
      <p:sp>
        <p:nvSpPr>
          <p:cNvPr id="29" name="Rectangle 28"/>
          <p:cNvSpPr/>
          <p:nvPr/>
        </p:nvSpPr>
        <p:spPr>
          <a:xfrm>
            <a:off x="7476957" y="3328416"/>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86685" y="3328416"/>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A run history anyone can read later</a:t>
            </a:r>
          </a:p>
        </p:txBody>
      </p:sp>
      <p:sp>
        <p:nvSpPr>
          <p:cNvPr id="31" name="Rectangle 30"/>
          <p:cNvSpPr/>
          <p:nvPr/>
        </p:nvSpPr>
        <p:spPr>
          <a:xfrm>
            <a:off x="777240" y="3803904"/>
            <a:ext cx="2764962"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3803904"/>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People spend time on</a:t>
            </a:r>
          </a:p>
        </p:txBody>
      </p:sp>
      <p:sp>
        <p:nvSpPr>
          <p:cNvPr id="33" name="Rectangle 32"/>
          <p:cNvSpPr/>
          <p:nvPr/>
        </p:nvSpPr>
        <p:spPr>
          <a:xfrm>
            <a:off x="3542202" y="3803904"/>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51930" y="3803904"/>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Copying</a:t>
            </a:r>
          </a:p>
        </p:txBody>
      </p:sp>
      <p:sp>
        <p:nvSpPr>
          <p:cNvPr id="35" name="Rectangle 34"/>
          <p:cNvSpPr/>
          <p:nvPr/>
        </p:nvSpPr>
        <p:spPr>
          <a:xfrm>
            <a:off x="7476957" y="3803904"/>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586685" y="3803904"/>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The judgement the machine cannot make</a:t>
            </a:r>
          </a:p>
        </p:txBody>
      </p:sp>
      <p:sp>
        <p:nvSpPr>
          <p:cNvPr id="37" name="TextBox 36"/>
          <p:cNvSpPr txBox="1"/>
          <p:nvPr/>
        </p:nvSpPr>
        <p:spPr>
          <a:xfrm>
            <a:off x="777240" y="4507992"/>
            <a:ext cx="10634472" cy="457200"/>
          </a:xfrm>
          <a:prstGeom prst="rect">
            <a:avLst/>
          </a:prstGeom>
          <a:noFill/>
        </p:spPr>
        <p:txBody>
          <a:bodyPr wrap="square" anchor="t">
            <a:spAutoFit/>
          </a:bodyPr>
          <a:lstStyle/>
          <a:p>
            <a:pPr algn="l">
              <a:spcAft>
                <a:spcPts val="400"/>
              </a:spcAft>
            </a:pPr>
            <a:r>
              <a:rPr sz="1100" b="1">
                <a:solidFill>
                  <a:srgbClr val="1F6FEB"/>
                </a:solidFill>
                <a:latin typeface="Arial"/>
              </a:rPr>
              <a:t>RULE   </a:t>
            </a:r>
            <a:r>
              <a:rPr sz="1300" b="0">
                <a:solidFill>
                  <a:srgbClr val="161B26"/>
                </a:solidFill>
                <a:latin typeface="Arial"/>
              </a:rPr>
              <a:t>Automate what is repetitive, rule-based and time-consuming.</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105</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PIECES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Power Platform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Power Automate</a:t>
            </a:r>
          </a:p>
          <a:p>
            <a:pPr algn="l">
              <a:spcAft>
                <a:spcPts val="300"/>
              </a:spcAft>
            </a:pPr>
            <a:r>
              <a:rPr sz="1200" b="0">
                <a:solidFill>
                  <a:srgbClr val="5B6372"/>
                </a:solidFill>
                <a:latin typeface="Arial"/>
              </a:rPr>
              <a:t>Workflows — triggers and actions that run without a person.</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Copilot Studio</a:t>
            </a:r>
          </a:p>
          <a:p>
            <a:pPr algn="l">
              <a:spcAft>
                <a:spcPts val="300"/>
              </a:spcAft>
            </a:pPr>
            <a:r>
              <a:rPr sz="1200" b="0">
                <a:solidFill>
                  <a:srgbClr val="5B6372"/>
                </a:solidFill>
                <a:latin typeface="Arial"/>
              </a:rPr>
              <a:t>Conversational agents with instructions, knowledge and tools.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Dataverse</a:t>
            </a:r>
          </a:p>
          <a:p>
            <a:pPr algn="l">
              <a:spcAft>
                <a:spcPts val="300"/>
              </a:spcAft>
            </a:pPr>
            <a:r>
              <a:rPr sz="1200" b="0">
                <a:solidFill>
                  <a:srgbClr val="5B6372"/>
                </a:solidFill>
                <a:latin typeface="Arial"/>
              </a:rPr>
              <a:t>The managed data store behind the environment.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Connectors</a:t>
            </a:r>
          </a:p>
          <a:p>
            <a:pPr algn="l">
              <a:spcAft>
                <a:spcPts val="300"/>
              </a:spcAft>
            </a:pPr>
            <a:r>
              <a:rPr sz="1200" b="0">
                <a:solidFill>
                  <a:srgbClr val="5B6372"/>
                </a:solidFill>
                <a:latin typeface="Arial"/>
              </a:rPr>
              <a:t>Outlook, Excel, SharePoint, Teams, Forms, HTTP — over a thousand.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106</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START HERE</a:t>
            </a:r>
          </a:p>
        </p:txBody>
      </p:sp>
      <p:sp>
        <p:nvSpPr>
          <p:cNvPr id="5" name="TextBox 4"/>
          <p:cNvSpPr txBox="1"/>
          <p:nvPr/>
        </p:nvSpPr>
        <p:spPr>
          <a:xfrm>
            <a:off x="1005840" y="2560320"/>
            <a:ext cx="10332720" cy="2011680"/>
          </a:xfrm>
          <a:prstGeom prst="rect">
            <a:avLst/>
          </a:prstGeom>
          <a:noFill/>
        </p:spPr>
        <p:txBody>
          <a:bodyPr wrap="square" anchor="t">
            <a:spAutoFit/>
          </a:bodyPr>
          <a:lstStyle/>
          <a:p>
            <a:pPr algn="l">
              <a:spcAft>
                <a:spcPts val="400"/>
              </a:spcAft>
            </a:pPr>
            <a:r>
              <a:rPr sz="3600" b="1">
                <a:solidFill>
                  <a:srgbClr val="161B26"/>
                </a:solidFill>
                <a:latin typeface="Arial"/>
              </a:rPr>
              <a:t>The environment matters more than any single tool.</a:t>
            </a:r>
          </a:p>
        </p:txBody>
      </p:sp>
      <p:sp>
        <p:nvSpPr>
          <p:cNvPr id="6" name="TextBox 5"/>
          <p:cNvSpPr txBox="1"/>
          <p:nvPr/>
        </p:nvSpPr>
        <p:spPr>
          <a:xfrm>
            <a:off x="1024128" y="4572000"/>
            <a:ext cx="10058400" cy="1097280"/>
          </a:xfrm>
          <a:prstGeom prst="rect">
            <a:avLst/>
          </a:prstGeom>
          <a:noFill/>
        </p:spPr>
        <p:txBody>
          <a:bodyPr wrap="square" anchor="t">
            <a:spAutoFit/>
          </a:bodyPr>
          <a:lstStyle/>
          <a:p>
            <a:pPr algn="l">
              <a:spcAft>
                <a:spcPts val="400"/>
              </a:spcAft>
            </a:pPr>
            <a:r>
              <a:rPr sz="1900" b="0">
                <a:solidFill>
                  <a:srgbClr val="5B6372"/>
                </a:solidFill>
                <a:latin typeface="Arial"/>
              </a:rPr>
              <a:t>A flow built in the wrong environment is a flow nobody else can find, run or govern.</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107</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FLOW ANATOMY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Every Flow Is the Same Three Things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324002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324002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2670048"/>
            <a:ext cx="2983992" cy="713232"/>
          </a:xfrm>
          <a:prstGeom prst="rect">
            <a:avLst/>
          </a:prstGeom>
          <a:noFill/>
        </p:spPr>
        <p:txBody>
          <a:bodyPr wrap="square" anchor="ctr">
            <a:spAutoFit/>
          </a:bodyPr>
          <a:lstStyle/>
          <a:p>
            <a:pPr algn="ctr">
              <a:spcAft>
                <a:spcPts val="400"/>
              </a:spcAft>
            </a:pPr>
            <a:r>
              <a:rPr sz="1500" b="1">
                <a:solidFill>
                  <a:srgbClr val="161B26"/>
                </a:solidFill>
                <a:latin typeface="Arial"/>
              </a:rPr>
              <a:t>Trigger</a:t>
            </a:r>
          </a:p>
        </p:txBody>
      </p:sp>
      <p:sp>
        <p:nvSpPr>
          <p:cNvPr id="10" name="TextBox 9"/>
          <p:cNvSpPr txBox="1"/>
          <p:nvPr/>
        </p:nvSpPr>
        <p:spPr>
          <a:xfrm>
            <a:off x="905256" y="3401568"/>
            <a:ext cx="2983992" cy="804672"/>
          </a:xfrm>
          <a:prstGeom prst="rect">
            <a:avLst/>
          </a:prstGeom>
          <a:noFill/>
        </p:spPr>
        <p:txBody>
          <a:bodyPr wrap="square" anchor="t">
            <a:spAutoFit/>
          </a:bodyPr>
          <a:lstStyle/>
          <a:p>
            <a:pPr algn="ctr">
              <a:spcAft>
                <a:spcPts val="400"/>
              </a:spcAft>
            </a:pPr>
            <a:r>
              <a:rPr sz="1100" b="0">
                <a:solidFill>
                  <a:srgbClr val="5B6372"/>
                </a:solidFill>
                <a:latin typeface="Arial"/>
              </a:rPr>
              <a:t>Something happens</a:t>
            </a:r>
          </a:p>
        </p:txBody>
      </p:sp>
      <p:sp>
        <p:nvSpPr>
          <p:cNvPr id="11" name="Rectangle 10"/>
          <p:cNvSpPr/>
          <p:nvPr/>
        </p:nvSpPr>
        <p:spPr>
          <a:xfrm>
            <a:off x="4099560"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4216604"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474464" y="2468880"/>
            <a:ext cx="324002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74464" y="2468880"/>
            <a:ext cx="324002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02480" y="2670048"/>
            <a:ext cx="2983992" cy="713232"/>
          </a:xfrm>
          <a:prstGeom prst="rect">
            <a:avLst/>
          </a:prstGeom>
          <a:noFill/>
        </p:spPr>
        <p:txBody>
          <a:bodyPr wrap="square" anchor="ctr">
            <a:spAutoFit/>
          </a:bodyPr>
          <a:lstStyle/>
          <a:p>
            <a:pPr algn="ctr">
              <a:spcAft>
                <a:spcPts val="400"/>
              </a:spcAft>
            </a:pPr>
            <a:r>
              <a:rPr sz="1500" b="1">
                <a:solidFill>
                  <a:srgbClr val="161B26"/>
                </a:solidFill>
                <a:latin typeface="Arial"/>
              </a:rPr>
              <a:t>Actions</a:t>
            </a:r>
          </a:p>
        </p:txBody>
      </p:sp>
      <p:sp>
        <p:nvSpPr>
          <p:cNvPr id="16" name="TextBox 15"/>
          <p:cNvSpPr txBox="1"/>
          <p:nvPr/>
        </p:nvSpPr>
        <p:spPr>
          <a:xfrm>
            <a:off x="4602480" y="3401568"/>
            <a:ext cx="2983992" cy="804672"/>
          </a:xfrm>
          <a:prstGeom prst="rect">
            <a:avLst/>
          </a:prstGeom>
          <a:noFill/>
        </p:spPr>
        <p:txBody>
          <a:bodyPr wrap="square" anchor="t">
            <a:spAutoFit/>
          </a:bodyPr>
          <a:lstStyle/>
          <a:p>
            <a:pPr algn="ctr">
              <a:spcAft>
                <a:spcPts val="400"/>
              </a:spcAft>
            </a:pPr>
            <a:r>
              <a:rPr sz="1100" b="0">
                <a:solidFill>
                  <a:srgbClr val="5B6372"/>
                </a:solidFill>
                <a:latin typeface="Arial"/>
              </a:rPr>
              <a:t>Steps run in order</a:t>
            </a:r>
          </a:p>
        </p:txBody>
      </p:sp>
      <p:sp>
        <p:nvSpPr>
          <p:cNvPr id="17" name="Rectangle 16"/>
          <p:cNvSpPr/>
          <p:nvPr/>
        </p:nvSpPr>
        <p:spPr>
          <a:xfrm>
            <a:off x="7796784"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7913828"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171688" y="2468880"/>
            <a:ext cx="324002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71688" y="2468880"/>
            <a:ext cx="324002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99704" y="2670048"/>
            <a:ext cx="2983992" cy="713232"/>
          </a:xfrm>
          <a:prstGeom prst="rect">
            <a:avLst/>
          </a:prstGeom>
          <a:noFill/>
        </p:spPr>
        <p:txBody>
          <a:bodyPr wrap="square" anchor="ctr">
            <a:spAutoFit/>
          </a:bodyPr>
          <a:lstStyle/>
          <a:p>
            <a:pPr algn="ctr">
              <a:spcAft>
                <a:spcPts val="400"/>
              </a:spcAft>
            </a:pPr>
            <a:r>
              <a:rPr sz="1500" b="1">
                <a:solidFill>
                  <a:srgbClr val="161B26"/>
                </a:solidFill>
                <a:latin typeface="Arial"/>
              </a:rPr>
              <a:t>Output</a:t>
            </a:r>
          </a:p>
        </p:txBody>
      </p:sp>
      <p:sp>
        <p:nvSpPr>
          <p:cNvPr id="22" name="TextBox 21"/>
          <p:cNvSpPr txBox="1"/>
          <p:nvPr/>
        </p:nvSpPr>
        <p:spPr>
          <a:xfrm>
            <a:off x="8299704" y="3401568"/>
            <a:ext cx="2983992" cy="804672"/>
          </a:xfrm>
          <a:prstGeom prst="rect">
            <a:avLst/>
          </a:prstGeom>
          <a:noFill/>
        </p:spPr>
        <p:txBody>
          <a:bodyPr wrap="square" anchor="t">
            <a:spAutoFit/>
          </a:bodyPr>
          <a:lstStyle/>
          <a:p>
            <a:pPr algn="ctr">
              <a:spcAft>
                <a:spcPts val="400"/>
              </a:spcAft>
            </a:pPr>
            <a:r>
              <a:rPr sz="1100" b="0">
                <a:solidFill>
                  <a:srgbClr val="5B6372"/>
                </a:solidFill>
                <a:latin typeface="Arial"/>
              </a:rPr>
              <a:t>A result exists</a:t>
            </a:r>
          </a:p>
        </p:txBody>
      </p:sp>
      <p:sp>
        <p:nvSpPr>
          <p:cNvPr id="23" name="Rectangle 22"/>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F6FEB"/>
                </a:solidFill>
                <a:latin typeface="Arial"/>
              </a:rPr>
              <a:t>WHY IT MATTERS   </a:t>
            </a:r>
            <a:r>
              <a:rPr sz="1300" b="0">
                <a:solidFill>
                  <a:srgbClr val="161B26"/>
                </a:solidFill>
                <a:latin typeface="Arial"/>
              </a:rPr>
              <a:t>If you can name the trigger, the actions and the output, you can build the flow.</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108</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STARTS A FLOW</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Four Trigger Families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Automated</a:t>
            </a:r>
          </a:p>
          <a:p>
            <a:pPr algn="l">
              <a:spcAft>
                <a:spcPts val="300"/>
              </a:spcAft>
            </a:pPr>
            <a:r>
              <a:rPr sz="1200" b="0">
                <a:solidFill>
                  <a:srgbClr val="5B6372"/>
                </a:solidFill>
                <a:latin typeface="Arial"/>
              </a:rPr>
              <a:t>An event occurs — a form is submitted, a file arrives, mail is received.</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Instant</a:t>
            </a:r>
          </a:p>
          <a:p>
            <a:pPr algn="l">
              <a:spcAft>
                <a:spcPts val="300"/>
              </a:spcAft>
            </a:pPr>
            <a:r>
              <a:rPr sz="1200" b="0">
                <a:solidFill>
                  <a:srgbClr val="5B6372"/>
                </a:solidFill>
                <a:latin typeface="Arial"/>
              </a:rPr>
              <a:t>A person presses a button, in an app or on a phone.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Scheduled</a:t>
            </a:r>
          </a:p>
          <a:p>
            <a:pPr algn="l">
              <a:spcAft>
                <a:spcPts val="300"/>
              </a:spcAft>
            </a:pPr>
            <a:r>
              <a:rPr sz="1200" b="0">
                <a:solidFill>
                  <a:srgbClr val="5B6372"/>
                </a:solidFill>
                <a:latin typeface="Arial"/>
              </a:rPr>
              <a:t>A clock fires — every hour, every weekday, every month-end.</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Business process</a:t>
            </a:r>
          </a:p>
          <a:p>
            <a:pPr algn="l">
              <a:spcAft>
                <a:spcPts val="300"/>
              </a:spcAft>
            </a:pPr>
            <a:r>
              <a:rPr sz="1200" b="0">
                <a:solidFill>
                  <a:srgbClr val="5B6372"/>
                </a:solidFill>
                <a:latin typeface="Arial"/>
              </a:rPr>
              <a:t>A stage in a modelled process is reached.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109</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A FLOW CAN DO</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Six Action Families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61944"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2209800" cy="1901952"/>
          </a:xfrm>
          <a:prstGeom prst="rect">
            <a:avLst/>
          </a:prstGeom>
          <a:noFill/>
        </p:spPr>
        <p:txBody>
          <a:bodyPr wrap="square" anchor="ctr">
            <a:spAutoFit/>
          </a:bodyPr>
          <a:lstStyle/>
          <a:p>
            <a:pPr algn="l">
              <a:spcAft>
                <a:spcPts val="300"/>
              </a:spcAft>
            </a:pPr>
            <a:r>
              <a:rPr sz="1500" b="1">
                <a:solidFill>
                  <a:srgbClr val="161B26"/>
                </a:solidFill>
                <a:latin typeface="Arial"/>
              </a:rPr>
              <a:t>Create</a:t>
            </a:r>
          </a:p>
          <a:p>
            <a:pPr algn="l">
              <a:spcAft>
                <a:spcPts val="300"/>
              </a:spcAft>
            </a:pPr>
            <a:r>
              <a:rPr sz="1100" b="0">
                <a:solidFill>
                  <a:srgbClr val="5B6372"/>
                </a:solidFill>
                <a:latin typeface="Arial"/>
              </a:rPr>
              <a:t>Add a record, a row, a file or an item.</a:t>
            </a:r>
          </a:p>
        </p:txBody>
      </p:sp>
      <p:sp>
        <p:nvSpPr>
          <p:cNvPr id="12" name="Rectangle 11"/>
          <p:cNvSpPr/>
          <p:nvPr/>
        </p:nvSpPr>
        <p:spPr>
          <a:xfrm>
            <a:off x="4413504" y="1783080"/>
            <a:ext cx="3361944"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13504"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651248"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51248"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5346192" y="1892808"/>
            <a:ext cx="2209800" cy="1901952"/>
          </a:xfrm>
          <a:prstGeom prst="rect">
            <a:avLst/>
          </a:prstGeom>
          <a:noFill/>
        </p:spPr>
        <p:txBody>
          <a:bodyPr wrap="square" anchor="ctr">
            <a:spAutoFit/>
          </a:bodyPr>
          <a:lstStyle/>
          <a:p>
            <a:pPr algn="l">
              <a:spcAft>
                <a:spcPts val="300"/>
              </a:spcAft>
            </a:pPr>
            <a:r>
              <a:rPr sz="1500" b="1">
                <a:solidFill>
                  <a:srgbClr val="161B26"/>
                </a:solidFill>
                <a:latin typeface="Arial"/>
              </a:rPr>
              <a:t>Read</a:t>
            </a:r>
          </a:p>
          <a:p>
            <a:pPr algn="l">
              <a:spcAft>
                <a:spcPts val="300"/>
              </a:spcAft>
            </a:pPr>
            <a:r>
              <a:rPr sz="1100" b="0">
                <a:solidFill>
                  <a:srgbClr val="5B6372"/>
                </a:solidFill>
                <a:latin typeface="Arial"/>
              </a:rPr>
              <a:t>Get an item, a row, a response or a file's content.</a:t>
            </a:r>
          </a:p>
        </p:txBody>
      </p:sp>
      <p:sp>
        <p:nvSpPr>
          <p:cNvPr id="17" name="Rectangle 16"/>
          <p:cNvSpPr/>
          <p:nvPr/>
        </p:nvSpPr>
        <p:spPr>
          <a:xfrm>
            <a:off x="8049768" y="1783080"/>
            <a:ext cx="3361944"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49768" y="1783080"/>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287512" y="2551176"/>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87512"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8982456" y="1892808"/>
            <a:ext cx="2209800" cy="1901952"/>
          </a:xfrm>
          <a:prstGeom prst="rect">
            <a:avLst/>
          </a:prstGeom>
          <a:noFill/>
        </p:spPr>
        <p:txBody>
          <a:bodyPr wrap="square" anchor="ctr">
            <a:spAutoFit/>
          </a:bodyPr>
          <a:lstStyle/>
          <a:p>
            <a:pPr algn="l">
              <a:spcAft>
                <a:spcPts val="300"/>
              </a:spcAft>
            </a:pPr>
            <a:r>
              <a:rPr sz="1500" b="1">
                <a:solidFill>
                  <a:srgbClr val="161B26"/>
                </a:solidFill>
                <a:latin typeface="Arial"/>
              </a:rPr>
              <a:t>Update</a:t>
            </a:r>
          </a:p>
          <a:p>
            <a:pPr algn="l">
              <a:spcAft>
                <a:spcPts val="300"/>
              </a:spcAft>
            </a:pPr>
            <a:r>
              <a:rPr sz="1100" b="0">
                <a:solidFill>
                  <a:srgbClr val="5B6372"/>
                </a:solidFill>
                <a:latin typeface="Arial"/>
              </a:rPr>
              <a:t>Change something that already exists.</a:t>
            </a:r>
          </a:p>
        </p:txBody>
      </p:sp>
      <p:sp>
        <p:nvSpPr>
          <p:cNvPr id="22" name="Rectangle 21"/>
          <p:cNvSpPr/>
          <p:nvPr/>
        </p:nvSpPr>
        <p:spPr>
          <a:xfrm>
            <a:off x="777240" y="4087368"/>
            <a:ext cx="3361944"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14984"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1709928" y="4197096"/>
            <a:ext cx="2209800" cy="1901952"/>
          </a:xfrm>
          <a:prstGeom prst="rect">
            <a:avLst/>
          </a:prstGeom>
          <a:noFill/>
        </p:spPr>
        <p:txBody>
          <a:bodyPr wrap="square" anchor="ctr">
            <a:spAutoFit/>
          </a:bodyPr>
          <a:lstStyle/>
          <a:p>
            <a:pPr algn="l">
              <a:spcAft>
                <a:spcPts val="300"/>
              </a:spcAft>
            </a:pPr>
            <a:r>
              <a:rPr sz="1500" b="1">
                <a:solidFill>
                  <a:srgbClr val="161B26"/>
                </a:solidFill>
                <a:latin typeface="Arial"/>
              </a:rPr>
              <a:t>Delete</a:t>
            </a:r>
          </a:p>
          <a:p>
            <a:pPr algn="l">
              <a:spcAft>
                <a:spcPts val="300"/>
              </a:spcAft>
            </a:pPr>
            <a:r>
              <a:rPr sz="1100" b="0">
                <a:solidFill>
                  <a:srgbClr val="5B6372"/>
                </a:solidFill>
                <a:latin typeface="Arial"/>
              </a:rPr>
              <a:t>Remove a record — the one to be most careful with.</a:t>
            </a:r>
          </a:p>
        </p:txBody>
      </p:sp>
      <p:sp>
        <p:nvSpPr>
          <p:cNvPr id="27" name="Rectangle 26"/>
          <p:cNvSpPr/>
          <p:nvPr/>
        </p:nvSpPr>
        <p:spPr>
          <a:xfrm>
            <a:off x="4413504" y="4087368"/>
            <a:ext cx="3361944"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413504" y="4087368"/>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4651248" y="485546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51248"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5346192" y="4197096"/>
            <a:ext cx="2209800" cy="1901952"/>
          </a:xfrm>
          <a:prstGeom prst="rect">
            <a:avLst/>
          </a:prstGeom>
          <a:noFill/>
        </p:spPr>
        <p:txBody>
          <a:bodyPr wrap="square" anchor="ctr">
            <a:spAutoFit/>
          </a:bodyPr>
          <a:lstStyle/>
          <a:p>
            <a:pPr algn="l">
              <a:spcAft>
                <a:spcPts val="300"/>
              </a:spcAft>
            </a:pPr>
            <a:r>
              <a:rPr sz="1500" b="1">
                <a:solidFill>
                  <a:srgbClr val="161B26"/>
                </a:solidFill>
                <a:latin typeface="Arial"/>
              </a:rPr>
              <a:t>Notify</a:t>
            </a:r>
          </a:p>
          <a:p>
            <a:pPr algn="l">
              <a:spcAft>
                <a:spcPts val="300"/>
              </a:spcAft>
            </a:pPr>
            <a:r>
              <a:rPr sz="1100" b="0">
                <a:solidFill>
                  <a:srgbClr val="5B6372"/>
                </a:solidFill>
                <a:latin typeface="Arial"/>
              </a:rPr>
              <a:t>Send mail, post to Teams, raise an approval.</a:t>
            </a:r>
          </a:p>
        </p:txBody>
      </p:sp>
      <p:sp>
        <p:nvSpPr>
          <p:cNvPr id="32" name="Rectangle 31"/>
          <p:cNvSpPr/>
          <p:nvPr/>
        </p:nvSpPr>
        <p:spPr>
          <a:xfrm>
            <a:off x="8049768" y="4087368"/>
            <a:ext cx="3361944"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49768" y="4087368"/>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287512" y="485546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87512"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8982456" y="4197096"/>
            <a:ext cx="2209800" cy="1901952"/>
          </a:xfrm>
          <a:prstGeom prst="rect">
            <a:avLst/>
          </a:prstGeom>
          <a:noFill/>
        </p:spPr>
        <p:txBody>
          <a:bodyPr wrap="square" anchor="ctr">
            <a:spAutoFit/>
          </a:bodyPr>
          <a:lstStyle/>
          <a:p>
            <a:pPr algn="l">
              <a:spcAft>
                <a:spcPts val="300"/>
              </a:spcAft>
            </a:pPr>
            <a:r>
              <a:rPr sz="1500" b="1">
                <a:solidFill>
                  <a:srgbClr val="161B26"/>
                </a:solidFill>
                <a:latin typeface="Arial"/>
              </a:rPr>
              <a:t>Control</a:t>
            </a:r>
          </a:p>
          <a:p>
            <a:pPr algn="l">
              <a:spcAft>
                <a:spcPts val="300"/>
              </a:spcAft>
            </a:pPr>
            <a:r>
              <a:rPr sz="1100" b="0">
                <a:solidFill>
                  <a:srgbClr val="5B6372"/>
                </a:solidFill>
                <a:latin typeface="Arial"/>
              </a:rPr>
              <a:t>Condition, loop, scope, delay, terminate.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110</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DECISION RULE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Should I Type This Value or Insert 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331720"/>
            <a:ext cx="3017520" cy="210312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788920"/>
            <a:ext cx="2468880" cy="1188720"/>
          </a:xfrm>
          <a:prstGeom prst="rect">
            <a:avLst/>
          </a:prstGeom>
          <a:noFill/>
        </p:spPr>
        <p:txBody>
          <a:bodyPr wrap="square" anchor="ctr">
            <a:spAutoFit/>
          </a:bodyPr>
          <a:lstStyle/>
          <a:p>
            <a:pPr algn="ctr">
              <a:spcAft>
                <a:spcPts val="400"/>
              </a:spcAft>
            </a:pPr>
            <a:r>
              <a:rPr sz="1300" b="1">
                <a:solidFill>
                  <a:srgbClr val="FFFFFF"/>
                </a:solidFill>
                <a:latin typeface="Arial"/>
              </a:rPr>
              <a:t>Does the value come from a previous step?</a:t>
            </a:r>
          </a:p>
        </p:txBody>
      </p:sp>
      <p:sp>
        <p:nvSpPr>
          <p:cNvPr id="9" name="Rectangle 8"/>
          <p:cNvSpPr/>
          <p:nvPr/>
        </p:nvSpPr>
        <p:spPr>
          <a:xfrm>
            <a:off x="3931920" y="2761488"/>
            <a:ext cx="32004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reeform 9"/>
          <p:cNvSpPr/>
          <p:nvPr/>
        </p:nvSpPr>
        <p:spPr>
          <a:xfrm>
            <a:off x="4251960" y="2732227"/>
            <a:ext cx="182880" cy="113385"/>
          </a:xfrm>
          <a:custGeom>
            <a:avLst/>
            <a:gdLst/>
            <a:ahLst/>
            <a:cxnLst/>
            <a:rect l="l" t="t" r="r" b="b"/>
            <a:pathLst>
              <a:path w="182880" h="113385">
                <a:moveTo>
                  <a:pt x="0" y="0"/>
                </a:moveTo>
                <a:lnTo>
                  <a:pt x="182880" y="56693"/>
                </a:lnTo>
                <a:lnTo>
                  <a:pt x="0" y="113385"/>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0" y="1965960"/>
            <a:ext cx="6858000" cy="1920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965960"/>
            <a:ext cx="91440" cy="19202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28032" y="2112264"/>
            <a:ext cx="6400800" cy="365760"/>
          </a:xfrm>
          <a:prstGeom prst="rect">
            <a:avLst/>
          </a:prstGeom>
          <a:noFill/>
        </p:spPr>
        <p:txBody>
          <a:bodyPr wrap="square" anchor="t">
            <a:spAutoFit/>
          </a:bodyPr>
          <a:lstStyle/>
          <a:p>
            <a:pPr algn="l">
              <a:spcAft>
                <a:spcPts val="400"/>
              </a:spcAft>
            </a:pPr>
            <a:r>
              <a:rPr sz="1300" b="1">
                <a:solidFill>
                  <a:srgbClr val="10B981"/>
                </a:solidFill>
                <a:latin typeface="Arial"/>
              </a:rPr>
              <a:t>YES</a:t>
            </a:r>
          </a:p>
        </p:txBody>
      </p:sp>
      <p:sp>
        <p:nvSpPr>
          <p:cNvPr id="14" name="TextBox 13"/>
          <p:cNvSpPr txBox="1"/>
          <p:nvPr/>
        </p:nvSpPr>
        <p:spPr>
          <a:xfrm>
            <a:off x="4828032" y="2514600"/>
            <a:ext cx="6400800" cy="1280160"/>
          </a:xfrm>
          <a:prstGeom prst="rect">
            <a:avLst/>
          </a:prstGeom>
          <a:noFill/>
        </p:spPr>
        <p:txBody>
          <a:bodyPr wrap="square">
            <a:spAutoFit/>
          </a:bodyPr>
          <a:lstStyle/>
          <a:p>
            <a:pPr>
              <a:spcAft>
                <a:spcPts val="600"/>
              </a:spcAft>
            </a:pPr>
            <a:r>
              <a:rPr sz="1300">
                <a:solidFill>
                  <a:srgbClr val="161B26"/>
                </a:solidFill>
                <a:latin typeface="Arial"/>
              </a:rPr>
              <a:t>•  Insert it from the dynamic content panel</a:t>
            </a:r>
          </a:p>
          <a:p>
            <a:pPr>
              <a:spcAft>
                <a:spcPts val="600"/>
              </a:spcAft>
            </a:pPr>
            <a:r>
              <a:rPr sz="1300">
                <a:solidFill>
                  <a:srgbClr val="161B26"/>
                </a:solidFill>
                <a:latin typeface="Arial"/>
              </a:rPr>
              <a:t>•  The token carries the real value at run time</a:t>
            </a:r>
          </a:p>
        </p:txBody>
      </p:sp>
      <p:sp>
        <p:nvSpPr>
          <p:cNvPr id="15" name="Rectangle 14"/>
          <p:cNvSpPr/>
          <p:nvPr/>
        </p:nvSpPr>
        <p:spPr>
          <a:xfrm>
            <a:off x="3931920" y="5001768"/>
            <a:ext cx="32004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reeform 15"/>
          <p:cNvSpPr/>
          <p:nvPr/>
        </p:nvSpPr>
        <p:spPr>
          <a:xfrm>
            <a:off x="4251960" y="4972507"/>
            <a:ext cx="182880" cy="113385"/>
          </a:xfrm>
          <a:custGeom>
            <a:avLst/>
            <a:gdLst/>
            <a:ahLst/>
            <a:cxnLst/>
            <a:rect l="l" t="t" r="r" b="b"/>
            <a:pathLst>
              <a:path w="182880" h="113385">
                <a:moveTo>
                  <a:pt x="0" y="0"/>
                </a:moveTo>
                <a:lnTo>
                  <a:pt x="182880" y="56693"/>
                </a:lnTo>
                <a:lnTo>
                  <a:pt x="0" y="113385"/>
                </a:lnTo>
                <a:close/>
              </a:path>
            </a:pathLst>
          </a:cu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0" y="4206240"/>
            <a:ext cx="6858000" cy="1920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0" y="4206240"/>
            <a:ext cx="91440" cy="19202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28032" y="4352544"/>
            <a:ext cx="6400800" cy="365760"/>
          </a:xfrm>
          <a:prstGeom prst="rect">
            <a:avLst/>
          </a:prstGeom>
          <a:noFill/>
        </p:spPr>
        <p:txBody>
          <a:bodyPr wrap="square" anchor="t">
            <a:spAutoFit/>
          </a:bodyPr>
          <a:lstStyle/>
          <a:p>
            <a:pPr algn="l">
              <a:spcAft>
                <a:spcPts val="400"/>
              </a:spcAft>
            </a:pPr>
            <a:r>
              <a:rPr sz="1300" b="1">
                <a:solidFill>
                  <a:srgbClr val="F59E0B"/>
                </a:solidFill>
                <a:latin typeface="Arial"/>
              </a:rPr>
              <a:t>NO</a:t>
            </a:r>
          </a:p>
        </p:txBody>
      </p:sp>
      <p:sp>
        <p:nvSpPr>
          <p:cNvPr id="20" name="TextBox 19"/>
          <p:cNvSpPr txBox="1"/>
          <p:nvPr/>
        </p:nvSpPr>
        <p:spPr>
          <a:xfrm>
            <a:off x="4828032" y="4754880"/>
            <a:ext cx="6400800" cy="1280160"/>
          </a:xfrm>
          <a:prstGeom prst="rect">
            <a:avLst/>
          </a:prstGeom>
          <a:noFill/>
        </p:spPr>
        <p:txBody>
          <a:bodyPr wrap="square">
            <a:spAutoFit/>
          </a:bodyPr>
          <a:lstStyle/>
          <a:p>
            <a:pPr>
              <a:spcAft>
                <a:spcPts val="600"/>
              </a:spcAft>
            </a:pPr>
            <a:r>
              <a:rPr sz="1300">
                <a:solidFill>
                  <a:srgbClr val="161B26"/>
                </a:solidFill>
                <a:latin typeface="Arial"/>
              </a:rPr>
              <a:t>•  Type it as a literal</a:t>
            </a:r>
          </a:p>
          <a:p>
            <a:pPr>
              <a:spcAft>
                <a:spcPts val="600"/>
              </a:spcAft>
            </a:pPr>
            <a:r>
              <a:rPr sz="1300">
                <a:solidFill>
                  <a:srgbClr val="161B26"/>
                </a:solidFill>
                <a:latin typeface="Arial"/>
              </a:rPr>
              <a:t>•  Only for genuinely fixed text</a:t>
            </a:r>
          </a:p>
        </p:txBody>
      </p:sp>
      <p:sp>
        <p:nvSpPr>
          <p:cNvPr id="21" name="TextBox 20"/>
          <p:cNvSpPr txBox="1"/>
          <p:nvPr/>
        </p:nvSpPr>
        <p:spPr>
          <a:xfrm>
            <a:off x="777240" y="5989320"/>
            <a:ext cx="10607040" cy="457200"/>
          </a:xfrm>
          <a:prstGeom prst="rect">
            <a:avLst/>
          </a:prstGeom>
          <a:noFill/>
        </p:spPr>
        <p:txBody>
          <a:bodyPr wrap="square" anchor="t">
            <a:spAutoFit/>
          </a:bodyPr>
          <a:lstStyle/>
          <a:p>
            <a:pPr algn="l">
              <a:spcAft>
                <a:spcPts val="400"/>
              </a:spcAft>
            </a:pPr>
            <a:r>
              <a:rPr sz="1100" b="1">
                <a:solidFill>
                  <a:srgbClr val="7C3AED"/>
                </a:solidFill>
                <a:latin typeface="Arial"/>
              </a:rPr>
              <a:t>RULE   </a:t>
            </a:r>
            <a:r>
              <a:rPr sz="1300" b="0">
                <a:solidFill>
                  <a:srgbClr val="161B26"/>
                </a:solidFill>
                <a:latin typeface="Arial"/>
              </a:rPr>
              <a:t>A dynamic value that is typed as words is the single most common reason a flow 'runs but does nothing'.</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111</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DIAGNOSIS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Reading a Run History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2315718"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231571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Open the run</a:t>
            </a:r>
          </a:p>
        </p:txBody>
      </p:sp>
      <p:sp>
        <p:nvSpPr>
          <p:cNvPr id="10" name="TextBox 9"/>
          <p:cNvSpPr txBox="1"/>
          <p:nvPr/>
        </p:nvSpPr>
        <p:spPr>
          <a:xfrm>
            <a:off x="905256"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Find it under the flow's run history</a:t>
            </a:r>
          </a:p>
        </p:txBody>
      </p:sp>
      <p:sp>
        <p:nvSpPr>
          <p:cNvPr id="11" name="Rectangle 10"/>
          <p:cNvSpPr/>
          <p:nvPr/>
        </p:nvSpPr>
        <p:spPr>
          <a:xfrm>
            <a:off x="3175254"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3292298"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50158" y="2468880"/>
            <a:ext cx="2315718"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50158" y="2468880"/>
            <a:ext cx="231571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78174"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Read the step status</a:t>
            </a:r>
          </a:p>
        </p:txBody>
      </p:sp>
      <p:sp>
        <p:nvSpPr>
          <p:cNvPr id="16" name="TextBox 15"/>
          <p:cNvSpPr txBox="1"/>
          <p:nvPr/>
        </p:nvSpPr>
        <p:spPr>
          <a:xfrm>
            <a:off x="3678174"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Green tick, red cross or greyed out</a:t>
            </a:r>
          </a:p>
        </p:txBody>
      </p:sp>
      <p:sp>
        <p:nvSpPr>
          <p:cNvPr id="17" name="Rectangle 16"/>
          <p:cNvSpPr/>
          <p:nvPr/>
        </p:nvSpPr>
        <p:spPr>
          <a:xfrm>
            <a:off x="5948172"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6065216"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3076" y="2468880"/>
            <a:ext cx="2315718"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23076" y="2468880"/>
            <a:ext cx="231571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1092" y="2670048"/>
            <a:ext cx="2059686" cy="713232"/>
          </a:xfrm>
          <a:prstGeom prst="rect">
            <a:avLst/>
          </a:prstGeom>
          <a:noFill/>
        </p:spPr>
        <p:txBody>
          <a:bodyPr wrap="square" anchor="ctr">
            <a:spAutoFit/>
          </a:bodyPr>
          <a:lstStyle/>
          <a:p>
            <a:pPr algn="ctr">
              <a:spcAft>
                <a:spcPts val="400"/>
              </a:spcAft>
            </a:pPr>
            <a:r>
              <a:rPr sz="1300" b="1">
                <a:solidFill>
                  <a:srgbClr val="161B26"/>
                </a:solidFill>
                <a:latin typeface="Arial"/>
              </a:rPr>
              <a:t>Open the failing step</a:t>
            </a:r>
          </a:p>
        </p:txBody>
      </p:sp>
      <p:sp>
        <p:nvSpPr>
          <p:cNvPr id="22" name="TextBox 21"/>
          <p:cNvSpPr txBox="1"/>
          <p:nvPr/>
        </p:nvSpPr>
        <p:spPr>
          <a:xfrm>
            <a:off x="6451092"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Inputs and outputs are both shown</a:t>
            </a:r>
          </a:p>
        </p:txBody>
      </p:sp>
      <p:sp>
        <p:nvSpPr>
          <p:cNvPr id="23" name="Rectangle 22"/>
          <p:cNvSpPr/>
          <p:nvPr/>
        </p:nvSpPr>
        <p:spPr>
          <a:xfrm>
            <a:off x="8721090"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8838134"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095994" y="2468880"/>
            <a:ext cx="2315718"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5994" y="2468880"/>
            <a:ext cx="231571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24010" y="2670048"/>
            <a:ext cx="2059686" cy="713232"/>
          </a:xfrm>
          <a:prstGeom prst="rect">
            <a:avLst/>
          </a:prstGeom>
          <a:noFill/>
        </p:spPr>
        <p:txBody>
          <a:bodyPr wrap="square" anchor="ctr">
            <a:spAutoFit/>
          </a:bodyPr>
          <a:lstStyle/>
          <a:p>
            <a:pPr algn="ctr">
              <a:spcAft>
                <a:spcPts val="400"/>
              </a:spcAft>
            </a:pPr>
            <a:r>
              <a:rPr sz="1300" b="1">
                <a:solidFill>
                  <a:srgbClr val="161B26"/>
                </a:solidFill>
                <a:latin typeface="Arial"/>
              </a:rPr>
              <a:t>Compare with expectation</a:t>
            </a:r>
          </a:p>
        </p:txBody>
      </p:sp>
      <p:sp>
        <p:nvSpPr>
          <p:cNvPr id="28" name="TextBox 27"/>
          <p:cNvSpPr txBox="1"/>
          <p:nvPr/>
        </p:nvSpPr>
        <p:spPr>
          <a:xfrm>
            <a:off x="9224010" y="3401568"/>
            <a:ext cx="2059686" cy="804672"/>
          </a:xfrm>
          <a:prstGeom prst="rect">
            <a:avLst/>
          </a:prstGeom>
          <a:noFill/>
        </p:spPr>
        <p:txBody>
          <a:bodyPr wrap="square" anchor="t">
            <a:spAutoFit/>
          </a:bodyPr>
          <a:lstStyle/>
          <a:p>
            <a:pPr algn="ctr">
              <a:spcAft>
                <a:spcPts val="400"/>
              </a:spcAft>
            </a:pPr>
            <a:r>
              <a:rPr sz="1000" b="0">
                <a:solidFill>
                  <a:srgbClr val="5B6372"/>
                </a:solidFill>
                <a:latin typeface="Arial"/>
              </a:rPr>
              <a:t>Usually the wrong data arrived, not a broken action</a:t>
            </a:r>
          </a:p>
        </p:txBody>
      </p:sp>
      <p:sp>
        <p:nvSpPr>
          <p:cNvPr id="29" name="Rectangle 28"/>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F6FEB"/>
                </a:solidFill>
                <a:latin typeface="Arial"/>
              </a:rPr>
              <a:t>WHY IT MATTERS   </a:t>
            </a:r>
            <a:r>
              <a:rPr sz="1300" b="0">
                <a:solidFill>
                  <a:srgbClr val="161B26"/>
                </a:solidFill>
                <a:latin typeface="Arial"/>
              </a:rPr>
              <a:t>Three states look similar and mean different things: succeeded, failed, and skipped.</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112</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READ CAREFULLY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Three Run States That Look Alike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2764962" cy="548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28800"/>
            <a:ext cx="2490642" cy="548640"/>
          </a:xfrm>
          <a:prstGeom prst="rect">
            <a:avLst/>
          </a:prstGeom>
          <a:noFill/>
        </p:spPr>
        <p:txBody>
          <a:bodyPr wrap="square" anchor="ctr">
            <a:spAutoFit/>
          </a:bodyPr>
          <a:lstStyle/>
          <a:p>
            <a:pPr algn="l">
              <a:spcAft>
                <a:spcPts val="400"/>
              </a:spcAft>
            </a:pPr>
            <a:r>
              <a:rPr sz="1300" b="1">
                <a:solidFill>
                  <a:srgbClr val="FFFFFF"/>
                </a:solidFill>
                <a:latin typeface="Arial"/>
              </a:rPr>
              <a:t>State</a:t>
            </a:r>
          </a:p>
        </p:txBody>
      </p:sp>
      <p:sp>
        <p:nvSpPr>
          <p:cNvPr id="9" name="Rectangle 8"/>
          <p:cNvSpPr/>
          <p:nvPr/>
        </p:nvSpPr>
        <p:spPr>
          <a:xfrm>
            <a:off x="3542202" y="1828800"/>
            <a:ext cx="3934755" cy="548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1930" y="1828800"/>
            <a:ext cx="3715299" cy="548640"/>
          </a:xfrm>
          <a:prstGeom prst="rect">
            <a:avLst/>
          </a:prstGeom>
          <a:noFill/>
        </p:spPr>
        <p:txBody>
          <a:bodyPr wrap="square" anchor="ctr">
            <a:spAutoFit/>
          </a:bodyPr>
          <a:lstStyle/>
          <a:p>
            <a:pPr algn="ctr">
              <a:spcAft>
                <a:spcPts val="400"/>
              </a:spcAft>
            </a:pPr>
            <a:r>
              <a:rPr sz="1300" b="1">
                <a:solidFill>
                  <a:srgbClr val="FFFFFF"/>
                </a:solidFill>
                <a:latin typeface="Arial"/>
              </a:rPr>
              <a:t>What it means</a:t>
            </a:r>
          </a:p>
        </p:txBody>
      </p:sp>
      <p:sp>
        <p:nvSpPr>
          <p:cNvPr id="11" name="Rectangle 10"/>
          <p:cNvSpPr/>
          <p:nvPr/>
        </p:nvSpPr>
        <p:spPr>
          <a:xfrm>
            <a:off x="7476957" y="1828800"/>
            <a:ext cx="3934755" cy="548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6685" y="1828800"/>
            <a:ext cx="3715299" cy="548640"/>
          </a:xfrm>
          <a:prstGeom prst="rect">
            <a:avLst/>
          </a:prstGeom>
          <a:noFill/>
        </p:spPr>
        <p:txBody>
          <a:bodyPr wrap="square" anchor="ctr">
            <a:spAutoFit/>
          </a:bodyPr>
          <a:lstStyle/>
          <a:p>
            <a:pPr algn="ctr">
              <a:spcAft>
                <a:spcPts val="400"/>
              </a:spcAft>
            </a:pPr>
            <a:r>
              <a:rPr sz="1300" b="1">
                <a:solidFill>
                  <a:srgbClr val="FFFFFF"/>
                </a:solidFill>
                <a:latin typeface="Arial"/>
              </a:rPr>
              <a:t>What to do</a:t>
            </a:r>
          </a:p>
        </p:txBody>
      </p:sp>
      <p:sp>
        <p:nvSpPr>
          <p:cNvPr id="13" name="Rectangle 12"/>
          <p:cNvSpPr/>
          <p:nvPr/>
        </p:nvSpPr>
        <p:spPr>
          <a:xfrm>
            <a:off x="777240" y="2377440"/>
            <a:ext cx="2764962"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377440"/>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Succeeded</a:t>
            </a:r>
          </a:p>
        </p:txBody>
      </p:sp>
      <p:sp>
        <p:nvSpPr>
          <p:cNvPr id="15" name="Rectangle 14"/>
          <p:cNvSpPr/>
          <p:nvPr/>
        </p:nvSpPr>
        <p:spPr>
          <a:xfrm>
            <a:off x="3542202" y="2377440"/>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1930" y="2377440"/>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The step ran and completed</a:t>
            </a:r>
          </a:p>
        </p:txBody>
      </p:sp>
      <p:sp>
        <p:nvSpPr>
          <p:cNvPr id="17" name="Rectangle 16"/>
          <p:cNvSpPr/>
          <p:nvPr/>
        </p:nvSpPr>
        <p:spPr>
          <a:xfrm>
            <a:off x="7476957" y="2377440"/>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6685" y="2377440"/>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Check the output is what you expected</a:t>
            </a:r>
          </a:p>
        </p:txBody>
      </p:sp>
      <p:sp>
        <p:nvSpPr>
          <p:cNvPr id="19" name="Rectangle 18"/>
          <p:cNvSpPr/>
          <p:nvPr/>
        </p:nvSpPr>
        <p:spPr>
          <a:xfrm>
            <a:off x="777240" y="2852928"/>
            <a:ext cx="2764962"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2852928"/>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Failed</a:t>
            </a:r>
          </a:p>
        </p:txBody>
      </p:sp>
      <p:sp>
        <p:nvSpPr>
          <p:cNvPr id="21" name="Rectangle 20"/>
          <p:cNvSpPr/>
          <p:nvPr/>
        </p:nvSpPr>
        <p:spPr>
          <a:xfrm>
            <a:off x="3542202" y="2852928"/>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1930" y="2852928"/>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The step ran and errored</a:t>
            </a:r>
          </a:p>
        </p:txBody>
      </p:sp>
      <p:sp>
        <p:nvSpPr>
          <p:cNvPr id="23" name="Rectangle 22"/>
          <p:cNvSpPr/>
          <p:nvPr/>
        </p:nvSpPr>
        <p:spPr>
          <a:xfrm>
            <a:off x="7476957" y="2852928"/>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86685" y="2852928"/>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Read the error and the step inputs</a:t>
            </a:r>
          </a:p>
        </p:txBody>
      </p:sp>
      <p:sp>
        <p:nvSpPr>
          <p:cNvPr id="25" name="Rectangle 24"/>
          <p:cNvSpPr/>
          <p:nvPr/>
        </p:nvSpPr>
        <p:spPr>
          <a:xfrm>
            <a:off x="777240" y="3328416"/>
            <a:ext cx="2764962"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3328416"/>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Skipped</a:t>
            </a:r>
          </a:p>
        </p:txBody>
      </p:sp>
      <p:sp>
        <p:nvSpPr>
          <p:cNvPr id="27" name="Rectangle 26"/>
          <p:cNvSpPr/>
          <p:nvPr/>
        </p:nvSpPr>
        <p:spPr>
          <a:xfrm>
            <a:off x="3542202" y="3328416"/>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1930" y="3328416"/>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The step never ran</a:t>
            </a:r>
          </a:p>
        </p:txBody>
      </p:sp>
      <p:sp>
        <p:nvSpPr>
          <p:cNvPr id="29" name="Rectangle 28"/>
          <p:cNvSpPr/>
          <p:nvPr/>
        </p:nvSpPr>
        <p:spPr>
          <a:xfrm>
            <a:off x="7476957" y="3328416"/>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86685" y="3328416"/>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Check the branch condition above it</a:t>
            </a:r>
          </a:p>
        </p:txBody>
      </p:sp>
      <p:sp>
        <p:nvSpPr>
          <p:cNvPr id="31" name="TextBox 30"/>
          <p:cNvSpPr txBox="1"/>
          <p:nvPr/>
        </p:nvSpPr>
        <p:spPr>
          <a:xfrm>
            <a:off x="777240" y="4032504"/>
            <a:ext cx="10634472" cy="457200"/>
          </a:xfrm>
          <a:prstGeom prst="rect">
            <a:avLst/>
          </a:prstGeom>
          <a:noFill/>
        </p:spPr>
        <p:txBody>
          <a:bodyPr wrap="square" anchor="t">
            <a:spAutoFit/>
          </a:bodyPr>
          <a:lstStyle/>
          <a:p>
            <a:pPr algn="l">
              <a:spcAft>
                <a:spcPts val="400"/>
              </a:spcAft>
            </a:pPr>
            <a:r>
              <a:rPr sz="1100" b="1">
                <a:solidFill>
                  <a:srgbClr val="1F6FEB"/>
                </a:solidFill>
                <a:latin typeface="Arial"/>
              </a:rPr>
              <a:t>RULE   </a:t>
            </a:r>
            <a:r>
              <a:rPr sz="1300" b="0">
                <a:solidFill>
                  <a:srgbClr val="161B26"/>
                </a:solidFill>
                <a:latin typeface="Arial"/>
              </a:rPr>
              <a:t>A skipped action in an untaken branch is correct behaviour, not a bug.</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113</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ROUTING WORK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Conditions and Branching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A condition is a test</a:t>
            </a:r>
          </a:p>
          <a:p>
            <a:pPr algn="l">
              <a:spcAft>
                <a:spcPts val="300"/>
              </a:spcAft>
            </a:pPr>
            <a:r>
              <a:rPr sz="1200" b="0">
                <a:solidFill>
                  <a:srgbClr val="5B6372"/>
                </a:solidFill>
                <a:latin typeface="Arial"/>
              </a:rPr>
              <a:t>It evaluates to true or false, nothing else.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Two branches</a:t>
            </a:r>
          </a:p>
          <a:p>
            <a:pPr algn="l">
              <a:spcAft>
                <a:spcPts val="300"/>
              </a:spcAft>
            </a:pPr>
            <a:r>
              <a:rPr sz="1200" b="0">
                <a:solidFill>
                  <a:srgbClr val="5B6372"/>
                </a:solidFill>
                <a:latin typeface="Arial"/>
              </a:rPr>
              <a:t>If yes and If no; both need building and testing.</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Test both paths</a:t>
            </a:r>
          </a:p>
          <a:p>
            <a:pPr algn="l">
              <a:spcAft>
                <a:spcPts val="300"/>
              </a:spcAft>
            </a:pPr>
            <a:r>
              <a:rPr sz="1200" b="0">
                <a:solidFill>
                  <a:srgbClr val="5B6372"/>
                </a:solidFill>
                <a:latin typeface="Arial"/>
              </a:rPr>
              <a:t>A branch that never ran is a branch you have not tested.</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Keep it shallow</a:t>
            </a:r>
          </a:p>
          <a:p>
            <a:pPr algn="l">
              <a:spcAft>
                <a:spcPts val="300"/>
              </a:spcAft>
            </a:pPr>
            <a:r>
              <a:rPr sz="1200" b="0">
                <a:solidFill>
                  <a:srgbClr val="5B6372"/>
                </a:solidFill>
                <a:latin typeface="Arial"/>
              </a:rPr>
              <a:t>Deeply nested conditions become unmaintainable quickly.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114</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HUMAN IN THE LOOP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How an Approval Suspends a Run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2670048"/>
            <a:ext cx="1505102" cy="713232"/>
          </a:xfrm>
          <a:prstGeom prst="rect">
            <a:avLst/>
          </a:prstGeom>
          <a:noFill/>
        </p:spPr>
        <p:txBody>
          <a:bodyPr wrap="square" anchor="ctr">
            <a:spAutoFit/>
          </a:bodyPr>
          <a:lstStyle/>
          <a:p>
            <a:pPr algn="ctr">
              <a:spcAft>
                <a:spcPts val="400"/>
              </a:spcAft>
            </a:pPr>
            <a:r>
              <a:rPr sz="1300" b="1">
                <a:solidFill>
                  <a:srgbClr val="161B26"/>
                </a:solidFill>
                <a:latin typeface="Arial"/>
              </a:rPr>
              <a:t>Flow reaches the approval</a:t>
            </a:r>
          </a:p>
        </p:txBody>
      </p:sp>
      <p:sp>
        <p:nvSpPr>
          <p:cNvPr id="10" name="TextBox 9"/>
          <p:cNvSpPr txBox="1"/>
          <p:nvPr/>
        </p:nvSpPr>
        <p:spPr>
          <a:xfrm>
            <a:off x="905256" y="3401568"/>
            <a:ext cx="1505102" cy="804672"/>
          </a:xfrm>
          <a:prstGeom prst="rect">
            <a:avLst/>
          </a:prstGeom>
          <a:noFill/>
        </p:spPr>
        <p:txBody>
          <a:bodyPr wrap="square" anchor="t">
            <a:spAutoFit/>
          </a:bodyPr>
          <a:lstStyle/>
          <a:p>
            <a:pPr algn="ctr">
              <a:spcAft>
                <a:spcPts val="400"/>
              </a:spcAft>
            </a:pPr>
            <a:r>
              <a:rPr sz="1100" b="0">
                <a:solidFill>
                  <a:srgbClr val="5B6372"/>
                </a:solidFill>
                <a:latin typeface="Arial"/>
              </a:rPr>
              <a:t>Start and wait for an approval</a:t>
            </a:r>
          </a:p>
        </p:txBody>
      </p:sp>
      <p:sp>
        <p:nvSpPr>
          <p:cNvPr id="11" name="Rectangle 10"/>
          <p:cNvSpPr/>
          <p:nvPr/>
        </p:nvSpPr>
        <p:spPr>
          <a:xfrm>
            <a:off x="2620670"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2737714"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995574"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95574"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23590" y="2670048"/>
            <a:ext cx="1505102" cy="713232"/>
          </a:xfrm>
          <a:prstGeom prst="rect">
            <a:avLst/>
          </a:prstGeom>
          <a:noFill/>
        </p:spPr>
        <p:txBody>
          <a:bodyPr wrap="square" anchor="ctr">
            <a:spAutoFit/>
          </a:bodyPr>
          <a:lstStyle/>
          <a:p>
            <a:pPr algn="ctr">
              <a:spcAft>
                <a:spcPts val="400"/>
              </a:spcAft>
            </a:pPr>
            <a:r>
              <a:rPr sz="1500" b="1">
                <a:solidFill>
                  <a:srgbClr val="161B26"/>
                </a:solidFill>
                <a:latin typeface="Arial"/>
              </a:rPr>
              <a:t>Run suspends</a:t>
            </a:r>
          </a:p>
        </p:txBody>
      </p:sp>
      <p:sp>
        <p:nvSpPr>
          <p:cNvPr id="16" name="TextBox 15"/>
          <p:cNvSpPr txBox="1"/>
          <p:nvPr/>
        </p:nvSpPr>
        <p:spPr>
          <a:xfrm>
            <a:off x="3123590" y="3401568"/>
            <a:ext cx="1505102" cy="804672"/>
          </a:xfrm>
          <a:prstGeom prst="rect">
            <a:avLst/>
          </a:prstGeom>
          <a:noFill/>
        </p:spPr>
        <p:txBody>
          <a:bodyPr wrap="square" anchor="t">
            <a:spAutoFit/>
          </a:bodyPr>
          <a:lstStyle/>
          <a:p>
            <a:pPr algn="ctr">
              <a:spcAft>
                <a:spcPts val="400"/>
              </a:spcAft>
            </a:pPr>
            <a:r>
              <a:rPr sz="1100" b="0">
                <a:solidFill>
                  <a:srgbClr val="5B6372"/>
                </a:solidFill>
                <a:latin typeface="Arial"/>
              </a:rPr>
              <a:t>It genuinely waits; it is not polling</a:t>
            </a:r>
          </a:p>
        </p:txBody>
      </p:sp>
      <p:sp>
        <p:nvSpPr>
          <p:cNvPr id="17" name="Rectangle 16"/>
          <p:cNvSpPr/>
          <p:nvPr/>
        </p:nvSpPr>
        <p:spPr>
          <a:xfrm>
            <a:off x="4839004"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4956048"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213908"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213908"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41924" y="2670048"/>
            <a:ext cx="1505102" cy="713232"/>
          </a:xfrm>
          <a:prstGeom prst="rect">
            <a:avLst/>
          </a:prstGeom>
          <a:noFill/>
        </p:spPr>
        <p:txBody>
          <a:bodyPr wrap="square" anchor="ctr">
            <a:spAutoFit/>
          </a:bodyPr>
          <a:lstStyle/>
          <a:p>
            <a:pPr algn="ctr">
              <a:spcAft>
                <a:spcPts val="400"/>
              </a:spcAft>
            </a:pPr>
            <a:r>
              <a:rPr sz="1500" b="1">
                <a:solidFill>
                  <a:srgbClr val="161B26"/>
                </a:solidFill>
                <a:latin typeface="Arial"/>
              </a:rPr>
              <a:t>Approver responds</a:t>
            </a:r>
          </a:p>
        </p:txBody>
      </p:sp>
      <p:sp>
        <p:nvSpPr>
          <p:cNvPr id="22" name="TextBox 21"/>
          <p:cNvSpPr txBox="1"/>
          <p:nvPr/>
        </p:nvSpPr>
        <p:spPr>
          <a:xfrm>
            <a:off x="5341924" y="3401568"/>
            <a:ext cx="1505102" cy="804672"/>
          </a:xfrm>
          <a:prstGeom prst="rect">
            <a:avLst/>
          </a:prstGeom>
          <a:noFill/>
        </p:spPr>
        <p:txBody>
          <a:bodyPr wrap="square" anchor="t">
            <a:spAutoFit/>
          </a:bodyPr>
          <a:lstStyle/>
          <a:p>
            <a:pPr algn="ctr">
              <a:spcAft>
                <a:spcPts val="400"/>
              </a:spcAft>
            </a:pPr>
            <a:r>
              <a:rPr sz="1100" b="0">
                <a:solidFill>
                  <a:srgbClr val="5B6372"/>
                </a:solidFill>
                <a:latin typeface="Arial"/>
              </a:rPr>
              <a:t>In Teams, Outlook or the Approvals app</a:t>
            </a:r>
          </a:p>
        </p:txBody>
      </p:sp>
      <p:sp>
        <p:nvSpPr>
          <p:cNvPr id="23" name="Rectangle 22"/>
          <p:cNvSpPr/>
          <p:nvPr/>
        </p:nvSpPr>
        <p:spPr>
          <a:xfrm>
            <a:off x="7057338"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7174382"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432242"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32242"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60258" y="2670048"/>
            <a:ext cx="1505102" cy="713232"/>
          </a:xfrm>
          <a:prstGeom prst="rect">
            <a:avLst/>
          </a:prstGeom>
          <a:noFill/>
        </p:spPr>
        <p:txBody>
          <a:bodyPr wrap="square" anchor="ctr">
            <a:spAutoFit/>
          </a:bodyPr>
          <a:lstStyle/>
          <a:p>
            <a:pPr algn="ctr">
              <a:spcAft>
                <a:spcPts val="400"/>
              </a:spcAft>
            </a:pPr>
            <a:r>
              <a:rPr sz="1500" b="1">
                <a:solidFill>
                  <a:srgbClr val="161B26"/>
                </a:solidFill>
                <a:latin typeface="Arial"/>
              </a:rPr>
              <a:t>Run resumes</a:t>
            </a:r>
          </a:p>
        </p:txBody>
      </p:sp>
      <p:sp>
        <p:nvSpPr>
          <p:cNvPr id="28" name="TextBox 27"/>
          <p:cNvSpPr txBox="1"/>
          <p:nvPr/>
        </p:nvSpPr>
        <p:spPr>
          <a:xfrm>
            <a:off x="7560258" y="3401568"/>
            <a:ext cx="1505102" cy="804672"/>
          </a:xfrm>
          <a:prstGeom prst="rect">
            <a:avLst/>
          </a:prstGeom>
          <a:noFill/>
        </p:spPr>
        <p:txBody>
          <a:bodyPr wrap="square" anchor="t">
            <a:spAutoFit/>
          </a:bodyPr>
          <a:lstStyle/>
          <a:p>
            <a:pPr algn="ctr">
              <a:spcAft>
                <a:spcPts val="400"/>
              </a:spcAft>
            </a:pPr>
            <a:r>
              <a:rPr sz="1000" b="0">
                <a:solidFill>
                  <a:srgbClr val="5B6372"/>
                </a:solidFill>
                <a:latin typeface="Arial"/>
              </a:rPr>
              <a:t>Outcome becomes available as dynamic content</a:t>
            </a:r>
          </a:p>
        </p:txBody>
      </p:sp>
      <p:sp>
        <p:nvSpPr>
          <p:cNvPr id="29" name="Rectangle 28"/>
          <p:cNvSpPr/>
          <p:nvPr/>
        </p:nvSpPr>
        <p:spPr>
          <a:xfrm>
            <a:off x="9275672"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Freeform 29"/>
          <p:cNvSpPr/>
          <p:nvPr/>
        </p:nvSpPr>
        <p:spPr>
          <a:xfrm>
            <a:off x="9392716"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650576"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650576"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778592" y="2670048"/>
            <a:ext cx="1505102" cy="713232"/>
          </a:xfrm>
          <a:prstGeom prst="rect">
            <a:avLst/>
          </a:prstGeom>
          <a:noFill/>
        </p:spPr>
        <p:txBody>
          <a:bodyPr wrap="square" anchor="ctr">
            <a:spAutoFit/>
          </a:bodyPr>
          <a:lstStyle/>
          <a:p>
            <a:pPr algn="ctr">
              <a:spcAft>
                <a:spcPts val="400"/>
              </a:spcAft>
            </a:pPr>
            <a:r>
              <a:rPr sz="1500" b="1">
                <a:solidFill>
                  <a:srgbClr val="161B26"/>
                </a:solidFill>
                <a:latin typeface="Arial"/>
              </a:rPr>
              <a:t>Branch on outcome</a:t>
            </a:r>
          </a:p>
        </p:txBody>
      </p:sp>
      <p:sp>
        <p:nvSpPr>
          <p:cNvPr id="34" name="TextBox 33"/>
          <p:cNvSpPr txBox="1"/>
          <p:nvPr/>
        </p:nvSpPr>
        <p:spPr>
          <a:xfrm>
            <a:off x="9778592" y="3401568"/>
            <a:ext cx="1505102" cy="804672"/>
          </a:xfrm>
          <a:prstGeom prst="rect">
            <a:avLst/>
          </a:prstGeom>
          <a:noFill/>
        </p:spPr>
        <p:txBody>
          <a:bodyPr wrap="square" anchor="t">
            <a:spAutoFit/>
          </a:bodyPr>
          <a:lstStyle/>
          <a:p>
            <a:pPr algn="ctr">
              <a:spcAft>
                <a:spcPts val="400"/>
              </a:spcAft>
            </a:pPr>
            <a:r>
              <a:rPr sz="1100" b="0">
                <a:solidFill>
                  <a:srgbClr val="5B6372"/>
                </a:solidFill>
                <a:latin typeface="Arial"/>
              </a:rPr>
              <a:t>Different action for approve and reject</a:t>
            </a:r>
          </a:p>
        </p:txBody>
      </p:sp>
      <p:sp>
        <p:nvSpPr>
          <p:cNvPr id="35" name="Rectangle 34"/>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F6FEB"/>
                </a:solidFill>
                <a:latin typeface="Arial"/>
              </a:rPr>
              <a:t>WHY IT MATTERS   </a:t>
            </a:r>
            <a:r>
              <a:rPr sz="1300" b="0">
                <a:solidFill>
                  <a:srgbClr val="161B26"/>
                </a:solidFill>
                <a:latin typeface="Arial"/>
              </a:rPr>
              <a:t>The run can wait for days. That is the feature, not a timeout to work around.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115</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LEVELS OF CONTROL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Human In, On, or Out of the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In the loop</a:t>
            </a:r>
          </a:p>
          <a:p>
            <a:pPr algn="l">
              <a:spcAft>
                <a:spcPts val="300"/>
              </a:spcAft>
            </a:pPr>
            <a:r>
              <a:rPr sz="1200" b="0">
                <a:solidFill>
                  <a:srgbClr val="5B6372"/>
                </a:solidFill>
                <a:latin typeface="Arial"/>
              </a:rPr>
              <a:t>A person must act before the process continues.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On the loop</a:t>
            </a:r>
          </a:p>
          <a:p>
            <a:pPr algn="l">
              <a:spcAft>
                <a:spcPts val="300"/>
              </a:spcAft>
            </a:pPr>
            <a:r>
              <a:rPr sz="1200" b="0">
                <a:solidFill>
                  <a:srgbClr val="5B6372"/>
                </a:solidFill>
                <a:latin typeface="Arial"/>
              </a:rPr>
              <a:t>The process runs; a person monitors and can intervene.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Out of the loop</a:t>
            </a:r>
          </a:p>
          <a:p>
            <a:pPr algn="l">
              <a:spcAft>
                <a:spcPts val="300"/>
              </a:spcAft>
            </a:pPr>
            <a:r>
              <a:rPr sz="1200" b="0">
                <a:solidFill>
                  <a:srgbClr val="5B6372"/>
                </a:solidFill>
                <a:latin typeface="Arial"/>
              </a:rPr>
              <a:t>Fully automatic, with no person involved.</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Choose by consequence</a:t>
            </a:r>
          </a:p>
          <a:p>
            <a:pPr algn="l">
              <a:spcAft>
                <a:spcPts val="300"/>
              </a:spcAft>
            </a:pPr>
            <a:r>
              <a:rPr sz="1200" b="0">
                <a:solidFill>
                  <a:srgbClr val="5B6372"/>
                </a:solidFill>
                <a:latin typeface="Arial"/>
              </a:rPr>
              <a:t>The more expensive the mistake, the more you want a person in.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116</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6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100" b="1">
                <a:solidFill>
                  <a:srgbClr val="F59E0B"/>
                </a:solidFill>
                <a:latin typeface="Arial"/>
              </a:rPr>
              <a:t>10 minutes</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FEASIBILITY SCAN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Spotting an Automation Candidate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Repetitive</a:t>
            </a:r>
          </a:p>
          <a:p>
            <a:pPr algn="l">
              <a:spcAft>
                <a:spcPts val="300"/>
              </a:spcAft>
            </a:pPr>
            <a:r>
              <a:rPr sz="1200" b="0">
                <a:solidFill>
                  <a:srgbClr val="5B6372"/>
                </a:solidFill>
                <a:latin typeface="Arial"/>
              </a:rPr>
              <a:t>The same steps happen many times a week.</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Rule-based</a:t>
            </a:r>
          </a:p>
          <a:p>
            <a:pPr algn="l">
              <a:spcAft>
                <a:spcPts val="300"/>
              </a:spcAft>
            </a:pPr>
            <a:r>
              <a:rPr sz="1200" b="0">
                <a:solidFill>
                  <a:srgbClr val="5B6372"/>
                </a:solidFill>
                <a:latin typeface="Arial"/>
              </a:rPr>
              <a:t>The decision can be written down as a rule.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Time-consuming</a:t>
            </a:r>
          </a:p>
          <a:p>
            <a:pPr algn="l">
              <a:spcAft>
                <a:spcPts val="300"/>
              </a:spcAft>
            </a:pPr>
            <a:r>
              <a:rPr sz="1200" b="0">
                <a:solidFill>
                  <a:srgbClr val="5B6372"/>
                </a:solidFill>
                <a:latin typeface="Arial"/>
              </a:rPr>
              <a:t>Enough volume that the saving is real.</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Digital already</a:t>
            </a:r>
          </a:p>
          <a:p>
            <a:pPr algn="l">
              <a:spcAft>
                <a:spcPts val="300"/>
              </a:spcAft>
            </a:pPr>
            <a:r>
              <a:rPr sz="1200" b="0">
                <a:solidFill>
                  <a:srgbClr val="5B6372"/>
                </a:solidFill>
                <a:latin typeface="Arial"/>
              </a:rPr>
              <a:t>The data is already in a system, not on paper.</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118</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DECISION RULE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Automate This Process, or Fix It First?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331720"/>
            <a:ext cx="3017520" cy="210312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788920"/>
            <a:ext cx="2468880" cy="1188720"/>
          </a:xfrm>
          <a:prstGeom prst="rect">
            <a:avLst/>
          </a:prstGeom>
          <a:noFill/>
        </p:spPr>
        <p:txBody>
          <a:bodyPr wrap="square" anchor="ctr">
            <a:spAutoFit/>
          </a:bodyPr>
          <a:lstStyle/>
          <a:p>
            <a:pPr algn="ctr">
              <a:spcAft>
                <a:spcPts val="400"/>
              </a:spcAft>
            </a:pPr>
            <a:r>
              <a:rPr sz="1300" b="1">
                <a:solidFill>
                  <a:srgbClr val="FFFFFF"/>
                </a:solidFill>
                <a:latin typeface="Arial"/>
              </a:rPr>
              <a:t>Is the current process well understood and stable?</a:t>
            </a:r>
          </a:p>
        </p:txBody>
      </p:sp>
      <p:sp>
        <p:nvSpPr>
          <p:cNvPr id="9" name="Rectangle 8"/>
          <p:cNvSpPr/>
          <p:nvPr/>
        </p:nvSpPr>
        <p:spPr>
          <a:xfrm>
            <a:off x="3931920" y="2761488"/>
            <a:ext cx="32004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reeform 9"/>
          <p:cNvSpPr/>
          <p:nvPr/>
        </p:nvSpPr>
        <p:spPr>
          <a:xfrm>
            <a:off x="4251960" y="2732227"/>
            <a:ext cx="182880" cy="113385"/>
          </a:xfrm>
          <a:custGeom>
            <a:avLst/>
            <a:gdLst/>
            <a:ahLst/>
            <a:cxnLst/>
            <a:rect l="l" t="t" r="r" b="b"/>
            <a:pathLst>
              <a:path w="182880" h="113385">
                <a:moveTo>
                  <a:pt x="0" y="0"/>
                </a:moveTo>
                <a:lnTo>
                  <a:pt x="182880" y="56693"/>
                </a:lnTo>
                <a:lnTo>
                  <a:pt x="0" y="113385"/>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0" y="1965960"/>
            <a:ext cx="6858000" cy="1920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965960"/>
            <a:ext cx="91440" cy="19202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28032" y="2112264"/>
            <a:ext cx="6400800" cy="365760"/>
          </a:xfrm>
          <a:prstGeom prst="rect">
            <a:avLst/>
          </a:prstGeom>
          <a:noFill/>
        </p:spPr>
        <p:txBody>
          <a:bodyPr wrap="square" anchor="t">
            <a:spAutoFit/>
          </a:bodyPr>
          <a:lstStyle/>
          <a:p>
            <a:pPr algn="l">
              <a:spcAft>
                <a:spcPts val="400"/>
              </a:spcAft>
            </a:pPr>
            <a:r>
              <a:rPr sz="1300" b="1">
                <a:solidFill>
                  <a:srgbClr val="10B981"/>
                </a:solidFill>
                <a:latin typeface="Arial"/>
              </a:rPr>
              <a:t>YES</a:t>
            </a:r>
          </a:p>
        </p:txBody>
      </p:sp>
      <p:sp>
        <p:nvSpPr>
          <p:cNvPr id="14" name="TextBox 13"/>
          <p:cNvSpPr txBox="1"/>
          <p:nvPr/>
        </p:nvSpPr>
        <p:spPr>
          <a:xfrm>
            <a:off x="4828032" y="2514600"/>
            <a:ext cx="6400800" cy="1280160"/>
          </a:xfrm>
          <a:prstGeom prst="rect">
            <a:avLst/>
          </a:prstGeom>
          <a:noFill/>
        </p:spPr>
        <p:txBody>
          <a:bodyPr wrap="square">
            <a:spAutoFit/>
          </a:bodyPr>
          <a:lstStyle/>
          <a:p>
            <a:pPr>
              <a:spcAft>
                <a:spcPts val="600"/>
              </a:spcAft>
            </a:pPr>
            <a:r>
              <a:rPr sz="1300">
                <a:solidFill>
                  <a:srgbClr val="161B26"/>
                </a:solidFill>
                <a:latin typeface="Arial"/>
              </a:rPr>
              <a:t>•  Automate it — the rules are known</a:t>
            </a:r>
          </a:p>
          <a:p>
            <a:pPr>
              <a:spcAft>
                <a:spcPts val="600"/>
              </a:spcAft>
            </a:pPr>
            <a:r>
              <a:rPr sz="1300">
                <a:solidFill>
                  <a:srgbClr val="161B26"/>
                </a:solidFill>
                <a:latin typeface="Arial"/>
              </a:rPr>
              <a:t>•  Document the rules before you build</a:t>
            </a:r>
          </a:p>
        </p:txBody>
      </p:sp>
      <p:sp>
        <p:nvSpPr>
          <p:cNvPr id="15" name="Rectangle 14"/>
          <p:cNvSpPr/>
          <p:nvPr/>
        </p:nvSpPr>
        <p:spPr>
          <a:xfrm>
            <a:off x="3931920" y="5001768"/>
            <a:ext cx="32004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reeform 15"/>
          <p:cNvSpPr/>
          <p:nvPr/>
        </p:nvSpPr>
        <p:spPr>
          <a:xfrm>
            <a:off x="4251960" y="4972507"/>
            <a:ext cx="182880" cy="113385"/>
          </a:xfrm>
          <a:custGeom>
            <a:avLst/>
            <a:gdLst/>
            <a:ahLst/>
            <a:cxnLst/>
            <a:rect l="l" t="t" r="r" b="b"/>
            <a:pathLst>
              <a:path w="182880" h="113385">
                <a:moveTo>
                  <a:pt x="0" y="0"/>
                </a:moveTo>
                <a:lnTo>
                  <a:pt x="182880" y="56693"/>
                </a:lnTo>
                <a:lnTo>
                  <a:pt x="0" y="113385"/>
                </a:lnTo>
                <a:close/>
              </a:path>
            </a:pathLst>
          </a:cu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0" y="4206240"/>
            <a:ext cx="6858000" cy="1920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0" y="4206240"/>
            <a:ext cx="91440" cy="19202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28032" y="4352544"/>
            <a:ext cx="6400800" cy="365760"/>
          </a:xfrm>
          <a:prstGeom prst="rect">
            <a:avLst/>
          </a:prstGeom>
          <a:noFill/>
        </p:spPr>
        <p:txBody>
          <a:bodyPr wrap="square" anchor="t">
            <a:spAutoFit/>
          </a:bodyPr>
          <a:lstStyle/>
          <a:p>
            <a:pPr algn="l">
              <a:spcAft>
                <a:spcPts val="400"/>
              </a:spcAft>
            </a:pPr>
            <a:r>
              <a:rPr sz="1300" b="1">
                <a:solidFill>
                  <a:srgbClr val="F59E0B"/>
                </a:solidFill>
                <a:latin typeface="Arial"/>
              </a:rPr>
              <a:t>NO</a:t>
            </a:r>
          </a:p>
        </p:txBody>
      </p:sp>
      <p:sp>
        <p:nvSpPr>
          <p:cNvPr id="20" name="TextBox 19"/>
          <p:cNvSpPr txBox="1"/>
          <p:nvPr/>
        </p:nvSpPr>
        <p:spPr>
          <a:xfrm>
            <a:off x="4828032" y="4754880"/>
            <a:ext cx="6400800" cy="1280160"/>
          </a:xfrm>
          <a:prstGeom prst="rect">
            <a:avLst/>
          </a:prstGeom>
          <a:noFill/>
        </p:spPr>
        <p:txBody>
          <a:bodyPr wrap="square">
            <a:spAutoFit/>
          </a:bodyPr>
          <a:lstStyle/>
          <a:p>
            <a:pPr>
              <a:spcAft>
                <a:spcPts val="600"/>
              </a:spcAft>
            </a:pPr>
            <a:r>
              <a:rPr sz="1300">
                <a:solidFill>
                  <a:srgbClr val="161B26"/>
                </a:solidFill>
                <a:latin typeface="Arial"/>
              </a:rPr>
              <a:t>•  Fix the process first</a:t>
            </a:r>
          </a:p>
          <a:p>
            <a:pPr>
              <a:spcAft>
                <a:spcPts val="600"/>
              </a:spcAft>
            </a:pPr>
            <a:r>
              <a:rPr sz="1300">
                <a:solidFill>
                  <a:srgbClr val="161B26"/>
                </a:solidFill>
                <a:latin typeface="Arial"/>
              </a:rPr>
              <a:t>•  Automating a broken process makes it fail faster</a:t>
            </a:r>
          </a:p>
        </p:txBody>
      </p:sp>
      <p:sp>
        <p:nvSpPr>
          <p:cNvPr id="21" name="TextBox 20"/>
          <p:cNvSpPr txBox="1"/>
          <p:nvPr/>
        </p:nvSpPr>
        <p:spPr>
          <a:xfrm>
            <a:off x="777240" y="5989320"/>
            <a:ext cx="10607040" cy="457200"/>
          </a:xfrm>
          <a:prstGeom prst="rect">
            <a:avLst/>
          </a:prstGeom>
          <a:noFill/>
        </p:spPr>
        <p:txBody>
          <a:bodyPr wrap="square" anchor="t">
            <a:spAutoFit/>
          </a:bodyPr>
          <a:lstStyle/>
          <a:p>
            <a:pPr algn="l">
              <a:spcAft>
                <a:spcPts val="400"/>
              </a:spcAft>
            </a:pPr>
            <a:r>
              <a:rPr sz="1100" b="1">
                <a:solidFill>
                  <a:srgbClr val="7C3AED"/>
                </a:solidFill>
                <a:latin typeface="Arial"/>
              </a:rPr>
              <a:t>RULE   </a:t>
            </a:r>
            <a:r>
              <a:rPr sz="1300" b="0">
                <a:solidFill>
                  <a:srgbClr val="161B26"/>
                </a:solidFill>
                <a:latin typeface="Arial"/>
              </a:rPr>
              <a:t>Automation amplifies a process. It does not improve one.</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119</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OVER A THOUSAND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Connectors Are the Integration Layer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Microsoft 365</a:t>
            </a:r>
          </a:p>
          <a:p>
            <a:pPr algn="l">
              <a:spcAft>
                <a:spcPts val="300"/>
              </a:spcAft>
            </a:pPr>
            <a:r>
              <a:rPr sz="1200" b="0">
                <a:solidFill>
                  <a:srgbClr val="5B6372"/>
                </a:solidFill>
                <a:latin typeface="Arial"/>
              </a:rPr>
              <a:t>Outlook, Excel, SharePoint, Teams, Forms, OneDrive.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Business systems</a:t>
            </a:r>
          </a:p>
          <a:p>
            <a:pPr algn="l">
              <a:spcAft>
                <a:spcPts val="300"/>
              </a:spcAft>
            </a:pPr>
            <a:r>
              <a:rPr sz="1200" b="0">
                <a:solidFill>
                  <a:srgbClr val="5B6372"/>
                </a:solidFill>
                <a:latin typeface="Arial"/>
              </a:rPr>
              <a:t>Dataverse, Dynamics, SQL, Salesforce, SAP.</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Generic</a:t>
            </a:r>
          </a:p>
          <a:p>
            <a:pPr algn="l">
              <a:spcAft>
                <a:spcPts val="300"/>
              </a:spcAft>
            </a:pPr>
            <a:r>
              <a:rPr sz="1200" b="0">
                <a:solidFill>
                  <a:srgbClr val="5B6372"/>
                </a:solidFill>
                <a:latin typeface="Arial"/>
              </a:rPr>
              <a:t>HTTP, webhooks and custom connectors for anything else.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Each has actions and triggers</a:t>
            </a:r>
          </a:p>
          <a:p>
            <a:pPr algn="l">
              <a:spcAft>
                <a:spcPts val="300"/>
              </a:spcAft>
            </a:pPr>
            <a:r>
              <a:rPr sz="1200" b="0">
                <a:solidFill>
                  <a:srgbClr val="5B6372"/>
                </a:solidFill>
                <a:latin typeface="Arial"/>
              </a:rPr>
              <a:t>What it can start, and what it can do.</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120</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WHICH ONE DO I NEED?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Trigger Families in Practice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2764962" cy="548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28800"/>
            <a:ext cx="2490642" cy="548640"/>
          </a:xfrm>
          <a:prstGeom prst="rect">
            <a:avLst/>
          </a:prstGeom>
          <a:noFill/>
        </p:spPr>
        <p:txBody>
          <a:bodyPr wrap="square" anchor="ctr">
            <a:spAutoFit/>
          </a:bodyPr>
          <a:lstStyle/>
          <a:p>
            <a:pPr algn="l">
              <a:spcAft>
                <a:spcPts val="400"/>
              </a:spcAft>
            </a:pPr>
            <a:r>
              <a:rPr sz="1300" b="1">
                <a:solidFill>
                  <a:srgbClr val="FFFFFF"/>
                </a:solidFill>
                <a:latin typeface="Arial"/>
              </a:rPr>
              <a:t>If you want...</a:t>
            </a:r>
          </a:p>
        </p:txBody>
      </p:sp>
      <p:sp>
        <p:nvSpPr>
          <p:cNvPr id="9" name="Rectangle 8"/>
          <p:cNvSpPr/>
          <p:nvPr/>
        </p:nvSpPr>
        <p:spPr>
          <a:xfrm>
            <a:off x="3542202" y="1828800"/>
            <a:ext cx="3934755" cy="548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1930" y="1828800"/>
            <a:ext cx="3715299" cy="548640"/>
          </a:xfrm>
          <a:prstGeom prst="rect">
            <a:avLst/>
          </a:prstGeom>
          <a:noFill/>
        </p:spPr>
        <p:txBody>
          <a:bodyPr wrap="square" anchor="ctr">
            <a:spAutoFit/>
          </a:bodyPr>
          <a:lstStyle/>
          <a:p>
            <a:pPr algn="ctr">
              <a:spcAft>
                <a:spcPts val="400"/>
              </a:spcAft>
            </a:pPr>
            <a:r>
              <a:rPr sz="1300" b="1">
                <a:solidFill>
                  <a:srgbClr val="FFFFFF"/>
                </a:solidFill>
                <a:latin typeface="Arial"/>
              </a:rPr>
              <a:t>Use</a:t>
            </a:r>
          </a:p>
        </p:txBody>
      </p:sp>
      <p:sp>
        <p:nvSpPr>
          <p:cNvPr id="11" name="Rectangle 10"/>
          <p:cNvSpPr/>
          <p:nvPr/>
        </p:nvSpPr>
        <p:spPr>
          <a:xfrm>
            <a:off x="7476957" y="1828800"/>
            <a:ext cx="3934755" cy="548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6685" y="1828800"/>
            <a:ext cx="3715299" cy="548640"/>
          </a:xfrm>
          <a:prstGeom prst="rect">
            <a:avLst/>
          </a:prstGeom>
          <a:noFill/>
        </p:spPr>
        <p:txBody>
          <a:bodyPr wrap="square" anchor="ctr">
            <a:spAutoFit/>
          </a:bodyPr>
          <a:lstStyle/>
          <a:p>
            <a:pPr algn="ctr">
              <a:spcAft>
                <a:spcPts val="400"/>
              </a:spcAft>
            </a:pPr>
            <a:r>
              <a:rPr sz="1300" b="1">
                <a:solidFill>
                  <a:srgbClr val="FFFFFF"/>
                </a:solidFill>
                <a:latin typeface="Arial"/>
              </a:rPr>
              <a:t>Example</a:t>
            </a:r>
          </a:p>
        </p:txBody>
      </p:sp>
      <p:sp>
        <p:nvSpPr>
          <p:cNvPr id="13" name="Rectangle 12"/>
          <p:cNvSpPr/>
          <p:nvPr/>
        </p:nvSpPr>
        <p:spPr>
          <a:xfrm>
            <a:off x="777240" y="2377440"/>
            <a:ext cx="2764962"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377440"/>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A reaction to an event</a:t>
            </a:r>
          </a:p>
        </p:txBody>
      </p:sp>
      <p:sp>
        <p:nvSpPr>
          <p:cNvPr id="15" name="Rectangle 14"/>
          <p:cNvSpPr/>
          <p:nvPr/>
        </p:nvSpPr>
        <p:spPr>
          <a:xfrm>
            <a:off x="3542202" y="2377440"/>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1930" y="2377440"/>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Automated</a:t>
            </a:r>
          </a:p>
        </p:txBody>
      </p:sp>
      <p:sp>
        <p:nvSpPr>
          <p:cNvPr id="17" name="Rectangle 16"/>
          <p:cNvSpPr/>
          <p:nvPr/>
        </p:nvSpPr>
        <p:spPr>
          <a:xfrm>
            <a:off x="7476957" y="2377440"/>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6685" y="2377440"/>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A form is submitted</a:t>
            </a:r>
          </a:p>
        </p:txBody>
      </p:sp>
      <p:sp>
        <p:nvSpPr>
          <p:cNvPr id="19" name="Rectangle 18"/>
          <p:cNvSpPr/>
          <p:nvPr/>
        </p:nvSpPr>
        <p:spPr>
          <a:xfrm>
            <a:off x="777240" y="2852928"/>
            <a:ext cx="2764962"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2852928"/>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A person to start it</a:t>
            </a:r>
          </a:p>
        </p:txBody>
      </p:sp>
      <p:sp>
        <p:nvSpPr>
          <p:cNvPr id="21" name="Rectangle 20"/>
          <p:cNvSpPr/>
          <p:nvPr/>
        </p:nvSpPr>
        <p:spPr>
          <a:xfrm>
            <a:off x="3542202" y="2852928"/>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1930" y="2852928"/>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Instant</a:t>
            </a:r>
          </a:p>
        </p:txBody>
      </p:sp>
      <p:sp>
        <p:nvSpPr>
          <p:cNvPr id="23" name="Rectangle 22"/>
          <p:cNvSpPr/>
          <p:nvPr/>
        </p:nvSpPr>
        <p:spPr>
          <a:xfrm>
            <a:off x="7476957" y="2852928"/>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86685" y="2852928"/>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A button in the mobile app</a:t>
            </a:r>
          </a:p>
        </p:txBody>
      </p:sp>
      <p:sp>
        <p:nvSpPr>
          <p:cNvPr id="25" name="Rectangle 24"/>
          <p:cNvSpPr/>
          <p:nvPr/>
        </p:nvSpPr>
        <p:spPr>
          <a:xfrm>
            <a:off x="777240" y="3328416"/>
            <a:ext cx="2764962"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3328416"/>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It to run on a clock</a:t>
            </a:r>
          </a:p>
        </p:txBody>
      </p:sp>
      <p:sp>
        <p:nvSpPr>
          <p:cNvPr id="27" name="Rectangle 26"/>
          <p:cNvSpPr/>
          <p:nvPr/>
        </p:nvSpPr>
        <p:spPr>
          <a:xfrm>
            <a:off x="3542202" y="3328416"/>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1930" y="3328416"/>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Scheduled</a:t>
            </a:r>
          </a:p>
        </p:txBody>
      </p:sp>
      <p:sp>
        <p:nvSpPr>
          <p:cNvPr id="29" name="Rectangle 28"/>
          <p:cNvSpPr/>
          <p:nvPr/>
        </p:nvSpPr>
        <p:spPr>
          <a:xfrm>
            <a:off x="7476957" y="3328416"/>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86685" y="3328416"/>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A month-end report</a:t>
            </a:r>
          </a:p>
        </p:txBody>
      </p:sp>
      <p:sp>
        <p:nvSpPr>
          <p:cNvPr id="31" name="Rectangle 30"/>
          <p:cNvSpPr/>
          <p:nvPr/>
        </p:nvSpPr>
        <p:spPr>
          <a:xfrm>
            <a:off x="777240" y="3803904"/>
            <a:ext cx="2764962"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3803904"/>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A stage to drive it</a:t>
            </a:r>
          </a:p>
        </p:txBody>
      </p:sp>
      <p:sp>
        <p:nvSpPr>
          <p:cNvPr id="33" name="Rectangle 32"/>
          <p:cNvSpPr/>
          <p:nvPr/>
        </p:nvSpPr>
        <p:spPr>
          <a:xfrm>
            <a:off x="3542202" y="3803904"/>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51930" y="3803904"/>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Business process</a:t>
            </a:r>
          </a:p>
        </p:txBody>
      </p:sp>
      <p:sp>
        <p:nvSpPr>
          <p:cNvPr id="35" name="Rectangle 34"/>
          <p:cNvSpPr/>
          <p:nvPr/>
        </p:nvSpPr>
        <p:spPr>
          <a:xfrm>
            <a:off x="7476957" y="3803904"/>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586685" y="3803904"/>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An opportunity reaches Proposal</a:t>
            </a:r>
          </a:p>
        </p:txBody>
      </p:sp>
      <p:sp>
        <p:nvSpPr>
          <p:cNvPr id="37" name="TextBox 36"/>
          <p:cNvSpPr txBox="1"/>
          <p:nvPr/>
        </p:nvSpPr>
        <p:spPr>
          <a:xfrm>
            <a:off x="777240" y="4507992"/>
            <a:ext cx="10634472" cy="457200"/>
          </a:xfrm>
          <a:prstGeom prst="rect">
            <a:avLst/>
          </a:prstGeom>
          <a:noFill/>
        </p:spPr>
        <p:txBody>
          <a:bodyPr wrap="square" anchor="t">
            <a:spAutoFit/>
          </a:bodyPr>
          <a:lstStyle/>
          <a:p>
            <a:pPr algn="l">
              <a:spcAft>
                <a:spcPts val="400"/>
              </a:spcAft>
            </a:pPr>
            <a:r>
              <a:rPr sz="1100" b="1">
                <a:solidFill>
                  <a:srgbClr val="1F6FEB"/>
                </a:solidFill>
                <a:latin typeface="Arial"/>
              </a:rPr>
              <a:t>RULE   </a:t>
            </a:r>
            <a:r>
              <a:rPr sz="1300" b="0">
                <a:solidFill>
                  <a:srgbClr val="161B26"/>
                </a:solidFill>
                <a:latin typeface="Arial"/>
              </a:rPr>
              <a:t>Choose the trigger by what should start the work, not by what is convenient.</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121</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INSERT, DO NOT TYPE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Dynamic Content: The Number One Mistake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What it is</a:t>
            </a:r>
          </a:p>
          <a:p>
            <a:pPr algn="l">
              <a:spcAft>
                <a:spcPts val="300"/>
              </a:spcAft>
            </a:pPr>
            <a:r>
              <a:rPr sz="1200" b="0">
                <a:solidFill>
                  <a:srgbClr val="5B6372"/>
                </a:solidFill>
                <a:latin typeface="Arial"/>
              </a:rPr>
              <a:t>A token carrying a real value from an earlier step.</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What it looks like</a:t>
            </a:r>
          </a:p>
          <a:p>
            <a:pPr algn="l">
              <a:spcAft>
                <a:spcPts val="300"/>
              </a:spcAft>
            </a:pPr>
            <a:r>
              <a:rPr sz="1200" b="0">
                <a:solidFill>
                  <a:srgbClr val="5B6372"/>
                </a:solidFill>
                <a:latin typeface="Arial"/>
              </a:rPr>
              <a:t>A coloured chip in the field, not plain words.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The failure</a:t>
            </a:r>
          </a:p>
          <a:p>
            <a:pPr algn="l">
              <a:spcAft>
                <a:spcPts val="300"/>
              </a:spcAft>
            </a:pPr>
            <a:r>
              <a:rPr sz="1200" b="0">
                <a:solidFill>
                  <a:srgbClr val="5B6372"/>
                </a:solidFill>
                <a:latin typeface="Arial"/>
              </a:rPr>
              <a:t>Typing the field name sends the literal words at run time.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The symptom</a:t>
            </a:r>
          </a:p>
          <a:p>
            <a:pPr algn="l">
              <a:spcAft>
                <a:spcPts val="300"/>
              </a:spcAft>
            </a:pPr>
            <a:r>
              <a:rPr sz="1200" b="0">
                <a:solidFill>
                  <a:srgbClr val="5B6372"/>
                </a:solidFill>
                <a:latin typeface="Arial"/>
              </a:rPr>
              <a:t>The flow succeeds and the output is wrong.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122</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READ THE OUTPUTS</a:t>
            </a:r>
          </a:p>
        </p:txBody>
      </p:sp>
      <p:sp>
        <p:nvSpPr>
          <p:cNvPr id="5" name="TextBox 4"/>
          <p:cNvSpPr txBox="1"/>
          <p:nvPr/>
        </p:nvSpPr>
        <p:spPr>
          <a:xfrm>
            <a:off x="1005840" y="2560320"/>
            <a:ext cx="10332720" cy="2011680"/>
          </a:xfrm>
          <a:prstGeom prst="rect">
            <a:avLst/>
          </a:prstGeom>
          <a:noFill/>
        </p:spPr>
        <p:txBody>
          <a:bodyPr wrap="square" anchor="t">
            <a:spAutoFit/>
          </a:bodyPr>
          <a:lstStyle/>
          <a:p>
            <a:pPr algn="l">
              <a:spcAft>
                <a:spcPts val="400"/>
              </a:spcAft>
            </a:pPr>
            <a:r>
              <a:rPr sz="3600" b="1">
                <a:solidFill>
                  <a:srgbClr val="161B26"/>
                </a:solidFill>
                <a:latin typeface="Arial"/>
              </a:rPr>
              <a:t>A green run does not mean a correct run.</a:t>
            </a:r>
          </a:p>
        </p:txBody>
      </p:sp>
      <p:sp>
        <p:nvSpPr>
          <p:cNvPr id="6" name="TextBox 5"/>
          <p:cNvSpPr txBox="1"/>
          <p:nvPr/>
        </p:nvSpPr>
        <p:spPr>
          <a:xfrm>
            <a:off x="1024128" y="4572000"/>
            <a:ext cx="10058400" cy="1097280"/>
          </a:xfrm>
          <a:prstGeom prst="rect">
            <a:avLst/>
          </a:prstGeom>
          <a:noFill/>
        </p:spPr>
        <p:txBody>
          <a:bodyPr wrap="square" anchor="t">
            <a:spAutoFit/>
          </a:bodyPr>
          <a:lstStyle/>
          <a:p>
            <a:pPr algn="l">
              <a:spcAft>
                <a:spcPts val="400"/>
              </a:spcAft>
            </a:pPr>
            <a:r>
              <a:rPr sz="1900" b="0">
                <a:solidFill>
                  <a:srgbClr val="5B6372"/>
                </a:solidFill>
                <a:latin typeface="Arial"/>
              </a:rPr>
              <a:t>Every step succeeded. That tells you nothing about whether the right data moved.</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123</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THINK FIRST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Designing a Flow Before Building 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Name the trigger</a:t>
            </a:r>
          </a:p>
          <a:p>
            <a:pPr algn="l">
              <a:spcAft>
                <a:spcPts val="300"/>
              </a:spcAft>
            </a:pPr>
            <a:r>
              <a:rPr sz="1200" b="0">
                <a:solidFill>
                  <a:srgbClr val="5B6372"/>
                </a:solidFill>
                <a:latin typeface="Arial"/>
              </a:rPr>
              <a:t>What single event starts this?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List the actions</a:t>
            </a:r>
          </a:p>
          <a:p>
            <a:pPr algn="l">
              <a:spcAft>
                <a:spcPts val="300"/>
              </a:spcAft>
            </a:pPr>
            <a:r>
              <a:rPr sz="1200" b="0">
                <a:solidFill>
                  <a:srgbClr val="5B6372"/>
                </a:solidFill>
                <a:latin typeface="Arial"/>
              </a:rPr>
              <a:t>In order, with the data each one needs.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Find the decisions</a:t>
            </a:r>
          </a:p>
          <a:p>
            <a:pPr algn="l">
              <a:spcAft>
                <a:spcPts val="300"/>
              </a:spcAft>
            </a:pPr>
            <a:r>
              <a:rPr sz="1200" b="0">
                <a:solidFill>
                  <a:srgbClr val="5B6372"/>
                </a:solidFill>
                <a:latin typeface="Arial"/>
              </a:rPr>
              <a:t>Anywhere the path could differ.</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Decide the failure behaviour</a:t>
            </a:r>
          </a:p>
          <a:p>
            <a:pPr algn="l">
              <a:spcAft>
                <a:spcPts val="300"/>
              </a:spcAft>
            </a:pPr>
            <a:r>
              <a:rPr sz="1200" b="0">
                <a:solidFill>
                  <a:srgbClr val="5B6372"/>
                </a:solidFill>
                <a:latin typeface="Arial"/>
              </a:rPr>
              <a:t>What should happen when a step errors?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124</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NATIVE CHART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Where Manual Effort Concentrates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828800"/>
          <a:ext cx="7498079" cy="4114800"/>
        </p:xfrm>
        <a:graphic>
          <a:graphicData uri="http://schemas.openxmlformats.org/drawingml/2006/chart">
            <c:chart xmlns:c="http://schemas.openxmlformats.org/drawingml/2006/chart" r:id="rId2"/>
          </a:graphicData>
        </a:graphic>
      </p:graphicFrame>
      <p:sp>
        <p:nvSpPr>
          <p:cNvPr id="8" name="Rectangle 7"/>
          <p:cNvSpPr/>
          <p:nvPr/>
        </p:nvSpPr>
        <p:spPr>
          <a:xfrm>
            <a:off x="8503920" y="1828800"/>
            <a:ext cx="2926080" cy="4114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503920" y="1828800"/>
            <a:ext cx="2926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0" y="2103120"/>
            <a:ext cx="2377440" cy="365760"/>
          </a:xfrm>
          <a:prstGeom prst="rect">
            <a:avLst/>
          </a:prstGeom>
          <a:noFill/>
        </p:spPr>
        <p:txBody>
          <a:bodyPr wrap="square" anchor="t">
            <a:spAutoFit/>
          </a:bodyPr>
          <a:lstStyle/>
          <a:p>
            <a:pPr algn="l">
              <a:spcAft>
                <a:spcPts val="400"/>
              </a:spcAft>
            </a:pPr>
            <a:r>
              <a:rPr sz="1200" b="1">
                <a:solidFill>
                  <a:srgbClr val="1F6FEB"/>
                </a:solidFill>
                <a:latin typeface="Arial"/>
              </a:rPr>
              <a:t>DECISION LENS</a:t>
            </a:r>
          </a:p>
        </p:txBody>
      </p:sp>
      <p:sp>
        <p:nvSpPr>
          <p:cNvPr id="11" name="TextBox 10"/>
          <p:cNvSpPr txBox="1"/>
          <p:nvPr/>
        </p:nvSpPr>
        <p:spPr>
          <a:xfrm>
            <a:off x="8778240" y="2560320"/>
            <a:ext cx="2377440" cy="1737360"/>
          </a:xfrm>
          <a:prstGeom prst="rect">
            <a:avLst/>
          </a:prstGeom>
          <a:noFill/>
        </p:spPr>
        <p:txBody>
          <a:bodyPr wrap="square" anchor="t">
            <a:spAutoFit/>
          </a:bodyPr>
          <a:lstStyle/>
          <a:p>
            <a:pPr algn="l">
              <a:spcAft>
                <a:spcPts val="400"/>
              </a:spcAft>
            </a:pPr>
            <a:r>
              <a:rPr sz="1300" b="0">
                <a:solidFill>
                  <a:srgbClr val="161B26"/>
                </a:solidFill>
                <a:latin typeface="Arial"/>
              </a:rPr>
              <a:t>Re-typing dominates — and it is the easiest thing on this chart to remove.</a:t>
            </a:r>
          </a:p>
        </p:txBody>
      </p:sp>
      <p:sp>
        <p:nvSpPr>
          <p:cNvPr id="12" name="Rectangle 11"/>
          <p:cNvSpPr/>
          <p:nvPr/>
        </p:nvSpPr>
        <p:spPr>
          <a:xfrm>
            <a:off x="8732520" y="4343400"/>
            <a:ext cx="24688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778240" y="4526280"/>
            <a:ext cx="310896" cy="31089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0" y="4526280"/>
            <a:ext cx="310896" cy="310896"/>
          </a:xfrm>
          <a:prstGeom prst="rect">
            <a:avLst/>
          </a:prstGeom>
          <a:noFill/>
        </p:spPr>
        <p:txBody>
          <a:bodyPr wrap="square" anchor="ctr">
            <a:spAutoFit/>
          </a:bodyPr>
          <a:lstStyle/>
          <a:p>
            <a:pPr algn="ctr">
              <a:spcAft>
                <a:spcPts val="400"/>
              </a:spcAft>
            </a:pPr>
            <a:r>
              <a:rPr sz="1300" b="1">
                <a:solidFill>
                  <a:srgbClr val="FFFFFF"/>
                </a:solidFill>
                <a:latin typeface="Arial"/>
              </a:rPr>
              <a:t>?</a:t>
            </a:r>
          </a:p>
        </p:txBody>
      </p:sp>
      <p:sp>
        <p:nvSpPr>
          <p:cNvPr id="15" name="TextBox 14"/>
          <p:cNvSpPr txBox="1"/>
          <p:nvPr/>
        </p:nvSpPr>
        <p:spPr>
          <a:xfrm>
            <a:off x="9189720" y="4507992"/>
            <a:ext cx="2011680" cy="777240"/>
          </a:xfrm>
          <a:prstGeom prst="rect">
            <a:avLst/>
          </a:prstGeom>
          <a:noFill/>
        </p:spPr>
        <p:txBody>
          <a:bodyPr wrap="square" anchor="t">
            <a:spAutoFit/>
          </a:bodyPr>
          <a:lstStyle/>
          <a:p>
            <a:pPr algn="l">
              <a:spcAft>
                <a:spcPts val="100"/>
              </a:spcAft>
            </a:pPr>
            <a:r>
              <a:rPr sz="1050" b="0">
                <a:solidFill>
                  <a:srgbClr val="5B6372"/>
                </a:solidFill>
                <a:latin typeface="Arial"/>
              </a:rPr>
              <a:t>Check the axis, the units</a:t>
            </a:r>
          </a:p>
          <a:p>
            <a:pPr algn="l">
              <a:spcAft>
                <a:spcPts val="100"/>
              </a:spcAft>
            </a:pPr>
            <a:r>
              <a:rPr sz="1050" b="0">
                <a:solidFill>
                  <a:srgbClr val="5B6372"/>
                </a:solidFill>
                <a:latin typeface="Arial"/>
              </a:rPr>
              <a:t>and the source before you act.</a:t>
            </a:r>
          </a:p>
        </p:txBody>
      </p:sp>
      <p:sp>
        <p:nvSpPr>
          <p:cNvPr id="16" name="Rectangle 15"/>
          <p:cNvSpPr/>
          <p:nvPr/>
        </p:nvSpPr>
        <p:spPr>
          <a:xfrm>
            <a:off x="8778240" y="5440680"/>
            <a:ext cx="2377440" cy="3840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69680" y="5440680"/>
            <a:ext cx="2194560" cy="384048"/>
          </a:xfrm>
          <a:prstGeom prst="rect">
            <a:avLst/>
          </a:prstGeom>
          <a:noFill/>
        </p:spPr>
        <p:txBody>
          <a:bodyPr wrap="square" anchor="ctr">
            <a:spAutoFit/>
          </a:bodyPr>
          <a:lstStyle/>
          <a:p>
            <a:pPr algn="l">
              <a:spcAft>
                <a:spcPts val="400"/>
              </a:spcAft>
            </a:pPr>
            <a:r>
              <a:rPr sz="900" b="0">
                <a:solidFill>
                  <a:srgbClr val="5B6372"/>
                </a:solidFill>
                <a:latin typeface="Arial"/>
              </a:rPr>
              <a:t>Native PowerPoint chart · editable data · verify source and units</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125</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FOUNDATION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Prepare the Power Platform Environment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371600" cy="4389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371600" cy="365760"/>
          </a:xfrm>
          <a:prstGeom prst="rect">
            <a:avLst/>
          </a:prstGeom>
          <a:noFill/>
        </p:spPr>
        <p:txBody>
          <a:bodyPr wrap="square" anchor="t">
            <a:spAutoFit/>
          </a:bodyPr>
          <a:lstStyle/>
          <a:p>
            <a:pPr algn="ctr">
              <a:spcAft>
                <a:spcPts val="400"/>
              </a:spcAft>
            </a:pPr>
            <a:r>
              <a:rPr sz="1500" b="1">
                <a:solidFill>
                  <a:srgbClr val="FFFFFF"/>
                </a:solidFill>
                <a:latin typeface="Arial"/>
              </a:rPr>
              <a:t>LAB 11</a:t>
            </a:r>
          </a:p>
        </p:txBody>
      </p:sp>
      <p:sp>
        <p:nvSpPr>
          <p:cNvPr id="9" name="Rectangle 8"/>
          <p:cNvSpPr/>
          <p:nvPr/>
        </p:nvSpPr>
        <p:spPr>
          <a:xfrm>
            <a:off x="2286000" y="1691640"/>
            <a:ext cx="1371600" cy="438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0" y="1737360"/>
            <a:ext cx="1371600" cy="365760"/>
          </a:xfrm>
          <a:prstGeom prst="rect">
            <a:avLst/>
          </a:prstGeom>
          <a:noFill/>
        </p:spPr>
        <p:txBody>
          <a:bodyPr wrap="square" anchor="t">
            <a:spAutoFit/>
          </a:bodyPr>
          <a:lstStyle/>
          <a:p>
            <a:pPr algn="ctr">
              <a:spcAft>
                <a:spcPts val="400"/>
              </a:spcAft>
            </a:pPr>
            <a:r>
              <a:rPr sz="1300" b="1">
                <a:solidFill>
                  <a:srgbClr val="5B6372"/>
                </a:solidFill>
                <a:latin typeface="Arial"/>
              </a:rPr>
              <a:t>K3 · A1</a:t>
            </a:r>
          </a:p>
        </p:txBody>
      </p:sp>
      <p:sp>
        <p:nvSpPr>
          <p:cNvPr id="11" name="TextBox 10"/>
          <p:cNvSpPr txBox="1"/>
          <p:nvPr/>
        </p:nvSpPr>
        <p:spPr>
          <a:xfrm>
            <a:off x="777240" y="2331720"/>
            <a:ext cx="10698480" cy="1371600"/>
          </a:xfrm>
          <a:prstGeom prst="rect">
            <a:avLst/>
          </a:prstGeom>
          <a:noFill/>
        </p:spPr>
        <p:txBody>
          <a:bodyPr wrap="square" anchor="t">
            <a:spAutoFit/>
          </a:bodyPr>
          <a:lstStyle/>
          <a:p>
            <a:pPr algn="l">
              <a:spcAft>
                <a:spcPts val="400"/>
              </a:spcAft>
            </a:pPr>
            <a:r>
              <a:rPr sz="1900" b="0">
                <a:solidFill>
                  <a:srgbClr val="161B26"/>
                </a:solidFill>
                <a:latin typeface="Arial"/>
              </a:rPr>
              <a:t>The learner selects the correct Power Platform environment, confirms the connectors and connections the course needs, and records the environment details that every later lab depends on.</a:t>
            </a:r>
          </a:p>
        </p:txBody>
      </p:sp>
      <p:sp>
        <p:nvSpPr>
          <p:cNvPr id="12" name="Rectangle 11"/>
          <p:cNvSpPr/>
          <p:nvPr/>
        </p:nvSpPr>
        <p:spPr>
          <a:xfrm>
            <a:off x="777240" y="3886200"/>
            <a:ext cx="10698480"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88620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11480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 will build</a:t>
            </a:r>
          </a:p>
        </p:txBody>
      </p:sp>
      <p:sp>
        <p:nvSpPr>
          <p:cNvPr id="15" name="TextBox 14"/>
          <p:cNvSpPr txBox="1"/>
          <p:nvPr/>
        </p:nvSpPr>
        <p:spPr>
          <a:xfrm>
            <a:off x="1005840" y="4480560"/>
            <a:ext cx="10149840" cy="640080"/>
          </a:xfrm>
          <a:prstGeom prst="rect">
            <a:avLst/>
          </a:prstGeom>
          <a:noFill/>
        </p:spPr>
        <p:txBody>
          <a:bodyPr wrap="square" anchor="t">
            <a:spAutoFit/>
          </a:bodyPr>
          <a:lstStyle/>
          <a:p>
            <a:pPr algn="l">
              <a:spcAft>
                <a:spcPts val="400"/>
              </a:spcAft>
            </a:pPr>
            <a:r>
              <a:rPr sz="1700" b="1">
                <a:solidFill>
                  <a:srgbClr val="161B26"/>
                </a:solidFill>
                <a:latin typeface="Arial"/>
              </a:rPr>
              <a:t>A verified working environment with the Forms, Outlook, Excel, Approvals and SharePoint connections in place</a:t>
            </a:r>
          </a:p>
        </p:txBody>
      </p:sp>
      <p:sp>
        <p:nvSpPr>
          <p:cNvPr id="16" name="TextBox 15"/>
          <p:cNvSpPr txBox="1"/>
          <p:nvPr/>
        </p:nvSpPr>
        <p:spPr>
          <a:xfrm>
            <a:off x="1005840" y="5212080"/>
            <a:ext cx="10241280" cy="365760"/>
          </a:xfrm>
          <a:prstGeom prst="rect">
            <a:avLst/>
          </a:prstGeom>
          <a:noFill/>
        </p:spPr>
        <p:txBody>
          <a:bodyPr wrap="square" anchor="t">
            <a:spAutoFit/>
          </a:bodyPr>
          <a:lstStyle/>
          <a:p>
            <a:pPr algn="l">
              <a:spcAft>
                <a:spcPts val="400"/>
              </a:spcAft>
            </a:pPr>
            <a:r>
              <a:rPr sz="1200" b="1">
                <a:solidFill>
                  <a:srgbClr val="5B6372"/>
                </a:solidFill>
                <a:latin typeface="Arial"/>
              </a:rPr>
              <a:t>Apps:  </a:t>
            </a:r>
            <a:r>
              <a:rPr sz="1200" b="0">
                <a:solidFill>
                  <a:srgbClr val="5B6372"/>
                </a:solidFill>
                <a:latin typeface="Arial"/>
              </a:rPr>
              <a:t>Power Platform admin centre, Power Automate</a:t>
            </a:r>
          </a:p>
        </p:txBody>
      </p:sp>
      <p:sp>
        <p:nvSpPr>
          <p:cNvPr id="17" name="Rectangle 16"/>
          <p:cNvSpPr/>
          <p:nvPr/>
        </p:nvSpPr>
        <p:spPr>
          <a:xfrm>
            <a:off x="777240"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5943600"/>
            <a:ext cx="64008"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5943600"/>
            <a:ext cx="3154680" cy="457200"/>
          </a:xfrm>
          <a:prstGeom prst="rect">
            <a:avLst/>
          </a:prstGeom>
          <a:noFill/>
        </p:spPr>
        <p:txBody>
          <a:bodyPr wrap="square" anchor="ctr">
            <a:spAutoFit/>
          </a:bodyPr>
          <a:lstStyle/>
          <a:p>
            <a:pPr algn="l">
              <a:spcAft>
                <a:spcPts val="400"/>
              </a:spcAft>
            </a:pPr>
            <a:r>
              <a:rPr sz="900" b="1">
                <a:solidFill>
                  <a:srgbClr val="1F6FEB"/>
                </a:solidFill>
                <a:latin typeface="Arial"/>
              </a:rPr>
              <a:t>ASSESSED   </a:t>
            </a:r>
            <a:r>
              <a:rPr sz="1050" b="0">
                <a:solidFill>
                  <a:srgbClr val="161B26"/>
                </a:solidFill>
                <a:latin typeface="Arial"/>
              </a:rPr>
              <a:t>K3 · A1</a:t>
            </a:r>
          </a:p>
        </p:txBody>
      </p:sp>
      <p:sp>
        <p:nvSpPr>
          <p:cNvPr id="20" name="Rectangle 19"/>
          <p:cNvSpPr/>
          <p:nvPr/>
        </p:nvSpPr>
        <p:spPr>
          <a:xfrm>
            <a:off x="4407408"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07408" y="5943600"/>
            <a:ext cx="64008"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0" y="5943600"/>
            <a:ext cx="3154680" cy="457200"/>
          </a:xfrm>
          <a:prstGeom prst="rect">
            <a:avLst/>
          </a:prstGeom>
          <a:noFill/>
        </p:spPr>
        <p:txBody>
          <a:bodyPr wrap="square" anchor="ctr">
            <a:spAutoFit/>
          </a:bodyPr>
          <a:lstStyle/>
          <a:p>
            <a:pPr algn="l">
              <a:spcAft>
                <a:spcPts val="400"/>
              </a:spcAft>
            </a:pPr>
            <a:r>
              <a:rPr sz="900" b="1">
                <a:solidFill>
                  <a:srgbClr val="10B981"/>
                </a:solidFill>
                <a:latin typeface="Arial"/>
              </a:rPr>
              <a:t>LEVEL   </a:t>
            </a:r>
            <a:r>
              <a:rPr sz="1050" b="0">
                <a:solidFill>
                  <a:srgbClr val="161B26"/>
                </a:solidFill>
                <a:latin typeface="Arial"/>
              </a:rPr>
              <a:t>Foundation</a:t>
            </a:r>
          </a:p>
        </p:txBody>
      </p:sp>
      <p:sp>
        <p:nvSpPr>
          <p:cNvPr id="23" name="Rectangle 22"/>
          <p:cNvSpPr/>
          <p:nvPr/>
        </p:nvSpPr>
        <p:spPr>
          <a:xfrm>
            <a:off x="8037576"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37576" y="5943600"/>
            <a:ext cx="64008"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02168" y="5943600"/>
            <a:ext cx="3154680" cy="457200"/>
          </a:xfrm>
          <a:prstGeom prst="rect">
            <a:avLst/>
          </a:prstGeom>
          <a:noFill/>
        </p:spPr>
        <p:txBody>
          <a:bodyPr wrap="square" anchor="ctr">
            <a:spAutoFit/>
          </a:bodyPr>
          <a:lstStyle/>
          <a:p>
            <a:pPr algn="l">
              <a:spcAft>
                <a:spcPts val="400"/>
              </a:spcAft>
            </a:pPr>
            <a:r>
              <a:rPr sz="900" b="1">
                <a:solidFill>
                  <a:srgbClr val="7C3AED"/>
                </a:solidFill>
                <a:latin typeface="Arial"/>
              </a:rPr>
              <a:t>EVIDENCE   </a:t>
            </a:r>
            <a:r>
              <a:rPr sz="1050" b="0">
                <a:solidFill>
                  <a:srgbClr val="161B26"/>
                </a:solidFill>
                <a:latin typeface="Arial"/>
              </a:rPr>
              <a:t>Workbook · screenshot · reviewer</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126</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11 · PROCESS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How Lab 11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Prepare</a:t>
            </a:r>
          </a:p>
        </p:txBody>
      </p:sp>
      <p:sp>
        <p:nvSpPr>
          <p:cNvPr id="10" name="TextBox 9"/>
          <p:cNvSpPr txBox="1"/>
          <p:nvPr/>
        </p:nvSpPr>
        <p:spPr>
          <a:xfrm>
            <a:off x="905256"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Open the admin centre</a:t>
            </a:r>
          </a:p>
        </p:txBody>
      </p:sp>
      <p:sp>
        <p:nvSpPr>
          <p:cNvPr id="11" name="Rectangle 10"/>
          <p:cNvSpPr/>
          <p:nvPr/>
        </p:nvSpPr>
        <p:spPr>
          <a:xfrm>
            <a:off x="3175254"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3292298"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50158"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50158"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78174"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Generate</a:t>
            </a:r>
          </a:p>
        </p:txBody>
      </p:sp>
      <p:sp>
        <p:nvSpPr>
          <p:cNvPr id="16" name="TextBox 15"/>
          <p:cNvSpPr txBox="1"/>
          <p:nvPr/>
        </p:nvSpPr>
        <p:spPr>
          <a:xfrm>
            <a:off x="3678174"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Select your environment</a:t>
            </a:r>
          </a:p>
        </p:txBody>
      </p:sp>
      <p:sp>
        <p:nvSpPr>
          <p:cNvPr id="17" name="Rectangle 16"/>
          <p:cNvSpPr/>
          <p:nvPr/>
        </p:nvSpPr>
        <p:spPr>
          <a:xfrm>
            <a:off x="5948172"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6065216"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3076"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23076"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1092"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Verify</a:t>
            </a:r>
          </a:p>
        </p:txBody>
      </p:sp>
      <p:sp>
        <p:nvSpPr>
          <p:cNvPr id="22" name="TextBox 21"/>
          <p:cNvSpPr txBox="1"/>
          <p:nvPr/>
        </p:nvSpPr>
        <p:spPr>
          <a:xfrm>
            <a:off x="6451092"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Add missing connections</a:t>
            </a:r>
          </a:p>
        </p:txBody>
      </p:sp>
      <p:sp>
        <p:nvSpPr>
          <p:cNvPr id="23" name="Rectangle 22"/>
          <p:cNvSpPr/>
          <p:nvPr/>
        </p:nvSpPr>
        <p:spPr>
          <a:xfrm>
            <a:off x="8721090"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8838134"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095994"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5994"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24010"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Record</a:t>
            </a:r>
          </a:p>
        </p:txBody>
      </p:sp>
      <p:sp>
        <p:nvSpPr>
          <p:cNvPr id="28" name="TextBox 27"/>
          <p:cNvSpPr txBox="1"/>
          <p:nvPr/>
        </p:nvSpPr>
        <p:spPr>
          <a:xfrm>
            <a:off x="9224010"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Record the environment</a:t>
            </a:r>
          </a:p>
        </p:txBody>
      </p:sp>
      <p:sp>
        <p:nvSpPr>
          <p:cNvPr id="29" name="Rectangle 28"/>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0B981"/>
                </a:solidFill>
                <a:latin typeface="Arial"/>
              </a:rPr>
              <a:t>WHY IT MATTERS   </a:t>
            </a:r>
            <a:r>
              <a:rPr sz="1300" b="0">
                <a:solidFill>
                  <a:srgbClr val="161B26"/>
                </a:solidFill>
                <a:latin typeface="Arial"/>
              </a:rPr>
              <a:t>The shape of the work. Full step-by-step is in the Learner Guide (Lab 11) and the lab's instruction PDF.</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127</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11 · ACCEPTANCE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Prepare the Power Platform Environment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46888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03120"/>
            <a:ext cx="10698480" cy="9144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423160"/>
            <a:ext cx="10058400" cy="457200"/>
          </a:xfrm>
          <a:prstGeom prst="rect">
            <a:avLst/>
          </a:prstGeom>
          <a:noFill/>
        </p:spPr>
        <p:txBody>
          <a:bodyPr wrap="square" anchor="t">
            <a:spAutoFit/>
          </a:bodyPr>
          <a:lstStyle/>
          <a:p>
            <a:pPr algn="l">
              <a:spcAft>
                <a:spcPts val="400"/>
              </a:spcAft>
            </a:pPr>
            <a:r>
              <a:rPr sz="1900" b="1">
                <a:solidFill>
                  <a:srgbClr val="127A3E"/>
                </a:solidFill>
                <a:latin typeface="Arial"/>
              </a:rPr>
              <a:t>✅  Acceptance check</a:t>
            </a:r>
          </a:p>
        </p:txBody>
      </p:sp>
      <p:sp>
        <p:nvSpPr>
          <p:cNvPr id="10" name="TextBox 9"/>
          <p:cNvSpPr txBox="1"/>
          <p:nvPr/>
        </p:nvSpPr>
        <p:spPr>
          <a:xfrm>
            <a:off x="1097280" y="3063240"/>
            <a:ext cx="10149840" cy="1371600"/>
          </a:xfrm>
          <a:prstGeom prst="rect">
            <a:avLst/>
          </a:prstGeom>
          <a:noFill/>
        </p:spPr>
        <p:txBody>
          <a:bodyPr wrap="square" anchor="t">
            <a:spAutoFit/>
          </a:bodyPr>
          <a:lstStyle/>
          <a:p>
            <a:pPr algn="l">
              <a:spcAft>
                <a:spcPts val="400"/>
              </a:spcAft>
            </a:pPr>
            <a:r>
              <a:rPr sz="1700" b="0">
                <a:solidFill>
                  <a:srgbClr val="161B26"/>
                </a:solidFill>
                <a:latin typeface="Arial"/>
              </a:rPr>
              <a:t>The environment selector shows the recorded environment, and every connector needed by the course appears under Connections with a working status.</a:t>
            </a:r>
          </a:p>
        </p:txBody>
      </p:sp>
      <p:sp>
        <p:nvSpPr>
          <p:cNvPr id="11" name="Rectangle 10"/>
          <p:cNvSpPr/>
          <p:nvPr/>
        </p:nvSpPr>
        <p:spPr>
          <a:xfrm>
            <a:off x="777240" y="4800600"/>
            <a:ext cx="10698480" cy="1143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4800600"/>
            <a:ext cx="10698480"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956048"/>
            <a:ext cx="10058400" cy="320040"/>
          </a:xfrm>
          <a:prstGeom prst="rect">
            <a:avLst/>
          </a:prstGeom>
          <a:noFill/>
        </p:spPr>
        <p:txBody>
          <a:bodyPr wrap="square" anchor="t">
            <a:spAutoFit/>
          </a:bodyPr>
          <a:lstStyle/>
          <a:p>
            <a:pPr algn="l">
              <a:spcAft>
                <a:spcPts val="400"/>
              </a:spcAft>
            </a:pPr>
            <a:r>
              <a:rPr sz="1100" b="1">
                <a:solidFill>
                  <a:srgbClr val="F59E0B"/>
                </a:solidFill>
                <a:latin typeface="Arial"/>
              </a:rPr>
              <a:t>IF IT DOES NOT WORK</a:t>
            </a:r>
          </a:p>
        </p:txBody>
      </p:sp>
      <p:sp>
        <p:nvSpPr>
          <p:cNvPr id="14" name="Oval 13"/>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Re-read the step inputs before you change anything.</a:t>
            </a:r>
          </a:p>
        </p:txBody>
      </p:sp>
      <p:sp>
        <p:nvSpPr>
          <p:cNvPr id="16" name="Oval 15"/>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Check the source is attached and the value inserted, not typed.</a:t>
            </a:r>
          </a:p>
        </p:txBody>
      </p:sp>
      <p:sp>
        <p:nvSpPr>
          <p:cNvPr id="18" name="Oval 17"/>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3816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Full step-by-step: Learner Guide and the lab instruction PDF.</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128</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FOUNDATION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Build a Trigger and Actions Flow from Microsoft Forms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371600" cy="4389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371600" cy="365760"/>
          </a:xfrm>
          <a:prstGeom prst="rect">
            <a:avLst/>
          </a:prstGeom>
          <a:noFill/>
        </p:spPr>
        <p:txBody>
          <a:bodyPr wrap="square" anchor="t">
            <a:spAutoFit/>
          </a:bodyPr>
          <a:lstStyle/>
          <a:p>
            <a:pPr algn="ctr">
              <a:spcAft>
                <a:spcPts val="400"/>
              </a:spcAft>
            </a:pPr>
            <a:r>
              <a:rPr sz="1500" b="1">
                <a:solidFill>
                  <a:srgbClr val="FFFFFF"/>
                </a:solidFill>
                <a:latin typeface="Arial"/>
              </a:rPr>
              <a:t>LAB 12</a:t>
            </a:r>
          </a:p>
        </p:txBody>
      </p:sp>
      <p:sp>
        <p:nvSpPr>
          <p:cNvPr id="9" name="Rectangle 8"/>
          <p:cNvSpPr/>
          <p:nvPr/>
        </p:nvSpPr>
        <p:spPr>
          <a:xfrm>
            <a:off x="2286000" y="1691640"/>
            <a:ext cx="1371600" cy="438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0" y="1737360"/>
            <a:ext cx="1371600" cy="365760"/>
          </a:xfrm>
          <a:prstGeom prst="rect">
            <a:avLst/>
          </a:prstGeom>
          <a:noFill/>
        </p:spPr>
        <p:txBody>
          <a:bodyPr wrap="square" anchor="t">
            <a:spAutoFit/>
          </a:bodyPr>
          <a:lstStyle/>
          <a:p>
            <a:pPr algn="ctr">
              <a:spcAft>
                <a:spcPts val="400"/>
              </a:spcAft>
            </a:pPr>
            <a:r>
              <a:rPr sz="1300" b="1">
                <a:solidFill>
                  <a:srgbClr val="5B6372"/>
                </a:solidFill>
                <a:latin typeface="Arial"/>
              </a:rPr>
              <a:t>K3 · A3</a:t>
            </a:r>
          </a:p>
        </p:txBody>
      </p:sp>
      <p:sp>
        <p:nvSpPr>
          <p:cNvPr id="11" name="TextBox 10"/>
          <p:cNvSpPr txBox="1"/>
          <p:nvPr/>
        </p:nvSpPr>
        <p:spPr>
          <a:xfrm>
            <a:off x="777240" y="2331720"/>
            <a:ext cx="10698480" cy="1371600"/>
          </a:xfrm>
          <a:prstGeom prst="rect">
            <a:avLst/>
          </a:prstGeom>
          <a:noFill/>
        </p:spPr>
        <p:txBody>
          <a:bodyPr wrap="square" anchor="t">
            <a:spAutoFit/>
          </a:bodyPr>
          <a:lstStyle/>
          <a:p>
            <a:pPr algn="l">
              <a:spcAft>
                <a:spcPts val="400"/>
              </a:spcAft>
            </a:pPr>
            <a:r>
              <a:rPr sz="1900" b="0">
                <a:solidFill>
                  <a:srgbClr val="161B26"/>
                </a:solidFill>
                <a:latin typeface="Arial"/>
              </a:rPr>
              <a:t>The learner creates a Microsoft Form, builds an automated cloud flow that starts on submission, retrieves the answers and sends a personalised confirmation to the address the requester entered.</a:t>
            </a:r>
          </a:p>
        </p:txBody>
      </p:sp>
      <p:sp>
        <p:nvSpPr>
          <p:cNvPr id="12" name="Rectangle 11"/>
          <p:cNvSpPr/>
          <p:nvPr/>
        </p:nvSpPr>
        <p:spPr>
          <a:xfrm>
            <a:off x="777240" y="3886200"/>
            <a:ext cx="10698480"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88620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11480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 will build</a:t>
            </a:r>
          </a:p>
        </p:txBody>
      </p:sp>
      <p:sp>
        <p:nvSpPr>
          <p:cNvPr id="15" name="TextBox 14"/>
          <p:cNvSpPr txBox="1"/>
          <p:nvPr/>
        </p:nvSpPr>
        <p:spPr>
          <a:xfrm>
            <a:off x="1005840" y="4480560"/>
            <a:ext cx="10149840" cy="640080"/>
          </a:xfrm>
          <a:prstGeom prst="rect">
            <a:avLst/>
          </a:prstGeom>
          <a:noFill/>
        </p:spPr>
        <p:txBody>
          <a:bodyPr wrap="square" anchor="t">
            <a:spAutoFit/>
          </a:bodyPr>
          <a:lstStyle/>
          <a:p>
            <a:pPr algn="l">
              <a:spcAft>
                <a:spcPts val="400"/>
              </a:spcAft>
            </a:pPr>
            <a:r>
              <a:rPr sz="1700" b="1">
                <a:solidFill>
                  <a:srgbClr val="161B26"/>
                </a:solidFill>
                <a:latin typeface="Arial"/>
              </a:rPr>
              <a:t>A working Forms-to-email flow that acknowledges every enquiry automatically</a:t>
            </a:r>
          </a:p>
        </p:txBody>
      </p:sp>
      <p:sp>
        <p:nvSpPr>
          <p:cNvPr id="16" name="TextBox 15"/>
          <p:cNvSpPr txBox="1"/>
          <p:nvPr/>
        </p:nvSpPr>
        <p:spPr>
          <a:xfrm>
            <a:off x="1005840" y="5212080"/>
            <a:ext cx="10241280" cy="365760"/>
          </a:xfrm>
          <a:prstGeom prst="rect">
            <a:avLst/>
          </a:prstGeom>
          <a:noFill/>
        </p:spPr>
        <p:txBody>
          <a:bodyPr wrap="square" anchor="t">
            <a:spAutoFit/>
          </a:bodyPr>
          <a:lstStyle/>
          <a:p>
            <a:pPr algn="l">
              <a:spcAft>
                <a:spcPts val="400"/>
              </a:spcAft>
            </a:pPr>
            <a:r>
              <a:rPr sz="1200" b="1">
                <a:solidFill>
                  <a:srgbClr val="5B6372"/>
                </a:solidFill>
                <a:latin typeface="Arial"/>
              </a:rPr>
              <a:t>Apps:  </a:t>
            </a:r>
            <a:r>
              <a:rPr sz="1200" b="0">
                <a:solidFill>
                  <a:srgbClr val="5B6372"/>
                </a:solidFill>
                <a:latin typeface="Arial"/>
              </a:rPr>
              <a:t>Power Automate, Microsoft Forms, Outlook</a:t>
            </a:r>
          </a:p>
        </p:txBody>
      </p:sp>
      <p:sp>
        <p:nvSpPr>
          <p:cNvPr id="17" name="Rectangle 16"/>
          <p:cNvSpPr/>
          <p:nvPr/>
        </p:nvSpPr>
        <p:spPr>
          <a:xfrm>
            <a:off x="777240"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5943600"/>
            <a:ext cx="64008"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5943600"/>
            <a:ext cx="3154680" cy="457200"/>
          </a:xfrm>
          <a:prstGeom prst="rect">
            <a:avLst/>
          </a:prstGeom>
          <a:noFill/>
        </p:spPr>
        <p:txBody>
          <a:bodyPr wrap="square" anchor="ctr">
            <a:spAutoFit/>
          </a:bodyPr>
          <a:lstStyle/>
          <a:p>
            <a:pPr algn="l">
              <a:spcAft>
                <a:spcPts val="400"/>
              </a:spcAft>
            </a:pPr>
            <a:r>
              <a:rPr sz="900" b="1">
                <a:solidFill>
                  <a:srgbClr val="1F6FEB"/>
                </a:solidFill>
                <a:latin typeface="Arial"/>
              </a:rPr>
              <a:t>ASSESSED   </a:t>
            </a:r>
            <a:r>
              <a:rPr sz="1050" b="0">
                <a:solidFill>
                  <a:srgbClr val="161B26"/>
                </a:solidFill>
                <a:latin typeface="Arial"/>
              </a:rPr>
              <a:t>K3 · A3</a:t>
            </a:r>
          </a:p>
        </p:txBody>
      </p:sp>
      <p:sp>
        <p:nvSpPr>
          <p:cNvPr id="20" name="Rectangle 19"/>
          <p:cNvSpPr/>
          <p:nvPr/>
        </p:nvSpPr>
        <p:spPr>
          <a:xfrm>
            <a:off x="4407408"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07408" y="5943600"/>
            <a:ext cx="64008"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0" y="5943600"/>
            <a:ext cx="3154680" cy="457200"/>
          </a:xfrm>
          <a:prstGeom prst="rect">
            <a:avLst/>
          </a:prstGeom>
          <a:noFill/>
        </p:spPr>
        <p:txBody>
          <a:bodyPr wrap="square" anchor="ctr">
            <a:spAutoFit/>
          </a:bodyPr>
          <a:lstStyle/>
          <a:p>
            <a:pPr algn="l">
              <a:spcAft>
                <a:spcPts val="400"/>
              </a:spcAft>
            </a:pPr>
            <a:r>
              <a:rPr sz="900" b="1">
                <a:solidFill>
                  <a:srgbClr val="10B981"/>
                </a:solidFill>
                <a:latin typeface="Arial"/>
              </a:rPr>
              <a:t>LEVEL   </a:t>
            </a:r>
            <a:r>
              <a:rPr sz="1050" b="0">
                <a:solidFill>
                  <a:srgbClr val="161B26"/>
                </a:solidFill>
                <a:latin typeface="Arial"/>
              </a:rPr>
              <a:t>Foundation</a:t>
            </a:r>
          </a:p>
        </p:txBody>
      </p:sp>
      <p:sp>
        <p:nvSpPr>
          <p:cNvPr id="23" name="Rectangle 22"/>
          <p:cNvSpPr/>
          <p:nvPr/>
        </p:nvSpPr>
        <p:spPr>
          <a:xfrm>
            <a:off x="8037576"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37576" y="5943600"/>
            <a:ext cx="64008"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02168" y="5943600"/>
            <a:ext cx="3154680" cy="457200"/>
          </a:xfrm>
          <a:prstGeom prst="rect">
            <a:avLst/>
          </a:prstGeom>
          <a:noFill/>
        </p:spPr>
        <p:txBody>
          <a:bodyPr wrap="square" anchor="ctr">
            <a:spAutoFit/>
          </a:bodyPr>
          <a:lstStyle/>
          <a:p>
            <a:pPr algn="l">
              <a:spcAft>
                <a:spcPts val="400"/>
              </a:spcAft>
            </a:pPr>
            <a:r>
              <a:rPr sz="900" b="1">
                <a:solidFill>
                  <a:srgbClr val="7C3AED"/>
                </a:solidFill>
                <a:latin typeface="Arial"/>
              </a:rPr>
              <a:t>EVIDENCE   </a:t>
            </a:r>
            <a:r>
              <a:rPr sz="1050" b="0">
                <a:solidFill>
                  <a:srgbClr val="161B26"/>
                </a:solidFill>
                <a:latin typeface="Arial"/>
              </a:rPr>
              <a:t>Workbook · screenshot · reviewer</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129</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12 · PROCESS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How Lab 12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Prepare</a:t>
            </a:r>
          </a:p>
        </p:txBody>
      </p:sp>
      <p:sp>
        <p:nvSpPr>
          <p:cNvPr id="10" name="TextBox 9"/>
          <p:cNvSpPr txBox="1"/>
          <p:nvPr/>
        </p:nvSpPr>
        <p:spPr>
          <a:xfrm>
            <a:off x="905256"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Create the enquiry form</a:t>
            </a:r>
          </a:p>
        </p:txBody>
      </p:sp>
      <p:sp>
        <p:nvSpPr>
          <p:cNvPr id="11" name="Rectangle 10"/>
          <p:cNvSpPr/>
          <p:nvPr/>
        </p:nvSpPr>
        <p:spPr>
          <a:xfrm>
            <a:off x="3175254"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3292298"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50158"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50158"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78174"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Generate</a:t>
            </a:r>
          </a:p>
        </p:txBody>
      </p:sp>
      <p:sp>
        <p:nvSpPr>
          <p:cNvPr id="16" name="TextBox 15"/>
          <p:cNvSpPr txBox="1"/>
          <p:nvPr/>
        </p:nvSpPr>
        <p:spPr>
          <a:xfrm>
            <a:off x="3678174"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Point the trigger at it</a:t>
            </a:r>
          </a:p>
        </p:txBody>
      </p:sp>
      <p:sp>
        <p:nvSpPr>
          <p:cNvPr id="17" name="Rectangle 16"/>
          <p:cNvSpPr/>
          <p:nvPr/>
        </p:nvSpPr>
        <p:spPr>
          <a:xfrm>
            <a:off x="5948172"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6065216"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3076"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23076"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1092"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Verify</a:t>
            </a:r>
          </a:p>
        </p:txBody>
      </p:sp>
      <p:sp>
        <p:nvSpPr>
          <p:cNvPr id="22" name="TextBox 21"/>
          <p:cNvSpPr txBox="1"/>
          <p:nvPr/>
        </p:nvSpPr>
        <p:spPr>
          <a:xfrm>
            <a:off x="6451092"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Add Send an email (V2)</a:t>
            </a:r>
          </a:p>
        </p:txBody>
      </p:sp>
      <p:sp>
        <p:nvSpPr>
          <p:cNvPr id="23" name="Rectangle 22"/>
          <p:cNvSpPr/>
          <p:nvPr/>
        </p:nvSpPr>
        <p:spPr>
          <a:xfrm>
            <a:off x="8721090"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8838134"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095994"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5994"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24010"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Record</a:t>
            </a:r>
          </a:p>
        </p:txBody>
      </p:sp>
      <p:sp>
        <p:nvSpPr>
          <p:cNvPr id="28" name="TextBox 27"/>
          <p:cNvSpPr txBox="1"/>
          <p:nvPr/>
        </p:nvSpPr>
        <p:spPr>
          <a:xfrm>
            <a:off x="9224010"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Test and read the run history</a:t>
            </a:r>
          </a:p>
        </p:txBody>
      </p:sp>
      <p:sp>
        <p:nvSpPr>
          <p:cNvPr id="29" name="Rectangle 28"/>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0B981"/>
                </a:solidFill>
                <a:latin typeface="Arial"/>
              </a:rPr>
              <a:t>WHY IT MATTERS   </a:t>
            </a:r>
            <a:r>
              <a:rPr sz="1300" b="0">
                <a:solidFill>
                  <a:srgbClr val="161B26"/>
                </a:solidFill>
                <a:latin typeface="Arial"/>
              </a:rPr>
              <a:t>The shape of the work. Full step-by-step is in the Learner Guide (Lab 12) and the lab's instruction PDF.</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130</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12 · ACCEPTANCE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Build a Trigger and Actions Flow from Microsoft Forms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46888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03120"/>
            <a:ext cx="10698480" cy="9144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423160"/>
            <a:ext cx="10058400" cy="457200"/>
          </a:xfrm>
          <a:prstGeom prst="rect">
            <a:avLst/>
          </a:prstGeom>
          <a:noFill/>
        </p:spPr>
        <p:txBody>
          <a:bodyPr wrap="square" anchor="t">
            <a:spAutoFit/>
          </a:bodyPr>
          <a:lstStyle/>
          <a:p>
            <a:pPr algn="l">
              <a:spcAft>
                <a:spcPts val="400"/>
              </a:spcAft>
            </a:pPr>
            <a:r>
              <a:rPr sz="1900" b="1">
                <a:solidFill>
                  <a:srgbClr val="127A3E"/>
                </a:solidFill>
                <a:latin typeface="Arial"/>
              </a:rPr>
              <a:t>✅  Acceptance check</a:t>
            </a:r>
          </a:p>
        </p:txBody>
      </p:sp>
      <p:sp>
        <p:nvSpPr>
          <p:cNvPr id="10" name="TextBox 9"/>
          <p:cNvSpPr txBox="1"/>
          <p:nvPr/>
        </p:nvSpPr>
        <p:spPr>
          <a:xfrm>
            <a:off x="1097280" y="3063240"/>
            <a:ext cx="10149840" cy="1371600"/>
          </a:xfrm>
          <a:prstGeom prst="rect">
            <a:avLst/>
          </a:prstGeom>
          <a:noFill/>
        </p:spPr>
        <p:txBody>
          <a:bodyPr wrap="square" anchor="t">
            <a:spAutoFit/>
          </a:bodyPr>
          <a:lstStyle/>
          <a:p>
            <a:pPr algn="l">
              <a:spcAft>
                <a:spcPts val="400"/>
              </a:spcAft>
            </a:pPr>
            <a:r>
              <a:rPr sz="1700" b="0">
                <a:solidFill>
                  <a:srgbClr val="161B26"/>
                </a:solidFill>
                <a:latin typeface="Arial"/>
              </a:rPr>
              <a:t>One form submission produces one successful run, and the confirmation email arrives at the address entered in the form rather than the flow owner's mailbox.</a:t>
            </a:r>
          </a:p>
        </p:txBody>
      </p:sp>
      <p:sp>
        <p:nvSpPr>
          <p:cNvPr id="11" name="Rectangle 10"/>
          <p:cNvSpPr/>
          <p:nvPr/>
        </p:nvSpPr>
        <p:spPr>
          <a:xfrm>
            <a:off x="777240" y="4800600"/>
            <a:ext cx="10698480" cy="1143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4800600"/>
            <a:ext cx="10698480"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956048"/>
            <a:ext cx="10058400" cy="320040"/>
          </a:xfrm>
          <a:prstGeom prst="rect">
            <a:avLst/>
          </a:prstGeom>
          <a:noFill/>
        </p:spPr>
        <p:txBody>
          <a:bodyPr wrap="square" anchor="t">
            <a:spAutoFit/>
          </a:bodyPr>
          <a:lstStyle/>
          <a:p>
            <a:pPr algn="l">
              <a:spcAft>
                <a:spcPts val="400"/>
              </a:spcAft>
            </a:pPr>
            <a:r>
              <a:rPr sz="1100" b="1">
                <a:solidFill>
                  <a:srgbClr val="F59E0B"/>
                </a:solidFill>
                <a:latin typeface="Arial"/>
              </a:rPr>
              <a:t>IF IT DOES NOT WORK</a:t>
            </a:r>
          </a:p>
        </p:txBody>
      </p:sp>
      <p:sp>
        <p:nvSpPr>
          <p:cNvPr id="14" name="Oval 13"/>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Re-read the step inputs before you change anything.</a:t>
            </a:r>
          </a:p>
        </p:txBody>
      </p:sp>
      <p:sp>
        <p:nvSpPr>
          <p:cNvPr id="16" name="Oval 15"/>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Check the source is attached and the value inserted, not typed.</a:t>
            </a:r>
          </a:p>
        </p:txBody>
      </p:sp>
      <p:sp>
        <p:nvSpPr>
          <p:cNvPr id="18" name="Oval 17"/>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3816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Full step-by-step: Learner Guide and the lab instruction PDF.</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131</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INTERMEDIATE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Log Form Submissions to Excel Online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371600" cy="4389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371600" cy="365760"/>
          </a:xfrm>
          <a:prstGeom prst="rect">
            <a:avLst/>
          </a:prstGeom>
          <a:noFill/>
        </p:spPr>
        <p:txBody>
          <a:bodyPr wrap="square" anchor="t">
            <a:spAutoFit/>
          </a:bodyPr>
          <a:lstStyle/>
          <a:p>
            <a:pPr algn="ctr">
              <a:spcAft>
                <a:spcPts val="400"/>
              </a:spcAft>
            </a:pPr>
            <a:r>
              <a:rPr sz="1500" b="1">
                <a:solidFill>
                  <a:srgbClr val="FFFFFF"/>
                </a:solidFill>
                <a:latin typeface="Arial"/>
              </a:rPr>
              <a:t>LAB 13</a:t>
            </a:r>
          </a:p>
        </p:txBody>
      </p:sp>
      <p:sp>
        <p:nvSpPr>
          <p:cNvPr id="9" name="Rectangle 8"/>
          <p:cNvSpPr/>
          <p:nvPr/>
        </p:nvSpPr>
        <p:spPr>
          <a:xfrm>
            <a:off x="2286000" y="1691640"/>
            <a:ext cx="1371600" cy="438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0" y="1737360"/>
            <a:ext cx="1371600" cy="365760"/>
          </a:xfrm>
          <a:prstGeom prst="rect">
            <a:avLst/>
          </a:prstGeom>
          <a:noFill/>
        </p:spPr>
        <p:txBody>
          <a:bodyPr wrap="square" anchor="t">
            <a:spAutoFit/>
          </a:bodyPr>
          <a:lstStyle/>
          <a:p>
            <a:pPr algn="ctr">
              <a:spcAft>
                <a:spcPts val="400"/>
              </a:spcAft>
            </a:pPr>
            <a:r>
              <a:rPr sz="1300" b="1">
                <a:solidFill>
                  <a:srgbClr val="5B6372"/>
                </a:solidFill>
                <a:latin typeface="Arial"/>
              </a:rPr>
              <a:t>K3 · A3</a:t>
            </a:r>
          </a:p>
        </p:txBody>
      </p:sp>
      <p:sp>
        <p:nvSpPr>
          <p:cNvPr id="11" name="TextBox 10"/>
          <p:cNvSpPr txBox="1"/>
          <p:nvPr/>
        </p:nvSpPr>
        <p:spPr>
          <a:xfrm>
            <a:off x="777240" y="2331720"/>
            <a:ext cx="10698480" cy="1371600"/>
          </a:xfrm>
          <a:prstGeom prst="rect">
            <a:avLst/>
          </a:prstGeom>
          <a:noFill/>
        </p:spPr>
        <p:txBody>
          <a:bodyPr wrap="square" anchor="t">
            <a:spAutoFit/>
          </a:bodyPr>
          <a:lstStyle/>
          <a:p>
            <a:pPr algn="l">
              <a:spcAft>
                <a:spcPts val="400"/>
              </a:spcAft>
            </a:pPr>
            <a:r>
              <a:rPr sz="1900" b="0">
                <a:solidFill>
                  <a:srgbClr val="161B26"/>
                </a:solidFill>
                <a:latin typeface="Arial"/>
              </a:rPr>
              <a:t>The learner extends the enquiry flow so each submission also writes a row into a named Excel table, producing an auditable log alongside the email acknowledgement.</a:t>
            </a:r>
          </a:p>
        </p:txBody>
      </p:sp>
      <p:sp>
        <p:nvSpPr>
          <p:cNvPr id="12" name="Rectangle 11"/>
          <p:cNvSpPr/>
          <p:nvPr/>
        </p:nvSpPr>
        <p:spPr>
          <a:xfrm>
            <a:off x="777240" y="3886200"/>
            <a:ext cx="10698480"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88620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11480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 will build</a:t>
            </a:r>
          </a:p>
        </p:txBody>
      </p:sp>
      <p:sp>
        <p:nvSpPr>
          <p:cNvPr id="15" name="TextBox 14"/>
          <p:cNvSpPr txBox="1"/>
          <p:nvPr/>
        </p:nvSpPr>
        <p:spPr>
          <a:xfrm>
            <a:off x="1005840" y="4480560"/>
            <a:ext cx="10149840" cy="640080"/>
          </a:xfrm>
          <a:prstGeom prst="rect">
            <a:avLst/>
          </a:prstGeom>
          <a:noFill/>
        </p:spPr>
        <p:txBody>
          <a:bodyPr wrap="square" anchor="t">
            <a:spAutoFit/>
          </a:bodyPr>
          <a:lstStyle/>
          <a:p>
            <a:pPr algn="l">
              <a:spcAft>
                <a:spcPts val="400"/>
              </a:spcAft>
            </a:pPr>
            <a:r>
              <a:rPr sz="1700" b="1">
                <a:solidFill>
                  <a:srgbClr val="161B26"/>
                </a:solidFill>
                <a:latin typeface="Arial"/>
              </a:rPr>
              <a:t>An enquiry flow that both emails the requester and appends a row to an Excel log table</a:t>
            </a:r>
          </a:p>
        </p:txBody>
      </p:sp>
      <p:sp>
        <p:nvSpPr>
          <p:cNvPr id="16" name="TextBox 15"/>
          <p:cNvSpPr txBox="1"/>
          <p:nvPr/>
        </p:nvSpPr>
        <p:spPr>
          <a:xfrm>
            <a:off x="1005840" y="5212080"/>
            <a:ext cx="10241280" cy="365760"/>
          </a:xfrm>
          <a:prstGeom prst="rect">
            <a:avLst/>
          </a:prstGeom>
          <a:noFill/>
        </p:spPr>
        <p:txBody>
          <a:bodyPr wrap="square" anchor="t">
            <a:spAutoFit/>
          </a:bodyPr>
          <a:lstStyle/>
          <a:p>
            <a:pPr algn="l">
              <a:spcAft>
                <a:spcPts val="400"/>
              </a:spcAft>
            </a:pPr>
            <a:r>
              <a:rPr sz="1200" b="1">
                <a:solidFill>
                  <a:srgbClr val="5B6372"/>
                </a:solidFill>
                <a:latin typeface="Arial"/>
              </a:rPr>
              <a:t>Apps:  </a:t>
            </a:r>
            <a:r>
              <a:rPr sz="1200" b="0">
                <a:solidFill>
                  <a:srgbClr val="5B6372"/>
                </a:solidFill>
                <a:latin typeface="Arial"/>
              </a:rPr>
              <a:t>Power Automate, Microsoft Forms, Excel Online, OneDrive</a:t>
            </a:r>
          </a:p>
        </p:txBody>
      </p:sp>
      <p:sp>
        <p:nvSpPr>
          <p:cNvPr id="17" name="Rectangle 16"/>
          <p:cNvSpPr/>
          <p:nvPr/>
        </p:nvSpPr>
        <p:spPr>
          <a:xfrm>
            <a:off x="777240"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5943600"/>
            <a:ext cx="64008"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5943600"/>
            <a:ext cx="3154680" cy="457200"/>
          </a:xfrm>
          <a:prstGeom prst="rect">
            <a:avLst/>
          </a:prstGeom>
          <a:noFill/>
        </p:spPr>
        <p:txBody>
          <a:bodyPr wrap="square" anchor="ctr">
            <a:spAutoFit/>
          </a:bodyPr>
          <a:lstStyle/>
          <a:p>
            <a:pPr algn="l">
              <a:spcAft>
                <a:spcPts val="400"/>
              </a:spcAft>
            </a:pPr>
            <a:r>
              <a:rPr sz="900" b="1">
                <a:solidFill>
                  <a:srgbClr val="1F6FEB"/>
                </a:solidFill>
                <a:latin typeface="Arial"/>
              </a:rPr>
              <a:t>ASSESSED   </a:t>
            </a:r>
            <a:r>
              <a:rPr sz="1050" b="0">
                <a:solidFill>
                  <a:srgbClr val="161B26"/>
                </a:solidFill>
                <a:latin typeface="Arial"/>
              </a:rPr>
              <a:t>K3 · A3</a:t>
            </a:r>
          </a:p>
        </p:txBody>
      </p:sp>
      <p:sp>
        <p:nvSpPr>
          <p:cNvPr id="20" name="Rectangle 19"/>
          <p:cNvSpPr/>
          <p:nvPr/>
        </p:nvSpPr>
        <p:spPr>
          <a:xfrm>
            <a:off x="4407408"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07408" y="5943600"/>
            <a:ext cx="64008"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0" y="5943600"/>
            <a:ext cx="3154680" cy="457200"/>
          </a:xfrm>
          <a:prstGeom prst="rect">
            <a:avLst/>
          </a:prstGeom>
          <a:noFill/>
        </p:spPr>
        <p:txBody>
          <a:bodyPr wrap="square" anchor="ctr">
            <a:spAutoFit/>
          </a:bodyPr>
          <a:lstStyle/>
          <a:p>
            <a:pPr algn="l">
              <a:spcAft>
                <a:spcPts val="400"/>
              </a:spcAft>
            </a:pPr>
            <a:r>
              <a:rPr sz="900" b="1">
                <a:solidFill>
                  <a:srgbClr val="10B981"/>
                </a:solidFill>
                <a:latin typeface="Arial"/>
              </a:rPr>
              <a:t>LEVEL   </a:t>
            </a:r>
            <a:r>
              <a:rPr sz="1050" b="0">
                <a:solidFill>
                  <a:srgbClr val="161B26"/>
                </a:solidFill>
                <a:latin typeface="Arial"/>
              </a:rPr>
              <a:t>Intermediate</a:t>
            </a:r>
          </a:p>
        </p:txBody>
      </p:sp>
      <p:sp>
        <p:nvSpPr>
          <p:cNvPr id="23" name="Rectangle 22"/>
          <p:cNvSpPr/>
          <p:nvPr/>
        </p:nvSpPr>
        <p:spPr>
          <a:xfrm>
            <a:off x="8037576"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37576" y="5943600"/>
            <a:ext cx="64008"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02168" y="5943600"/>
            <a:ext cx="3154680" cy="457200"/>
          </a:xfrm>
          <a:prstGeom prst="rect">
            <a:avLst/>
          </a:prstGeom>
          <a:noFill/>
        </p:spPr>
        <p:txBody>
          <a:bodyPr wrap="square" anchor="ctr">
            <a:spAutoFit/>
          </a:bodyPr>
          <a:lstStyle/>
          <a:p>
            <a:pPr algn="l">
              <a:spcAft>
                <a:spcPts val="400"/>
              </a:spcAft>
            </a:pPr>
            <a:r>
              <a:rPr sz="900" b="1">
                <a:solidFill>
                  <a:srgbClr val="7C3AED"/>
                </a:solidFill>
                <a:latin typeface="Arial"/>
              </a:rPr>
              <a:t>EVIDENCE   </a:t>
            </a:r>
            <a:r>
              <a:rPr sz="1050" b="0">
                <a:solidFill>
                  <a:srgbClr val="161B26"/>
                </a:solidFill>
                <a:latin typeface="Arial"/>
              </a:rPr>
              <a:t>Workbook · screenshot · reviewer</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132</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13 · PROCESS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How Lab 13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Prepare</a:t>
            </a:r>
          </a:p>
        </p:txBody>
      </p:sp>
      <p:sp>
        <p:nvSpPr>
          <p:cNvPr id="10" name="TextBox 9"/>
          <p:cNvSpPr txBox="1"/>
          <p:nvPr/>
        </p:nvSpPr>
        <p:spPr>
          <a:xfrm>
            <a:off x="905256"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Prepare the Enquiry Log</a:t>
            </a:r>
          </a:p>
        </p:txBody>
      </p:sp>
      <p:sp>
        <p:nvSpPr>
          <p:cNvPr id="11" name="Rectangle 10"/>
          <p:cNvSpPr/>
          <p:nvPr/>
        </p:nvSpPr>
        <p:spPr>
          <a:xfrm>
            <a:off x="3175254"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3292298"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50158"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50158"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78174"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Generate</a:t>
            </a:r>
          </a:p>
        </p:txBody>
      </p:sp>
      <p:sp>
        <p:nvSpPr>
          <p:cNvPr id="16" name="TextBox 15"/>
          <p:cNvSpPr txBox="1"/>
          <p:nvPr/>
        </p:nvSpPr>
        <p:spPr>
          <a:xfrm>
            <a:off x="3678174"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Add the Excel step</a:t>
            </a:r>
          </a:p>
        </p:txBody>
      </p:sp>
      <p:sp>
        <p:nvSpPr>
          <p:cNvPr id="17" name="Rectangle 16"/>
          <p:cNvSpPr/>
          <p:nvPr/>
        </p:nvSpPr>
        <p:spPr>
          <a:xfrm>
            <a:off x="5948172"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6065216"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3076"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23076"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1092"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Verify</a:t>
            </a:r>
          </a:p>
        </p:txBody>
      </p:sp>
      <p:sp>
        <p:nvSpPr>
          <p:cNvPr id="22" name="TextBox 21"/>
          <p:cNvSpPr txBox="1"/>
          <p:nvPr/>
        </p:nvSpPr>
        <p:spPr>
          <a:xfrm>
            <a:off x="6451092"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Map each dynamic value</a:t>
            </a:r>
          </a:p>
        </p:txBody>
      </p:sp>
      <p:sp>
        <p:nvSpPr>
          <p:cNvPr id="23" name="Rectangle 22"/>
          <p:cNvSpPr/>
          <p:nvPr/>
        </p:nvSpPr>
        <p:spPr>
          <a:xfrm>
            <a:off x="8721090"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8838134"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095994"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5994"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24010"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Record</a:t>
            </a:r>
          </a:p>
        </p:txBody>
      </p:sp>
      <p:sp>
        <p:nvSpPr>
          <p:cNvPr id="28" name="TextBox 27"/>
          <p:cNvSpPr txBox="1"/>
          <p:nvPr/>
        </p:nvSpPr>
        <p:spPr>
          <a:xfrm>
            <a:off x="9224010"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Verify row and email</a:t>
            </a:r>
          </a:p>
        </p:txBody>
      </p:sp>
      <p:sp>
        <p:nvSpPr>
          <p:cNvPr id="29" name="Rectangle 28"/>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0B981"/>
                </a:solidFill>
                <a:latin typeface="Arial"/>
              </a:rPr>
              <a:t>WHY IT MATTERS   </a:t>
            </a:r>
            <a:r>
              <a:rPr sz="1300" b="0">
                <a:solidFill>
                  <a:srgbClr val="161B26"/>
                </a:solidFill>
                <a:latin typeface="Arial"/>
              </a:rPr>
              <a:t>The shape of the work. Full step-by-step is in the Learner Guide (Lab 13) and the lab's instruction PDF.</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133</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13 · ACCEPTANCE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Log Form Submissions to Excel Online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46888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03120"/>
            <a:ext cx="10698480" cy="9144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423160"/>
            <a:ext cx="10058400" cy="457200"/>
          </a:xfrm>
          <a:prstGeom prst="rect">
            <a:avLst/>
          </a:prstGeom>
          <a:noFill/>
        </p:spPr>
        <p:txBody>
          <a:bodyPr wrap="square" anchor="t">
            <a:spAutoFit/>
          </a:bodyPr>
          <a:lstStyle/>
          <a:p>
            <a:pPr algn="l">
              <a:spcAft>
                <a:spcPts val="400"/>
              </a:spcAft>
            </a:pPr>
            <a:r>
              <a:rPr sz="1900" b="1">
                <a:solidFill>
                  <a:srgbClr val="127A3E"/>
                </a:solidFill>
                <a:latin typeface="Arial"/>
              </a:rPr>
              <a:t>✅  Acceptance check</a:t>
            </a:r>
          </a:p>
        </p:txBody>
      </p:sp>
      <p:sp>
        <p:nvSpPr>
          <p:cNvPr id="10" name="TextBox 9"/>
          <p:cNvSpPr txBox="1"/>
          <p:nvPr/>
        </p:nvSpPr>
        <p:spPr>
          <a:xfrm>
            <a:off x="1097280" y="3063240"/>
            <a:ext cx="10149840" cy="1371600"/>
          </a:xfrm>
          <a:prstGeom prst="rect">
            <a:avLst/>
          </a:prstGeom>
          <a:noFill/>
        </p:spPr>
        <p:txBody>
          <a:bodyPr wrap="square" anchor="t">
            <a:spAutoFit/>
          </a:bodyPr>
          <a:lstStyle/>
          <a:p>
            <a:pPr algn="l">
              <a:spcAft>
                <a:spcPts val="400"/>
              </a:spcAft>
            </a:pPr>
            <a:r>
              <a:rPr sz="1700" b="0">
                <a:solidFill>
                  <a:srgbClr val="161B26"/>
                </a:solidFill>
                <a:latin typeface="Arial"/>
              </a:rPr>
              <a:t>A single form submission produces one new row in the EnquiryLog table with all five columns populated, and one confirmation email.</a:t>
            </a:r>
          </a:p>
        </p:txBody>
      </p:sp>
      <p:sp>
        <p:nvSpPr>
          <p:cNvPr id="11" name="Rectangle 10"/>
          <p:cNvSpPr/>
          <p:nvPr/>
        </p:nvSpPr>
        <p:spPr>
          <a:xfrm>
            <a:off x="777240" y="4800600"/>
            <a:ext cx="10698480" cy="1143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4800600"/>
            <a:ext cx="10698480"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956048"/>
            <a:ext cx="10058400" cy="320040"/>
          </a:xfrm>
          <a:prstGeom prst="rect">
            <a:avLst/>
          </a:prstGeom>
          <a:noFill/>
        </p:spPr>
        <p:txBody>
          <a:bodyPr wrap="square" anchor="t">
            <a:spAutoFit/>
          </a:bodyPr>
          <a:lstStyle/>
          <a:p>
            <a:pPr algn="l">
              <a:spcAft>
                <a:spcPts val="400"/>
              </a:spcAft>
            </a:pPr>
            <a:r>
              <a:rPr sz="1100" b="1">
                <a:solidFill>
                  <a:srgbClr val="F59E0B"/>
                </a:solidFill>
                <a:latin typeface="Arial"/>
              </a:rPr>
              <a:t>IF IT DOES NOT WORK</a:t>
            </a:r>
          </a:p>
        </p:txBody>
      </p:sp>
      <p:sp>
        <p:nvSpPr>
          <p:cNvPr id="14" name="Oval 13"/>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Re-read the step inputs before you change anything.</a:t>
            </a:r>
          </a:p>
        </p:txBody>
      </p:sp>
      <p:sp>
        <p:nvSpPr>
          <p:cNvPr id="16" name="Oval 15"/>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Check the source is attached and the value inserted, not typed.</a:t>
            </a:r>
          </a:p>
        </p:txBody>
      </p:sp>
      <p:sp>
        <p:nvSpPr>
          <p:cNvPr id="18" name="Oval 17"/>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3816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Full step-by-step: Learner Guide and the lab instruction PDF.</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134</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INTERMEDIATE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Branch a Flow with a Condition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371600" cy="4389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371600" cy="365760"/>
          </a:xfrm>
          <a:prstGeom prst="rect">
            <a:avLst/>
          </a:prstGeom>
          <a:noFill/>
        </p:spPr>
        <p:txBody>
          <a:bodyPr wrap="square" anchor="t">
            <a:spAutoFit/>
          </a:bodyPr>
          <a:lstStyle/>
          <a:p>
            <a:pPr algn="ctr">
              <a:spcAft>
                <a:spcPts val="400"/>
              </a:spcAft>
            </a:pPr>
            <a:r>
              <a:rPr sz="1500" b="1">
                <a:solidFill>
                  <a:srgbClr val="FFFFFF"/>
                </a:solidFill>
                <a:latin typeface="Arial"/>
              </a:rPr>
              <a:t>LAB 14</a:t>
            </a:r>
          </a:p>
        </p:txBody>
      </p:sp>
      <p:sp>
        <p:nvSpPr>
          <p:cNvPr id="9" name="Rectangle 8"/>
          <p:cNvSpPr/>
          <p:nvPr/>
        </p:nvSpPr>
        <p:spPr>
          <a:xfrm>
            <a:off x="2286000" y="1691640"/>
            <a:ext cx="1371600" cy="438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0" y="1737360"/>
            <a:ext cx="1371600" cy="365760"/>
          </a:xfrm>
          <a:prstGeom prst="rect">
            <a:avLst/>
          </a:prstGeom>
          <a:noFill/>
        </p:spPr>
        <p:txBody>
          <a:bodyPr wrap="square" anchor="t">
            <a:spAutoFit/>
          </a:bodyPr>
          <a:lstStyle/>
          <a:p>
            <a:pPr algn="ctr">
              <a:spcAft>
                <a:spcPts val="400"/>
              </a:spcAft>
            </a:pPr>
            <a:r>
              <a:rPr sz="1300" b="1">
                <a:solidFill>
                  <a:srgbClr val="5B6372"/>
                </a:solidFill>
                <a:latin typeface="Arial"/>
              </a:rPr>
              <a:t>K3 · A3</a:t>
            </a:r>
          </a:p>
        </p:txBody>
      </p:sp>
      <p:sp>
        <p:nvSpPr>
          <p:cNvPr id="11" name="TextBox 10"/>
          <p:cNvSpPr txBox="1"/>
          <p:nvPr/>
        </p:nvSpPr>
        <p:spPr>
          <a:xfrm>
            <a:off x="777240" y="2331720"/>
            <a:ext cx="10698480" cy="1371600"/>
          </a:xfrm>
          <a:prstGeom prst="rect">
            <a:avLst/>
          </a:prstGeom>
          <a:noFill/>
        </p:spPr>
        <p:txBody>
          <a:bodyPr wrap="square" anchor="t">
            <a:spAutoFit/>
          </a:bodyPr>
          <a:lstStyle/>
          <a:p>
            <a:pPr algn="l">
              <a:spcAft>
                <a:spcPts val="400"/>
              </a:spcAft>
            </a:pPr>
            <a:r>
              <a:rPr sz="1900" b="0">
                <a:solidFill>
                  <a:srgbClr val="161B26"/>
                </a:solidFill>
                <a:latin typeface="Arial"/>
              </a:rPr>
              <a:t>The learner adds a condition so that enquiries are handled differently according to their content, sending an urgent notification down one branch and a standard acknowledgement down the other.</a:t>
            </a:r>
          </a:p>
        </p:txBody>
      </p:sp>
      <p:sp>
        <p:nvSpPr>
          <p:cNvPr id="12" name="Rectangle 11"/>
          <p:cNvSpPr/>
          <p:nvPr/>
        </p:nvSpPr>
        <p:spPr>
          <a:xfrm>
            <a:off x="777240" y="3886200"/>
            <a:ext cx="10698480"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88620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11480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 will build</a:t>
            </a:r>
          </a:p>
        </p:txBody>
      </p:sp>
      <p:sp>
        <p:nvSpPr>
          <p:cNvPr id="15" name="TextBox 14"/>
          <p:cNvSpPr txBox="1"/>
          <p:nvPr/>
        </p:nvSpPr>
        <p:spPr>
          <a:xfrm>
            <a:off x="1005840" y="4480560"/>
            <a:ext cx="10149840" cy="640080"/>
          </a:xfrm>
          <a:prstGeom prst="rect">
            <a:avLst/>
          </a:prstGeom>
          <a:noFill/>
        </p:spPr>
        <p:txBody>
          <a:bodyPr wrap="square" anchor="t">
            <a:spAutoFit/>
          </a:bodyPr>
          <a:lstStyle/>
          <a:p>
            <a:pPr algn="l">
              <a:spcAft>
                <a:spcPts val="400"/>
              </a:spcAft>
            </a:pPr>
            <a:r>
              <a:rPr sz="1700" b="1">
                <a:solidFill>
                  <a:srgbClr val="161B26"/>
                </a:solidFill>
                <a:latin typeface="Arial"/>
              </a:rPr>
              <a:t>A branching flow whose two paths are both proven by a test submission</a:t>
            </a:r>
          </a:p>
        </p:txBody>
      </p:sp>
      <p:sp>
        <p:nvSpPr>
          <p:cNvPr id="16" name="TextBox 15"/>
          <p:cNvSpPr txBox="1"/>
          <p:nvPr/>
        </p:nvSpPr>
        <p:spPr>
          <a:xfrm>
            <a:off x="1005840" y="5212080"/>
            <a:ext cx="10241280" cy="365760"/>
          </a:xfrm>
          <a:prstGeom prst="rect">
            <a:avLst/>
          </a:prstGeom>
          <a:noFill/>
        </p:spPr>
        <p:txBody>
          <a:bodyPr wrap="square" anchor="t">
            <a:spAutoFit/>
          </a:bodyPr>
          <a:lstStyle/>
          <a:p>
            <a:pPr algn="l">
              <a:spcAft>
                <a:spcPts val="400"/>
              </a:spcAft>
            </a:pPr>
            <a:r>
              <a:rPr sz="1200" b="1">
                <a:solidFill>
                  <a:srgbClr val="5B6372"/>
                </a:solidFill>
                <a:latin typeface="Arial"/>
              </a:rPr>
              <a:t>Apps:  </a:t>
            </a:r>
            <a:r>
              <a:rPr sz="1200" b="0">
                <a:solidFill>
                  <a:srgbClr val="5B6372"/>
                </a:solidFill>
                <a:latin typeface="Arial"/>
              </a:rPr>
              <a:t>Power Automate, Microsoft Forms, Outlook</a:t>
            </a:r>
          </a:p>
        </p:txBody>
      </p:sp>
      <p:sp>
        <p:nvSpPr>
          <p:cNvPr id="17" name="Rectangle 16"/>
          <p:cNvSpPr/>
          <p:nvPr/>
        </p:nvSpPr>
        <p:spPr>
          <a:xfrm>
            <a:off x="777240"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5943600"/>
            <a:ext cx="64008"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5943600"/>
            <a:ext cx="3154680" cy="457200"/>
          </a:xfrm>
          <a:prstGeom prst="rect">
            <a:avLst/>
          </a:prstGeom>
          <a:noFill/>
        </p:spPr>
        <p:txBody>
          <a:bodyPr wrap="square" anchor="ctr">
            <a:spAutoFit/>
          </a:bodyPr>
          <a:lstStyle/>
          <a:p>
            <a:pPr algn="l">
              <a:spcAft>
                <a:spcPts val="400"/>
              </a:spcAft>
            </a:pPr>
            <a:r>
              <a:rPr sz="900" b="1">
                <a:solidFill>
                  <a:srgbClr val="1F6FEB"/>
                </a:solidFill>
                <a:latin typeface="Arial"/>
              </a:rPr>
              <a:t>ASSESSED   </a:t>
            </a:r>
            <a:r>
              <a:rPr sz="1050" b="0">
                <a:solidFill>
                  <a:srgbClr val="161B26"/>
                </a:solidFill>
                <a:latin typeface="Arial"/>
              </a:rPr>
              <a:t>K3 · A3</a:t>
            </a:r>
          </a:p>
        </p:txBody>
      </p:sp>
      <p:sp>
        <p:nvSpPr>
          <p:cNvPr id="20" name="Rectangle 19"/>
          <p:cNvSpPr/>
          <p:nvPr/>
        </p:nvSpPr>
        <p:spPr>
          <a:xfrm>
            <a:off x="4407408"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07408" y="5943600"/>
            <a:ext cx="64008"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0" y="5943600"/>
            <a:ext cx="3154680" cy="457200"/>
          </a:xfrm>
          <a:prstGeom prst="rect">
            <a:avLst/>
          </a:prstGeom>
          <a:noFill/>
        </p:spPr>
        <p:txBody>
          <a:bodyPr wrap="square" anchor="ctr">
            <a:spAutoFit/>
          </a:bodyPr>
          <a:lstStyle/>
          <a:p>
            <a:pPr algn="l">
              <a:spcAft>
                <a:spcPts val="400"/>
              </a:spcAft>
            </a:pPr>
            <a:r>
              <a:rPr sz="900" b="1">
                <a:solidFill>
                  <a:srgbClr val="10B981"/>
                </a:solidFill>
                <a:latin typeface="Arial"/>
              </a:rPr>
              <a:t>LEVEL   </a:t>
            </a:r>
            <a:r>
              <a:rPr sz="1050" b="0">
                <a:solidFill>
                  <a:srgbClr val="161B26"/>
                </a:solidFill>
                <a:latin typeface="Arial"/>
              </a:rPr>
              <a:t>Intermediate</a:t>
            </a:r>
          </a:p>
        </p:txBody>
      </p:sp>
      <p:sp>
        <p:nvSpPr>
          <p:cNvPr id="23" name="Rectangle 22"/>
          <p:cNvSpPr/>
          <p:nvPr/>
        </p:nvSpPr>
        <p:spPr>
          <a:xfrm>
            <a:off x="8037576"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37576" y="5943600"/>
            <a:ext cx="64008"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02168" y="5943600"/>
            <a:ext cx="3154680" cy="457200"/>
          </a:xfrm>
          <a:prstGeom prst="rect">
            <a:avLst/>
          </a:prstGeom>
          <a:noFill/>
        </p:spPr>
        <p:txBody>
          <a:bodyPr wrap="square" anchor="ctr">
            <a:spAutoFit/>
          </a:bodyPr>
          <a:lstStyle/>
          <a:p>
            <a:pPr algn="l">
              <a:spcAft>
                <a:spcPts val="400"/>
              </a:spcAft>
            </a:pPr>
            <a:r>
              <a:rPr sz="900" b="1">
                <a:solidFill>
                  <a:srgbClr val="7C3AED"/>
                </a:solidFill>
                <a:latin typeface="Arial"/>
              </a:rPr>
              <a:t>EVIDENCE   </a:t>
            </a:r>
            <a:r>
              <a:rPr sz="1050" b="0">
                <a:solidFill>
                  <a:srgbClr val="161B26"/>
                </a:solidFill>
                <a:latin typeface="Arial"/>
              </a:rPr>
              <a:t>Workbook · screenshot · reviewer</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135</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14 · PROCESS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How Lab 14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Prepare</a:t>
            </a:r>
          </a:p>
        </p:txBody>
      </p:sp>
      <p:sp>
        <p:nvSpPr>
          <p:cNvPr id="10" name="TextBox 9"/>
          <p:cNvSpPr txBox="1"/>
          <p:nvPr/>
        </p:nvSpPr>
        <p:spPr>
          <a:xfrm>
            <a:off x="905256"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Decide the branching rule</a:t>
            </a:r>
          </a:p>
        </p:txBody>
      </p:sp>
      <p:sp>
        <p:nvSpPr>
          <p:cNvPr id="11" name="Rectangle 10"/>
          <p:cNvSpPr/>
          <p:nvPr/>
        </p:nvSpPr>
        <p:spPr>
          <a:xfrm>
            <a:off x="3175254"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3292298"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50158"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50158"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78174"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Generate</a:t>
            </a:r>
          </a:p>
        </p:txBody>
      </p:sp>
      <p:sp>
        <p:nvSpPr>
          <p:cNvPr id="16" name="TextBox 15"/>
          <p:cNvSpPr txBox="1"/>
          <p:nvPr/>
        </p:nvSpPr>
        <p:spPr>
          <a:xfrm>
            <a:off x="3678174"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Configure the condition</a:t>
            </a:r>
          </a:p>
        </p:txBody>
      </p:sp>
      <p:sp>
        <p:nvSpPr>
          <p:cNvPr id="17" name="Rectangle 16"/>
          <p:cNvSpPr/>
          <p:nvPr/>
        </p:nvSpPr>
        <p:spPr>
          <a:xfrm>
            <a:off x="5948172"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6065216"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3076"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23076"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1092"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Verify</a:t>
            </a:r>
          </a:p>
        </p:txBody>
      </p:sp>
      <p:sp>
        <p:nvSpPr>
          <p:cNvPr id="22" name="TextBox 21"/>
          <p:cNvSpPr txBox="1"/>
          <p:nvPr/>
        </p:nvSpPr>
        <p:spPr>
          <a:xfrm>
            <a:off x="6451092"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Build both branches</a:t>
            </a:r>
          </a:p>
        </p:txBody>
      </p:sp>
      <p:sp>
        <p:nvSpPr>
          <p:cNvPr id="23" name="Rectangle 22"/>
          <p:cNvSpPr/>
          <p:nvPr/>
        </p:nvSpPr>
        <p:spPr>
          <a:xfrm>
            <a:off x="8721090"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8838134"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095994"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5994"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24010"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Record</a:t>
            </a:r>
          </a:p>
        </p:txBody>
      </p:sp>
      <p:sp>
        <p:nvSpPr>
          <p:cNvPr id="28" name="TextBox 27"/>
          <p:cNvSpPr txBox="1"/>
          <p:nvPr/>
        </p:nvSpPr>
        <p:spPr>
          <a:xfrm>
            <a:off x="9224010"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Read the run history</a:t>
            </a:r>
          </a:p>
        </p:txBody>
      </p:sp>
      <p:sp>
        <p:nvSpPr>
          <p:cNvPr id="29" name="Rectangle 28"/>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0B981"/>
                </a:solidFill>
                <a:latin typeface="Arial"/>
              </a:rPr>
              <a:t>WHY IT MATTERS   </a:t>
            </a:r>
            <a:r>
              <a:rPr sz="1300" b="0">
                <a:solidFill>
                  <a:srgbClr val="161B26"/>
                </a:solidFill>
                <a:latin typeface="Arial"/>
              </a:rPr>
              <a:t>The shape of the work. Full step-by-step is in the Learner Guide (Lab 14) and the lab's instruction PDF.</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136</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14 · ACCEPTANCE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Branch a Flow with a Condition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46888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03120"/>
            <a:ext cx="10698480" cy="9144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423160"/>
            <a:ext cx="10058400" cy="457200"/>
          </a:xfrm>
          <a:prstGeom prst="rect">
            <a:avLst/>
          </a:prstGeom>
          <a:noFill/>
        </p:spPr>
        <p:txBody>
          <a:bodyPr wrap="square" anchor="t">
            <a:spAutoFit/>
          </a:bodyPr>
          <a:lstStyle/>
          <a:p>
            <a:pPr algn="l">
              <a:spcAft>
                <a:spcPts val="400"/>
              </a:spcAft>
            </a:pPr>
            <a:r>
              <a:rPr sz="1900" b="1">
                <a:solidFill>
                  <a:srgbClr val="127A3E"/>
                </a:solidFill>
                <a:latin typeface="Arial"/>
              </a:rPr>
              <a:t>✅  Acceptance check</a:t>
            </a:r>
          </a:p>
        </p:txBody>
      </p:sp>
      <p:sp>
        <p:nvSpPr>
          <p:cNvPr id="10" name="TextBox 9"/>
          <p:cNvSpPr txBox="1"/>
          <p:nvPr/>
        </p:nvSpPr>
        <p:spPr>
          <a:xfrm>
            <a:off x="1097280" y="3063240"/>
            <a:ext cx="10149840" cy="1371600"/>
          </a:xfrm>
          <a:prstGeom prst="rect">
            <a:avLst/>
          </a:prstGeom>
          <a:noFill/>
        </p:spPr>
        <p:txBody>
          <a:bodyPr wrap="square" anchor="t">
            <a:spAutoFit/>
          </a:bodyPr>
          <a:lstStyle/>
          <a:p>
            <a:pPr algn="l">
              <a:spcAft>
                <a:spcPts val="400"/>
              </a:spcAft>
            </a:pPr>
            <a:r>
              <a:rPr sz="1700" b="0">
                <a:solidFill>
                  <a:srgbClr val="161B26"/>
                </a:solidFill>
                <a:latin typeface="Arial"/>
              </a:rPr>
              <a:t>Two submissions produce two successful runs that each take a different branch, and the run history shows the untaken branch as skipped rather than failed.</a:t>
            </a:r>
          </a:p>
        </p:txBody>
      </p:sp>
      <p:sp>
        <p:nvSpPr>
          <p:cNvPr id="11" name="Rectangle 10"/>
          <p:cNvSpPr/>
          <p:nvPr/>
        </p:nvSpPr>
        <p:spPr>
          <a:xfrm>
            <a:off x="777240" y="4800600"/>
            <a:ext cx="10698480" cy="1143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4800600"/>
            <a:ext cx="10698480"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956048"/>
            <a:ext cx="10058400" cy="320040"/>
          </a:xfrm>
          <a:prstGeom prst="rect">
            <a:avLst/>
          </a:prstGeom>
          <a:noFill/>
        </p:spPr>
        <p:txBody>
          <a:bodyPr wrap="square" anchor="t">
            <a:spAutoFit/>
          </a:bodyPr>
          <a:lstStyle/>
          <a:p>
            <a:pPr algn="l">
              <a:spcAft>
                <a:spcPts val="400"/>
              </a:spcAft>
            </a:pPr>
            <a:r>
              <a:rPr sz="1100" b="1">
                <a:solidFill>
                  <a:srgbClr val="F59E0B"/>
                </a:solidFill>
                <a:latin typeface="Arial"/>
              </a:rPr>
              <a:t>IF IT DOES NOT WORK</a:t>
            </a:r>
          </a:p>
        </p:txBody>
      </p:sp>
      <p:sp>
        <p:nvSpPr>
          <p:cNvPr id="14" name="Oval 13"/>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Re-read the step inputs before you change anything.</a:t>
            </a:r>
          </a:p>
        </p:txBody>
      </p:sp>
      <p:sp>
        <p:nvSpPr>
          <p:cNvPr id="16" name="Oval 15"/>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Check the source is attached and the value inserted, not typed.</a:t>
            </a:r>
          </a:p>
        </p:txBody>
      </p:sp>
      <p:sp>
        <p:nvSpPr>
          <p:cNvPr id="18" name="Oval 17"/>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3816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Full step-by-step: Learner Guide and the lab instruction PDF.</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137</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ADVANCED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Suspend a Flow for a Human Approval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371600" cy="4389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371600" cy="365760"/>
          </a:xfrm>
          <a:prstGeom prst="rect">
            <a:avLst/>
          </a:prstGeom>
          <a:noFill/>
        </p:spPr>
        <p:txBody>
          <a:bodyPr wrap="square" anchor="t">
            <a:spAutoFit/>
          </a:bodyPr>
          <a:lstStyle/>
          <a:p>
            <a:pPr algn="ctr">
              <a:spcAft>
                <a:spcPts val="400"/>
              </a:spcAft>
            </a:pPr>
            <a:r>
              <a:rPr sz="1500" b="1">
                <a:solidFill>
                  <a:srgbClr val="FFFFFF"/>
                </a:solidFill>
                <a:latin typeface="Arial"/>
              </a:rPr>
              <a:t>LAB 15</a:t>
            </a:r>
          </a:p>
        </p:txBody>
      </p:sp>
      <p:sp>
        <p:nvSpPr>
          <p:cNvPr id="9" name="Rectangle 8"/>
          <p:cNvSpPr/>
          <p:nvPr/>
        </p:nvSpPr>
        <p:spPr>
          <a:xfrm>
            <a:off x="2286000" y="1691640"/>
            <a:ext cx="1371600" cy="438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0" y="1737360"/>
            <a:ext cx="1371600" cy="365760"/>
          </a:xfrm>
          <a:prstGeom prst="rect">
            <a:avLst/>
          </a:prstGeom>
          <a:noFill/>
        </p:spPr>
        <p:txBody>
          <a:bodyPr wrap="square" anchor="t">
            <a:spAutoFit/>
          </a:bodyPr>
          <a:lstStyle/>
          <a:p>
            <a:pPr algn="ctr">
              <a:spcAft>
                <a:spcPts val="400"/>
              </a:spcAft>
            </a:pPr>
            <a:r>
              <a:rPr sz="1300" b="1">
                <a:solidFill>
                  <a:srgbClr val="5B6372"/>
                </a:solidFill>
                <a:latin typeface="Arial"/>
              </a:rPr>
              <a:t>K5 · A7</a:t>
            </a:r>
          </a:p>
        </p:txBody>
      </p:sp>
      <p:sp>
        <p:nvSpPr>
          <p:cNvPr id="11" name="TextBox 10"/>
          <p:cNvSpPr txBox="1"/>
          <p:nvPr/>
        </p:nvSpPr>
        <p:spPr>
          <a:xfrm>
            <a:off x="777240" y="2331720"/>
            <a:ext cx="10698480" cy="1371600"/>
          </a:xfrm>
          <a:prstGeom prst="rect">
            <a:avLst/>
          </a:prstGeom>
          <a:noFill/>
        </p:spPr>
        <p:txBody>
          <a:bodyPr wrap="square" anchor="t">
            <a:spAutoFit/>
          </a:bodyPr>
          <a:lstStyle/>
          <a:p>
            <a:pPr algn="l">
              <a:spcAft>
                <a:spcPts val="400"/>
              </a:spcAft>
            </a:pPr>
            <a:r>
              <a:rPr sz="1900" b="0">
                <a:solidFill>
                  <a:srgbClr val="161B26"/>
                </a:solidFill>
                <a:latin typeface="Arial"/>
              </a:rPr>
              <a:t>The learner builds a leave-application flow that pauses at an approval action, waits for a named approver's decision, and then takes a different action for an approved and a rejected outcome.</a:t>
            </a:r>
          </a:p>
        </p:txBody>
      </p:sp>
      <p:sp>
        <p:nvSpPr>
          <p:cNvPr id="12" name="Rectangle 11"/>
          <p:cNvSpPr/>
          <p:nvPr/>
        </p:nvSpPr>
        <p:spPr>
          <a:xfrm>
            <a:off x="777240" y="3886200"/>
            <a:ext cx="10698480"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88620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11480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 will build</a:t>
            </a:r>
          </a:p>
        </p:txBody>
      </p:sp>
      <p:sp>
        <p:nvSpPr>
          <p:cNvPr id="15" name="TextBox 14"/>
          <p:cNvSpPr txBox="1"/>
          <p:nvPr/>
        </p:nvSpPr>
        <p:spPr>
          <a:xfrm>
            <a:off x="1005840" y="4480560"/>
            <a:ext cx="10149840" cy="640080"/>
          </a:xfrm>
          <a:prstGeom prst="rect">
            <a:avLst/>
          </a:prstGeom>
          <a:noFill/>
        </p:spPr>
        <p:txBody>
          <a:bodyPr wrap="square" anchor="t">
            <a:spAutoFit/>
          </a:bodyPr>
          <a:lstStyle/>
          <a:p>
            <a:pPr algn="l">
              <a:spcAft>
                <a:spcPts val="400"/>
              </a:spcAft>
            </a:pPr>
            <a:r>
              <a:rPr sz="1700" b="1">
                <a:solidFill>
                  <a:srgbClr val="161B26"/>
                </a:solidFill>
                <a:latin typeface="Arial"/>
              </a:rPr>
              <a:t>A leave-application flow that suspends until an approver responds and records the outcome</a:t>
            </a:r>
          </a:p>
        </p:txBody>
      </p:sp>
      <p:sp>
        <p:nvSpPr>
          <p:cNvPr id="16" name="TextBox 15"/>
          <p:cNvSpPr txBox="1"/>
          <p:nvPr/>
        </p:nvSpPr>
        <p:spPr>
          <a:xfrm>
            <a:off x="1005840" y="5212080"/>
            <a:ext cx="10241280" cy="365760"/>
          </a:xfrm>
          <a:prstGeom prst="rect">
            <a:avLst/>
          </a:prstGeom>
          <a:noFill/>
        </p:spPr>
        <p:txBody>
          <a:bodyPr wrap="square" anchor="t">
            <a:spAutoFit/>
          </a:bodyPr>
          <a:lstStyle/>
          <a:p>
            <a:pPr algn="l">
              <a:spcAft>
                <a:spcPts val="400"/>
              </a:spcAft>
            </a:pPr>
            <a:r>
              <a:rPr sz="1200" b="1">
                <a:solidFill>
                  <a:srgbClr val="5B6372"/>
                </a:solidFill>
                <a:latin typeface="Arial"/>
              </a:rPr>
              <a:t>Apps:  </a:t>
            </a:r>
            <a:r>
              <a:rPr sz="1200" b="0">
                <a:solidFill>
                  <a:srgbClr val="5B6372"/>
                </a:solidFill>
                <a:latin typeface="Arial"/>
              </a:rPr>
              <a:t>Power Automate, Approvals, Outlook, Teams</a:t>
            </a:r>
          </a:p>
        </p:txBody>
      </p:sp>
      <p:sp>
        <p:nvSpPr>
          <p:cNvPr id="17" name="Rectangle 16"/>
          <p:cNvSpPr/>
          <p:nvPr/>
        </p:nvSpPr>
        <p:spPr>
          <a:xfrm>
            <a:off x="777240"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5943600"/>
            <a:ext cx="64008"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5943600"/>
            <a:ext cx="3154680" cy="457200"/>
          </a:xfrm>
          <a:prstGeom prst="rect">
            <a:avLst/>
          </a:prstGeom>
          <a:noFill/>
        </p:spPr>
        <p:txBody>
          <a:bodyPr wrap="square" anchor="ctr">
            <a:spAutoFit/>
          </a:bodyPr>
          <a:lstStyle/>
          <a:p>
            <a:pPr algn="l">
              <a:spcAft>
                <a:spcPts val="400"/>
              </a:spcAft>
            </a:pPr>
            <a:r>
              <a:rPr sz="900" b="1">
                <a:solidFill>
                  <a:srgbClr val="1F6FEB"/>
                </a:solidFill>
                <a:latin typeface="Arial"/>
              </a:rPr>
              <a:t>ASSESSED   </a:t>
            </a:r>
            <a:r>
              <a:rPr sz="1050" b="0">
                <a:solidFill>
                  <a:srgbClr val="161B26"/>
                </a:solidFill>
                <a:latin typeface="Arial"/>
              </a:rPr>
              <a:t>K5 · A7</a:t>
            </a:r>
          </a:p>
        </p:txBody>
      </p:sp>
      <p:sp>
        <p:nvSpPr>
          <p:cNvPr id="20" name="Rectangle 19"/>
          <p:cNvSpPr/>
          <p:nvPr/>
        </p:nvSpPr>
        <p:spPr>
          <a:xfrm>
            <a:off x="4407408"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07408" y="5943600"/>
            <a:ext cx="64008"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0" y="5943600"/>
            <a:ext cx="3154680" cy="457200"/>
          </a:xfrm>
          <a:prstGeom prst="rect">
            <a:avLst/>
          </a:prstGeom>
          <a:noFill/>
        </p:spPr>
        <p:txBody>
          <a:bodyPr wrap="square" anchor="ctr">
            <a:spAutoFit/>
          </a:bodyPr>
          <a:lstStyle/>
          <a:p>
            <a:pPr algn="l">
              <a:spcAft>
                <a:spcPts val="400"/>
              </a:spcAft>
            </a:pPr>
            <a:r>
              <a:rPr sz="900" b="1">
                <a:solidFill>
                  <a:srgbClr val="10B981"/>
                </a:solidFill>
                <a:latin typeface="Arial"/>
              </a:rPr>
              <a:t>LEVEL   </a:t>
            </a:r>
            <a:r>
              <a:rPr sz="1050" b="0">
                <a:solidFill>
                  <a:srgbClr val="161B26"/>
                </a:solidFill>
                <a:latin typeface="Arial"/>
              </a:rPr>
              <a:t>Advanced</a:t>
            </a:r>
          </a:p>
        </p:txBody>
      </p:sp>
      <p:sp>
        <p:nvSpPr>
          <p:cNvPr id="23" name="Rectangle 22"/>
          <p:cNvSpPr/>
          <p:nvPr/>
        </p:nvSpPr>
        <p:spPr>
          <a:xfrm>
            <a:off x="8037576"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37576" y="5943600"/>
            <a:ext cx="64008"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02168" y="5943600"/>
            <a:ext cx="3154680" cy="457200"/>
          </a:xfrm>
          <a:prstGeom prst="rect">
            <a:avLst/>
          </a:prstGeom>
          <a:noFill/>
        </p:spPr>
        <p:txBody>
          <a:bodyPr wrap="square" anchor="ctr">
            <a:spAutoFit/>
          </a:bodyPr>
          <a:lstStyle/>
          <a:p>
            <a:pPr algn="l">
              <a:spcAft>
                <a:spcPts val="400"/>
              </a:spcAft>
            </a:pPr>
            <a:r>
              <a:rPr sz="900" b="1">
                <a:solidFill>
                  <a:srgbClr val="7C3AED"/>
                </a:solidFill>
                <a:latin typeface="Arial"/>
              </a:rPr>
              <a:t>EVIDENCE   </a:t>
            </a:r>
            <a:r>
              <a:rPr sz="1050" b="0">
                <a:solidFill>
                  <a:srgbClr val="161B26"/>
                </a:solidFill>
                <a:latin typeface="Arial"/>
              </a:rPr>
              <a:t>Workbook · screenshot · reviewer</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138</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15 · PROCESS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How Lab 15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Prepare</a:t>
            </a:r>
          </a:p>
        </p:txBody>
      </p:sp>
      <p:sp>
        <p:nvSpPr>
          <p:cNvPr id="10" name="TextBox 9"/>
          <p:cNvSpPr txBox="1"/>
          <p:nvPr/>
        </p:nvSpPr>
        <p:spPr>
          <a:xfrm>
            <a:off x="905256"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Create the leave form</a:t>
            </a:r>
          </a:p>
        </p:txBody>
      </p:sp>
      <p:sp>
        <p:nvSpPr>
          <p:cNvPr id="11" name="Rectangle 10"/>
          <p:cNvSpPr/>
          <p:nvPr/>
        </p:nvSpPr>
        <p:spPr>
          <a:xfrm>
            <a:off x="3175254"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3292298"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50158"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50158"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78174"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Generate</a:t>
            </a:r>
          </a:p>
        </p:txBody>
      </p:sp>
      <p:sp>
        <p:nvSpPr>
          <p:cNvPr id="16" name="TextBox 15"/>
          <p:cNvSpPr txBox="1"/>
          <p:nvPr/>
        </p:nvSpPr>
        <p:spPr>
          <a:xfrm>
            <a:off x="3678174"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Add the approval action</a:t>
            </a:r>
          </a:p>
        </p:txBody>
      </p:sp>
      <p:sp>
        <p:nvSpPr>
          <p:cNvPr id="17" name="Rectangle 16"/>
          <p:cNvSpPr/>
          <p:nvPr/>
        </p:nvSpPr>
        <p:spPr>
          <a:xfrm>
            <a:off x="5948172"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6065216"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3076"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23076"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1092"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Verify</a:t>
            </a:r>
          </a:p>
        </p:txBody>
      </p:sp>
      <p:sp>
        <p:nvSpPr>
          <p:cNvPr id="22" name="TextBox 21"/>
          <p:cNvSpPr txBox="1"/>
          <p:nvPr/>
        </p:nvSpPr>
        <p:spPr>
          <a:xfrm>
            <a:off x="6451092"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Assign the approver</a:t>
            </a:r>
          </a:p>
        </p:txBody>
      </p:sp>
      <p:sp>
        <p:nvSpPr>
          <p:cNvPr id="23" name="Rectangle 22"/>
          <p:cNvSpPr/>
          <p:nvPr/>
        </p:nvSpPr>
        <p:spPr>
          <a:xfrm>
            <a:off x="8721090"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8838134"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095994"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5994"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24010"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Record</a:t>
            </a:r>
          </a:p>
        </p:txBody>
      </p:sp>
      <p:sp>
        <p:nvSpPr>
          <p:cNvPr id="28" name="TextBox 27"/>
          <p:cNvSpPr txBox="1"/>
          <p:nvPr/>
        </p:nvSpPr>
        <p:spPr>
          <a:xfrm>
            <a:off x="9224010"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Test both outcomes</a:t>
            </a:r>
          </a:p>
        </p:txBody>
      </p:sp>
      <p:sp>
        <p:nvSpPr>
          <p:cNvPr id="29" name="Rectangle 28"/>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0B981"/>
                </a:solidFill>
                <a:latin typeface="Arial"/>
              </a:rPr>
              <a:t>WHY IT MATTERS   </a:t>
            </a:r>
            <a:r>
              <a:rPr sz="1300" b="0">
                <a:solidFill>
                  <a:srgbClr val="161B26"/>
                </a:solidFill>
                <a:latin typeface="Arial"/>
              </a:rPr>
              <a:t>The shape of the work. Full step-by-step is in the Learner Guide (Lab 15) and the lab's instruction PDF.</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139</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15 · ACCEPTANCE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Suspend a Flow for a Human Approval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46888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03120"/>
            <a:ext cx="10698480" cy="9144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423160"/>
            <a:ext cx="10058400" cy="457200"/>
          </a:xfrm>
          <a:prstGeom prst="rect">
            <a:avLst/>
          </a:prstGeom>
          <a:noFill/>
        </p:spPr>
        <p:txBody>
          <a:bodyPr wrap="square" anchor="t">
            <a:spAutoFit/>
          </a:bodyPr>
          <a:lstStyle/>
          <a:p>
            <a:pPr algn="l">
              <a:spcAft>
                <a:spcPts val="400"/>
              </a:spcAft>
            </a:pPr>
            <a:r>
              <a:rPr sz="1900" b="1">
                <a:solidFill>
                  <a:srgbClr val="127A3E"/>
                </a:solidFill>
                <a:latin typeface="Arial"/>
              </a:rPr>
              <a:t>✅  Acceptance check</a:t>
            </a:r>
          </a:p>
        </p:txBody>
      </p:sp>
      <p:sp>
        <p:nvSpPr>
          <p:cNvPr id="10" name="TextBox 9"/>
          <p:cNvSpPr txBox="1"/>
          <p:nvPr/>
        </p:nvSpPr>
        <p:spPr>
          <a:xfrm>
            <a:off x="1097280" y="3063240"/>
            <a:ext cx="10149840" cy="1371600"/>
          </a:xfrm>
          <a:prstGeom prst="rect">
            <a:avLst/>
          </a:prstGeom>
          <a:noFill/>
        </p:spPr>
        <p:txBody>
          <a:bodyPr wrap="square" anchor="t">
            <a:spAutoFit/>
          </a:bodyPr>
          <a:lstStyle/>
          <a:p>
            <a:pPr algn="l">
              <a:spcAft>
                <a:spcPts val="400"/>
              </a:spcAft>
            </a:pPr>
            <a:r>
              <a:rPr sz="1700" b="0">
                <a:solidFill>
                  <a:srgbClr val="161B26"/>
                </a:solidFill>
                <a:latin typeface="Arial"/>
              </a:rPr>
              <a:t>The run remains in a waiting state until the approver responds, then resumes down the branch matching the decision and emails the applicant the correct outcome.</a:t>
            </a:r>
          </a:p>
        </p:txBody>
      </p:sp>
      <p:sp>
        <p:nvSpPr>
          <p:cNvPr id="11" name="Rectangle 10"/>
          <p:cNvSpPr/>
          <p:nvPr/>
        </p:nvSpPr>
        <p:spPr>
          <a:xfrm>
            <a:off x="777240" y="4800600"/>
            <a:ext cx="10698480" cy="1143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4800600"/>
            <a:ext cx="10698480"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956048"/>
            <a:ext cx="10058400" cy="320040"/>
          </a:xfrm>
          <a:prstGeom prst="rect">
            <a:avLst/>
          </a:prstGeom>
          <a:noFill/>
        </p:spPr>
        <p:txBody>
          <a:bodyPr wrap="square" anchor="t">
            <a:spAutoFit/>
          </a:bodyPr>
          <a:lstStyle/>
          <a:p>
            <a:pPr algn="l">
              <a:spcAft>
                <a:spcPts val="400"/>
              </a:spcAft>
            </a:pPr>
            <a:r>
              <a:rPr sz="1100" b="1">
                <a:solidFill>
                  <a:srgbClr val="F59E0B"/>
                </a:solidFill>
                <a:latin typeface="Arial"/>
              </a:rPr>
              <a:t>IF IT DOES NOT WORK</a:t>
            </a:r>
          </a:p>
        </p:txBody>
      </p:sp>
      <p:sp>
        <p:nvSpPr>
          <p:cNvPr id="14" name="Oval 13"/>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Re-read the step inputs before you change anything.</a:t>
            </a:r>
          </a:p>
        </p:txBody>
      </p:sp>
      <p:sp>
        <p:nvSpPr>
          <p:cNvPr id="16" name="Oval 15"/>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Check the source is attached and the value inserted, not typed.</a:t>
            </a:r>
          </a:p>
        </p:txBody>
      </p:sp>
      <p:sp>
        <p:nvSpPr>
          <p:cNvPr id="18" name="Oval 17"/>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3816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Full step-by-step: Learner Guide and the lab instruction PDF.</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140</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 CAN NOW DO</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Recap — Topic 03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Lab 11</a:t>
            </a:r>
          </a:p>
          <a:p>
            <a:pPr algn="l">
              <a:spcAft>
                <a:spcPts val="300"/>
              </a:spcAft>
            </a:pPr>
            <a:r>
              <a:rPr sz="1000" b="0">
                <a:solidFill>
                  <a:srgbClr val="5B6372"/>
                </a:solidFill>
                <a:latin typeface="Arial"/>
              </a:rPr>
              <a:t>Identify the environment that holds your automation and confirm the connections it needs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Lab 12</a:t>
            </a:r>
          </a:p>
          <a:p>
            <a:pPr algn="l">
              <a:spcAft>
                <a:spcPts val="300"/>
              </a:spcAft>
            </a:pPr>
            <a:r>
              <a:rPr sz="1000" b="0">
                <a:solidFill>
                  <a:srgbClr val="5B6372"/>
                </a:solidFill>
                <a:latin typeface="Arial"/>
              </a:rPr>
              <a:t>Build an automated cloud flow that reacts to an event and sends a personalised response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29000"/>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Lab 13</a:t>
            </a:r>
          </a:p>
          <a:p>
            <a:pPr algn="l">
              <a:spcAft>
                <a:spcPts val="300"/>
              </a:spcAft>
            </a:pPr>
            <a:r>
              <a:rPr sz="1000" b="0">
                <a:solidFill>
                  <a:srgbClr val="5B6372"/>
                </a:solidFill>
                <a:latin typeface="Arial"/>
              </a:rPr>
              <a:t>Integrate a flow with a second system so every submission is recorded as a row of data</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29000"/>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Lab 14</a:t>
            </a:r>
          </a:p>
          <a:p>
            <a:pPr algn="l">
              <a:spcAft>
                <a:spcPts val="300"/>
              </a:spcAft>
            </a:pPr>
            <a:r>
              <a:rPr sz="1000" b="0">
                <a:solidFill>
                  <a:srgbClr val="5B6372"/>
                </a:solidFill>
                <a:latin typeface="Arial"/>
              </a:rPr>
              <a:t>Route a process down different paths according to the data it receives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65192"/>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Lab 15</a:t>
            </a:r>
          </a:p>
          <a:p>
            <a:pPr algn="l">
              <a:spcAft>
                <a:spcPts val="300"/>
              </a:spcAft>
            </a:pPr>
            <a:r>
              <a:rPr sz="1000" b="0">
                <a:solidFill>
                  <a:srgbClr val="5B6372"/>
                </a:solidFill>
                <a:latin typeface="Arial"/>
              </a:rPr>
              <a:t>Insert a human decision into an automated process so a consequential action needs a person</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141</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600" b="1">
                <a:solidFill>
                  <a:srgbClr val="161B26"/>
                </a:solidFill>
                <a:latin typeface="Arial"/>
              </a:rPr>
              <a:t>End of Day 3</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100" b="1">
                <a:solidFill>
                  <a:srgbClr val="10B981"/>
                </a:solidFill>
                <a:latin typeface="Arial"/>
              </a:rPr>
              <a:t>See you tomorrow</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04</a:t>
            </a:r>
          </a:p>
        </p:txBody>
      </p:sp>
      <p:sp>
        <p:nvSpPr>
          <p:cNvPr id="6" name="TextBox 5"/>
          <p:cNvSpPr txBox="1"/>
          <p:nvPr/>
        </p:nvSpPr>
        <p:spPr>
          <a:xfrm>
            <a:off x="1143000" y="2743200"/>
            <a:ext cx="9692640" cy="1463040"/>
          </a:xfrm>
          <a:prstGeom prst="rect">
            <a:avLst/>
          </a:prstGeom>
          <a:noFill/>
        </p:spPr>
        <p:txBody>
          <a:bodyPr wrap="square" anchor="t">
            <a:spAutoFit/>
          </a:bodyPr>
          <a:lstStyle/>
          <a:p>
            <a:pPr algn="l">
              <a:spcAft>
                <a:spcPts val="400"/>
              </a:spcAft>
            </a:pPr>
            <a:r>
              <a:rPr sz="3600" b="1">
                <a:solidFill>
                  <a:srgbClr val="161B26"/>
                </a:solidFill>
                <a:latin typeface="Arial"/>
              </a:rPr>
              <a:t>Designing and Building Copilot Studio Agents</a:t>
            </a:r>
          </a:p>
        </p:txBody>
      </p:sp>
      <p:sp>
        <p:nvSpPr>
          <p:cNvPr id="7" name="TextBox 6"/>
          <p:cNvSpPr txBox="1"/>
          <p:nvPr/>
        </p:nvSpPr>
        <p:spPr>
          <a:xfrm>
            <a:off x="1161288" y="4343400"/>
            <a:ext cx="9692640" cy="822960"/>
          </a:xfrm>
          <a:prstGeom prst="rect">
            <a:avLst/>
          </a:prstGeom>
          <a:noFill/>
        </p:spPr>
        <p:txBody>
          <a:bodyPr wrap="square" anchor="t">
            <a:spAutoFit/>
          </a:bodyPr>
          <a:lstStyle/>
          <a:p>
            <a:pPr algn="l">
              <a:spcAft>
                <a:spcPts val="400"/>
              </a:spcAft>
            </a:pPr>
            <a:r>
              <a:rPr sz="1500" b="0">
                <a:solidFill>
                  <a:srgbClr val="5B6372"/>
                </a:solidFill>
                <a:latin typeface="Arial"/>
              </a:rPr>
              <a:t>Workflow vs agent · instructions · knowledge · tools · skills · connected agents · publishing</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04</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143</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DAY 4 · WHAT THIS TOPIC COVERS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Key Concepts — Topic 04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74520"/>
            <a:ext cx="4027932" cy="1152144"/>
          </a:xfrm>
          <a:prstGeom prst="rect">
            <a:avLst/>
          </a:prstGeom>
          <a:noFill/>
        </p:spPr>
        <p:txBody>
          <a:bodyPr wrap="square" anchor="ctr">
            <a:spAutoFit/>
          </a:bodyPr>
          <a:lstStyle/>
          <a:p>
            <a:pPr algn="l">
              <a:spcAft>
                <a:spcPts val="400"/>
              </a:spcAft>
            </a:pPr>
            <a:r>
              <a:rPr sz="1400" b="0">
                <a:solidFill>
                  <a:srgbClr val="161B26"/>
                </a:solidFill>
                <a:latin typeface="Arial"/>
              </a:rPr>
              <a:t>A workflow follows a fixed path; an agent decides which step to take next from its instructions.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74520"/>
            <a:ext cx="4027932" cy="1152144"/>
          </a:xfrm>
          <a:prstGeom prst="rect">
            <a:avLst/>
          </a:prstGeom>
          <a:noFill/>
        </p:spPr>
        <p:txBody>
          <a:bodyPr wrap="square" anchor="ctr">
            <a:spAutoFit/>
          </a:bodyPr>
          <a:lstStyle/>
          <a:p>
            <a:pPr algn="l">
              <a:spcAft>
                <a:spcPts val="400"/>
              </a:spcAft>
            </a:pPr>
            <a:r>
              <a:rPr sz="1400" b="0">
                <a:solidFill>
                  <a:srgbClr val="161B26"/>
                </a:solidFill>
                <a:latin typeface="Arial"/>
              </a:rPr>
              <a:t>An agent is made of instructions, knowledge, tools, skills and connected agents.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0712"/>
            <a:ext cx="4027932" cy="1152144"/>
          </a:xfrm>
          <a:prstGeom prst="rect">
            <a:avLst/>
          </a:prstGeom>
          <a:noFill/>
        </p:spPr>
        <p:txBody>
          <a:bodyPr wrap="square" anchor="ctr">
            <a:spAutoFit/>
          </a:bodyPr>
          <a:lstStyle/>
          <a:p>
            <a:pPr algn="l">
              <a:spcAft>
                <a:spcPts val="400"/>
              </a:spcAft>
            </a:pPr>
            <a:r>
              <a:rPr sz="1400" b="0">
                <a:solidFill>
                  <a:srgbClr val="161B26"/>
                </a:solidFill>
                <a:latin typeface="Arial"/>
              </a:rPr>
              <a:t>Instructions shape behaviour but are not enforced; tools, schemas and approvals are what actually enforce limits.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10712"/>
            <a:ext cx="4027932" cy="1152144"/>
          </a:xfrm>
          <a:prstGeom prst="rect">
            <a:avLst/>
          </a:prstGeom>
          <a:noFill/>
        </p:spPr>
        <p:txBody>
          <a:bodyPr wrap="square" anchor="ctr">
            <a:spAutoFit/>
          </a:bodyPr>
          <a:lstStyle/>
          <a:p>
            <a:pPr algn="l">
              <a:spcAft>
                <a:spcPts val="400"/>
              </a:spcAft>
            </a:pPr>
            <a:r>
              <a:rPr sz="1400" b="0">
                <a:solidFill>
                  <a:srgbClr val="161B26"/>
                </a:solidFill>
                <a:latin typeface="Arial"/>
              </a:rPr>
              <a:t>Grounding an agent in approved knowledge is what makes its answers citable and its refusals correct.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6904"/>
            <a:ext cx="4027932" cy="1152144"/>
          </a:xfrm>
          <a:prstGeom prst="rect">
            <a:avLst/>
          </a:prstGeom>
          <a:noFill/>
        </p:spPr>
        <p:txBody>
          <a:bodyPr wrap="square" anchor="ctr">
            <a:spAutoFit/>
          </a:bodyPr>
          <a:lstStyle/>
          <a:p>
            <a:pPr algn="l">
              <a:spcAft>
                <a:spcPts val="400"/>
              </a:spcAft>
            </a:pPr>
            <a:r>
              <a:rPr sz="1400" b="0">
                <a:solidFill>
                  <a:srgbClr val="161B26"/>
                </a:solidFill>
                <a:latin typeface="Arial"/>
              </a:rPr>
              <a:t>A tool lets an agent act on a system; a connected agent delegates a task to another specialised agent.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46904"/>
            <a:ext cx="4027932" cy="1152144"/>
          </a:xfrm>
          <a:prstGeom prst="rect">
            <a:avLst/>
          </a:prstGeom>
          <a:noFill/>
        </p:spPr>
        <p:txBody>
          <a:bodyPr wrap="square" anchor="ctr">
            <a:spAutoFit/>
          </a:bodyPr>
          <a:lstStyle/>
          <a:p>
            <a:pPr algn="l">
              <a:spcAft>
                <a:spcPts val="400"/>
              </a:spcAft>
            </a:pPr>
            <a:r>
              <a:rPr sz="1400" b="0">
                <a:solidFill>
                  <a:srgbClr val="161B26"/>
                </a:solidFill>
                <a:latin typeface="Arial"/>
              </a:rPr>
              <a:t>Publishing to a channel such as Microsoft Teams makes the agent available to real users.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144</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 WILL DO</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Hands-On Labs — Topic 04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640080"/>
          </a:xfrm>
          <a:prstGeom prst="rect">
            <a:avLst/>
          </a:prstGeom>
          <a:noFill/>
        </p:spPr>
        <p:txBody>
          <a:bodyPr wrap="square" anchor="t">
            <a:spAutoFit/>
          </a:bodyPr>
          <a:lstStyle/>
          <a:p>
            <a:pPr algn="l">
              <a:spcAft>
                <a:spcPts val="400"/>
              </a:spcAft>
            </a:pPr>
            <a:r>
              <a:rPr sz="1800" b="1">
                <a:solidFill>
                  <a:srgbClr val="1F6FEB"/>
                </a:solidFill>
                <a:latin typeface="Arial"/>
              </a:rPr>
              <a:t>Labs 16–17</a:t>
            </a:r>
          </a:p>
        </p:txBody>
      </p:sp>
      <p:sp>
        <p:nvSpPr>
          <p:cNvPr id="10" name="TextBox 9"/>
          <p:cNvSpPr txBox="1"/>
          <p:nvPr/>
        </p:nvSpPr>
        <p:spPr>
          <a:xfrm>
            <a:off x="1005840" y="2743200"/>
            <a:ext cx="2926080" cy="3063240"/>
          </a:xfrm>
          <a:prstGeom prst="rect">
            <a:avLst/>
          </a:prstGeom>
          <a:noFill/>
        </p:spPr>
        <p:txBody>
          <a:bodyPr wrap="square">
            <a:spAutoFit/>
          </a:bodyPr>
          <a:lstStyle/>
          <a:p>
            <a:pPr>
              <a:spcAft>
                <a:spcPts val="900"/>
              </a:spcAft>
            </a:pPr>
            <a:r>
              <a:rPr sz="1300">
                <a:solidFill>
                  <a:srgbClr val="161B26"/>
                </a:solidFill>
                <a:latin typeface="Arial"/>
              </a:rPr>
              <a:t>•  Design a Scoped Agent Before You Build It</a:t>
            </a:r>
          </a:p>
          <a:p>
            <a:pPr>
              <a:spcAft>
                <a:spcPts val="900"/>
              </a:spcAft>
            </a:pPr>
            <a:r>
              <a:rPr sz="1300">
                <a:solidFill>
                  <a:srgbClr val="161B26"/>
                </a:solidFill>
                <a:latin typeface="Arial"/>
              </a:rPr>
              <a:t>•  Build and Ground a Copilot Studio Agent</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640080"/>
          </a:xfrm>
          <a:prstGeom prst="rect">
            <a:avLst/>
          </a:prstGeom>
          <a:noFill/>
        </p:spPr>
        <p:txBody>
          <a:bodyPr wrap="square" anchor="t">
            <a:spAutoFit/>
          </a:bodyPr>
          <a:lstStyle/>
          <a:p>
            <a:pPr algn="l">
              <a:spcAft>
                <a:spcPts val="400"/>
              </a:spcAft>
            </a:pPr>
            <a:r>
              <a:rPr sz="1800" b="1">
                <a:solidFill>
                  <a:srgbClr val="10B981"/>
                </a:solidFill>
                <a:latin typeface="Arial"/>
              </a:rPr>
              <a:t>Labs 18–19</a:t>
            </a:r>
          </a:p>
        </p:txBody>
      </p:sp>
      <p:sp>
        <p:nvSpPr>
          <p:cNvPr id="14" name="TextBox 13"/>
          <p:cNvSpPr txBox="1"/>
          <p:nvPr/>
        </p:nvSpPr>
        <p:spPr>
          <a:xfrm>
            <a:off x="4800600" y="2743200"/>
            <a:ext cx="2926080" cy="3063240"/>
          </a:xfrm>
          <a:prstGeom prst="rect">
            <a:avLst/>
          </a:prstGeom>
          <a:noFill/>
        </p:spPr>
        <p:txBody>
          <a:bodyPr wrap="square">
            <a:spAutoFit/>
          </a:bodyPr>
          <a:lstStyle/>
          <a:p>
            <a:pPr>
              <a:spcAft>
                <a:spcPts val="900"/>
              </a:spcAft>
            </a:pPr>
            <a:r>
              <a:rPr sz="1300">
                <a:solidFill>
                  <a:srgbClr val="161B26"/>
                </a:solidFill>
                <a:latin typeface="Arial"/>
              </a:rPr>
              <a:t>•  Give an Agent a Tool and a Knowledge Source</a:t>
            </a:r>
          </a:p>
          <a:p>
            <a:pPr>
              <a:spcAft>
                <a:spcPts val="900"/>
              </a:spcAft>
            </a:pPr>
            <a:r>
              <a:rPr sz="1300">
                <a:solidFill>
                  <a:srgbClr val="161B26"/>
                </a:solidFill>
                <a:latin typeface="Arial"/>
              </a:rPr>
              <a:t>•  Orchestrate Connected Agents</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640080"/>
          </a:xfrm>
          <a:prstGeom prst="rect">
            <a:avLst/>
          </a:prstGeom>
          <a:noFill/>
        </p:spPr>
        <p:txBody>
          <a:bodyPr wrap="square" anchor="t">
            <a:spAutoFit/>
          </a:bodyPr>
          <a:lstStyle/>
          <a:p>
            <a:pPr algn="l">
              <a:spcAft>
                <a:spcPts val="400"/>
              </a:spcAft>
            </a:pPr>
            <a:r>
              <a:rPr sz="1800" b="1">
                <a:solidFill>
                  <a:srgbClr val="7C3AED"/>
                </a:solidFill>
                <a:latin typeface="Arial"/>
              </a:rPr>
              <a:t>Labs 20–20</a:t>
            </a:r>
          </a:p>
        </p:txBody>
      </p:sp>
      <p:sp>
        <p:nvSpPr>
          <p:cNvPr id="18" name="TextBox 17"/>
          <p:cNvSpPr txBox="1"/>
          <p:nvPr/>
        </p:nvSpPr>
        <p:spPr>
          <a:xfrm>
            <a:off x="8595360" y="2743200"/>
            <a:ext cx="2926080" cy="3063240"/>
          </a:xfrm>
          <a:prstGeom prst="rect">
            <a:avLst/>
          </a:prstGeom>
          <a:noFill/>
        </p:spPr>
        <p:txBody>
          <a:bodyPr wrap="square">
            <a:spAutoFit/>
          </a:bodyPr>
          <a:lstStyle/>
          <a:p>
            <a:pPr>
              <a:spcAft>
                <a:spcPts val="900"/>
              </a:spcAft>
            </a:pPr>
            <a:r>
              <a:rPr sz="1300">
                <a:solidFill>
                  <a:srgbClr val="161B26"/>
                </a:solidFill>
                <a:latin typeface="Arial"/>
              </a:rPr>
              <a:t>•  Publish an Agent to Microsoft Teams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145</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CORE DISTINCTION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 Workflow and an Agent Are Not the Same Thing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2764962" cy="548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28800"/>
            <a:ext cx="2490642" cy="548640"/>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3542202" y="1828800"/>
            <a:ext cx="3934755" cy="548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1930" y="1828800"/>
            <a:ext cx="3715299" cy="548640"/>
          </a:xfrm>
          <a:prstGeom prst="rect">
            <a:avLst/>
          </a:prstGeom>
          <a:noFill/>
        </p:spPr>
        <p:txBody>
          <a:bodyPr wrap="square" anchor="ctr">
            <a:spAutoFit/>
          </a:bodyPr>
          <a:lstStyle/>
          <a:p>
            <a:pPr algn="ctr">
              <a:spcAft>
                <a:spcPts val="400"/>
              </a:spcAft>
            </a:pPr>
            <a:r>
              <a:rPr sz="1300" b="1">
                <a:solidFill>
                  <a:srgbClr val="FFFFFF"/>
                </a:solidFill>
                <a:latin typeface="Arial"/>
              </a:rPr>
              <a:t>Workflow</a:t>
            </a:r>
          </a:p>
        </p:txBody>
      </p:sp>
      <p:sp>
        <p:nvSpPr>
          <p:cNvPr id="11" name="Rectangle 10"/>
          <p:cNvSpPr/>
          <p:nvPr/>
        </p:nvSpPr>
        <p:spPr>
          <a:xfrm>
            <a:off x="7476957" y="1828800"/>
            <a:ext cx="3934755" cy="548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6685" y="1828800"/>
            <a:ext cx="3715299" cy="548640"/>
          </a:xfrm>
          <a:prstGeom prst="rect">
            <a:avLst/>
          </a:prstGeom>
          <a:noFill/>
        </p:spPr>
        <p:txBody>
          <a:bodyPr wrap="square" anchor="ctr">
            <a:spAutoFit/>
          </a:bodyPr>
          <a:lstStyle/>
          <a:p>
            <a:pPr algn="ctr">
              <a:spcAft>
                <a:spcPts val="400"/>
              </a:spcAft>
            </a:pPr>
            <a:r>
              <a:rPr sz="1300" b="1">
                <a:solidFill>
                  <a:srgbClr val="FFFFFF"/>
                </a:solidFill>
                <a:latin typeface="Arial"/>
              </a:rPr>
              <a:t>Agent</a:t>
            </a:r>
          </a:p>
        </p:txBody>
      </p:sp>
      <p:sp>
        <p:nvSpPr>
          <p:cNvPr id="13" name="Rectangle 12"/>
          <p:cNvSpPr/>
          <p:nvPr/>
        </p:nvSpPr>
        <p:spPr>
          <a:xfrm>
            <a:off x="777240" y="2377440"/>
            <a:ext cx="2764962"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377440"/>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Path</a:t>
            </a:r>
          </a:p>
        </p:txBody>
      </p:sp>
      <p:sp>
        <p:nvSpPr>
          <p:cNvPr id="15" name="Rectangle 14"/>
          <p:cNvSpPr/>
          <p:nvPr/>
        </p:nvSpPr>
        <p:spPr>
          <a:xfrm>
            <a:off x="3542202" y="2377440"/>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1930" y="2377440"/>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Fixed and defined in advance</a:t>
            </a:r>
          </a:p>
        </p:txBody>
      </p:sp>
      <p:sp>
        <p:nvSpPr>
          <p:cNvPr id="17" name="Rectangle 16"/>
          <p:cNvSpPr/>
          <p:nvPr/>
        </p:nvSpPr>
        <p:spPr>
          <a:xfrm>
            <a:off x="7476957" y="2377440"/>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6685" y="2377440"/>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Chosen at run time by the model</a:t>
            </a:r>
          </a:p>
        </p:txBody>
      </p:sp>
      <p:sp>
        <p:nvSpPr>
          <p:cNvPr id="19" name="Rectangle 18"/>
          <p:cNvSpPr/>
          <p:nvPr/>
        </p:nvSpPr>
        <p:spPr>
          <a:xfrm>
            <a:off x="777240" y="2852928"/>
            <a:ext cx="2764962"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2852928"/>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Input</a:t>
            </a:r>
          </a:p>
        </p:txBody>
      </p:sp>
      <p:sp>
        <p:nvSpPr>
          <p:cNvPr id="21" name="Rectangle 20"/>
          <p:cNvSpPr/>
          <p:nvPr/>
        </p:nvSpPr>
        <p:spPr>
          <a:xfrm>
            <a:off x="3542202" y="2852928"/>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1930" y="2852928"/>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Structured — a form, a row, an event</a:t>
            </a:r>
          </a:p>
        </p:txBody>
      </p:sp>
      <p:sp>
        <p:nvSpPr>
          <p:cNvPr id="23" name="Rectangle 22"/>
          <p:cNvSpPr/>
          <p:nvPr/>
        </p:nvSpPr>
        <p:spPr>
          <a:xfrm>
            <a:off x="7476957" y="2852928"/>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86685" y="2852928"/>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Natural language</a:t>
            </a:r>
          </a:p>
        </p:txBody>
      </p:sp>
      <p:sp>
        <p:nvSpPr>
          <p:cNvPr id="25" name="Rectangle 24"/>
          <p:cNvSpPr/>
          <p:nvPr/>
        </p:nvSpPr>
        <p:spPr>
          <a:xfrm>
            <a:off x="777240" y="3328416"/>
            <a:ext cx="2764962"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3328416"/>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Behaviour</a:t>
            </a:r>
          </a:p>
        </p:txBody>
      </p:sp>
      <p:sp>
        <p:nvSpPr>
          <p:cNvPr id="27" name="Rectangle 26"/>
          <p:cNvSpPr/>
          <p:nvPr/>
        </p:nvSpPr>
        <p:spPr>
          <a:xfrm>
            <a:off x="3542202" y="3328416"/>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1930" y="3328416"/>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Deterministic and repeatable</a:t>
            </a:r>
          </a:p>
        </p:txBody>
      </p:sp>
      <p:sp>
        <p:nvSpPr>
          <p:cNvPr id="29" name="Rectangle 28"/>
          <p:cNvSpPr/>
          <p:nvPr/>
        </p:nvSpPr>
        <p:spPr>
          <a:xfrm>
            <a:off x="7476957" y="3328416"/>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86685" y="3328416"/>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Variable within its instructions</a:t>
            </a:r>
          </a:p>
        </p:txBody>
      </p:sp>
      <p:sp>
        <p:nvSpPr>
          <p:cNvPr id="31" name="Rectangle 30"/>
          <p:cNvSpPr/>
          <p:nvPr/>
        </p:nvSpPr>
        <p:spPr>
          <a:xfrm>
            <a:off x="777240" y="3803904"/>
            <a:ext cx="2764962"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3803904"/>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Best for</a:t>
            </a:r>
          </a:p>
        </p:txBody>
      </p:sp>
      <p:sp>
        <p:nvSpPr>
          <p:cNvPr id="33" name="Rectangle 32"/>
          <p:cNvSpPr/>
          <p:nvPr/>
        </p:nvSpPr>
        <p:spPr>
          <a:xfrm>
            <a:off x="3542202" y="3803904"/>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51930" y="3803904"/>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Known, repeatable processes</a:t>
            </a:r>
          </a:p>
        </p:txBody>
      </p:sp>
      <p:sp>
        <p:nvSpPr>
          <p:cNvPr id="35" name="Rectangle 34"/>
          <p:cNvSpPr/>
          <p:nvPr/>
        </p:nvSpPr>
        <p:spPr>
          <a:xfrm>
            <a:off x="7476957" y="3803904"/>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586685" y="3803904"/>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Requests you cannot enumerate in advance</a:t>
            </a:r>
          </a:p>
        </p:txBody>
      </p:sp>
      <p:sp>
        <p:nvSpPr>
          <p:cNvPr id="37" name="TextBox 36"/>
          <p:cNvSpPr txBox="1"/>
          <p:nvPr/>
        </p:nvSpPr>
        <p:spPr>
          <a:xfrm>
            <a:off x="777240" y="4507992"/>
            <a:ext cx="10634472" cy="457200"/>
          </a:xfrm>
          <a:prstGeom prst="rect">
            <a:avLst/>
          </a:prstGeom>
          <a:noFill/>
        </p:spPr>
        <p:txBody>
          <a:bodyPr wrap="square" anchor="t">
            <a:spAutoFit/>
          </a:bodyPr>
          <a:lstStyle/>
          <a:p>
            <a:pPr algn="l">
              <a:spcAft>
                <a:spcPts val="400"/>
              </a:spcAft>
            </a:pPr>
            <a:r>
              <a:rPr sz="1100" b="1">
                <a:solidFill>
                  <a:srgbClr val="1F6FEB"/>
                </a:solidFill>
                <a:latin typeface="Arial"/>
              </a:rPr>
              <a:t>RULE   </a:t>
            </a:r>
            <a:r>
              <a:rPr sz="1300" b="0">
                <a:solidFill>
                  <a:srgbClr val="161B26"/>
                </a:solidFill>
                <a:latin typeface="Arial"/>
              </a:rPr>
              <a:t>If the path is always the same, build a flow. An agent is for when it is not.</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146</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AGENT ANATOMY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an Agent Is Made Of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61944"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2209800" cy="1901952"/>
          </a:xfrm>
          <a:prstGeom prst="rect">
            <a:avLst/>
          </a:prstGeom>
          <a:noFill/>
        </p:spPr>
        <p:txBody>
          <a:bodyPr wrap="square" anchor="ctr">
            <a:spAutoFit/>
          </a:bodyPr>
          <a:lstStyle/>
          <a:p>
            <a:pPr algn="l">
              <a:spcAft>
                <a:spcPts val="300"/>
              </a:spcAft>
            </a:pPr>
            <a:r>
              <a:rPr sz="1500" b="1">
                <a:solidFill>
                  <a:srgbClr val="161B26"/>
                </a:solidFill>
                <a:latin typeface="Arial"/>
              </a:rPr>
              <a:t>Instructions</a:t>
            </a:r>
          </a:p>
          <a:p>
            <a:pPr algn="l">
              <a:spcAft>
                <a:spcPts val="300"/>
              </a:spcAft>
            </a:pPr>
            <a:r>
              <a:rPr sz="1100" b="0">
                <a:solidFill>
                  <a:srgbClr val="5B6372"/>
                </a:solidFill>
                <a:latin typeface="Arial"/>
              </a:rPr>
              <a:t>The role, the limits and the tone, written in prose.</a:t>
            </a:r>
          </a:p>
        </p:txBody>
      </p:sp>
      <p:sp>
        <p:nvSpPr>
          <p:cNvPr id="12" name="Rectangle 11"/>
          <p:cNvSpPr/>
          <p:nvPr/>
        </p:nvSpPr>
        <p:spPr>
          <a:xfrm>
            <a:off x="4413504" y="1783080"/>
            <a:ext cx="3361944"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13504"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651248"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51248"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5346192" y="1892808"/>
            <a:ext cx="2209800" cy="1901952"/>
          </a:xfrm>
          <a:prstGeom prst="rect">
            <a:avLst/>
          </a:prstGeom>
          <a:noFill/>
        </p:spPr>
        <p:txBody>
          <a:bodyPr wrap="square" anchor="ctr">
            <a:spAutoFit/>
          </a:bodyPr>
          <a:lstStyle/>
          <a:p>
            <a:pPr algn="l">
              <a:spcAft>
                <a:spcPts val="300"/>
              </a:spcAft>
            </a:pPr>
            <a:r>
              <a:rPr sz="1500" b="1">
                <a:solidFill>
                  <a:srgbClr val="161B26"/>
                </a:solidFill>
                <a:latin typeface="Arial"/>
              </a:rPr>
              <a:t>Knowledge</a:t>
            </a:r>
          </a:p>
          <a:p>
            <a:pPr algn="l">
              <a:spcAft>
                <a:spcPts val="300"/>
              </a:spcAft>
            </a:pPr>
            <a:r>
              <a:rPr sz="1100" b="0">
                <a:solidFill>
                  <a:srgbClr val="5B6372"/>
                </a:solidFill>
                <a:latin typeface="Arial"/>
              </a:rPr>
              <a:t>The approved sources it may cite.</a:t>
            </a:r>
          </a:p>
        </p:txBody>
      </p:sp>
      <p:sp>
        <p:nvSpPr>
          <p:cNvPr id="17" name="Rectangle 16"/>
          <p:cNvSpPr/>
          <p:nvPr/>
        </p:nvSpPr>
        <p:spPr>
          <a:xfrm>
            <a:off x="8049768" y="1783080"/>
            <a:ext cx="3361944"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49768" y="1783080"/>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287512" y="2551176"/>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87512"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8982456" y="1892808"/>
            <a:ext cx="2209800" cy="1901952"/>
          </a:xfrm>
          <a:prstGeom prst="rect">
            <a:avLst/>
          </a:prstGeom>
          <a:noFill/>
        </p:spPr>
        <p:txBody>
          <a:bodyPr wrap="square" anchor="ctr">
            <a:spAutoFit/>
          </a:bodyPr>
          <a:lstStyle/>
          <a:p>
            <a:pPr algn="l">
              <a:spcAft>
                <a:spcPts val="300"/>
              </a:spcAft>
            </a:pPr>
            <a:r>
              <a:rPr sz="1500" b="1">
                <a:solidFill>
                  <a:srgbClr val="161B26"/>
                </a:solidFill>
                <a:latin typeface="Arial"/>
              </a:rPr>
              <a:t>Tools</a:t>
            </a:r>
          </a:p>
          <a:p>
            <a:pPr algn="l">
              <a:spcAft>
                <a:spcPts val="300"/>
              </a:spcAft>
            </a:pPr>
            <a:r>
              <a:rPr sz="1100" b="0">
                <a:solidFill>
                  <a:srgbClr val="5B6372"/>
                </a:solidFill>
                <a:latin typeface="Arial"/>
              </a:rPr>
              <a:t>The actions it can take on real systems.</a:t>
            </a:r>
          </a:p>
        </p:txBody>
      </p:sp>
      <p:sp>
        <p:nvSpPr>
          <p:cNvPr id="22" name="Rectangle 21"/>
          <p:cNvSpPr/>
          <p:nvPr/>
        </p:nvSpPr>
        <p:spPr>
          <a:xfrm>
            <a:off x="777240" y="4087368"/>
            <a:ext cx="3361944"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14984"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1709928" y="4197096"/>
            <a:ext cx="2209800" cy="1901952"/>
          </a:xfrm>
          <a:prstGeom prst="rect">
            <a:avLst/>
          </a:prstGeom>
          <a:noFill/>
        </p:spPr>
        <p:txBody>
          <a:bodyPr wrap="square" anchor="ctr">
            <a:spAutoFit/>
          </a:bodyPr>
          <a:lstStyle/>
          <a:p>
            <a:pPr algn="l">
              <a:spcAft>
                <a:spcPts val="300"/>
              </a:spcAft>
            </a:pPr>
            <a:r>
              <a:rPr sz="1500" b="1">
                <a:solidFill>
                  <a:srgbClr val="161B26"/>
                </a:solidFill>
                <a:latin typeface="Arial"/>
              </a:rPr>
              <a:t>Skills</a:t>
            </a:r>
          </a:p>
          <a:p>
            <a:pPr algn="l">
              <a:spcAft>
                <a:spcPts val="300"/>
              </a:spcAft>
            </a:pPr>
            <a:r>
              <a:rPr sz="1100" b="0">
                <a:solidFill>
                  <a:srgbClr val="5B6372"/>
                </a:solidFill>
                <a:latin typeface="Arial"/>
              </a:rPr>
              <a:t>Instructions supplied on demand for a specific task.</a:t>
            </a:r>
          </a:p>
        </p:txBody>
      </p:sp>
      <p:sp>
        <p:nvSpPr>
          <p:cNvPr id="27" name="Rectangle 26"/>
          <p:cNvSpPr/>
          <p:nvPr/>
        </p:nvSpPr>
        <p:spPr>
          <a:xfrm>
            <a:off x="4413504" y="4087368"/>
            <a:ext cx="3361944"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413504" y="4087368"/>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4651248" y="485546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51248"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5346192" y="4197096"/>
            <a:ext cx="2209800" cy="1901952"/>
          </a:xfrm>
          <a:prstGeom prst="rect">
            <a:avLst/>
          </a:prstGeom>
          <a:noFill/>
        </p:spPr>
        <p:txBody>
          <a:bodyPr wrap="square" anchor="ctr">
            <a:spAutoFit/>
          </a:bodyPr>
          <a:lstStyle/>
          <a:p>
            <a:pPr algn="l">
              <a:spcAft>
                <a:spcPts val="300"/>
              </a:spcAft>
            </a:pPr>
            <a:r>
              <a:rPr sz="1500" b="1">
                <a:solidFill>
                  <a:srgbClr val="161B26"/>
                </a:solidFill>
                <a:latin typeface="Arial"/>
              </a:rPr>
              <a:t>Connected agents</a:t>
            </a:r>
          </a:p>
          <a:p>
            <a:pPr algn="l">
              <a:spcAft>
                <a:spcPts val="300"/>
              </a:spcAft>
            </a:pPr>
            <a:r>
              <a:rPr sz="1100" b="0">
                <a:solidFill>
                  <a:srgbClr val="5B6372"/>
                </a:solidFill>
                <a:latin typeface="Arial"/>
              </a:rPr>
              <a:t>Other agents it can delegate work to.</a:t>
            </a:r>
          </a:p>
        </p:txBody>
      </p:sp>
      <p:sp>
        <p:nvSpPr>
          <p:cNvPr id="32" name="Rectangle 31"/>
          <p:cNvSpPr/>
          <p:nvPr/>
        </p:nvSpPr>
        <p:spPr>
          <a:xfrm>
            <a:off x="8049768" y="4087368"/>
            <a:ext cx="3361944"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49768" y="4087368"/>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287512" y="485546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87512"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8982456" y="4197096"/>
            <a:ext cx="2209800" cy="1901952"/>
          </a:xfrm>
          <a:prstGeom prst="rect">
            <a:avLst/>
          </a:prstGeom>
          <a:noFill/>
        </p:spPr>
        <p:txBody>
          <a:bodyPr wrap="square" anchor="ctr">
            <a:spAutoFit/>
          </a:bodyPr>
          <a:lstStyle/>
          <a:p>
            <a:pPr algn="l">
              <a:spcAft>
                <a:spcPts val="300"/>
              </a:spcAft>
            </a:pPr>
            <a:r>
              <a:rPr sz="1500" b="1">
                <a:solidFill>
                  <a:srgbClr val="161B26"/>
                </a:solidFill>
                <a:latin typeface="Arial"/>
              </a:rPr>
              <a:t>Channels</a:t>
            </a:r>
          </a:p>
          <a:p>
            <a:pPr algn="l">
              <a:spcAft>
                <a:spcPts val="300"/>
              </a:spcAft>
            </a:pPr>
            <a:r>
              <a:rPr sz="1100" b="0">
                <a:solidFill>
                  <a:srgbClr val="5B6372"/>
                </a:solidFill>
                <a:latin typeface="Arial"/>
              </a:rPr>
              <a:t>Where users actually meet it — Teams, a site, an app.</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147</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THE MOST IMPORTANT SLIDE TODAY</a:t>
            </a:r>
          </a:p>
        </p:txBody>
      </p:sp>
      <p:sp>
        <p:nvSpPr>
          <p:cNvPr id="5" name="TextBox 4"/>
          <p:cNvSpPr txBox="1"/>
          <p:nvPr/>
        </p:nvSpPr>
        <p:spPr>
          <a:xfrm>
            <a:off x="1005840" y="2560320"/>
            <a:ext cx="10332720" cy="2011680"/>
          </a:xfrm>
          <a:prstGeom prst="rect">
            <a:avLst/>
          </a:prstGeom>
          <a:noFill/>
        </p:spPr>
        <p:txBody>
          <a:bodyPr wrap="square" anchor="t">
            <a:spAutoFit/>
          </a:bodyPr>
          <a:lstStyle/>
          <a:p>
            <a:pPr algn="l">
              <a:spcAft>
                <a:spcPts val="400"/>
              </a:spcAft>
            </a:pPr>
            <a:r>
              <a:rPr sz="3600" b="1">
                <a:solidFill>
                  <a:srgbClr val="161B26"/>
                </a:solidFill>
                <a:latin typeface="Arial"/>
              </a:rPr>
              <a:t>Instructions are not enforcement.</a:t>
            </a:r>
          </a:p>
        </p:txBody>
      </p:sp>
      <p:sp>
        <p:nvSpPr>
          <p:cNvPr id="6" name="TextBox 5"/>
          <p:cNvSpPr txBox="1"/>
          <p:nvPr/>
        </p:nvSpPr>
        <p:spPr>
          <a:xfrm>
            <a:off x="1024128" y="4572000"/>
            <a:ext cx="10058400" cy="1097280"/>
          </a:xfrm>
          <a:prstGeom prst="rect">
            <a:avLst/>
          </a:prstGeom>
          <a:noFill/>
        </p:spPr>
        <p:txBody>
          <a:bodyPr wrap="square" anchor="t">
            <a:spAutoFit/>
          </a:bodyPr>
          <a:lstStyle/>
          <a:p>
            <a:pPr algn="l">
              <a:spcAft>
                <a:spcPts val="400"/>
              </a:spcAft>
            </a:pPr>
            <a:r>
              <a:rPr sz="1900" b="0">
                <a:solidFill>
                  <a:srgbClr val="5B6372"/>
                </a:solidFill>
                <a:latin typeface="Arial"/>
              </a:rPr>
              <a:t>The model can ignore an instruction. It cannot ignore a tool that does not exist or an approval it cannot grant itself.</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148</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RANKING THE CONTROLS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Actually Constrains an 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2764962" cy="548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28800"/>
            <a:ext cx="2490642" cy="548640"/>
          </a:xfrm>
          <a:prstGeom prst="rect">
            <a:avLst/>
          </a:prstGeom>
          <a:noFill/>
        </p:spPr>
        <p:txBody>
          <a:bodyPr wrap="square" anchor="ctr">
            <a:spAutoFit/>
          </a:bodyPr>
          <a:lstStyle/>
          <a:p>
            <a:pPr algn="l">
              <a:spcAft>
                <a:spcPts val="400"/>
              </a:spcAft>
            </a:pPr>
            <a:r>
              <a:rPr sz="1300" b="1">
                <a:solidFill>
                  <a:srgbClr val="FFFFFF"/>
                </a:solidFill>
                <a:latin typeface="Arial"/>
              </a:rPr>
              <a:t>Control</a:t>
            </a:r>
          </a:p>
        </p:txBody>
      </p:sp>
      <p:sp>
        <p:nvSpPr>
          <p:cNvPr id="9" name="Rectangle 8"/>
          <p:cNvSpPr/>
          <p:nvPr/>
        </p:nvSpPr>
        <p:spPr>
          <a:xfrm>
            <a:off x="3542202" y="1828800"/>
            <a:ext cx="3934755" cy="548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1930" y="1828800"/>
            <a:ext cx="3715299" cy="548640"/>
          </a:xfrm>
          <a:prstGeom prst="rect">
            <a:avLst/>
          </a:prstGeom>
          <a:noFill/>
        </p:spPr>
        <p:txBody>
          <a:bodyPr wrap="square" anchor="ctr">
            <a:spAutoFit/>
          </a:bodyPr>
          <a:lstStyle/>
          <a:p>
            <a:pPr algn="ctr">
              <a:spcAft>
                <a:spcPts val="400"/>
              </a:spcAft>
            </a:pPr>
            <a:r>
              <a:rPr sz="1300" b="1">
                <a:solidFill>
                  <a:srgbClr val="FFFFFF"/>
                </a:solidFill>
                <a:latin typeface="Arial"/>
              </a:rPr>
              <a:t>Strength</a:t>
            </a:r>
          </a:p>
        </p:txBody>
      </p:sp>
      <p:sp>
        <p:nvSpPr>
          <p:cNvPr id="11" name="Rectangle 10"/>
          <p:cNvSpPr/>
          <p:nvPr/>
        </p:nvSpPr>
        <p:spPr>
          <a:xfrm>
            <a:off x="7476957" y="1828800"/>
            <a:ext cx="3934755" cy="548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6685" y="1828800"/>
            <a:ext cx="3715299" cy="548640"/>
          </a:xfrm>
          <a:prstGeom prst="rect">
            <a:avLst/>
          </a:prstGeom>
          <a:noFill/>
        </p:spPr>
        <p:txBody>
          <a:bodyPr wrap="square" anchor="ctr">
            <a:spAutoFit/>
          </a:bodyPr>
          <a:lstStyle/>
          <a:p>
            <a:pPr algn="ctr">
              <a:spcAft>
                <a:spcPts val="400"/>
              </a:spcAft>
            </a:pPr>
            <a:r>
              <a:rPr sz="1300" b="1">
                <a:solidFill>
                  <a:srgbClr val="FFFFFF"/>
                </a:solidFill>
                <a:latin typeface="Arial"/>
              </a:rPr>
              <a:t>Why</a:t>
            </a:r>
          </a:p>
        </p:txBody>
      </p:sp>
      <p:sp>
        <p:nvSpPr>
          <p:cNvPr id="13" name="Rectangle 12"/>
          <p:cNvSpPr/>
          <p:nvPr/>
        </p:nvSpPr>
        <p:spPr>
          <a:xfrm>
            <a:off x="777240" y="2377440"/>
            <a:ext cx="2764962"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377440"/>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A tool the agent does not have</a:t>
            </a:r>
          </a:p>
        </p:txBody>
      </p:sp>
      <p:sp>
        <p:nvSpPr>
          <p:cNvPr id="15" name="Rectangle 14"/>
          <p:cNvSpPr/>
          <p:nvPr/>
        </p:nvSpPr>
        <p:spPr>
          <a:xfrm>
            <a:off x="3542202" y="2377440"/>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1930" y="2377440"/>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Strongest</a:t>
            </a:r>
          </a:p>
        </p:txBody>
      </p:sp>
      <p:sp>
        <p:nvSpPr>
          <p:cNvPr id="17" name="Rectangle 16"/>
          <p:cNvSpPr/>
          <p:nvPr/>
        </p:nvSpPr>
        <p:spPr>
          <a:xfrm>
            <a:off x="7476957" y="2377440"/>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6685" y="2377440"/>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It cannot call what does not exist</a:t>
            </a:r>
          </a:p>
        </p:txBody>
      </p:sp>
      <p:sp>
        <p:nvSpPr>
          <p:cNvPr id="19" name="Rectangle 18"/>
          <p:cNvSpPr/>
          <p:nvPr/>
        </p:nvSpPr>
        <p:spPr>
          <a:xfrm>
            <a:off x="777240" y="2852928"/>
            <a:ext cx="2764962"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2852928"/>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A required human approval</a:t>
            </a:r>
          </a:p>
        </p:txBody>
      </p:sp>
      <p:sp>
        <p:nvSpPr>
          <p:cNvPr id="21" name="Rectangle 20"/>
          <p:cNvSpPr/>
          <p:nvPr/>
        </p:nvSpPr>
        <p:spPr>
          <a:xfrm>
            <a:off x="3542202" y="2852928"/>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1930" y="2852928"/>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Strong</a:t>
            </a:r>
          </a:p>
        </p:txBody>
      </p:sp>
      <p:sp>
        <p:nvSpPr>
          <p:cNvPr id="23" name="Rectangle 22"/>
          <p:cNvSpPr/>
          <p:nvPr/>
        </p:nvSpPr>
        <p:spPr>
          <a:xfrm>
            <a:off x="7476957" y="2852928"/>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86685" y="2852928"/>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The action cannot complete alone</a:t>
            </a:r>
          </a:p>
        </p:txBody>
      </p:sp>
      <p:sp>
        <p:nvSpPr>
          <p:cNvPr id="25" name="Rectangle 24"/>
          <p:cNvSpPr/>
          <p:nvPr/>
        </p:nvSpPr>
        <p:spPr>
          <a:xfrm>
            <a:off x="777240" y="3328416"/>
            <a:ext cx="2764962"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3328416"/>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A schema or typed contract</a:t>
            </a:r>
          </a:p>
        </p:txBody>
      </p:sp>
      <p:sp>
        <p:nvSpPr>
          <p:cNvPr id="27" name="Rectangle 26"/>
          <p:cNvSpPr/>
          <p:nvPr/>
        </p:nvSpPr>
        <p:spPr>
          <a:xfrm>
            <a:off x="3542202" y="3328416"/>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1930" y="3328416"/>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Medium</a:t>
            </a:r>
          </a:p>
        </p:txBody>
      </p:sp>
      <p:sp>
        <p:nvSpPr>
          <p:cNvPr id="29" name="Rectangle 28"/>
          <p:cNvSpPr/>
          <p:nvPr/>
        </p:nvSpPr>
        <p:spPr>
          <a:xfrm>
            <a:off x="7476957" y="3328416"/>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86685" y="3328416"/>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Malformed data is rejected</a:t>
            </a:r>
          </a:p>
        </p:txBody>
      </p:sp>
      <p:sp>
        <p:nvSpPr>
          <p:cNvPr id="31" name="Rectangle 30"/>
          <p:cNvSpPr/>
          <p:nvPr/>
        </p:nvSpPr>
        <p:spPr>
          <a:xfrm>
            <a:off x="777240" y="3803904"/>
            <a:ext cx="2764962"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3803904"/>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An instruction in prose</a:t>
            </a:r>
          </a:p>
        </p:txBody>
      </p:sp>
      <p:sp>
        <p:nvSpPr>
          <p:cNvPr id="33" name="Rectangle 32"/>
          <p:cNvSpPr/>
          <p:nvPr/>
        </p:nvSpPr>
        <p:spPr>
          <a:xfrm>
            <a:off x="3542202" y="3803904"/>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51930" y="3803904"/>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Weakest</a:t>
            </a:r>
          </a:p>
        </p:txBody>
      </p:sp>
      <p:sp>
        <p:nvSpPr>
          <p:cNvPr id="35" name="Rectangle 34"/>
          <p:cNvSpPr/>
          <p:nvPr/>
        </p:nvSpPr>
        <p:spPr>
          <a:xfrm>
            <a:off x="7476957" y="3803904"/>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586685" y="3803904"/>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The model may not follow it</a:t>
            </a:r>
          </a:p>
        </p:txBody>
      </p:sp>
      <p:sp>
        <p:nvSpPr>
          <p:cNvPr id="37" name="TextBox 36"/>
          <p:cNvSpPr txBox="1"/>
          <p:nvPr/>
        </p:nvSpPr>
        <p:spPr>
          <a:xfrm>
            <a:off x="777240" y="4507992"/>
            <a:ext cx="10634472" cy="457200"/>
          </a:xfrm>
          <a:prstGeom prst="rect">
            <a:avLst/>
          </a:prstGeom>
          <a:noFill/>
        </p:spPr>
        <p:txBody>
          <a:bodyPr wrap="square" anchor="t">
            <a:spAutoFit/>
          </a:bodyPr>
          <a:lstStyle/>
          <a:p>
            <a:pPr algn="l">
              <a:spcAft>
                <a:spcPts val="400"/>
              </a:spcAft>
            </a:pPr>
            <a:r>
              <a:rPr sz="1100" b="1">
                <a:solidFill>
                  <a:srgbClr val="1F6FEB"/>
                </a:solidFill>
                <a:latin typeface="Arial"/>
              </a:rPr>
              <a:t>RULE   </a:t>
            </a:r>
            <a:r>
              <a:rPr sz="1300" b="0">
                <a:solidFill>
                  <a:srgbClr val="161B26"/>
                </a:solidFill>
                <a:latin typeface="Arial"/>
              </a:rPr>
              <a:t>A control the model cannot reach beats a rule you asked it to follow.</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149</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INSTRUCTION CRAFT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Writing Instructions That 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State the role</a:t>
            </a:r>
          </a:p>
          <a:p>
            <a:pPr algn="l">
              <a:spcAft>
                <a:spcPts val="300"/>
              </a:spcAft>
            </a:pPr>
            <a:r>
              <a:rPr sz="1200" b="0">
                <a:solidFill>
                  <a:srgbClr val="5B6372"/>
                </a:solidFill>
                <a:latin typeface="Arial"/>
              </a:rPr>
              <a:t>One sentence on who the agent is and who it serves.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State the sources</a:t>
            </a:r>
          </a:p>
          <a:p>
            <a:pPr algn="l">
              <a:spcAft>
                <a:spcPts val="300"/>
              </a:spcAft>
            </a:pPr>
            <a:r>
              <a:rPr sz="1200" b="0">
                <a:solidFill>
                  <a:srgbClr val="5B6372"/>
                </a:solidFill>
                <a:latin typeface="Arial"/>
              </a:rPr>
              <a:t>Which knowledge it may use, and that it must cite.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State the refusals</a:t>
            </a:r>
          </a:p>
          <a:p>
            <a:pPr algn="l">
              <a:spcAft>
                <a:spcPts val="300"/>
              </a:spcAft>
            </a:pPr>
            <a:r>
              <a:rPr sz="1200" b="0">
                <a:solidFill>
                  <a:srgbClr val="5B6372"/>
                </a:solidFill>
                <a:latin typeface="Arial"/>
              </a:rPr>
              <a:t>What is out of scope, explicitly.</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State the escalation</a:t>
            </a:r>
          </a:p>
          <a:p>
            <a:pPr algn="l">
              <a:spcAft>
                <a:spcPts val="300"/>
              </a:spcAft>
            </a:pPr>
            <a:r>
              <a:rPr sz="1200" b="0">
                <a:solidFill>
                  <a:srgbClr val="5B6372"/>
                </a:solidFill>
                <a:latin typeface="Arial"/>
              </a:rPr>
              <a:t>Who to point the user to when it cannot help.</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150</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RETRIEVAL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Grounding an Agent in Knowledge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2670048"/>
            <a:ext cx="1505102" cy="713232"/>
          </a:xfrm>
          <a:prstGeom prst="rect">
            <a:avLst/>
          </a:prstGeom>
          <a:noFill/>
        </p:spPr>
        <p:txBody>
          <a:bodyPr wrap="square" anchor="ctr">
            <a:spAutoFit/>
          </a:bodyPr>
          <a:lstStyle/>
          <a:p>
            <a:pPr algn="ctr">
              <a:spcAft>
                <a:spcPts val="400"/>
              </a:spcAft>
            </a:pPr>
            <a:r>
              <a:rPr sz="1500" b="1">
                <a:solidFill>
                  <a:srgbClr val="161B26"/>
                </a:solidFill>
                <a:latin typeface="Arial"/>
              </a:rPr>
              <a:t>Approve the source</a:t>
            </a:r>
          </a:p>
        </p:txBody>
      </p:sp>
      <p:sp>
        <p:nvSpPr>
          <p:cNvPr id="10" name="TextBox 9"/>
          <p:cNvSpPr txBox="1"/>
          <p:nvPr/>
        </p:nvSpPr>
        <p:spPr>
          <a:xfrm>
            <a:off x="905256" y="3401568"/>
            <a:ext cx="1505102" cy="804672"/>
          </a:xfrm>
          <a:prstGeom prst="rect">
            <a:avLst/>
          </a:prstGeom>
          <a:noFill/>
        </p:spPr>
        <p:txBody>
          <a:bodyPr wrap="square" anchor="t">
            <a:spAutoFit/>
          </a:bodyPr>
          <a:lstStyle/>
          <a:p>
            <a:pPr algn="ctr">
              <a:spcAft>
                <a:spcPts val="400"/>
              </a:spcAft>
            </a:pPr>
            <a:r>
              <a:rPr sz="1000" b="0">
                <a:solidFill>
                  <a:srgbClr val="5B6372"/>
                </a:solidFill>
                <a:latin typeface="Arial"/>
              </a:rPr>
              <a:t>Someone owns it and confirms it is current</a:t>
            </a:r>
          </a:p>
        </p:txBody>
      </p:sp>
      <p:sp>
        <p:nvSpPr>
          <p:cNvPr id="11" name="Rectangle 10"/>
          <p:cNvSpPr/>
          <p:nvPr/>
        </p:nvSpPr>
        <p:spPr>
          <a:xfrm>
            <a:off x="2620670"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2737714"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995574"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95574"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23590" y="2670048"/>
            <a:ext cx="1505102" cy="713232"/>
          </a:xfrm>
          <a:prstGeom prst="rect">
            <a:avLst/>
          </a:prstGeom>
          <a:noFill/>
        </p:spPr>
        <p:txBody>
          <a:bodyPr wrap="square" anchor="ctr">
            <a:spAutoFit/>
          </a:bodyPr>
          <a:lstStyle/>
          <a:p>
            <a:pPr algn="ctr">
              <a:spcAft>
                <a:spcPts val="400"/>
              </a:spcAft>
            </a:pPr>
            <a:r>
              <a:rPr sz="1500" b="1">
                <a:solidFill>
                  <a:srgbClr val="161B26"/>
                </a:solidFill>
                <a:latin typeface="Arial"/>
              </a:rPr>
              <a:t>Add it as knowledge</a:t>
            </a:r>
          </a:p>
        </p:txBody>
      </p:sp>
      <p:sp>
        <p:nvSpPr>
          <p:cNvPr id="16" name="TextBox 15"/>
          <p:cNvSpPr txBox="1"/>
          <p:nvPr/>
        </p:nvSpPr>
        <p:spPr>
          <a:xfrm>
            <a:off x="3123590" y="3401568"/>
            <a:ext cx="1505102" cy="804672"/>
          </a:xfrm>
          <a:prstGeom prst="rect">
            <a:avLst/>
          </a:prstGeom>
          <a:noFill/>
        </p:spPr>
        <p:txBody>
          <a:bodyPr wrap="square" anchor="t">
            <a:spAutoFit/>
          </a:bodyPr>
          <a:lstStyle/>
          <a:p>
            <a:pPr algn="ctr">
              <a:spcAft>
                <a:spcPts val="400"/>
              </a:spcAft>
            </a:pPr>
            <a:r>
              <a:rPr sz="1100" b="0">
                <a:solidFill>
                  <a:srgbClr val="5B6372"/>
                </a:solidFill>
                <a:latin typeface="Arial"/>
              </a:rPr>
              <a:t>Only an attached source can be cited</a:t>
            </a:r>
          </a:p>
        </p:txBody>
      </p:sp>
      <p:sp>
        <p:nvSpPr>
          <p:cNvPr id="17" name="Rectangle 16"/>
          <p:cNvSpPr/>
          <p:nvPr/>
        </p:nvSpPr>
        <p:spPr>
          <a:xfrm>
            <a:off x="4839004"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4956048"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213908"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213908"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41924" y="2670048"/>
            <a:ext cx="1505102" cy="713232"/>
          </a:xfrm>
          <a:prstGeom prst="rect">
            <a:avLst/>
          </a:prstGeom>
          <a:noFill/>
        </p:spPr>
        <p:txBody>
          <a:bodyPr wrap="square" anchor="ctr">
            <a:spAutoFit/>
          </a:bodyPr>
          <a:lstStyle/>
          <a:p>
            <a:pPr algn="ctr">
              <a:spcAft>
                <a:spcPts val="400"/>
              </a:spcAft>
            </a:pPr>
            <a:r>
              <a:rPr sz="1300" b="1">
                <a:solidFill>
                  <a:srgbClr val="161B26"/>
                </a:solidFill>
                <a:latin typeface="Arial"/>
              </a:rPr>
              <a:t>Remove open-web search</a:t>
            </a:r>
          </a:p>
        </p:txBody>
      </p:sp>
      <p:sp>
        <p:nvSpPr>
          <p:cNvPr id="22" name="TextBox 21"/>
          <p:cNvSpPr txBox="1"/>
          <p:nvPr/>
        </p:nvSpPr>
        <p:spPr>
          <a:xfrm>
            <a:off x="5341924" y="3401568"/>
            <a:ext cx="1505102" cy="804672"/>
          </a:xfrm>
          <a:prstGeom prst="rect">
            <a:avLst/>
          </a:prstGeom>
          <a:noFill/>
        </p:spPr>
        <p:txBody>
          <a:bodyPr wrap="square" anchor="t">
            <a:spAutoFit/>
          </a:bodyPr>
          <a:lstStyle/>
          <a:p>
            <a:pPr algn="ctr">
              <a:spcAft>
                <a:spcPts val="400"/>
              </a:spcAft>
            </a:pPr>
            <a:r>
              <a:rPr sz="1100" b="0">
                <a:solidFill>
                  <a:srgbClr val="5B6372"/>
                </a:solidFill>
                <a:latin typeface="Arial"/>
              </a:rPr>
              <a:t>On by default, and rarely what you want</a:t>
            </a:r>
          </a:p>
        </p:txBody>
      </p:sp>
      <p:sp>
        <p:nvSpPr>
          <p:cNvPr id="23" name="Rectangle 22"/>
          <p:cNvSpPr/>
          <p:nvPr/>
        </p:nvSpPr>
        <p:spPr>
          <a:xfrm>
            <a:off x="7057338"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7174382"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432242"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32242"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60258" y="2670048"/>
            <a:ext cx="1505102" cy="713232"/>
          </a:xfrm>
          <a:prstGeom prst="rect">
            <a:avLst/>
          </a:prstGeom>
          <a:noFill/>
        </p:spPr>
        <p:txBody>
          <a:bodyPr wrap="square" anchor="ctr">
            <a:spAutoFit/>
          </a:bodyPr>
          <a:lstStyle/>
          <a:p>
            <a:pPr algn="ctr">
              <a:spcAft>
                <a:spcPts val="400"/>
              </a:spcAft>
            </a:pPr>
            <a:r>
              <a:rPr sz="1500" b="1">
                <a:solidFill>
                  <a:srgbClr val="161B26"/>
                </a:solidFill>
                <a:latin typeface="Arial"/>
              </a:rPr>
              <a:t>Test a citation</a:t>
            </a:r>
          </a:p>
        </p:txBody>
      </p:sp>
      <p:sp>
        <p:nvSpPr>
          <p:cNvPr id="28" name="TextBox 27"/>
          <p:cNvSpPr txBox="1"/>
          <p:nvPr/>
        </p:nvSpPr>
        <p:spPr>
          <a:xfrm>
            <a:off x="7560258" y="3401568"/>
            <a:ext cx="1505102" cy="804672"/>
          </a:xfrm>
          <a:prstGeom prst="rect">
            <a:avLst/>
          </a:prstGeom>
          <a:noFill/>
        </p:spPr>
        <p:txBody>
          <a:bodyPr wrap="square" anchor="t">
            <a:spAutoFit/>
          </a:bodyPr>
          <a:lstStyle/>
          <a:p>
            <a:pPr algn="ctr">
              <a:spcAft>
                <a:spcPts val="400"/>
              </a:spcAft>
            </a:pPr>
            <a:r>
              <a:rPr sz="1000" b="0">
                <a:solidFill>
                  <a:srgbClr val="5B6372"/>
                </a:solidFill>
                <a:latin typeface="Arial"/>
              </a:rPr>
              <a:t>Confirm the answer names the section it used</a:t>
            </a:r>
          </a:p>
        </p:txBody>
      </p:sp>
      <p:sp>
        <p:nvSpPr>
          <p:cNvPr id="29" name="Rectangle 28"/>
          <p:cNvSpPr/>
          <p:nvPr/>
        </p:nvSpPr>
        <p:spPr>
          <a:xfrm>
            <a:off x="9275672"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Freeform 29"/>
          <p:cNvSpPr/>
          <p:nvPr/>
        </p:nvSpPr>
        <p:spPr>
          <a:xfrm>
            <a:off x="9392716"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650576"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650576"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778592" y="2670048"/>
            <a:ext cx="1505102" cy="713232"/>
          </a:xfrm>
          <a:prstGeom prst="rect">
            <a:avLst/>
          </a:prstGeom>
          <a:noFill/>
        </p:spPr>
        <p:txBody>
          <a:bodyPr wrap="square" anchor="ctr">
            <a:spAutoFit/>
          </a:bodyPr>
          <a:lstStyle/>
          <a:p>
            <a:pPr algn="ctr">
              <a:spcAft>
                <a:spcPts val="400"/>
              </a:spcAft>
            </a:pPr>
            <a:r>
              <a:rPr sz="1500" b="1">
                <a:solidFill>
                  <a:srgbClr val="161B26"/>
                </a:solidFill>
                <a:latin typeface="Arial"/>
              </a:rPr>
              <a:t>Test a refusal</a:t>
            </a:r>
          </a:p>
        </p:txBody>
      </p:sp>
      <p:sp>
        <p:nvSpPr>
          <p:cNvPr id="34" name="TextBox 33"/>
          <p:cNvSpPr txBox="1"/>
          <p:nvPr/>
        </p:nvSpPr>
        <p:spPr>
          <a:xfrm>
            <a:off x="9778592" y="3401568"/>
            <a:ext cx="1505102" cy="804672"/>
          </a:xfrm>
          <a:prstGeom prst="rect">
            <a:avLst/>
          </a:prstGeom>
          <a:noFill/>
        </p:spPr>
        <p:txBody>
          <a:bodyPr wrap="square" anchor="t">
            <a:spAutoFit/>
          </a:bodyPr>
          <a:lstStyle/>
          <a:p>
            <a:pPr algn="ctr">
              <a:spcAft>
                <a:spcPts val="400"/>
              </a:spcAft>
            </a:pPr>
            <a:r>
              <a:rPr sz="1100" b="0">
                <a:solidFill>
                  <a:srgbClr val="5B6372"/>
                </a:solidFill>
                <a:latin typeface="Arial"/>
              </a:rPr>
              <a:t>Ask something outside the source</a:t>
            </a:r>
          </a:p>
        </p:txBody>
      </p:sp>
      <p:sp>
        <p:nvSpPr>
          <p:cNvPr id="35" name="Rectangle 34"/>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F6FEB"/>
                </a:solidFill>
                <a:latin typeface="Arial"/>
              </a:rPr>
              <a:t>WHY IT MATTERS   </a:t>
            </a:r>
            <a:r>
              <a:rPr sz="1300" b="0">
                <a:solidFill>
                  <a:srgbClr val="161B26"/>
                </a:solidFill>
                <a:latin typeface="Arial"/>
              </a:rPr>
              <a:t>An agent grounded in nothing will still answer. That is the problem.</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151</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DECISION RULE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Should the Agent Do This Alone?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331720"/>
            <a:ext cx="3017520" cy="210312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788920"/>
            <a:ext cx="2468880" cy="1188720"/>
          </a:xfrm>
          <a:prstGeom prst="rect">
            <a:avLst/>
          </a:prstGeom>
          <a:noFill/>
        </p:spPr>
        <p:txBody>
          <a:bodyPr wrap="square" anchor="ctr">
            <a:spAutoFit/>
          </a:bodyPr>
          <a:lstStyle/>
          <a:p>
            <a:pPr algn="ctr">
              <a:spcAft>
                <a:spcPts val="400"/>
              </a:spcAft>
            </a:pPr>
            <a:r>
              <a:rPr sz="1300" b="1">
                <a:solidFill>
                  <a:srgbClr val="FFFFFF"/>
                </a:solidFill>
                <a:latin typeface="Arial"/>
              </a:rPr>
              <a:t>Would a mistake here be expensive or public?</a:t>
            </a:r>
          </a:p>
        </p:txBody>
      </p:sp>
      <p:sp>
        <p:nvSpPr>
          <p:cNvPr id="9" name="Rectangle 8"/>
          <p:cNvSpPr/>
          <p:nvPr/>
        </p:nvSpPr>
        <p:spPr>
          <a:xfrm>
            <a:off x="3931920" y="2761488"/>
            <a:ext cx="32004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reeform 9"/>
          <p:cNvSpPr/>
          <p:nvPr/>
        </p:nvSpPr>
        <p:spPr>
          <a:xfrm>
            <a:off x="4251960" y="2732227"/>
            <a:ext cx="182880" cy="113385"/>
          </a:xfrm>
          <a:custGeom>
            <a:avLst/>
            <a:gdLst/>
            <a:ahLst/>
            <a:cxnLst/>
            <a:rect l="l" t="t" r="r" b="b"/>
            <a:pathLst>
              <a:path w="182880" h="113385">
                <a:moveTo>
                  <a:pt x="0" y="0"/>
                </a:moveTo>
                <a:lnTo>
                  <a:pt x="182880" y="56693"/>
                </a:lnTo>
                <a:lnTo>
                  <a:pt x="0" y="113385"/>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0" y="1965960"/>
            <a:ext cx="6858000" cy="1920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965960"/>
            <a:ext cx="91440" cy="19202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28032" y="2112264"/>
            <a:ext cx="6400800" cy="365760"/>
          </a:xfrm>
          <a:prstGeom prst="rect">
            <a:avLst/>
          </a:prstGeom>
          <a:noFill/>
        </p:spPr>
        <p:txBody>
          <a:bodyPr wrap="square" anchor="t">
            <a:spAutoFit/>
          </a:bodyPr>
          <a:lstStyle/>
          <a:p>
            <a:pPr algn="l">
              <a:spcAft>
                <a:spcPts val="400"/>
              </a:spcAft>
            </a:pPr>
            <a:r>
              <a:rPr sz="1300" b="1">
                <a:solidFill>
                  <a:srgbClr val="10B981"/>
                </a:solidFill>
                <a:latin typeface="Arial"/>
              </a:rPr>
              <a:t>YES</a:t>
            </a:r>
          </a:p>
        </p:txBody>
      </p:sp>
      <p:sp>
        <p:nvSpPr>
          <p:cNvPr id="14" name="TextBox 13"/>
          <p:cNvSpPr txBox="1"/>
          <p:nvPr/>
        </p:nvSpPr>
        <p:spPr>
          <a:xfrm>
            <a:off x="4828032" y="2514600"/>
            <a:ext cx="6400800" cy="1280160"/>
          </a:xfrm>
          <a:prstGeom prst="rect">
            <a:avLst/>
          </a:prstGeom>
          <a:noFill/>
        </p:spPr>
        <p:txBody>
          <a:bodyPr wrap="square">
            <a:spAutoFit/>
          </a:bodyPr>
          <a:lstStyle/>
          <a:p>
            <a:pPr>
              <a:spcAft>
                <a:spcPts val="600"/>
              </a:spcAft>
            </a:pPr>
            <a:r>
              <a:rPr sz="1300">
                <a:solidFill>
                  <a:srgbClr val="161B26"/>
                </a:solidFill>
                <a:latin typeface="Arial"/>
              </a:rPr>
              <a:t>•  Require a human approval before it takes effect</a:t>
            </a:r>
          </a:p>
          <a:p>
            <a:pPr>
              <a:spcAft>
                <a:spcPts val="600"/>
              </a:spcAft>
            </a:pPr>
            <a:r>
              <a:rPr sz="1300">
                <a:solidFill>
                  <a:srgbClr val="161B26"/>
                </a:solidFill>
                <a:latin typeface="Arial"/>
              </a:rPr>
              <a:t>•  Log the request either way</a:t>
            </a:r>
          </a:p>
        </p:txBody>
      </p:sp>
      <p:sp>
        <p:nvSpPr>
          <p:cNvPr id="15" name="Rectangle 14"/>
          <p:cNvSpPr/>
          <p:nvPr/>
        </p:nvSpPr>
        <p:spPr>
          <a:xfrm>
            <a:off x="3931920" y="5001768"/>
            <a:ext cx="32004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reeform 15"/>
          <p:cNvSpPr/>
          <p:nvPr/>
        </p:nvSpPr>
        <p:spPr>
          <a:xfrm>
            <a:off x="4251960" y="4972507"/>
            <a:ext cx="182880" cy="113385"/>
          </a:xfrm>
          <a:custGeom>
            <a:avLst/>
            <a:gdLst/>
            <a:ahLst/>
            <a:cxnLst/>
            <a:rect l="l" t="t" r="r" b="b"/>
            <a:pathLst>
              <a:path w="182880" h="113385">
                <a:moveTo>
                  <a:pt x="0" y="0"/>
                </a:moveTo>
                <a:lnTo>
                  <a:pt x="182880" y="56693"/>
                </a:lnTo>
                <a:lnTo>
                  <a:pt x="0" y="113385"/>
                </a:lnTo>
                <a:close/>
              </a:path>
            </a:pathLst>
          </a:cu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0" y="4206240"/>
            <a:ext cx="6858000" cy="1920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0" y="4206240"/>
            <a:ext cx="91440" cy="19202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28032" y="4352544"/>
            <a:ext cx="6400800" cy="365760"/>
          </a:xfrm>
          <a:prstGeom prst="rect">
            <a:avLst/>
          </a:prstGeom>
          <a:noFill/>
        </p:spPr>
        <p:txBody>
          <a:bodyPr wrap="square" anchor="t">
            <a:spAutoFit/>
          </a:bodyPr>
          <a:lstStyle/>
          <a:p>
            <a:pPr algn="l">
              <a:spcAft>
                <a:spcPts val="400"/>
              </a:spcAft>
            </a:pPr>
            <a:r>
              <a:rPr sz="1300" b="1">
                <a:solidFill>
                  <a:srgbClr val="F59E0B"/>
                </a:solidFill>
                <a:latin typeface="Arial"/>
              </a:rPr>
              <a:t>NO</a:t>
            </a:r>
          </a:p>
        </p:txBody>
      </p:sp>
      <p:sp>
        <p:nvSpPr>
          <p:cNvPr id="20" name="TextBox 19"/>
          <p:cNvSpPr txBox="1"/>
          <p:nvPr/>
        </p:nvSpPr>
        <p:spPr>
          <a:xfrm>
            <a:off x="4828032" y="4754880"/>
            <a:ext cx="6400800" cy="1280160"/>
          </a:xfrm>
          <a:prstGeom prst="rect">
            <a:avLst/>
          </a:prstGeom>
          <a:noFill/>
        </p:spPr>
        <p:txBody>
          <a:bodyPr wrap="square">
            <a:spAutoFit/>
          </a:bodyPr>
          <a:lstStyle/>
          <a:p>
            <a:pPr>
              <a:spcAft>
                <a:spcPts val="600"/>
              </a:spcAft>
            </a:pPr>
            <a:r>
              <a:rPr sz="1300">
                <a:solidFill>
                  <a:srgbClr val="161B26"/>
                </a:solidFill>
                <a:latin typeface="Arial"/>
              </a:rPr>
              <a:t>•  The agent may act, with an audit record</a:t>
            </a:r>
          </a:p>
          <a:p>
            <a:pPr>
              <a:spcAft>
                <a:spcPts val="600"/>
              </a:spcAft>
            </a:pPr>
            <a:r>
              <a:rPr sz="1300">
                <a:solidFill>
                  <a:srgbClr val="161B26"/>
                </a:solidFill>
                <a:latin typeface="Arial"/>
              </a:rPr>
              <a:t>•  Review the log periodically</a:t>
            </a:r>
          </a:p>
        </p:txBody>
      </p:sp>
      <p:sp>
        <p:nvSpPr>
          <p:cNvPr id="21" name="TextBox 20"/>
          <p:cNvSpPr txBox="1"/>
          <p:nvPr/>
        </p:nvSpPr>
        <p:spPr>
          <a:xfrm>
            <a:off x="777240" y="5989320"/>
            <a:ext cx="10607040" cy="457200"/>
          </a:xfrm>
          <a:prstGeom prst="rect">
            <a:avLst/>
          </a:prstGeom>
          <a:noFill/>
        </p:spPr>
        <p:txBody>
          <a:bodyPr wrap="square" anchor="t">
            <a:spAutoFit/>
          </a:bodyPr>
          <a:lstStyle/>
          <a:p>
            <a:pPr algn="l">
              <a:spcAft>
                <a:spcPts val="400"/>
              </a:spcAft>
            </a:pPr>
            <a:r>
              <a:rPr sz="1100" b="1">
                <a:solidFill>
                  <a:srgbClr val="7C3AED"/>
                </a:solidFill>
                <a:latin typeface="Arial"/>
              </a:rPr>
              <a:t>RULE   </a:t>
            </a:r>
            <a:r>
              <a:rPr sz="1300" b="0">
                <a:solidFill>
                  <a:srgbClr val="161B26"/>
                </a:solidFill>
                <a:latin typeface="Arial"/>
              </a:rPr>
              <a:t>Draw the boundary of agency before you build, not after the first incident.</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152</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FROM ANSWERING TO DOING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Tools: Letting an Agent 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A tool is a published flow</a:t>
            </a:r>
          </a:p>
          <a:p>
            <a:pPr algn="l">
              <a:spcAft>
                <a:spcPts val="300"/>
              </a:spcAft>
            </a:pPr>
            <a:r>
              <a:rPr sz="1200" b="0">
                <a:solidFill>
                  <a:srgbClr val="5B6372"/>
                </a:solidFill>
                <a:latin typeface="Arial"/>
              </a:rPr>
              <a:t>The agent calls it; the flow does the work.</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The description is the interface</a:t>
            </a:r>
          </a:p>
          <a:p>
            <a:pPr algn="l">
              <a:spcAft>
                <a:spcPts val="300"/>
              </a:spcAft>
            </a:pPr>
            <a:r>
              <a:rPr sz="1200" b="0">
                <a:solidFill>
                  <a:srgbClr val="5B6372"/>
                </a:solidFill>
                <a:latin typeface="Arial"/>
              </a:rPr>
              <a:t>It is how the model decides whether to call it.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Inputs and outputs are a contract</a:t>
            </a:r>
          </a:p>
          <a:p>
            <a:pPr algn="l">
              <a:spcAft>
                <a:spcPts val="300"/>
              </a:spcAft>
            </a:pPr>
            <a:r>
              <a:rPr sz="1200" b="0">
                <a:solidFill>
                  <a:srgbClr val="5B6372"/>
                </a:solidFill>
                <a:latin typeface="Arial"/>
              </a:rPr>
              <a:t>Ambiguous fields produce inconsistent behaviour.</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Unpublished means unavailable</a:t>
            </a:r>
          </a:p>
          <a:p>
            <a:pPr algn="l">
              <a:spcAft>
                <a:spcPts val="300"/>
              </a:spcAft>
            </a:pPr>
            <a:r>
              <a:rPr sz="1200" b="0">
                <a:solidFill>
                  <a:srgbClr val="5B6372"/>
                </a:solidFill>
                <a:latin typeface="Arial"/>
              </a:rPr>
              <a:t>A flow that is not published cannot be attached.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153</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TOOL DESIGN</a:t>
            </a:r>
          </a:p>
        </p:txBody>
      </p:sp>
      <p:sp>
        <p:nvSpPr>
          <p:cNvPr id="5" name="TextBox 4"/>
          <p:cNvSpPr txBox="1"/>
          <p:nvPr/>
        </p:nvSpPr>
        <p:spPr>
          <a:xfrm>
            <a:off x="1005840" y="2560320"/>
            <a:ext cx="10332720" cy="2011680"/>
          </a:xfrm>
          <a:prstGeom prst="rect">
            <a:avLst/>
          </a:prstGeom>
          <a:noFill/>
        </p:spPr>
        <p:txBody>
          <a:bodyPr wrap="square" anchor="t">
            <a:spAutoFit/>
          </a:bodyPr>
          <a:lstStyle/>
          <a:p>
            <a:pPr algn="l">
              <a:spcAft>
                <a:spcPts val="400"/>
              </a:spcAft>
            </a:pPr>
            <a:r>
              <a:rPr sz="3600" b="1">
                <a:solidFill>
                  <a:srgbClr val="161B26"/>
                </a:solidFill>
                <a:latin typeface="Arial"/>
              </a:rPr>
              <a:t>A vague tool description is a tool that is never called — or always called.</a:t>
            </a:r>
          </a:p>
        </p:txBody>
      </p:sp>
      <p:sp>
        <p:nvSpPr>
          <p:cNvPr id="6" name="TextBox 5"/>
          <p:cNvSpPr txBox="1"/>
          <p:nvPr/>
        </p:nvSpPr>
        <p:spPr>
          <a:xfrm>
            <a:off x="1024128" y="4572000"/>
            <a:ext cx="10058400" cy="1097280"/>
          </a:xfrm>
          <a:prstGeom prst="rect">
            <a:avLst/>
          </a:prstGeom>
          <a:noFill/>
        </p:spPr>
        <p:txBody>
          <a:bodyPr wrap="square" anchor="t">
            <a:spAutoFit/>
          </a:bodyPr>
          <a:lstStyle/>
          <a:p>
            <a:pPr algn="l">
              <a:spcAft>
                <a:spcPts val="400"/>
              </a:spcAft>
            </a:pPr>
            <a:r>
              <a:rPr sz="1900" b="0">
                <a:solidFill>
                  <a:srgbClr val="5B6372"/>
                </a:solidFill>
                <a:latin typeface="Arial"/>
              </a:rPr>
              <a:t>The description is not documentation. It is the instruction the model actually acts on.</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154</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DELEGATION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Connected Agents and Orchestration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2315718"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231571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Request arrives</a:t>
            </a:r>
          </a:p>
        </p:txBody>
      </p:sp>
      <p:sp>
        <p:nvSpPr>
          <p:cNvPr id="10" name="TextBox 9"/>
          <p:cNvSpPr txBox="1"/>
          <p:nvPr/>
        </p:nvSpPr>
        <p:spPr>
          <a:xfrm>
            <a:off x="905256"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At the orchestrating agent</a:t>
            </a:r>
          </a:p>
        </p:txBody>
      </p:sp>
      <p:sp>
        <p:nvSpPr>
          <p:cNvPr id="11" name="Rectangle 10"/>
          <p:cNvSpPr/>
          <p:nvPr/>
        </p:nvSpPr>
        <p:spPr>
          <a:xfrm>
            <a:off x="3175254"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3292298"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50158" y="2468880"/>
            <a:ext cx="2315718"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50158" y="2468880"/>
            <a:ext cx="231571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78174"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Route</a:t>
            </a:r>
          </a:p>
        </p:txBody>
      </p:sp>
      <p:sp>
        <p:nvSpPr>
          <p:cNvPr id="16" name="TextBox 15"/>
          <p:cNvSpPr txBox="1"/>
          <p:nvPr/>
        </p:nvSpPr>
        <p:spPr>
          <a:xfrm>
            <a:off x="3678174"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Matched to a specialist by description</a:t>
            </a:r>
          </a:p>
        </p:txBody>
      </p:sp>
      <p:sp>
        <p:nvSpPr>
          <p:cNvPr id="17" name="Rectangle 16"/>
          <p:cNvSpPr/>
          <p:nvPr/>
        </p:nvSpPr>
        <p:spPr>
          <a:xfrm>
            <a:off x="5948172"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6065216"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3076" y="2468880"/>
            <a:ext cx="2315718"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23076" y="2468880"/>
            <a:ext cx="231571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1092"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Specialist answers</a:t>
            </a:r>
          </a:p>
        </p:txBody>
      </p:sp>
      <p:sp>
        <p:nvSpPr>
          <p:cNvPr id="22" name="TextBox 21"/>
          <p:cNvSpPr txBox="1"/>
          <p:nvPr/>
        </p:nvSpPr>
        <p:spPr>
          <a:xfrm>
            <a:off x="6451092"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Using its own knowledge and tools</a:t>
            </a:r>
          </a:p>
        </p:txBody>
      </p:sp>
      <p:sp>
        <p:nvSpPr>
          <p:cNvPr id="23" name="Rectangle 22"/>
          <p:cNvSpPr/>
          <p:nvPr/>
        </p:nvSpPr>
        <p:spPr>
          <a:xfrm>
            <a:off x="8721090"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8838134"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095994" y="2468880"/>
            <a:ext cx="2315718"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5994" y="2468880"/>
            <a:ext cx="231571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24010"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Attribute</a:t>
            </a:r>
          </a:p>
        </p:txBody>
      </p:sp>
      <p:sp>
        <p:nvSpPr>
          <p:cNvPr id="28" name="TextBox 27"/>
          <p:cNvSpPr txBox="1"/>
          <p:nvPr/>
        </p:nvSpPr>
        <p:spPr>
          <a:xfrm>
            <a:off x="9224010"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The reply names which agent answered</a:t>
            </a:r>
          </a:p>
        </p:txBody>
      </p:sp>
      <p:sp>
        <p:nvSpPr>
          <p:cNvPr id="29" name="Rectangle 28"/>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F6FEB"/>
                </a:solidFill>
                <a:latin typeface="Arial"/>
              </a:rPr>
              <a:t>WHY IT MATTERS   </a:t>
            </a:r>
            <a:r>
              <a:rPr sz="1300" b="0">
                <a:solidFill>
                  <a:srgbClr val="161B26"/>
                </a:solidFill>
                <a:latin typeface="Arial"/>
              </a:rPr>
              <a:t>Overlapping specialist descriptions produce inconsistent routing. Make the boundaries explicit.</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155</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THREE KINDS OF TEST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Testing an Agent Properly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It answers what it should</a:t>
            </a:r>
          </a:p>
          <a:p>
            <a:pPr algn="l">
              <a:spcAft>
                <a:spcPts val="300"/>
              </a:spcAft>
            </a:pPr>
            <a:r>
              <a:rPr sz="1200" b="0">
                <a:solidFill>
                  <a:srgbClr val="5B6372"/>
                </a:solidFill>
                <a:latin typeface="Arial"/>
              </a:rPr>
              <a:t>In-scope questions, with a correct citation.</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It refuses what it should</a:t>
            </a:r>
          </a:p>
          <a:p>
            <a:pPr algn="l">
              <a:spcAft>
                <a:spcPts val="300"/>
              </a:spcAft>
            </a:pPr>
            <a:r>
              <a:rPr sz="1200" b="0">
                <a:solidFill>
                  <a:srgbClr val="5B6372"/>
                </a:solidFill>
                <a:latin typeface="Arial"/>
              </a:rPr>
              <a:t>Out-of-scope questions produce a refusal, not a guess.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It handles the edge cases</a:t>
            </a:r>
          </a:p>
          <a:p>
            <a:pPr algn="l">
              <a:spcAft>
                <a:spcPts val="300"/>
              </a:spcAft>
            </a:pPr>
            <a:r>
              <a:rPr sz="1200" b="0">
                <a:solidFill>
                  <a:srgbClr val="5B6372"/>
                </a:solidFill>
                <a:latin typeface="Arial"/>
              </a:rPr>
              <a:t>The plausible-but-wrong inputs that look fine.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Every result is recorded</a:t>
            </a:r>
          </a:p>
          <a:p>
            <a:pPr algn="l">
              <a:spcAft>
                <a:spcPts val="300"/>
              </a:spcAft>
            </a:pPr>
            <a:r>
              <a:rPr sz="1200" b="0">
                <a:solidFill>
                  <a:srgbClr val="5B6372"/>
                </a:solidFill>
                <a:latin typeface="Arial"/>
              </a:rPr>
              <a:t>Expected versus actual, for each case.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156</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NATIVE CHART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Where Agents Fail in Testing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828800"/>
          <a:ext cx="7498079" cy="4114800"/>
        </p:xfrm>
        <a:graphic>
          <a:graphicData uri="http://schemas.openxmlformats.org/drawingml/2006/chart">
            <c:chart xmlns:c="http://schemas.openxmlformats.org/drawingml/2006/chart" r:id="rId2"/>
          </a:graphicData>
        </a:graphic>
      </p:graphicFrame>
      <p:sp>
        <p:nvSpPr>
          <p:cNvPr id="8" name="Rectangle 7"/>
          <p:cNvSpPr/>
          <p:nvPr/>
        </p:nvSpPr>
        <p:spPr>
          <a:xfrm>
            <a:off x="8503920" y="1828800"/>
            <a:ext cx="2926080" cy="4114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503920" y="1828800"/>
            <a:ext cx="2926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0" y="2103120"/>
            <a:ext cx="2377440" cy="365760"/>
          </a:xfrm>
          <a:prstGeom prst="rect">
            <a:avLst/>
          </a:prstGeom>
          <a:noFill/>
        </p:spPr>
        <p:txBody>
          <a:bodyPr wrap="square" anchor="t">
            <a:spAutoFit/>
          </a:bodyPr>
          <a:lstStyle/>
          <a:p>
            <a:pPr algn="l">
              <a:spcAft>
                <a:spcPts val="400"/>
              </a:spcAft>
            </a:pPr>
            <a:r>
              <a:rPr sz="1200" b="1">
                <a:solidFill>
                  <a:srgbClr val="1F6FEB"/>
                </a:solidFill>
                <a:latin typeface="Arial"/>
              </a:rPr>
              <a:t>DECISION LENS</a:t>
            </a:r>
          </a:p>
        </p:txBody>
      </p:sp>
      <p:sp>
        <p:nvSpPr>
          <p:cNvPr id="11" name="TextBox 10"/>
          <p:cNvSpPr txBox="1"/>
          <p:nvPr/>
        </p:nvSpPr>
        <p:spPr>
          <a:xfrm>
            <a:off x="8778240" y="2560320"/>
            <a:ext cx="2377440" cy="1737360"/>
          </a:xfrm>
          <a:prstGeom prst="rect">
            <a:avLst/>
          </a:prstGeom>
          <a:noFill/>
        </p:spPr>
        <p:txBody>
          <a:bodyPr wrap="square" anchor="t">
            <a:spAutoFit/>
          </a:bodyPr>
          <a:lstStyle/>
          <a:p>
            <a:pPr algn="l">
              <a:spcAft>
                <a:spcPts val="400"/>
              </a:spcAft>
            </a:pPr>
            <a:r>
              <a:rPr sz="1300" b="0">
                <a:solidFill>
                  <a:srgbClr val="161B26"/>
                </a:solidFill>
                <a:latin typeface="Arial"/>
              </a:rPr>
              <a:t>Most failures are scope and invention — which is exactly what refusal tests catch.</a:t>
            </a:r>
          </a:p>
        </p:txBody>
      </p:sp>
      <p:sp>
        <p:nvSpPr>
          <p:cNvPr id="12" name="Rectangle 11"/>
          <p:cNvSpPr/>
          <p:nvPr/>
        </p:nvSpPr>
        <p:spPr>
          <a:xfrm>
            <a:off x="8732520" y="4343400"/>
            <a:ext cx="24688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778240" y="4526280"/>
            <a:ext cx="310896" cy="31089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0" y="4526280"/>
            <a:ext cx="310896" cy="310896"/>
          </a:xfrm>
          <a:prstGeom prst="rect">
            <a:avLst/>
          </a:prstGeom>
          <a:noFill/>
        </p:spPr>
        <p:txBody>
          <a:bodyPr wrap="square" anchor="ctr">
            <a:spAutoFit/>
          </a:bodyPr>
          <a:lstStyle/>
          <a:p>
            <a:pPr algn="ctr">
              <a:spcAft>
                <a:spcPts val="400"/>
              </a:spcAft>
            </a:pPr>
            <a:r>
              <a:rPr sz="1300" b="1">
                <a:solidFill>
                  <a:srgbClr val="FFFFFF"/>
                </a:solidFill>
                <a:latin typeface="Arial"/>
              </a:rPr>
              <a:t>?</a:t>
            </a:r>
          </a:p>
        </p:txBody>
      </p:sp>
      <p:sp>
        <p:nvSpPr>
          <p:cNvPr id="15" name="TextBox 14"/>
          <p:cNvSpPr txBox="1"/>
          <p:nvPr/>
        </p:nvSpPr>
        <p:spPr>
          <a:xfrm>
            <a:off x="9189720" y="4507992"/>
            <a:ext cx="2011680" cy="777240"/>
          </a:xfrm>
          <a:prstGeom prst="rect">
            <a:avLst/>
          </a:prstGeom>
          <a:noFill/>
        </p:spPr>
        <p:txBody>
          <a:bodyPr wrap="square" anchor="t">
            <a:spAutoFit/>
          </a:bodyPr>
          <a:lstStyle/>
          <a:p>
            <a:pPr algn="l">
              <a:spcAft>
                <a:spcPts val="100"/>
              </a:spcAft>
            </a:pPr>
            <a:r>
              <a:rPr sz="1050" b="0">
                <a:solidFill>
                  <a:srgbClr val="5B6372"/>
                </a:solidFill>
                <a:latin typeface="Arial"/>
              </a:rPr>
              <a:t>Check the axis, the units</a:t>
            </a:r>
          </a:p>
          <a:p>
            <a:pPr algn="l">
              <a:spcAft>
                <a:spcPts val="100"/>
              </a:spcAft>
            </a:pPr>
            <a:r>
              <a:rPr sz="1050" b="0">
                <a:solidFill>
                  <a:srgbClr val="5B6372"/>
                </a:solidFill>
                <a:latin typeface="Arial"/>
              </a:rPr>
              <a:t>and the source before you act.</a:t>
            </a:r>
          </a:p>
        </p:txBody>
      </p:sp>
      <p:sp>
        <p:nvSpPr>
          <p:cNvPr id="16" name="Rectangle 15"/>
          <p:cNvSpPr/>
          <p:nvPr/>
        </p:nvSpPr>
        <p:spPr>
          <a:xfrm>
            <a:off x="8778240" y="5440680"/>
            <a:ext cx="2377440" cy="3840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69680" y="5440680"/>
            <a:ext cx="2194560" cy="384048"/>
          </a:xfrm>
          <a:prstGeom prst="rect">
            <a:avLst/>
          </a:prstGeom>
          <a:noFill/>
        </p:spPr>
        <p:txBody>
          <a:bodyPr wrap="square" anchor="ctr">
            <a:spAutoFit/>
          </a:bodyPr>
          <a:lstStyle/>
          <a:p>
            <a:pPr algn="l">
              <a:spcAft>
                <a:spcPts val="400"/>
              </a:spcAft>
            </a:pPr>
            <a:r>
              <a:rPr sz="900" b="0">
                <a:solidFill>
                  <a:srgbClr val="5B6372"/>
                </a:solidFill>
                <a:latin typeface="Arial"/>
              </a:rPr>
              <a:t>Native PowerPoint chart · editable data · verify source and units</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157</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GOING LIVE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Publishing and Channels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Users get the published version</a:t>
            </a:r>
          </a:p>
          <a:p>
            <a:pPr algn="l">
              <a:spcAft>
                <a:spcPts val="300"/>
              </a:spcAft>
            </a:pPr>
            <a:r>
              <a:rPr sz="1200" b="0">
                <a:solidFill>
                  <a:srgbClr val="5B6372"/>
                </a:solidFill>
                <a:latin typeface="Arial"/>
              </a:rPr>
              <a:t>Not your latest unpublished edit.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Test in the channel</a:t>
            </a:r>
          </a:p>
          <a:p>
            <a:pPr algn="l">
              <a:spcAft>
                <a:spcPts val="300"/>
              </a:spcAft>
            </a:pPr>
            <a:r>
              <a:rPr sz="1200" b="0">
                <a:solidFill>
                  <a:srgbClr val="5B6372"/>
                </a:solidFill>
                <a:latin typeface="Arial"/>
              </a:rPr>
              <a:t>The test pane is not where users meet the agent.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Re-test refusals after publishing</a:t>
            </a:r>
          </a:p>
          <a:p>
            <a:pPr algn="l">
              <a:spcAft>
                <a:spcPts val="300"/>
              </a:spcAft>
            </a:pPr>
            <a:r>
              <a:rPr sz="1200" b="0">
                <a:solidFill>
                  <a:srgbClr val="5B6372"/>
                </a:solidFill>
                <a:latin typeface="Arial"/>
              </a:rPr>
              <a:t>A refusal that only works in test is a defect.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Have a rollback plan</a:t>
            </a:r>
          </a:p>
          <a:p>
            <a:pPr algn="l">
              <a:spcAft>
                <a:spcPts val="300"/>
              </a:spcAft>
            </a:pPr>
            <a:r>
              <a:rPr sz="1200" b="0">
                <a:solidFill>
                  <a:srgbClr val="5B6372"/>
                </a:solidFill>
                <a:latin typeface="Arial"/>
              </a:rPr>
              <a:t>A release without one is not a controlled release.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158</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6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100" b="1">
                <a:solidFill>
                  <a:srgbClr val="F59E0B"/>
                </a:solidFill>
                <a:latin typeface="Arial"/>
              </a:rPr>
              <a:t>10 minutes</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BE HONEST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When an Agent Is the Wrong Answer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The path never varies</a:t>
            </a:r>
          </a:p>
          <a:p>
            <a:pPr algn="l">
              <a:spcAft>
                <a:spcPts val="300"/>
              </a:spcAft>
            </a:pPr>
            <a:r>
              <a:rPr sz="1200" b="0">
                <a:solidFill>
                  <a:srgbClr val="5B6372"/>
                </a:solidFill>
                <a:latin typeface="Arial"/>
              </a:rPr>
              <a:t>A flow is cheaper, faster and testable.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The answer must be exact</a:t>
            </a:r>
          </a:p>
          <a:p>
            <a:pPr algn="l">
              <a:spcAft>
                <a:spcPts val="300"/>
              </a:spcAft>
            </a:pPr>
            <a:r>
              <a:rPr sz="1200" b="0">
                <a:solidFill>
                  <a:srgbClr val="5B6372"/>
                </a:solidFill>
                <a:latin typeface="Arial"/>
              </a:rPr>
              <a:t>A deterministic lookup beats a generated one.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There is no approved source</a:t>
            </a:r>
          </a:p>
          <a:p>
            <a:pPr algn="l">
              <a:spcAft>
                <a:spcPts val="300"/>
              </a:spcAft>
            </a:pPr>
            <a:r>
              <a:rPr sz="1200" b="0">
                <a:solidFill>
                  <a:srgbClr val="5B6372"/>
                </a:solidFill>
                <a:latin typeface="Arial"/>
              </a:rPr>
              <a:t>An ungrounded agent will still answer.</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Nobody will own it</a:t>
            </a:r>
          </a:p>
          <a:p>
            <a:pPr algn="l">
              <a:spcAft>
                <a:spcPts val="300"/>
              </a:spcAft>
            </a:pPr>
            <a:r>
              <a:rPr sz="1200" b="0">
                <a:solidFill>
                  <a:srgbClr val="5B6372"/>
                </a:solidFill>
                <a:latin typeface="Arial"/>
              </a:rPr>
              <a:t>An unmaintained agent decays into a liability.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160</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EACH ONE IS FOR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Instructions, Knowledge, Tools and Skills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2764962" cy="548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28800"/>
            <a:ext cx="2490642" cy="548640"/>
          </a:xfrm>
          <a:prstGeom prst="rect">
            <a:avLst/>
          </a:prstGeom>
          <a:noFill/>
        </p:spPr>
        <p:txBody>
          <a:bodyPr wrap="square" anchor="ctr">
            <a:spAutoFit/>
          </a:bodyPr>
          <a:lstStyle/>
          <a:p>
            <a:pPr algn="l">
              <a:spcAft>
                <a:spcPts val="400"/>
              </a:spcAft>
            </a:pPr>
            <a:r>
              <a:rPr sz="1300" b="1">
                <a:solidFill>
                  <a:srgbClr val="FFFFFF"/>
                </a:solidFill>
                <a:latin typeface="Arial"/>
              </a:rPr>
              <a:t>Element</a:t>
            </a:r>
          </a:p>
        </p:txBody>
      </p:sp>
      <p:sp>
        <p:nvSpPr>
          <p:cNvPr id="9" name="Rectangle 8"/>
          <p:cNvSpPr/>
          <p:nvPr/>
        </p:nvSpPr>
        <p:spPr>
          <a:xfrm>
            <a:off x="3542202" y="1828800"/>
            <a:ext cx="3934755" cy="548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1930" y="1828800"/>
            <a:ext cx="3715299" cy="548640"/>
          </a:xfrm>
          <a:prstGeom prst="rect">
            <a:avLst/>
          </a:prstGeom>
          <a:noFill/>
        </p:spPr>
        <p:txBody>
          <a:bodyPr wrap="square" anchor="ctr">
            <a:spAutoFit/>
          </a:bodyPr>
          <a:lstStyle/>
          <a:p>
            <a:pPr algn="ctr">
              <a:spcAft>
                <a:spcPts val="400"/>
              </a:spcAft>
            </a:pPr>
            <a:r>
              <a:rPr sz="1300" b="1">
                <a:solidFill>
                  <a:srgbClr val="FFFFFF"/>
                </a:solidFill>
                <a:latin typeface="Arial"/>
              </a:rPr>
              <a:t>Purpose</a:t>
            </a:r>
          </a:p>
        </p:txBody>
      </p:sp>
      <p:sp>
        <p:nvSpPr>
          <p:cNvPr id="11" name="Rectangle 10"/>
          <p:cNvSpPr/>
          <p:nvPr/>
        </p:nvSpPr>
        <p:spPr>
          <a:xfrm>
            <a:off x="7476957" y="1828800"/>
            <a:ext cx="3934755" cy="548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6685" y="1828800"/>
            <a:ext cx="3715299" cy="548640"/>
          </a:xfrm>
          <a:prstGeom prst="rect">
            <a:avLst/>
          </a:prstGeom>
          <a:noFill/>
        </p:spPr>
        <p:txBody>
          <a:bodyPr wrap="square" anchor="ctr">
            <a:spAutoFit/>
          </a:bodyPr>
          <a:lstStyle/>
          <a:p>
            <a:pPr algn="ctr">
              <a:spcAft>
                <a:spcPts val="400"/>
              </a:spcAft>
            </a:pPr>
            <a:r>
              <a:rPr sz="1300" b="1">
                <a:solidFill>
                  <a:srgbClr val="FFFFFF"/>
                </a:solidFill>
                <a:latin typeface="Arial"/>
              </a:rPr>
              <a:t>Enforced?</a:t>
            </a:r>
          </a:p>
        </p:txBody>
      </p:sp>
      <p:sp>
        <p:nvSpPr>
          <p:cNvPr id="13" name="Rectangle 12"/>
          <p:cNvSpPr/>
          <p:nvPr/>
        </p:nvSpPr>
        <p:spPr>
          <a:xfrm>
            <a:off x="777240" y="2377440"/>
            <a:ext cx="2764962"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377440"/>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Instructions</a:t>
            </a:r>
          </a:p>
        </p:txBody>
      </p:sp>
      <p:sp>
        <p:nvSpPr>
          <p:cNvPr id="15" name="Rectangle 14"/>
          <p:cNvSpPr/>
          <p:nvPr/>
        </p:nvSpPr>
        <p:spPr>
          <a:xfrm>
            <a:off x="3542202" y="2377440"/>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1930" y="2377440"/>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Role, tone, scope and refusals</a:t>
            </a:r>
          </a:p>
        </p:txBody>
      </p:sp>
      <p:sp>
        <p:nvSpPr>
          <p:cNvPr id="17" name="Rectangle 16"/>
          <p:cNvSpPr/>
          <p:nvPr/>
        </p:nvSpPr>
        <p:spPr>
          <a:xfrm>
            <a:off x="7476957" y="2377440"/>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6685" y="2377440"/>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No — guidance only</a:t>
            </a:r>
          </a:p>
        </p:txBody>
      </p:sp>
      <p:sp>
        <p:nvSpPr>
          <p:cNvPr id="19" name="Rectangle 18"/>
          <p:cNvSpPr/>
          <p:nvPr/>
        </p:nvSpPr>
        <p:spPr>
          <a:xfrm>
            <a:off x="777240" y="2852928"/>
            <a:ext cx="2764962"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2852928"/>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Knowledge</a:t>
            </a:r>
          </a:p>
        </p:txBody>
      </p:sp>
      <p:sp>
        <p:nvSpPr>
          <p:cNvPr id="21" name="Rectangle 20"/>
          <p:cNvSpPr/>
          <p:nvPr/>
        </p:nvSpPr>
        <p:spPr>
          <a:xfrm>
            <a:off x="3542202" y="2852928"/>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1930" y="2852928"/>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The sources it may cite</a:t>
            </a:r>
          </a:p>
        </p:txBody>
      </p:sp>
      <p:sp>
        <p:nvSpPr>
          <p:cNvPr id="23" name="Rectangle 22"/>
          <p:cNvSpPr/>
          <p:nvPr/>
        </p:nvSpPr>
        <p:spPr>
          <a:xfrm>
            <a:off x="7476957" y="2852928"/>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86685" y="2852928"/>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Partly — it can only cite what is attached</a:t>
            </a:r>
          </a:p>
        </p:txBody>
      </p:sp>
      <p:sp>
        <p:nvSpPr>
          <p:cNvPr id="25" name="Rectangle 24"/>
          <p:cNvSpPr/>
          <p:nvPr/>
        </p:nvSpPr>
        <p:spPr>
          <a:xfrm>
            <a:off x="777240" y="3328416"/>
            <a:ext cx="2764962"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3328416"/>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Tools</a:t>
            </a:r>
          </a:p>
        </p:txBody>
      </p:sp>
      <p:sp>
        <p:nvSpPr>
          <p:cNvPr id="27" name="Rectangle 26"/>
          <p:cNvSpPr/>
          <p:nvPr/>
        </p:nvSpPr>
        <p:spPr>
          <a:xfrm>
            <a:off x="3542202" y="3328416"/>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1930" y="3328416"/>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Actions it can take on systems</a:t>
            </a:r>
          </a:p>
        </p:txBody>
      </p:sp>
      <p:sp>
        <p:nvSpPr>
          <p:cNvPr id="29" name="Rectangle 28"/>
          <p:cNvSpPr/>
          <p:nvPr/>
        </p:nvSpPr>
        <p:spPr>
          <a:xfrm>
            <a:off x="7476957" y="3328416"/>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86685" y="3328416"/>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Yes — it cannot call what it lacks</a:t>
            </a:r>
          </a:p>
        </p:txBody>
      </p:sp>
      <p:sp>
        <p:nvSpPr>
          <p:cNvPr id="31" name="Rectangle 30"/>
          <p:cNvSpPr/>
          <p:nvPr/>
        </p:nvSpPr>
        <p:spPr>
          <a:xfrm>
            <a:off x="777240" y="3803904"/>
            <a:ext cx="2764962"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3803904"/>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Skills</a:t>
            </a:r>
          </a:p>
        </p:txBody>
      </p:sp>
      <p:sp>
        <p:nvSpPr>
          <p:cNvPr id="33" name="Rectangle 32"/>
          <p:cNvSpPr/>
          <p:nvPr/>
        </p:nvSpPr>
        <p:spPr>
          <a:xfrm>
            <a:off x="3542202" y="3803904"/>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51930" y="3803904"/>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Task instructions supplied on demand</a:t>
            </a:r>
          </a:p>
        </p:txBody>
      </p:sp>
      <p:sp>
        <p:nvSpPr>
          <p:cNvPr id="35" name="Rectangle 34"/>
          <p:cNvSpPr/>
          <p:nvPr/>
        </p:nvSpPr>
        <p:spPr>
          <a:xfrm>
            <a:off x="7476957" y="3803904"/>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586685" y="3803904"/>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No — guidance, delivered contextually</a:t>
            </a:r>
          </a:p>
        </p:txBody>
      </p:sp>
      <p:sp>
        <p:nvSpPr>
          <p:cNvPr id="37" name="TextBox 36"/>
          <p:cNvSpPr txBox="1"/>
          <p:nvPr/>
        </p:nvSpPr>
        <p:spPr>
          <a:xfrm>
            <a:off x="777240" y="4507992"/>
            <a:ext cx="10634472" cy="457200"/>
          </a:xfrm>
          <a:prstGeom prst="rect">
            <a:avLst/>
          </a:prstGeom>
          <a:noFill/>
        </p:spPr>
        <p:txBody>
          <a:bodyPr wrap="square" anchor="t">
            <a:spAutoFit/>
          </a:bodyPr>
          <a:lstStyle/>
          <a:p>
            <a:pPr algn="l">
              <a:spcAft>
                <a:spcPts val="400"/>
              </a:spcAft>
            </a:pPr>
            <a:r>
              <a:rPr sz="1100" b="1">
                <a:solidFill>
                  <a:srgbClr val="1F6FEB"/>
                </a:solidFill>
                <a:latin typeface="Arial"/>
              </a:rPr>
              <a:t>RULE   </a:t>
            </a:r>
            <a:r>
              <a:rPr sz="1300" b="0">
                <a:solidFill>
                  <a:srgbClr val="161B26"/>
                </a:solidFill>
                <a:latin typeface="Arial"/>
              </a:rPr>
              <a:t>Only tools and gates are enforcement. Everything else is persuasion.</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161</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TRAP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Why 'Search All Websites' Is On By Default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It is convenient</a:t>
            </a:r>
          </a:p>
          <a:p>
            <a:pPr algn="l">
              <a:spcAft>
                <a:spcPts val="300"/>
              </a:spcAft>
            </a:pPr>
            <a:r>
              <a:rPr sz="1200" b="0">
                <a:solidFill>
                  <a:srgbClr val="5B6372"/>
                </a:solidFill>
                <a:latin typeface="Arial"/>
              </a:rPr>
              <a:t>The agent can always answer something.</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It is ungrounded</a:t>
            </a:r>
          </a:p>
          <a:p>
            <a:pPr algn="l">
              <a:spcAft>
                <a:spcPts val="300"/>
              </a:spcAft>
            </a:pPr>
            <a:r>
              <a:rPr sz="1200" b="0">
                <a:solidFill>
                  <a:srgbClr val="5B6372"/>
                </a:solidFill>
                <a:latin typeface="Arial"/>
              </a:rPr>
              <a:t>The answer no longer comes from your approved source.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It looks like success</a:t>
            </a:r>
          </a:p>
          <a:p>
            <a:pPr algn="l">
              <a:spcAft>
                <a:spcPts val="300"/>
              </a:spcAft>
            </a:pPr>
            <a:r>
              <a:rPr sz="1200" b="0">
                <a:solidFill>
                  <a:srgbClr val="5B6372"/>
                </a:solidFill>
                <a:latin typeface="Arial"/>
              </a:rPr>
              <a:t>A fluent wrong answer passes a casual test.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Remove it before testing</a:t>
            </a:r>
          </a:p>
          <a:p>
            <a:pPr algn="l">
              <a:spcAft>
                <a:spcPts val="300"/>
              </a:spcAft>
            </a:pPr>
            <a:r>
              <a:rPr sz="1200" b="0">
                <a:solidFill>
                  <a:srgbClr val="5B6372"/>
                </a:solidFill>
                <a:latin typeface="Arial"/>
              </a:rPr>
              <a:t>Otherwise your refusal tests will all falsely pass.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162</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DECISION RULE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Did the Agent Answer, or Did It Guess?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331720"/>
            <a:ext cx="3017520" cy="210312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788920"/>
            <a:ext cx="2468880" cy="1188720"/>
          </a:xfrm>
          <a:prstGeom prst="rect">
            <a:avLst/>
          </a:prstGeom>
          <a:noFill/>
        </p:spPr>
        <p:txBody>
          <a:bodyPr wrap="square" anchor="ctr">
            <a:spAutoFit/>
          </a:bodyPr>
          <a:lstStyle/>
          <a:p>
            <a:pPr algn="ctr">
              <a:spcAft>
                <a:spcPts val="400"/>
              </a:spcAft>
            </a:pPr>
            <a:r>
              <a:rPr sz="1300" b="1">
                <a:solidFill>
                  <a:srgbClr val="FFFFFF"/>
                </a:solidFill>
                <a:latin typeface="Arial"/>
              </a:rPr>
              <a:t>Does the answer cite an attached source?</a:t>
            </a:r>
          </a:p>
        </p:txBody>
      </p:sp>
      <p:sp>
        <p:nvSpPr>
          <p:cNvPr id="9" name="Rectangle 8"/>
          <p:cNvSpPr/>
          <p:nvPr/>
        </p:nvSpPr>
        <p:spPr>
          <a:xfrm>
            <a:off x="3931920" y="2761488"/>
            <a:ext cx="32004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reeform 9"/>
          <p:cNvSpPr/>
          <p:nvPr/>
        </p:nvSpPr>
        <p:spPr>
          <a:xfrm>
            <a:off x="4251960" y="2732227"/>
            <a:ext cx="182880" cy="113385"/>
          </a:xfrm>
          <a:custGeom>
            <a:avLst/>
            <a:gdLst/>
            <a:ahLst/>
            <a:cxnLst/>
            <a:rect l="l" t="t" r="r" b="b"/>
            <a:pathLst>
              <a:path w="182880" h="113385">
                <a:moveTo>
                  <a:pt x="0" y="0"/>
                </a:moveTo>
                <a:lnTo>
                  <a:pt x="182880" y="56693"/>
                </a:lnTo>
                <a:lnTo>
                  <a:pt x="0" y="113385"/>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0" y="1965960"/>
            <a:ext cx="6858000" cy="1920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965960"/>
            <a:ext cx="91440" cy="19202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28032" y="2112264"/>
            <a:ext cx="6400800" cy="365760"/>
          </a:xfrm>
          <a:prstGeom prst="rect">
            <a:avLst/>
          </a:prstGeom>
          <a:noFill/>
        </p:spPr>
        <p:txBody>
          <a:bodyPr wrap="square" anchor="t">
            <a:spAutoFit/>
          </a:bodyPr>
          <a:lstStyle/>
          <a:p>
            <a:pPr algn="l">
              <a:spcAft>
                <a:spcPts val="400"/>
              </a:spcAft>
            </a:pPr>
            <a:r>
              <a:rPr sz="1300" b="1">
                <a:solidFill>
                  <a:srgbClr val="10B981"/>
                </a:solidFill>
                <a:latin typeface="Arial"/>
              </a:rPr>
              <a:t>YES</a:t>
            </a:r>
          </a:p>
        </p:txBody>
      </p:sp>
      <p:sp>
        <p:nvSpPr>
          <p:cNvPr id="14" name="TextBox 13"/>
          <p:cNvSpPr txBox="1"/>
          <p:nvPr/>
        </p:nvSpPr>
        <p:spPr>
          <a:xfrm>
            <a:off x="4828032" y="2514600"/>
            <a:ext cx="6400800" cy="1280160"/>
          </a:xfrm>
          <a:prstGeom prst="rect">
            <a:avLst/>
          </a:prstGeom>
          <a:noFill/>
        </p:spPr>
        <p:txBody>
          <a:bodyPr wrap="square">
            <a:spAutoFit/>
          </a:bodyPr>
          <a:lstStyle/>
          <a:p>
            <a:pPr>
              <a:spcAft>
                <a:spcPts val="600"/>
              </a:spcAft>
            </a:pPr>
            <a:r>
              <a:rPr sz="1300">
                <a:solidFill>
                  <a:srgbClr val="161B26"/>
                </a:solidFill>
                <a:latin typeface="Arial"/>
              </a:rPr>
              <a:t>•  Verify the citation actually says that</a:t>
            </a:r>
          </a:p>
          <a:p>
            <a:pPr>
              <a:spcAft>
                <a:spcPts val="600"/>
              </a:spcAft>
            </a:pPr>
            <a:r>
              <a:rPr sz="1300">
                <a:solidFill>
                  <a:srgbClr val="161B26"/>
                </a:solidFill>
                <a:latin typeface="Arial"/>
              </a:rPr>
              <a:t>•  A citation can be present and wrong</a:t>
            </a:r>
          </a:p>
        </p:txBody>
      </p:sp>
      <p:sp>
        <p:nvSpPr>
          <p:cNvPr id="15" name="Rectangle 14"/>
          <p:cNvSpPr/>
          <p:nvPr/>
        </p:nvSpPr>
        <p:spPr>
          <a:xfrm>
            <a:off x="3931920" y="5001768"/>
            <a:ext cx="32004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reeform 15"/>
          <p:cNvSpPr/>
          <p:nvPr/>
        </p:nvSpPr>
        <p:spPr>
          <a:xfrm>
            <a:off x="4251960" y="4972507"/>
            <a:ext cx="182880" cy="113385"/>
          </a:xfrm>
          <a:custGeom>
            <a:avLst/>
            <a:gdLst/>
            <a:ahLst/>
            <a:cxnLst/>
            <a:rect l="l" t="t" r="r" b="b"/>
            <a:pathLst>
              <a:path w="182880" h="113385">
                <a:moveTo>
                  <a:pt x="0" y="0"/>
                </a:moveTo>
                <a:lnTo>
                  <a:pt x="182880" y="56693"/>
                </a:lnTo>
                <a:lnTo>
                  <a:pt x="0" y="113385"/>
                </a:lnTo>
                <a:close/>
              </a:path>
            </a:pathLst>
          </a:cu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0" y="4206240"/>
            <a:ext cx="6858000" cy="1920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0" y="4206240"/>
            <a:ext cx="91440" cy="19202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28032" y="4352544"/>
            <a:ext cx="6400800" cy="365760"/>
          </a:xfrm>
          <a:prstGeom prst="rect">
            <a:avLst/>
          </a:prstGeom>
          <a:noFill/>
        </p:spPr>
        <p:txBody>
          <a:bodyPr wrap="square" anchor="t">
            <a:spAutoFit/>
          </a:bodyPr>
          <a:lstStyle/>
          <a:p>
            <a:pPr algn="l">
              <a:spcAft>
                <a:spcPts val="400"/>
              </a:spcAft>
            </a:pPr>
            <a:r>
              <a:rPr sz="1300" b="1">
                <a:solidFill>
                  <a:srgbClr val="F59E0B"/>
                </a:solidFill>
                <a:latin typeface="Arial"/>
              </a:rPr>
              <a:t>NO</a:t>
            </a:r>
          </a:p>
        </p:txBody>
      </p:sp>
      <p:sp>
        <p:nvSpPr>
          <p:cNvPr id="20" name="TextBox 19"/>
          <p:cNvSpPr txBox="1"/>
          <p:nvPr/>
        </p:nvSpPr>
        <p:spPr>
          <a:xfrm>
            <a:off x="4828032" y="4754880"/>
            <a:ext cx="6400800" cy="1280160"/>
          </a:xfrm>
          <a:prstGeom prst="rect">
            <a:avLst/>
          </a:prstGeom>
          <a:noFill/>
        </p:spPr>
        <p:txBody>
          <a:bodyPr wrap="square">
            <a:spAutoFit/>
          </a:bodyPr>
          <a:lstStyle/>
          <a:p>
            <a:pPr>
              <a:spcAft>
                <a:spcPts val="600"/>
              </a:spcAft>
            </a:pPr>
            <a:r>
              <a:rPr sz="1300">
                <a:solidFill>
                  <a:srgbClr val="161B26"/>
                </a:solidFill>
                <a:latin typeface="Arial"/>
              </a:rPr>
              <a:t>•  Treat it as a guess</a:t>
            </a:r>
          </a:p>
          <a:p>
            <a:pPr>
              <a:spcAft>
                <a:spcPts val="600"/>
              </a:spcAft>
            </a:pPr>
            <a:r>
              <a:rPr sz="1300">
                <a:solidFill>
                  <a:srgbClr val="161B26"/>
                </a:solidFill>
                <a:latin typeface="Arial"/>
              </a:rPr>
              <a:t>•  Fix the grounding, not the wording of the question</a:t>
            </a:r>
          </a:p>
        </p:txBody>
      </p:sp>
      <p:sp>
        <p:nvSpPr>
          <p:cNvPr id="21" name="TextBox 20"/>
          <p:cNvSpPr txBox="1"/>
          <p:nvPr/>
        </p:nvSpPr>
        <p:spPr>
          <a:xfrm>
            <a:off x="777240" y="5989320"/>
            <a:ext cx="10607040" cy="457200"/>
          </a:xfrm>
          <a:prstGeom prst="rect">
            <a:avLst/>
          </a:prstGeom>
          <a:noFill/>
        </p:spPr>
        <p:txBody>
          <a:bodyPr wrap="square" anchor="t">
            <a:spAutoFit/>
          </a:bodyPr>
          <a:lstStyle/>
          <a:p>
            <a:pPr algn="l">
              <a:spcAft>
                <a:spcPts val="400"/>
              </a:spcAft>
            </a:pPr>
            <a:r>
              <a:rPr sz="1100" b="1">
                <a:solidFill>
                  <a:srgbClr val="7C3AED"/>
                </a:solidFill>
                <a:latin typeface="Arial"/>
              </a:rPr>
              <a:t>RULE   </a:t>
            </a:r>
            <a:r>
              <a:rPr sz="1300" b="0">
                <a:solidFill>
                  <a:srgbClr val="161B26"/>
                </a:solidFill>
                <a:latin typeface="Arial"/>
              </a:rPr>
              <a:t>Requiring a citation is what converts an invisible failure into a visible one.</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163</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MINIMUM SET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Test Cases Every Agent Needs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61944"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2209800" cy="1901952"/>
          </a:xfrm>
          <a:prstGeom prst="rect">
            <a:avLst/>
          </a:prstGeom>
          <a:noFill/>
        </p:spPr>
        <p:txBody>
          <a:bodyPr wrap="square" anchor="ctr">
            <a:spAutoFit/>
          </a:bodyPr>
          <a:lstStyle/>
          <a:p>
            <a:pPr algn="l">
              <a:spcAft>
                <a:spcPts val="300"/>
              </a:spcAft>
            </a:pPr>
            <a:r>
              <a:rPr sz="1500" b="1">
                <a:solidFill>
                  <a:srgbClr val="161B26"/>
                </a:solidFill>
                <a:latin typeface="Arial"/>
              </a:rPr>
              <a:t>A clear in-scope question</a:t>
            </a:r>
          </a:p>
          <a:p>
            <a:pPr algn="l">
              <a:spcAft>
                <a:spcPts val="300"/>
              </a:spcAft>
            </a:pPr>
            <a:r>
              <a:rPr sz="1100" b="0">
                <a:solidFill>
                  <a:srgbClr val="5B6372"/>
                </a:solidFill>
                <a:latin typeface="Arial"/>
              </a:rPr>
              <a:t>It should answer, and cite.</a:t>
            </a:r>
          </a:p>
        </p:txBody>
      </p:sp>
      <p:sp>
        <p:nvSpPr>
          <p:cNvPr id="12" name="Rectangle 11"/>
          <p:cNvSpPr/>
          <p:nvPr/>
        </p:nvSpPr>
        <p:spPr>
          <a:xfrm>
            <a:off x="4413504" y="1783080"/>
            <a:ext cx="3361944"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13504"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651248"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51248"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5346192" y="1892808"/>
            <a:ext cx="2209800" cy="1901952"/>
          </a:xfrm>
          <a:prstGeom prst="rect">
            <a:avLst/>
          </a:prstGeom>
          <a:noFill/>
        </p:spPr>
        <p:txBody>
          <a:bodyPr wrap="square" anchor="ctr">
            <a:spAutoFit/>
          </a:bodyPr>
          <a:lstStyle/>
          <a:p>
            <a:pPr algn="l">
              <a:spcAft>
                <a:spcPts val="300"/>
              </a:spcAft>
            </a:pPr>
            <a:r>
              <a:rPr sz="1500" b="1">
                <a:solidFill>
                  <a:srgbClr val="161B26"/>
                </a:solidFill>
                <a:latin typeface="Arial"/>
              </a:rPr>
              <a:t>A clear out-of-scope question</a:t>
            </a:r>
          </a:p>
          <a:p>
            <a:pPr algn="l">
              <a:spcAft>
                <a:spcPts val="300"/>
              </a:spcAft>
            </a:pPr>
            <a:r>
              <a:rPr sz="1100" b="0">
                <a:solidFill>
                  <a:srgbClr val="5B6372"/>
                </a:solidFill>
                <a:latin typeface="Arial"/>
              </a:rPr>
              <a:t>It should refuse, and redirect.</a:t>
            </a:r>
          </a:p>
        </p:txBody>
      </p:sp>
      <p:sp>
        <p:nvSpPr>
          <p:cNvPr id="17" name="Rectangle 16"/>
          <p:cNvSpPr/>
          <p:nvPr/>
        </p:nvSpPr>
        <p:spPr>
          <a:xfrm>
            <a:off x="8049768" y="1783080"/>
            <a:ext cx="3361944"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49768" y="1783080"/>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287512" y="2551176"/>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87512"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8982456" y="1892808"/>
            <a:ext cx="2209800" cy="1901952"/>
          </a:xfrm>
          <a:prstGeom prst="rect">
            <a:avLst/>
          </a:prstGeom>
          <a:noFill/>
        </p:spPr>
        <p:txBody>
          <a:bodyPr wrap="square" anchor="ctr">
            <a:spAutoFit/>
          </a:bodyPr>
          <a:lstStyle/>
          <a:p>
            <a:pPr algn="l">
              <a:spcAft>
                <a:spcPts val="300"/>
              </a:spcAft>
            </a:pPr>
            <a:r>
              <a:rPr sz="1500" b="1">
                <a:solidFill>
                  <a:srgbClr val="161B26"/>
                </a:solidFill>
                <a:latin typeface="Arial"/>
              </a:rPr>
              <a:t>A borderline question</a:t>
            </a:r>
          </a:p>
          <a:p>
            <a:pPr algn="l">
              <a:spcAft>
                <a:spcPts val="300"/>
              </a:spcAft>
            </a:pPr>
            <a:r>
              <a:rPr sz="1100" b="0">
                <a:solidFill>
                  <a:srgbClr val="5B6372"/>
                </a:solidFill>
                <a:latin typeface="Arial"/>
              </a:rPr>
              <a:t>Reveals where the boundary actually sits.</a:t>
            </a:r>
          </a:p>
        </p:txBody>
      </p:sp>
      <p:sp>
        <p:nvSpPr>
          <p:cNvPr id="22" name="Rectangle 21"/>
          <p:cNvSpPr/>
          <p:nvPr/>
        </p:nvSpPr>
        <p:spPr>
          <a:xfrm>
            <a:off x="777240" y="4087368"/>
            <a:ext cx="3361944"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14984"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1709928" y="4197096"/>
            <a:ext cx="2209800" cy="1901952"/>
          </a:xfrm>
          <a:prstGeom prst="rect">
            <a:avLst/>
          </a:prstGeom>
          <a:noFill/>
        </p:spPr>
        <p:txBody>
          <a:bodyPr wrap="square" anchor="ctr">
            <a:spAutoFit/>
          </a:bodyPr>
          <a:lstStyle/>
          <a:p>
            <a:pPr algn="l">
              <a:spcAft>
                <a:spcPts val="300"/>
              </a:spcAft>
            </a:pPr>
            <a:r>
              <a:rPr sz="1500" b="1">
                <a:solidFill>
                  <a:srgbClr val="161B26"/>
                </a:solidFill>
                <a:latin typeface="Arial"/>
              </a:rPr>
              <a:t>A leading question</a:t>
            </a:r>
          </a:p>
          <a:p>
            <a:pPr algn="l">
              <a:spcAft>
                <a:spcPts val="300"/>
              </a:spcAft>
            </a:pPr>
            <a:r>
              <a:rPr sz="1100" b="0">
                <a:solidFill>
                  <a:srgbClr val="5B6372"/>
                </a:solidFill>
                <a:latin typeface="Arial"/>
              </a:rPr>
              <a:t>One that presumes a false fact; it should not agree.</a:t>
            </a:r>
          </a:p>
        </p:txBody>
      </p:sp>
      <p:sp>
        <p:nvSpPr>
          <p:cNvPr id="27" name="Rectangle 26"/>
          <p:cNvSpPr/>
          <p:nvPr/>
        </p:nvSpPr>
        <p:spPr>
          <a:xfrm>
            <a:off x="4413504" y="4087368"/>
            <a:ext cx="3361944"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413504" y="4087368"/>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4651248" y="485546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51248"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5346192" y="4197096"/>
            <a:ext cx="2209800" cy="1901952"/>
          </a:xfrm>
          <a:prstGeom prst="rect">
            <a:avLst/>
          </a:prstGeom>
          <a:noFill/>
        </p:spPr>
        <p:txBody>
          <a:bodyPr wrap="square" anchor="ctr">
            <a:spAutoFit/>
          </a:bodyPr>
          <a:lstStyle/>
          <a:p>
            <a:pPr algn="l">
              <a:spcAft>
                <a:spcPts val="300"/>
              </a:spcAft>
            </a:pPr>
            <a:r>
              <a:rPr sz="1500" b="1">
                <a:solidFill>
                  <a:srgbClr val="161B26"/>
                </a:solidFill>
                <a:latin typeface="Arial"/>
              </a:rPr>
              <a:t>A near-miss name</a:t>
            </a:r>
          </a:p>
          <a:p>
            <a:pPr algn="l">
              <a:spcAft>
                <a:spcPts val="300"/>
              </a:spcAft>
            </a:pPr>
            <a:r>
              <a:rPr sz="1100" b="0">
                <a:solidFill>
                  <a:srgbClr val="5B6372"/>
                </a:solidFill>
                <a:latin typeface="Arial"/>
              </a:rPr>
              <a:t>A wrong-case or misspelled entity; behaviour must stay correct.</a:t>
            </a:r>
          </a:p>
        </p:txBody>
      </p:sp>
      <p:sp>
        <p:nvSpPr>
          <p:cNvPr id="32" name="Rectangle 31"/>
          <p:cNvSpPr/>
          <p:nvPr/>
        </p:nvSpPr>
        <p:spPr>
          <a:xfrm>
            <a:off x="8049768" y="4087368"/>
            <a:ext cx="3361944"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49768" y="4087368"/>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287512" y="485546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87512"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8982456" y="4197096"/>
            <a:ext cx="2209800" cy="1901952"/>
          </a:xfrm>
          <a:prstGeom prst="rect">
            <a:avLst/>
          </a:prstGeom>
          <a:noFill/>
        </p:spPr>
        <p:txBody>
          <a:bodyPr wrap="square" anchor="ctr">
            <a:spAutoFit/>
          </a:bodyPr>
          <a:lstStyle/>
          <a:p>
            <a:pPr algn="l">
              <a:spcAft>
                <a:spcPts val="300"/>
              </a:spcAft>
            </a:pPr>
            <a:r>
              <a:rPr sz="1500" b="1">
                <a:solidFill>
                  <a:srgbClr val="161B26"/>
                </a:solidFill>
                <a:latin typeface="Arial"/>
              </a:rPr>
              <a:t>A repeat</a:t>
            </a:r>
          </a:p>
          <a:p>
            <a:pPr algn="l">
              <a:spcAft>
                <a:spcPts val="300"/>
              </a:spcAft>
            </a:pPr>
            <a:r>
              <a:rPr sz="1100" b="0">
                <a:solidFill>
                  <a:srgbClr val="5B6372"/>
                </a:solidFill>
                <a:latin typeface="Arial"/>
              </a:rPr>
              <a:t>The same question twice; answers should not contradict.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164</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EDGE CASES</a:t>
            </a:r>
          </a:p>
        </p:txBody>
      </p:sp>
      <p:sp>
        <p:nvSpPr>
          <p:cNvPr id="5" name="TextBox 4"/>
          <p:cNvSpPr txBox="1"/>
          <p:nvPr/>
        </p:nvSpPr>
        <p:spPr>
          <a:xfrm>
            <a:off x="1005840" y="2560320"/>
            <a:ext cx="10332720" cy="2011680"/>
          </a:xfrm>
          <a:prstGeom prst="rect">
            <a:avLst/>
          </a:prstGeom>
          <a:noFill/>
        </p:spPr>
        <p:txBody>
          <a:bodyPr wrap="square" anchor="t">
            <a:spAutoFit/>
          </a:bodyPr>
          <a:lstStyle/>
          <a:p>
            <a:pPr algn="l">
              <a:spcAft>
                <a:spcPts val="400"/>
              </a:spcAft>
            </a:pPr>
            <a:r>
              <a:rPr sz="3600" b="1">
                <a:solidFill>
                  <a:srgbClr val="161B26"/>
                </a:solidFill>
                <a:latin typeface="Arial"/>
              </a:rPr>
              <a:t>Test the cases that are cheap to get wrong and expensive to miss.</a:t>
            </a:r>
          </a:p>
        </p:txBody>
      </p:sp>
      <p:sp>
        <p:nvSpPr>
          <p:cNvPr id="6" name="TextBox 5"/>
          <p:cNvSpPr txBox="1"/>
          <p:nvPr/>
        </p:nvSpPr>
        <p:spPr>
          <a:xfrm>
            <a:off x="1024128" y="4572000"/>
            <a:ext cx="10058400" cy="1097280"/>
          </a:xfrm>
          <a:prstGeom prst="rect">
            <a:avLst/>
          </a:prstGeom>
          <a:noFill/>
        </p:spPr>
        <p:txBody>
          <a:bodyPr wrap="square" anchor="t">
            <a:spAutoFit/>
          </a:bodyPr>
          <a:lstStyle/>
          <a:p>
            <a:pPr algn="l">
              <a:spcAft>
                <a:spcPts val="400"/>
              </a:spcAft>
            </a:pPr>
            <a:r>
              <a:rPr sz="1900" b="0">
                <a:solidFill>
                  <a:srgbClr val="5B6372"/>
                </a:solidFill>
                <a:latin typeface="Arial"/>
              </a:rPr>
              <a:t>The suspended vendor at $900 is the case that passes review and costs you later.</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165</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GOVERNANCE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Publishing Is a Release, Not a Save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Version</a:t>
            </a:r>
          </a:p>
          <a:p>
            <a:pPr algn="l">
              <a:spcAft>
                <a:spcPts val="300"/>
              </a:spcAft>
            </a:pPr>
            <a:r>
              <a:rPr sz="1200" b="0">
                <a:solidFill>
                  <a:srgbClr val="5B6372"/>
                </a:solidFill>
                <a:latin typeface="Arial"/>
              </a:rPr>
              <a:t>Users get the published version, not your draft.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Tests</a:t>
            </a:r>
          </a:p>
          <a:p>
            <a:pPr algn="l">
              <a:spcAft>
                <a:spcPts val="300"/>
              </a:spcAft>
            </a:pPr>
            <a:r>
              <a:rPr sz="1200" b="0">
                <a:solidFill>
                  <a:srgbClr val="5B6372"/>
                </a:solidFill>
                <a:latin typeface="Arial"/>
              </a:rPr>
              <a:t>The acceptance set is the release gate.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Approver</a:t>
            </a:r>
          </a:p>
          <a:p>
            <a:pPr algn="l">
              <a:spcAft>
                <a:spcPts val="300"/>
              </a:spcAft>
            </a:pPr>
            <a:r>
              <a:rPr sz="1200" b="0">
                <a:solidFill>
                  <a:srgbClr val="5B6372"/>
                </a:solidFill>
                <a:latin typeface="Arial"/>
              </a:rPr>
              <a:t>A named person authorises the release.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Rollback</a:t>
            </a:r>
          </a:p>
          <a:p>
            <a:pPr algn="l">
              <a:spcAft>
                <a:spcPts val="300"/>
              </a:spcAft>
            </a:pPr>
            <a:r>
              <a:rPr sz="1200" b="0">
                <a:solidFill>
                  <a:srgbClr val="5B6372"/>
                </a:solidFill>
                <a:latin typeface="Arial"/>
              </a:rPr>
              <a:t>Decided before release, not during an incident.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166</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04 · FOUNDATION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Design a Scoped Agent Before You Build 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371600" cy="4389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371600" cy="365760"/>
          </a:xfrm>
          <a:prstGeom prst="rect">
            <a:avLst/>
          </a:prstGeom>
          <a:noFill/>
        </p:spPr>
        <p:txBody>
          <a:bodyPr wrap="square" anchor="t">
            <a:spAutoFit/>
          </a:bodyPr>
          <a:lstStyle/>
          <a:p>
            <a:pPr algn="ctr">
              <a:spcAft>
                <a:spcPts val="400"/>
              </a:spcAft>
            </a:pPr>
            <a:r>
              <a:rPr sz="1500" b="1">
                <a:solidFill>
                  <a:srgbClr val="FFFFFF"/>
                </a:solidFill>
                <a:latin typeface="Arial"/>
              </a:rPr>
              <a:t>LAB 16</a:t>
            </a:r>
          </a:p>
        </p:txBody>
      </p:sp>
      <p:sp>
        <p:nvSpPr>
          <p:cNvPr id="9" name="Rectangle 8"/>
          <p:cNvSpPr/>
          <p:nvPr/>
        </p:nvSpPr>
        <p:spPr>
          <a:xfrm>
            <a:off x="2286000" y="1691640"/>
            <a:ext cx="1371600" cy="438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0" y="1737360"/>
            <a:ext cx="1371600" cy="365760"/>
          </a:xfrm>
          <a:prstGeom prst="rect">
            <a:avLst/>
          </a:prstGeom>
          <a:noFill/>
        </p:spPr>
        <p:txBody>
          <a:bodyPr wrap="square" anchor="t">
            <a:spAutoFit/>
          </a:bodyPr>
          <a:lstStyle/>
          <a:p>
            <a:pPr algn="ctr">
              <a:spcAft>
                <a:spcPts val="400"/>
              </a:spcAft>
            </a:pPr>
            <a:r>
              <a:rPr sz="1300" b="1">
                <a:solidFill>
                  <a:srgbClr val="5B6372"/>
                </a:solidFill>
                <a:latin typeface="Arial"/>
              </a:rPr>
              <a:t>K4 · A1</a:t>
            </a:r>
          </a:p>
        </p:txBody>
      </p:sp>
      <p:sp>
        <p:nvSpPr>
          <p:cNvPr id="11" name="TextBox 10"/>
          <p:cNvSpPr txBox="1"/>
          <p:nvPr/>
        </p:nvSpPr>
        <p:spPr>
          <a:xfrm>
            <a:off x="777240" y="2331720"/>
            <a:ext cx="10698480" cy="1371600"/>
          </a:xfrm>
          <a:prstGeom prst="rect">
            <a:avLst/>
          </a:prstGeom>
          <a:noFill/>
        </p:spPr>
        <p:txBody>
          <a:bodyPr wrap="square" anchor="t">
            <a:spAutoFit/>
          </a:bodyPr>
          <a:lstStyle/>
          <a:p>
            <a:pPr algn="l">
              <a:spcAft>
                <a:spcPts val="400"/>
              </a:spcAft>
            </a:pPr>
            <a:r>
              <a:rPr sz="1900" b="0">
                <a:solidFill>
                  <a:srgbClr val="161B26"/>
                </a:solidFill>
                <a:latin typeface="Arial"/>
              </a:rPr>
              <a:t>The learner produces an agent design canvas that states the job the agent does, what it must refuse, the knowledge it may use, the actions it may take and the tests that will prove it behaves.</a:t>
            </a:r>
          </a:p>
        </p:txBody>
      </p:sp>
      <p:sp>
        <p:nvSpPr>
          <p:cNvPr id="12" name="Rectangle 11"/>
          <p:cNvSpPr/>
          <p:nvPr/>
        </p:nvSpPr>
        <p:spPr>
          <a:xfrm>
            <a:off x="777240" y="3886200"/>
            <a:ext cx="10698480"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88620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11480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 will build</a:t>
            </a:r>
          </a:p>
        </p:txBody>
      </p:sp>
      <p:sp>
        <p:nvSpPr>
          <p:cNvPr id="15" name="TextBox 14"/>
          <p:cNvSpPr txBox="1"/>
          <p:nvPr/>
        </p:nvSpPr>
        <p:spPr>
          <a:xfrm>
            <a:off x="1005840" y="4480560"/>
            <a:ext cx="10149840" cy="640080"/>
          </a:xfrm>
          <a:prstGeom prst="rect">
            <a:avLst/>
          </a:prstGeom>
          <a:noFill/>
        </p:spPr>
        <p:txBody>
          <a:bodyPr wrap="square" anchor="t">
            <a:spAutoFit/>
          </a:bodyPr>
          <a:lstStyle/>
          <a:p>
            <a:pPr algn="l">
              <a:spcAft>
                <a:spcPts val="400"/>
              </a:spcAft>
            </a:pPr>
            <a:r>
              <a:rPr sz="1700" b="1">
                <a:solidFill>
                  <a:srgbClr val="161B26"/>
                </a:solidFill>
                <a:latin typeface="Arial"/>
              </a:rPr>
              <a:t>An agent design canvas, a knowledge register, a risk-and-control table and ten acceptance tests</a:t>
            </a:r>
          </a:p>
        </p:txBody>
      </p:sp>
      <p:sp>
        <p:nvSpPr>
          <p:cNvPr id="16" name="TextBox 15"/>
          <p:cNvSpPr txBox="1"/>
          <p:nvPr/>
        </p:nvSpPr>
        <p:spPr>
          <a:xfrm>
            <a:off x="1005840" y="5212080"/>
            <a:ext cx="10241280" cy="365760"/>
          </a:xfrm>
          <a:prstGeom prst="rect">
            <a:avLst/>
          </a:prstGeom>
          <a:noFill/>
        </p:spPr>
        <p:txBody>
          <a:bodyPr wrap="square" anchor="t">
            <a:spAutoFit/>
          </a:bodyPr>
          <a:lstStyle/>
          <a:p>
            <a:pPr algn="l">
              <a:spcAft>
                <a:spcPts val="400"/>
              </a:spcAft>
            </a:pPr>
            <a:r>
              <a:rPr sz="1200" b="1">
                <a:solidFill>
                  <a:srgbClr val="5B6372"/>
                </a:solidFill>
                <a:latin typeface="Arial"/>
              </a:rPr>
              <a:t>Apps:  </a:t>
            </a:r>
            <a:r>
              <a:rPr sz="1200" b="0">
                <a:solidFill>
                  <a:srgbClr val="5B6372"/>
                </a:solidFill>
                <a:latin typeface="Arial"/>
              </a:rPr>
              <a:t>Copilot Studio, Excel</a:t>
            </a:r>
          </a:p>
        </p:txBody>
      </p:sp>
      <p:sp>
        <p:nvSpPr>
          <p:cNvPr id="17" name="Rectangle 16"/>
          <p:cNvSpPr/>
          <p:nvPr/>
        </p:nvSpPr>
        <p:spPr>
          <a:xfrm>
            <a:off x="777240"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5943600"/>
            <a:ext cx="64008"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5943600"/>
            <a:ext cx="3154680" cy="457200"/>
          </a:xfrm>
          <a:prstGeom prst="rect">
            <a:avLst/>
          </a:prstGeom>
          <a:noFill/>
        </p:spPr>
        <p:txBody>
          <a:bodyPr wrap="square" anchor="ctr">
            <a:spAutoFit/>
          </a:bodyPr>
          <a:lstStyle/>
          <a:p>
            <a:pPr algn="l">
              <a:spcAft>
                <a:spcPts val="400"/>
              </a:spcAft>
            </a:pPr>
            <a:r>
              <a:rPr sz="900" b="1">
                <a:solidFill>
                  <a:srgbClr val="1F6FEB"/>
                </a:solidFill>
                <a:latin typeface="Arial"/>
              </a:rPr>
              <a:t>ASSESSED   </a:t>
            </a:r>
            <a:r>
              <a:rPr sz="1050" b="0">
                <a:solidFill>
                  <a:srgbClr val="161B26"/>
                </a:solidFill>
                <a:latin typeface="Arial"/>
              </a:rPr>
              <a:t>K4 · A1</a:t>
            </a:r>
          </a:p>
        </p:txBody>
      </p:sp>
      <p:sp>
        <p:nvSpPr>
          <p:cNvPr id="20" name="Rectangle 19"/>
          <p:cNvSpPr/>
          <p:nvPr/>
        </p:nvSpPr>
        <p:spPr>
          <a:xfrm>
            <a:off x="4407408"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07408" y="5943600"/>
            <a:ext cx="64008"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0" y="5943600"/>
            <a:ext cx="3154680" cy="457200"/>
          </a:xfrm>
          <a:prstGeom prst="rect">
            <a:avLst/>
          </a:prstGeom>
          <a:noFill/>
        </p:spPr>
        <p:txBody>
          <a:bodyPr wrap="square" anchor="ctr">
            <a:spAutoFit/>
          </a:bodyPr>
          <a:lstStyle/>
          <a:p>
            <a:pPr algn="l">
              <a:spcAft>
                <a:spcPts val="400"/>
              </a:spcAft>
            </a:pPr>
            <a:r>
              <a:rPr sz="900" b="1">
                <a:solidFill>
                  <a:srgbClr val="10B981"/>
                </a:solidFill>
                <a:latin typeface="Arial"/>
              </a:rPr>
              <a:t>LEVEL   </a:t>
            </a:r>
            <a:r>
              <a:rPr sz="1050" b="0">
                <a:solidFill>
                  <a:srgbClr val="161B26"/>
                </a:solidFill>
                <a:latin typeface="Arial"/>
              </a:rPr>
              <a:t>Foundation</a:t>
            </a:r>
          </a:p>
        </p:txBody>
      </p:sp>
      <p:sp>
        <p:nvSpPr>
          <p:cNvPr id="23" name="Rectangle 22"/>
          <p:cNvSpPr/>
          <p:nvPr/>
        </p:nvSpPr>
        <p:spPr>
          <a:xfrm>
            <a:off x="8037576"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37576" y="5943600"/>
            <a:ext cx="64008"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02168" y="5943600"/>
            <a:ext cx="3154680" cy="457200"/>
          </a:xfrm>
          <a:prstGeom prst="rect">
            <a:avLst/>
          </a:prstGeom>
          <a:noFill/>
        </p:spPr>
        <p:txBody>
          <a:bodyPr wrap="square" anchor="ctr">
            <a:spAutoFit/>
          </a:bodyPr>
          <a:lstStyle/>
          <a:p>
            <a:pPr algn="l">
              <a:spcAft>
                <a:spcPts val="400"/>
              </a:spcAft>
            </a:pPr>
            <a:r>
              <a:rPr sz="900" b="1">
                <a:solidFill>
                  <a:srgbClr val="7C3AED"/>
                </a:solidFill>
                <a:latin typeface="Arial"/>
              </a:rPr>
              <a:t>EVIDENCE   </a:t>
            </a:r>
            <a:r>
              <a:rPr sz="1050" b="0">
                <a:solidFill>
                  <a:srgbClr val="161B26"/>
                </a:solidFill>
                <a:latin typeface="Arial"/>
              </a:rPr>
              <a:t>Workbook · screenshot · reviewer</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167</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16 · PROCESS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How Lab 16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Prepare</a:t>
            </a:r>
          </a:p>
        </p:txBody>
      </p:sp>
      <p:sp>
        <p:nvSpPr>
          <p:cNvPr id="10" name="TextBox 9"/>
          <p:cNvSpPr txBox="1"/>
          <p:nvPr/>
        </p:nvSpPr>
        <p:spPr>
          <a:xfrm>
            <a:off x="905256"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State the agent's one job</a:t>
            </a:r>
          </a:p>
        </p:txBody>
      </p:sp>
      <p:sp>
        <p:nvSpPr>
          <p:cNvPr id="11" name="Rectangle 10"/>
          <p:cNvSpPr/>
          <p:nvPr/>
        </p:nvSpPr>
        <p:spPr>
          <a:xfrm>
            <a:off x="3175254"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3292298"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50158"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50158"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78174"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Generate</a:t>
            </a:r>
          </a:p>
        </p:txBody>
      </p:sp>
      <p:sp>
        <p:nvSpPr>
          <p:cNvPr id="16" name="TextBox 15"/>
          <p:cNvSpPr txBox="1"/>
          <p:nvPr/>
        </p:nvSpPr>
        <p:spPr>
          <a:xfrm>
            <a:off x="3678174"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List what it must refuse</a:t>
            </a:r>
          </a:p>
        </p:txBody>
      </p:sp>
      <p:sp>
        <p:nvSpPr>
          <p:cNvPr id="17" name="Rectangle 16"/>
          <p:cNvSpPr/>
          <p:nvPr/>
        </p:nvSpPr>
        <p:spPr>
          <a:xfrm>
            <a:off x="5948172"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6065216"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3076"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23076"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1092"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Verify</a:t>
            </a:r>
          </a:p>
        </p:txBody>
      </p:sp>
      <p:sp>
        <p:nvSpPr>
          <p:cNvPr id="22" name="TextBox 21"/>
          <p:cNvSpPr txBox="1"/>
          <p:nvPr/>
        </p:nvSpPr>
        <p:spPr>
          <a:xfrm>
            <a:off x="6451092"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Set the boundary of agency</a:t>
            </a:r>
          </a:p>
        </p:txBody>
      </p:sp>
      <p:sp>
        <p:nvSpPr>
          <p:cNvPr id="23" name="Rectangle 22"/>
          <p:cNvSpPr/>
          <p:nvPr/>
        </p:nvSpPr>
        <p:spPr>
          <a:xfrm>
            <a:off x="8721090"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8838134"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095994"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5994"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24010"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Record</a:t>
            </a:r>
          </a:p>
        </p:txBody>
      </p:sp>
      <p:sp>
        <p:nvSpPr>
          <p:cNvPr id="28" name="TextBox 27"/>
          <p:cNvSpPr txBox="1"/>
          <p:nvPr/>
        </p:nvSpPr>
        <p:spPr>
          <a:xfrm>
            <a:off x="9224010"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Write ten acceptance tests</a:t>
            </a:r>
          </a:p>
        </p:txBody>
      </p:sp>
      <p:sp>
        <p:nvSpPr>
          <p:cNvPr id="29" name="Rectangle 28"/>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0B981"/>
                </a:solidFill>
                <a:latin typeface="Arial"/>
              </a:rPr>
              <a:t>WHY IT MATTERS   </a:t>
            </a:r>
            <a:r>
              <a:rPr sz="1300" b="0">
                <a:solidFill>
                  <a:srgbClr val="161B26"/>
                </a:solidFill>
                <a:latin typeface="Arial"/>
              </a:rPr>
              <a:t>The shape of the work. Full step-by-step is in the Learner Guide (Lab 16) and the lab's instruction PDF.</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168</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16 · ACCEPTANCE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Design a Scoped Agent Before You Build 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46888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03120"/>
            <a:ext cx="10698480" cy="9144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423160"/>
            <a:ext cx="10058400" cy="457200"/>
          </a:xfrm>
          <a:prstGeom prst="rect">
            <a:avLst/>
          </a:prstGeom>
          <a:noFill/>
        </p:spPr>
        <p:txBody>
          <a:bodyPr wrap="square" anchor="t">
            <a:spAutoFit/>
          </a:bodyPr>
          <a:lstStyle/>
          <a:p>
            <a:pPr algn="l">
              <a:spcAft>
                <a:spcPts val="400"/>
              </a:spcAft>
            </a:pPr>
            <a:r>
              <a:rPr sz="1900" b="1">
                <a:solidFill>
                  <a:srgbClr val="127A3E"/>
                </a:solidFill>
                <a:latin typeface="Arial"/>
              </a:rPr>
              <a:t>✅  Acceptance check</a:t>
            </a:r>
          </a:p>
        </p:txBody>
      </p:sp>
      <p:sp>
        <p:nvSpPr>
          <p:cNvPr id="10" name="TextBox 9"/>
          <p:cNvSpPr txBox="1"/>
          <p:nvPr/>
        </p:nvSpPr>
        <p:spPr>
          <a:xfrm>
            <a:off x="1097280" y="3063240"/>
            <a:ext cx="10149840" cy="1371600"/>
          </a:xfrm>
          <a:prstGeom prst="rect">
            <a:avLst/>
          </a:prstGeom>
          <a:noFill/>
        </p:spPr>
        <p:txBody>
          <a:bodyPr wrap="square" anchor="t">
            <a:spAutoFit/>
          </a:bodyPr>
          <a:lstStyle/>
          <a:p>
            <a:pPr algn="l">
              <a:spcAft>
                <a:spcPts val="400"/>
              </a:spcAft>
            </a:pPr>
            <a:r>
              <a:rPr sz="1700" b="0">
                <a:solidFill>
                  <a:srgbClr val="161B26"/>
                </a:solidFill>
                <a:latin typeface="Arial"/>
              </a:rPr>
              <a:t>The canvas states one job, lists explicit refusals, registers every knowledge source with an owner, and carries ten acceptance tests of which at least three expect a refusal.</a:t>
            </a:r>
          </a:p>
        </p:txBody>
      </p:sp>
      <p:sp>
        <p:nvSpPr>
          <p:cNvPr id="11" name="Rectangle 10"/>
          <p:cNvSpPr/>
          <p:nvPr/>
        </p:nvSpPr>
        <p:spPr>
          <a:xfrm>
            <a:off x="777240" y="4800600"/>
            <a:ext cx="10698480" cy="1143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4800600"/>
            <a:ext cx="10698480"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956048"/>
            <a:ext cx="10058400" cy="320040"/>
          </a:xfrm>
          <a:prstGeom prst="rect">
            <a:avLst/>
          </a:prstGeom>
          <a:noFill/>
        </p:spPr>
        <p:txBody>
          <a:bodyPr wrap="square" anchor="t">
            <a:spAutoFit/>
          </a:bodyPr>
          <a:lstStyle/>
          <a:p>
            <a:pPr algn="l">
              <a:spcAft>
                <a:spcPts val="400"/>
              </a:spcAft>
            </a:pPr>
            <a:r>
              <a:rPr sz="1100" b="1">
                <a:solidFill>
                  <a:srgbClr val="F59E0B"/>
                </a:solidFill>
                <a:latin typeface="Arial"/>
              </a:rPr>
              <a:t>IF IT DOES NOT WORK</a:t>
            </a:r>
          </a:p>
        </p:txBody>
      </p:sp>
      <p:sp>
        <p:nvSpPr>
          <p:cNvPr id="14" name="Oval 13"/>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Re-read the step inputs before you change anything.</a:t>
            </a:r>
          </a:p>
        </p:txBody>
      </p:sp>
      <p:sp>
        <p:nvSpPr>
          <p:cNvPr id="16" name="Oval 15"/>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Check the source is attached and the value inserted, not typed.</a:t>
            </a:r>
          </a:p>
        </p:txBody>
      </p:sp>
      <p:sp>
        <p:nvSpPr>
          <p:cNvPr id="18" name="Oval 17"/>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3816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Full step-by-step: Learner Guide and the lab instruction PDF.</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169</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04 · INTERMEDIATE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Build and Ground a Copilot Studio 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371600" cy="4389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371600" cy="365760"/>
          </a:xfrm>
          <a:prstGeom prst="rect">
            <a:avLst/>
          </a:prstGeom>
          <a:noFill/>
        </p:spPr>
        <p:txBody>
          <a:bodyPr wrap="square" anchor="t">
            <a:spAutoFit/>
          </a:bodyPr>
          <a:lstStyle/>
          <a:p>
            <a:pPr algn="ctr">
              <a:spcAft>
                <a:spcPts val="400"/>
              </a:spcAft>
            </a:pPr>
            <a:r>
              <a:rPr sz="1500" b="1">
                <a:solidFill>
                  <a:srgbClr val="FFFFFF"/>
                </a:solidFill>
                <a:latin typeface="Arial"/>
              </a:rPr>
              <a:t>LAB 17</a:t>
            </a:r>
          </a:p>
        </p:txBody>
      </p:sp>
      <p:sp>
        <p:nvSpPr>
          <p:cNvPr id="9" name="Rectangle 8"/>
          <p:cNvSpPr/>
          <p:nvPr/>
        </p:nvSpPr>
        <p:spPr>
          <a:xfrm>
            <a:off x="2286000" y="1691640"/>
            <a:ext cx="1371600" cy="438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0" y="1737360"/>
            <a:ext cx="1371600" cy="365760"/>
          </a:xfrm>
          <a:prstGeom prst="rect">
            <a:avLst/>
          </a:prstGeom>
          <a:noFill/>
        </p:spPr>
        <p:txBody>
          <a:bodyPr wrap="square" anchor="t">
            <a:spAutoFit/>
          </a:bodyPr>
          <a:lstStyle/>
          <a:p>
            <a:pPr algn="ctr">
              <a:spcAft>
                <a:spcPts val="400"/>
              </a:spcAft>
            </a:pPr>
            <a:r>
              <a:rPr sz="1300" b="1">
                <a:solidFill>
                  <a:srgbClr val="5B6372"/>
                </a:solidFill>
                <a:latin typeface="Arial"/>
              </a:rPr>
              <a:t>K4 · A5</a:t>
            </a:r>
          </a:p>
        </p:txBody>
      </p:sp>
      <p:sp>
        <p:nvSpPr>
          <p:cNvPr id="11" name="TextBox 10"/>
          <p:cNvSpPr txBox="1"/>
          <p:nvPr/>
        </p:nvSpPr>
        <p:spPr>
          <a:xfrm>
            <a:off x="777240" y="2331720"/>
            <a:ext cx="10698480" cy="1371600"/>
          </a:xfrm>
          <a:prstGeom prst="rect">
            <a:avLst/>
          </a:prstGeom>
          <a:noFill/>
        </p:spPr>
        <p:txBody>
          <a:bodyPr wrap="square" anchor="t">
            <a:spAutoFit/>
          </a:bodyPr>
          <a:lstStyle/>
          <a:p>
            <a:pPr algn="l">
              <a:spcAft>
                <a:spcPts val="400"/>
              </a:spcAft>
            </a:pPr>
            <a:r>
              <a:rPr sz="1900" b="0">
                <a:solidFill>
                  <a:srgbClr val="161B26"/>
                </a:solidFill>
                <a:latin typeface="Arial"/>
              </a:rPr>
              <a:t>The learner creates an agent in Copilot Studio, writes instructions that define its role and limits, attaches the approved policy as knowledge, removes the open-web source and tests that it cites and refuses correctly.</a:t>
            </a:r>
          </a:p>
        </p:txBody>
      </p:sp>
      <p:sp>
        <p:nvSpPr>
          <p:cNvPr id="12" name="Rectangle 11"/>
          <p:cNvSpPr/>
          <p:nvPr/>
        </p:nvSpPr>
        <p:spPr>
          <a:xfrm>
            <a:off x="777240" y="3886200"/>
            <a:ext cx="10698480"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88620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11480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 will build</a:t>
            </a:r>
          </a:p>
        </p:txBody>
      </p:sp>
      <p:sp>
        <p:nvSpPr>
          <p:cNvPr id="15" name="TextBox 14"/>
          <p:cNvSpPr txBox="1"/>
          <p:nvPr/>
        </p:nvSpPr>
        <p:spPr>
          <a:xfrm>
            <a:off x="1005840" y="4480560"/>
            <a:ext cx="10149840" cy="640080"/>
          </a:xfrm>
          <a:prstGeom prst="rect">
            <a:avLst/>
          </a:prstGeom>
          <a:noFill/>
        </p:spPr>
        <p:txBody>
          <a:bodyPr wrap="square" anchor="t">
            <a:spAutoFit/>
          </a:bodyPr>
          <a:lstStyle/>
          <a:p>
            <a:pPr algn="l">
              <a:spcAft>
                <a:spcPts val="400"/>
              </a:spcAft>
            </a:pPr>
            <a:r>
              <a:rPr sz="1700" b="1">
                <a:solidFill>
                  <a:srgbClr val="161B26"/>
                </a:solidFill>
                <a:latin typeface="Arial"/>
              </a:rPr>
              <a:t>A working, grounded agent that answers from the approved policy and refuses everything else</a:t>
            </a:r>
          </a:p>
        </p:txBody>
      </p:sp>
      <p:sp>
        <p:nvSpPr>
          <p:cNvPr id="16" name="TextBox 15"/>
          <p:cNvSpPr txBox="1"/>
          <p:nvPr/>
        </p:nvSpPr>
        <p:spPr>
          <a:xfrm>
            <a:off x="1005840" y="5212080"/>
            <a:ext cx="10241280" cy="365760"/>
          </a:xfrm>
          <a:prstGeom prst="rect">
            <a:avLst/>
          </a:prstGeom>
          <a:noFill/>
        </p:spPr>
        <p:txBody>
          <a:bodyPr wrap="square" anchor="t">
            <a:spAutoFit/>
          </a:bodyPr>
          <a:lstStyle/>
          <a:p>
            <a:pPr algn="l">
              <a:spcAft>
                <a:spcPts val="400"/>
              </a:spcAft>
            </a:pPr>
            <a:r>
              <a:rPr sz="1200" b="1">
                <a:solidFill>
                  <a:srgbClr val="5B6372"/>
                </a:solidFill>
                <a:latin typeface="Arial"/>
              </a:rPr>
              <a:t>Apps:  </a:t>
            </a:r>
            <a:r>
              <a:rPr sz="1200" b="0">
                <a:solidFill>
                  <a:srgbClr val="5B6372"/>
                </a:solidFill>
                <a:latin typeface="Arial"/>
              </a:rPr>
              <a:t>Copilot Studio, SharePoint</a:t>
            </a:r>
          </a:p>
        </p:txBody>
      </p:sp>
      <p:sp>
        <p:nvSpPr>
          <p:cNvPr id="17" name="Rectangle 16"/>
          <p:cNvSpPr/>
          <p:nvPr/>
        </p:nvSpPr>
        <p:spPr>
          <a:xfrm>
            <a:off x="777240"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5943600"/>
            <a:ext cx="64008"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5943600"/>
            <a:ext cx="3154680" cy="457200"/>
          </a:xfrm>
          <a:prstGeom prst="rect">
            <a:avLst/>
          </a:prstGeom>
          <a:noFill/>
        </p:spPr>
        <p:txBody>
          <a:bodyPr wrap="square" anchor="ctr">
            <a:spAutoFit/>
          </a:bodyPr>
          <a:lstStyle/>
          <a:p>
            <a:pPr algn="l">
              <a:spcAft>
                <a:spcPts val="400"/>
              </a:spcAft>
            </a:pPr>
            <a:r>
              <a:rPr sz="900" b="1">
                <a:solidFill>
                  <a:srgbClr val="1F6FEB"/>
                </a:solidFill>
                <a:latin typeface="Arial"/>
              </a:rPr>
              <a:t>ASSESSED   </a:t>
            </a:r>
            <a:r>
              <a:rPr sz="1050" b="0">
                <a:solidFill>
                  <a:srgbClr val="161B26"/>
                </a:solidFill>
                <a:latin typeface="Arial"/>
              </a:rPr>
              <a:t>K4 · A5</a:t>
            </a:r>
          </a:p>
        </p:txBody>
      </p:sp>
      <p:sp>
        <p:nvSpPr>
          <p:cNvPr id="20" name="Rectangle 19"/>
          <p:cNvSpPr/>
          <p:nvPr/>
        </p:nvSpPr>
        <p:spPr>
          <a:xfrm>
            <a:off x="4407408"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07408" y="5943600"/>
            <a:ext cx="64008"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0" y="5943600"/>
            <a:ext cx="3154680" cy="457200"/>
          </a:xfrm>
          <a:prstGeom prst="rect">
            <a:avLst/>
          </a:prstGeom>
          <a:noFill/>
        </p:spPr>
        <p:txBody>
          <a:bodyPr wrap="square" anchor="ctr">
            <a:spAutoFit/>
          </a:bodyPr>
          <a:lstStyle/>
          <a:p>
            <a:pPr algn="l">
              <a:spcAft>
                <a:spcPts val="400"/>
              </a:spcAft>
            </a:pPr>
            <a:r>
              <a:rPr sz="900" b="1">
                <a:solidFill>
                  <a:srgbClr val="10B981"/>
                </a:solidFill>
                <a:latin typeface="Arial"/>
              </a:rPr>
              <a:t>LEVEL   </a:t>
            </a:r>
            <a:r>
              <a:rPr sz="1050" b="0">
                <a:solidFill>
                  <a:srgbClr val="161B26"/>
                </a:solidFill>
                <a:latin typeface="Arial"/>
              </a:rPr>
              <a:t>Intermediate</a:t>
            </a:r>
          </a:p>
        </p:txBody>
      </p:sp>
      <p:sp>
        <p:nvSpPr>
          <p:cNvPr id="23" name="Rectangle 22"/>
          <p:cNvSpPr/>
          <p:nvPr/>
        </p:nvSpPr>
        <p:spPr>
          <a:xfrm>
            <a:off x="8037576"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37576" y="5943600"/>
            <a:ext cx="64008"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02168" y="5943600"/>
            <a:ext cx="3154680" cy="457200"/>
          </a:xfrm>
          <a:prstGeom prst="rect">
            <a:avLst/>
          </a:prstGeom>
          <a:noFill/>
        </p:spPr>
        <p:txBody>
          <a:bodyPr wrap="square" anchor="ctr">
            <a:spAutoFit/>
          </a:bodyPr>
          <a:lstStyle/>
          <a:p>
            <a:pPr algn="l">
              <a:spcAft>
                <a:spcPts val="400"/>
              </a:spcAft>
            </a:pPr>
            <a:r>
              <a:rPr sz="900" b="1">
                <a:solidFill>
                  <a:srgbClr val="7C3AED"/>
                </a:solidFill>
                <a:latin typeface="Arial"/>
              </a:rPr>
              <a:t>EVIDENCE   </a:t>
            </a:r>
            <a:r>
              <a:rPr sz="1050" b="0">
                <a:solidFill>
                  <a:srgbClr val="161B26"/>
                </a:solidFill>
                <a:latin typeface="Arial"/>
              </a:rPr>
              <a:t>Workbook · screenshot · reviewer</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170</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17 · PROCESS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How Lab 17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Prepare</a:t>
            </a:r>
          </a:p>
        </p:txBody>
      </p:sp>
      <p:sp>
        <p:nvSpPr>
          <p:cNvPr id="10" name="TextBox 9"/>
          <p:cNvSpPr txBox="1"/>
          <p:nvPr/>
        </p:nvSpPr>
        <p:spPr>
          <a:xfrm>
            <a:off x="905256"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Create the agent</a:t>
            </a:r>
          </a:p>
        </p:txBody>
      </p:sp>
      <p:sp>
        <p:nvSpPr>
          <p:cNvPr id="11" name="Rectangle 10"/>
          <p:cNvSpPr/>
          <p:nvPr/>
        </p:nvSpPr>
        <p:spPr>
          <a:xfrm>
            <a:off x="3175254"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3292298"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50158"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50158"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78174"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Generate</a:t>
            </a:r>
          </a:p>
        </p:txBody>
      </p:sp>
      <p:sp>
        <p:nvSpPr>
          <p:cNvPr id="16" name="TextBox 15"/>
          <p:cNvSpPr txBox="1"/>
          <p:nvPr/>
        </p:nvSpPr>
        <p:spPr>
          <a:xfrm>
            <a:off x="3678174"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Attach approved knowledge</a:t>
            </a:r>
          </a:p>
        </p:txBody>
      </p:sp>
      <p:sp>
        <p:nvSpPr>
          <p:cNvPr id="17" name="Rectangle 16"/>
          <p:cNvSpPr/>
          <p:nvPr/>
        </p:nvSpPr>
        <p:spPr>
          <a:xfrm>
            <a:off x="5948172"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6065216"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3076"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23076"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1092"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Verify</a:t>
            </a:r>
          </a:p>
        </p:txBody>
      </p:sp>
      <p:sp>
        <p:nvSpPr>
          <p:cNvPr id="22" name="TextBox 21"/>
          <p:cNvSpPr txBox="1"/>
          <p:nvPr/>
        </p:nvSpPr>
        <p:spPr>
          <a:xfrm>
            <a:off x="6451092"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Test in scope and out</a:t>
            </a:r>
          </a:p>
        </p:txBody>
      </p:sp>
      <p:sp>
        <p:nvSpPr>
          <p:cNvPr id="23" name="Rectangle 22"/>
          <p:cNvSpPr/>
          <p:nvPr/>
        </p:nvSpPr>
        <p:spPr>
          <a:xfrm>
            <a:off x="8721090"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8838134"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095994"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5994"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24010"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Record</a:t>
            </a:r>
          </a:p>
        </p:txBody>
      </p:sp>
      <p:sp>
        <p:nvSpPr>
          <p:cNvPr id="28" name="TextBox 27"/>
          <p:cNvSpPr txBox="1"/>
          <p:nvPr/>
        </p:nvSpPr>
        <p:spPr>
          <a:xfrm>
            <a:off x="9224010"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Run the full test set</a:t>
            </a:r>
          </a:p>
        </p:txBody>
      </p:sp>
      <p:sp>
        <p:nvSpPr>
          <p:cNvPr id="29" name="Rectangle 28"/>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0B981"/>
                </a:solidFill>
                <a:latin typeface="Arial"/>
              </a:rPr>
              <a:t>WHY IT MATTERS   </a:t>
            </a:r>
            <a:r>
              <a:rPr sz="1300" b="0">
                <a:solidFill>
                  <a:srgbClr val="161B26"/>
                </a:solidFill>
                <a:latin typeface="Arial"/>
              </a:rPr>
              <a:t>The shape of the work. Full step-by-step is in the Learner Guide (Lab 17) and the lab's instruction PDF.</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171</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17 · ACCEPTANCE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Build and Ground a Copilot Studio 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46888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03120"/>
            <a:ext cx="10698480" cy="9144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423160"/>
            <a:ext cx="10058400" cy="457200"/>
          </a:xfrm>
          <a:prstGeom prst="rect">
            <a:avLst/>
          </a:prstGeom>
          <a:noFill/>
        </p:spPr>
        <p:txBody>
          <a:bodyPr wrap="square" anchor="t">
            <a:spAutoFit/>
          </a:bodyPr>
          <a:lstStyle/>
          <a:p>
            <a:pPr algn="l">
              <a:spcAft>
                <a:spcPts val="400"/>
              </a:spcAft>
            </a:pPr>
            <a:r>
              <a:rPr sz="1900" b="1">
                <a:solidFill>
                  <a:srgbClr val="127A3E"/>
                </a:solidFill>
                <a:latin typeface="Arial"/>
              </a:rPr>
              <a:t>✅  Acceptance check</a:t>
            </a:r>
          </a:p>
        </p:txBody>
      </p:sp>
      <p:sp>
        <p:nvSpPr>
          <p:cNvPr id="10" name="TextBox 9"/>
          <p:cNvSpPr txBox="1"/>
          <p:nvPr/>
        </p:nvSpPr>
        <p:spPr>
          <a:xfrm>
            <a:off x="1097280" y="3063240"/>
            <a:ext cx="10149840" cy="1371600"/>
          </a:xfrm>
          <a:prstGeom prst="rect">
            <a:avLst/>
          </a:prstGeom>
          <a:noFill/>
        </p:spPr>
        <p:txBody>
          <a:bodyPr wrap="square" anchor="t">
            <a:spAutoFit/>
          </a:bodyPr>
          <a:lstStyle/>
          <a:p>
            <a:pPr algn="l">
              <a:spcAft>
                <a:spcPts val="400"/>
              </a:spcAft>
            </a:pPr>
            <a:r>
              <a:rPr sz="1700" b="0">
                <a:solidFill>
                  <a:srgbClr val="161B26"/>
                </a:solidFill>
                <a:latin typeface="Arial"/>
              </a:rPr>
              <a:t>The agent cites the policy for in-scope questions, refuses and redirects for out-of-scope ones, and passes every acceptance test recorded in the workbook.</a:t>
            </a:r>
          </a:p>
        </p:txBody>
      </p:sp>
      <p:sp>
        <p:nvSpPr>
          <p:cNvPr id="11" name="Rectangle 10"/>
          <p:cNvSpPr/>
          <p:nvPr/>
        </p:nvSpPr>
        <p:spPr>
          <a:xfrm>
            <a:off x="777240" y="4800600"/>
            <a:ext cx="10698480" cy="1143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4800600"/>
            <a:ext cx="10698480"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956048"/>
            <a:ext cx="10058400" cy="320040"/>
          </a:xfrm>
          <a:prstGeom prst="rect">
            <a:avLst/>
          </a:prstGeom>
          <a:noFill/>
        </p:spPr>
        <p:txBody>
          <a:bodyPr wrap="square" anchor="t">
            <a:spAutoFit/>
          </a:bodyPr>
          <a:lstStyle/>
          <a:p>
            <a:pPr algn="l">
              <a:spcAft>
                <a:spcPts val="400"/>
              </a:spcAft>
            </a:pPr>
            <a:r>
              <a:rPr sz="1100" b="1">
                <a:solidFill>
                  <a:srgbClr val="F59E0B"/>
                </a:solidFill>
                <a:latin typeface="Arial"/>
              </a:rPr>
              <a:t>IF IT DOES NOT WORK</a:t>
            </a:r>
          </a:p>
        </p:txBody>
      </p:sp>
      <p:sp>
        <p:nvSpPr>
          <p:cNvPr id="14" name="Oval 13"/>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Re-read the step inputs before you change anything.</a:t>
            </a:r>
          </a:p>
        </p:txBody>
      </p:sp>
      <p:sp>
        <p:nvSpPr>
          <p:cNvPr id="16" name="Oval 15"/>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Check the source is attached and the value inserted, not typed.</a:t>
            </a:r>
          </a:p>
        </p:txBody>
      </p:sp>
      <p:sp>
        <p:nvSpPr>
          <p:cNvPr id="18" name="Oval 17"/>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3816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Full step-by-step: Learner Guide and the lab instruction PDF.</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172</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04 · INTERMEDIATE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Give an Agent a Tool and a Knowledge Source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371600" cy="4389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371600" cy="365760"/>
          </a:xfrm>
          <a:prstGeom prst="rect">
            <a:avLst/>
          </a:prstGeom>
          <a:noFill/>
        </p:spPr>
        <p:txBody>
          <a:bodyPr wrap="square" anchor="t">
            <a:spAutoFit/>
          </a:bodyPr>
          <a:lstStyle/>
          <a:p>
            <a:pPr algn="ctr">
              <a:spcAft>
                <a:spcPts val="400"/>
              </a:spcAft>
            </a:pPr>
            <a:r>
              <a:rPr sz="1500" b="1">
                <a:solidFill>
                  <a:srgbClr val="FFFFFF"/>
                </a:solidFill>
                <a:latin typeface="Arial"/>
              </a:rPr>
              <a:t>LAB 18</a:t>
            </a:r>
          </a:p>
        </p:txBody>
      </p:sp>
      <p:sp>
        <p:nvSpPr>
          <p:cNvPr id="9" name="Rectangle 8"/>
          <p:cNvSpPr/>
          <p:nvPr/>
        </p:nvSpPr>
        <p:spPr>
          <a:xfrm>
            <a:off x="2286000" y="1691640"/>
            <a:ext cx="1371600" cy="438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0" y="1737360"/>
            <a:ext cx="1371600" cy="365760"/>
          </a:xfrm>
          <a:prstGeom prst="rect">
            <a:avLst/>
          </a:prstGeom>
          <a:noFill/>
        </p:spPr>
        <p:txBody>
          <a:bodyPr wrap="square" anchor="t">
            <a:spAutoFit/>
          </a:bodyPr>
          <a:lstStyle/>
          <a:p>
            <a:pPr algn="ctr">
              <a:spcAft>
                <a:spcPts val="400"/>
              </a:spcAft>
            </a:pPr>
            <a:r>
              <a:rPr sz="1300" b="1">
                <a:solidFill>
                  <a:srgbClr val="5B6372"/>
                </a:solidFill>
                <a:latin typeface="Arial"/>
              </a:rPr>
              <a:t>K4 · A5</a:t>
            </a:r>
          </a:p>
        </p:txBody>
      </p:sp>
      <p:sp>
        <p:nvSpPr>
          <p:cNvPr id="11" name="TextBox 10"/>
          <p:cNvSpPr txBox="1"/>
          <p:nvPr/>
        </p:nvSpPr>
        <p:spPr>
          <a:xfrm>
            <a:off x="777240" y="2331720"/>
            <a:ext cx="10698480" cy="1371600"/>
          </a:xfrm>
          <a:prstGeom prst="rect">
            <a:avLst/>
          </a:prstGeom>
          <a:noFill/>
        </p:spPr>
        <p:txBody>
          <a:bodyPr wrap="square" anchor="t">
            <a:spAutoFit/>
          </a:bodyPr>
          <a:lstStyle/>
          <a:p>
            <a:pPr algn="l">
              <a:spcAft>
                <a:spcPts val="400"/>
              </a:spcAft>
            </a:pPr>
            <a:r>
              <a:rPr sz="1900" b="0">
                <a:solidFill>
                  <a:srgbClr val="161B26"/>
                </a:solidFill>
                <a:latin typeface="Arial"/>
              </a:rPr>
              <a:t>The learner creates a SharePoint list of approved vendors, publishes an agent flow that looks a vendor up, attaches it to the agent as a tool, and proves the agent calls it instead of guessing.</a:t>
            </a:r>
          </a:p>
        </p:txBody>
      </p:sp>
      <p:sp>
        <p:nvSpPr>
          <p:cNvPr id="12" name="Rectangle 11"/>
          <p:cNvSpPr/>
          <p:nvPr/>
        </p:nvSpPr>
        <p:spPr>
          <a:xfrm>
            <a:off x="777240" y="3886200"/>
            <a:ext cx="10698480"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88620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11480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 will build</a:t>
            </a:r>
          </a:p>
        </p:txBody>
      </p:sp>
      <p:sp>
        <p:nvSpPr>
          <p:cNvPr id="15" name="TextBox 14"/>
          <p:cNvSpPr txBox="1"/>
          <p:nvPr/>
        </p:nvSpPr>
        <p:spPr>
          <a:xfrm>
            <a:off x="1005840" y="4480560"/>
            <a:ext cx="10149840" cy="640080"/>
          </a:xfrm>
          <a:prstGeom prst="rect">
            <a:avLst/>
          </a:prstGeom>
          <a:noFill/>
        </p:spPr>
        <p:txBody>
          <a:bodyPr wrap="square" anchor="t">
            <a:spAutoFit/>
          </a:bodyPr>
          <a:lstStyle/>
          <a:p>
            <a:pPr algn="l">
              <a:spcAft>
                <a:spcPts val="400"/>
              </a:spcAft>
            </a:pPr>
            <a:r>
              <a:rPr sz="1700" b="1">
                <a:solidFill>
                  <a:srgbClr val="161B26"/>
                </a:solidFill>
                <a:latin typeface="Arial"/>
              </a:rPr>
              <a:t>An agent that answers vendor questions from a live SharePoint list through a published tool</a:t>
            </a:r>
          </a:p>
        </p:txBody>
      </p:sp>
      <p:sp>
        <p:nvSpPr>
          <p:cNvPr id="16" name="TextBox 15"/>
          <p:cNvSpPr txBox="1"/>
          <p:nvPr/>
        </p:nvSpPr>
        <p:spPr>
          <a:xfrm>
            <a:off x="1005840" y="5212080"/>
            <a:ext cx="10241280" cy="365760"/>
          </a:xfrm>
          <a:prstGeom prst="rect">
            <a:avLst/>
          </a:prstGeom>
          <a:noFill/>
        </p:spPr>
        <p:txBody>
          <a:bodyPr wrap="square" anchor="t">
            <a:spAutoFit/>
          </a:bodyPr>
          <a:lstStyle/>
          <a:p>
            <a:pPr algn="l">
              <a:spcAft>
                <a:spcPts val="400"/>
              </a:spcAft>
            </a:pPr>
            <a:r>
              <a:rPr sz="1200" b="1">
                <a:solidFill>
                  <a:srgbClr val="5B6372"/>
                </a:solidFill>
                <a:latin typeface="Arial"/>
              </a:rPr>
              <a:t>Apps:  </a:t>
            </a:r>
            <a:r>
              <a:rPr sz="1200" b="0">
                <a:solidFill>
                  <a:srgbClr val="5B6372"/>
                </a:solidFill>
                <a:latin typeface="Arial"/>
              </a:rPr>
              <a:t>Copilot Studio, SharePoint, Power Automate</a:t>
            </a:r>
          </a:p>
        </p:txBody>
      </p:sp>
      <p:sp>
        <p:nvSpPr>
          <p:cNvPr id="17" name="Rectangle 16"/>
          <p:cNvSpPr/>
          <p:nvPr/>
        </p:nvSpPr>
        <p:spPr>
          <a:xfrm>
            <a:off x="777240"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5943600"/>
            <a:ext cx="64008"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5943600"/>
            <a:ext cx="3154680" cy="457200"/>
          </a:xfrm>
          <a:prstGeom prst="rect">
            <a:avLst/>
          </a:prstGeom>
          <a:noFill/>
        </p:spPr>
        <p:txBody>
          <a:bodyPr wrap="square" anchor="ctr">
            <a:spAutoFit/>
          </a:bodyPr>
          <a:lstStyle/>
          <a:p>
            <a:pPr algn="l">
              <a:spcAft>
                <a:spcPts val="400"/>
              </a:spcAft>
            </a:pPr>
            <a:r>
              <a:rPr sz="900" b="1">
                <a:solidFill>
                  <a:srgbClr val="1F6FEB"/>
                </a:solidFill>
                <a:latin typeface="Arial"/>
              </a:rPr>
              <a:t>ASSESSED   </a:t>
            </a:r>
            <a:r>
              <a:rPr sz="1050" b="0">
                <a:solidFill>
                  <a:srgbClr val="161B26"/>
                </a:solidFill>
                <a:latin typeface="Arial"/>
              </a:rPr>
              <a:t>K4 · A5</a:t>
            </a:r>
          </a:p>
        </p:txBody>
      </p:sp>
      <p:sp>
        <p:nvSpPr>
          <p:cNvPr id="20" name="Rectangle 19"/>
          <p:cNvSpPr/>
          <p:nvPr/>
        </p:nvSpPr>
        <p:spPr>
          <a:xfrm>
            <a:off x="4407408"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07408" y="5943600"/>
            <a:ext cx="64008"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0" y="5943600"/>
            <a:ext cx="3154680" cy="457200"/>
          </a:xfrm>
          <a:prstGeom prst="rect">
            <a:avLst/>
          </a:prstGeom>
          <a:noFill/>
        </p:spPr>
        <p:txBody>
          <a:bodyPr wrap="square" anchor="ctr">
            <a:spAutoFit/>
          </a:bodyPr>
          <a:lstStyle/>
          <a:p>
            <a:pPr algn="l">
              <a:spcAft>
                <a:spcPts val="400"/>
              </a:spcAft>
            </a:pPr>
            <a:r>
              <a:rPr sz="900" b="1">
                <a:solidFill>
                  <a:srgbClr val="10B981"/>
                </a:solidFill>
                <a:latin typeface="Arial"/>
              </a:rPr>
              <a:t>LEVEL   </a:t>
            </a:r>
            <a:r>
              <a:rPr sz="1050" b="0">
                <a:solidFill>
                  <a:srgbClr val="161B26"/>
                </a:solidFill>
                <a:latin typeface="Arial"/>
              </a:rPr>
              <a:t>Intermediate</a:t>
            </a:r>
          </a:p>
        </p:txBody>
      </p:sp>
      <p:sp>
        <p:nvSpPr>
          <p:cNvPr id="23" name="Rectangle 22"/>
          <p:cNvSpPr/>
          <p:nvPr/>
        </p:nvSpPr>
        <p:spPr>
          <a:xfrm>
            <a:off x="8037576"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37576" y="5943600"/>
            <a:ext cx="64008"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02168" y="5943600"/>
            <a:ext cx="3154680" cy="457200"/>
          </a:xfrm>
          <a:prstGeom prst="rect">
            <a:avLst/>
          </a:prstGeom>
          <a:noFill/>
        </p:spPr>
        <p:txBody>
          <a:bodyPr wrap="square" anchor="ctr">
            <a:spAutoFit/>
          </a:bodyPr>
          <a:lstStyle/>
          <a:p>
            <a:pPr algn="l">
              <a:spcAft>
                <a:spcPts val="400"/>
              </a:spcAft>
            </a:pPr>
            <a:r>
              <a:rPr sz="900" b="1">
                <a:solidFill>
                  <a:srgbClr val="7C3AED"/>
                </a:solidFill>
                <a:latin typeface="Arial"/>
              </a:rPr>
              <a:t>EVIDENCE   </a:t>
            </a:r>
            <a:r>
              <a:rPr sz="1050" b="0">
                <a:solidFill>
                  <a:srgbClr val="161B26"/>
                </a:solidFill>
                <a:latin typeface="Arial"/>
              </a:rPr>
              <a:t>Workbook · screenshot · reviewer</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173</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18 · PROCESS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How Lab 18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Prepare</a:t>
            </a:r>
          </a:p>
        </p:txBody>
      </p:sp>
      <p:sp>
        <p:nvSpPr>
          <p:cNvPr id="10" name="TextBox 9"/>
          <p:cNvSpPr txBox="1"/>
          <p:nvPr/>
        </p:nvSpPr>
        <p:spPr>
          <a:xfrm>
            <a:off x="905256"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Create the vendor list</a:t>
            </a:r>
          </a:p>
        </p:txBody>
      </p:sp>
      <p:sp>
        <p:nvSpPr>
          <p:cNvPr id="11" name="Rectangle 10"/>
          <p:cNvSpPr/>
          <p:nvPr/>
        </p:nvSpPr>
        <p:spPr>
          <a:xfrm>
            <a:off x="3175254"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3292298"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50158"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50158"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78174"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Generate</a:t>
            </a:r>
          </a:p>
        </p:txBody>
      </p:sp>
      <p:sp>
        <p:nvSpPr>
          <p:cNvPr id="16" name="TextBox 15"/>
          <p:cNvSpPr txBox="1"/>
          <p:nvPr/>
        </p:nvSpPr>
        <p:spPr>
          <a:xfrm>
            <a:off x="3678174"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Define the tool contract</a:t>
            </a:r>
          </a:p>
        </p:txBody>
      </p:sp>
      <p:sp>
        <p:nvSpPr>
          <p:cNvPr id="17" name="Rectangle 16"/>
          <p:cNvSpPr/>
          <p:nvPr/>
        </p:nvSpPr>
        <p:spPr>
          <a:xfrm>
            <a:off x="5948172"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6065216"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3076"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23076"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1092"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Verify</a:t>
            </a:r>
          </a:p>
        </p:txBody>
      </p:sp>
      <p:sp>
        <p:nvSpPr>
          <p:cNvPr id="22" name="TextBox 21"/>
          <p:cNvSpPr txBox="1"/>
          <p:nvPr/>
        </p:nvSpPr>
        <p:spPr>
          <a:xfrm>
            <a:off x="6451092"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Attach the published tool</a:t>
            </a:r>
          </a:p>
        </p:txBody>
      </p:sp>
      <p:sp>
        <p:nvSpPr>
          <p:cNvPr id="23" name="Rectangle 22"/>
          <p:cNvSpPr/>
          <p:nvPr/>
        </p:nvSpPr>
        <p:spPr>
          <a:xfrm>
            <a:off x="8721090"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8838134"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095994"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5994"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24010"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Record</a:t>
            </a:r>
          </a:p>
        </p:txBody>
      </p:sp>
      <p:sp>
        <p:nvSpPr>
          <p:cNvPr id="28" name="TextBox 27"/>
          <p:cNvSpPr txBox="1"/>
          <p:nvPr/>
        </p:nvSpPr>
        <p:spPr>
          <a:xfrm>
            <a:off x="9224010"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Test listed and unlisted</a:t>
            </a:r>
          </a:p>
        </p:txBody>
      </p:sp>
      <p:sp>
        <p:nvSpPr>
          <p:cNvPr id="29" name="Rectangle 28"/>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0B981"/>
                </a:solidFill>
                <a:latin typeface="Arial"/>
              </a:rPr>
              <a:t>WHY IT MATTERS   </a:t>
            </a:r>
            <a:r>
              <a:rPr sz="1300" b="0">
                <a:solidFill>
                  <a:srgbClr val="161B26"/>
                </a:solidFill>
                <a:latin typeface="Arial"/>
              </a:rPr>
              <a:t>The shape of the work. Full step-by-step is in the Learner Guide (Lab 18) and the lab's instruction PDF.</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174</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18 · ACCEPTANCE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Give an Agent a Tool and a Knowledge Source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46888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03120"/>
            <a:ext cx="10698480" cy="9144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423160"/>
            <a:ext cx="10058400" cy="457200"/>
          </a:xfrm>
          <a:prstGeom prst="rect">
            <a:avLst/>
          </a:prstGeom>
          <a:noFill/>
        </p:spPr>
        <p:txBody>
          <a:bodyPr wrap="square" anchor="t">
            <a:spAutoFit/>
          </a:bodyPr>
          <a:lstStyle/>
          <a:p>
            <a:pPr algn="l">
              <a:spcAft>
                <a:spcPts val="400"/>
              </a:spcAft>
            </a:pPr>
            <a:r>
              <a:rPr sz="1900" b="1">
                <a:solidFill>
                  <a:srgbClr val="127A3E"/>
                </a:solidFill>
                <a:latin typeface="Arial"/>
              </a:rPr>
              <a:t>✅  Acceptance check</a:t>
            </a:r>
          </a:p>
        </p:txBody>
      </p:sp>
      <p:sp>
        <p:nvSpPr>
          <p:cNvPr id="10" name="TextBox 9"/>
          <p:cNvSpPr txBox="1"/>
          <p:nvPr/>
        </p:nvSpPr>
        <p:spPr>
          <a:xfrm>
            <a:off x="1097280" y="3063240"/>
            <a:ext cx="10149840" cy="1371600"/>
          </a:xfrm>
          <a:prstGeom prst="rect">
            <a:avLst/>
          </a:prstGeom>
          <a:noFill/>
        </p:spPr>
        <p:txBody>
          <a:bodyPr wrap="square" anchor="t">
            <a:spAutoFit/>
          </a:bodyPr>
          <a:lstStyle/>
          <a:p>
            <a:pPr algn="l">
              <a:spcAft>
                <a:spcPts val="400"/>
              </a:spcAft>
            </a:pPr>
            <a:r>
              <a:rPr sz="1700" b="0">
                <a:solidFill>
                  <a:srgbClr val="161B26"/>
                </a:solidFill>
                <a:latin typeface="Arial"/>
              </a:rPr>
              <a:t>The agent returns the correct live status for a listed vendor and reports an unlisted vendor as not approved, with the run history showing the tool was actually called.</a:t>
            </a:r>
          </a:p>
        </p:txBody>
      </p:sp>
      <p:sp>
        <p:nvSpPr>
          <p:cNvPr id="11" name="Rectangle 10"/>
          <p:cNvSpPr/>
          <p:nvPr/>
        </p:nvSpPr>
        <p:spPr>
          <a:xfrm>
            <a:off x="777240" y="4800600"/>
            <a:ext cx="10698480" cy="1143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4800600"/>
            <a:ext cx="10698480"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956048"/>
            <a:ext cx="10058400" cy="320040"/>
          </a:xfrm>
          <a:prstGeom prst="rect">
            <a:avLst/>
          </a:prstGeom>
          <a:noFill/>
        </p:spPr>
        <p:txBody>
          <a:bodyPr wrap="square" anchor="t">
            <a:spAutoFit/>
          </a:bodyPr>
          <a:lstStyle/>
          <a:p>
            <a:pPr algn="l">
              <a:spcAft>
                <a:spcPts val="400"/>
              </a:spcAft>
            </a:pPr>
            <a:r>
              <a:rPr sz="1100" b="1">
                <a:solidFill>
                  <a:srgbClr val="F59E0B"/>
                </a:solidFill>
                <a:latin typeface="Arial"/>
              </a:rPr>
              <a:t>IF IT DOES NOT WORK</a:t>
            </a:r>
          </a:p>
        </p:txBody>
      </p:sp>
      <p:sp>
        <p:nvSpPr>
          <p:cNvPr id="14" name="Oval 13"/>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Re-read the step inputs before you change anything.</a:t>
            </a:r>
          </a:p>
        </p:txBody>
      </p:sp>
      <p:sp>
        <p:nvSpPr>
          <p:cNvPr id="16" name="Oval 15"/>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Check the source is attached and the value inserted, not typed.</a:t>
            </a:r>
          </a:p>
        </p:txBody>
      </p:sp>
      <p:sp>
        <p:nvSpPr>
          <p:cNvPr id="18" name="Oval 17"/>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3816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Full step-by-step: Learner Guide and the lab instruction PDF.</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175</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04 · ADVANCED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Orchestrate Connected Agents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371600" cy="4389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371600" cy="365760"/>
          </a:xfrm>
          <a:prstGeom prst="rect">
            <a:avLst/>
          </a:prstGeom>
          <a:noFill/>
        </p:spPr>
        <p:txBody>
          <a:bodyPr wrap="square" anchor="t">
            <a:spAutoFit/>
          </a:bodyPr>
          <a:lstStyle/>
          <a:p>
            <a:pPr algn="ctr">
              <a:spcAft>
                <a:spcPts val="400"/>
              </a:spcAft>
            </a:pPr>
            <a:r>
              <a:rPr sz="1500" b="1">
                <a:solidFill>
                  <a:srgbClr val="FFFFFF"/>
                </a:solidFill>
                <a:latin typeface="Arial"/>
              </a:rPr>
              <a:t>LAB 19</a:t>
            </a:r>
          </a:p>
        </p:txBody>
      </p:sp>
      <p:sp>
        <p:nvSpPr>
          <p:cNvPr id="9" name="Rectangle 8"/>
          <p:cNvSpPr/>
          <p:nvPr/>
        </p:nvSpPr>
        <p:spPr>
          <a:xfrm>
            <a:off x="2286000" y="1691640"/>
            <a:ext cx="1371600" cy="438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0" y="1737360"/>
            <a:ext cx="1371600" cy="365760"/>
          </a:xfrm>
          <a:prstGeom prst="rect">
            <a:avLst/>
          </a:prstGeom>
          <a:noFill/>
        </p:spPr>
        <p:txBody>
          <a:bodyPr wrap="square" anchor="t">
            <a:spAutoFit/>
          </a:bodyPr>
          <a:lstStyle/>
          <a:p>
            <a:pPr algn="ctr">
              <a:spcAft>
                <a:spcPts val="400"/>
              </a:spcAft>
            </a:pPr>
            <a:r>
              <a:rPr sz="1300" b="1">
                <a:solidFill>
                  <a:srgbClr val="5B6372"/>
                </a:solidFill>
                <a:latin typeface="Arial"/>
              </a:rPr>
              <a:t>K4 · A5</a:t>
            </a:r>
          </a:p>
        </p:txBody>
      </p:sp>
      <p:sp>
        <p:nvSpPr>
          <p:cNvPr id="11" name="TextBox 10"/>
          <p:cNvSpPr txBox="1"/>
          <p:nvPr/>
        </p:nvSpPr>
        <p:spPr>
          <a:xfrm>
            <a:off x="777240" y="2331720"/>
            <a:ext cx="10698480" cy="1371600"/>
          </a:xfrm>
          <a:prstGeom prst="rect">
            <a:avLst/>
          </a:prstGeom>
          <a:noFill/>
        </p:spPr>
        <p:txBody>
          <a:bodyPr wrap="square" anchor="t">
            <a:spAutoFit/>
          </a:bodyPr>
          <a:lstStyle/>
          <a:p>
            <a:pPr algn="l">
              <a:spcAft>
                <a:spcPts val="400"/>
              </a:spcAft>
            </a:pPr>
            <a:r>
              <a:rPr sz="1900" b="0">
                <a:solidFill>
                  <a:srgbClr val="161B26"/>
                </a:solidFill>
                <a:latin typeface="Arial"/>
              </a:rPr>
              <a:t>The learner builds a second specialised agent and connects it to the first, so an orchestrating agent routes each request to the right specialist and reports which one answered.</a:t>
            </a:r>
          </a:p>
        </p:txBody>
      </p:sp>
      <p:sp>
        <p:nvSpPr>
          <p:cNvPr id="12" name="Rectangle 11"/>
          <p:cNvSpPr/>
          <p:nvPr/>
        </p:nvSpPr>
        <p:spPr>
          <a:xfrm>
            <a:off x="777240" y="3886200"/>
            <a:ext cx="10698480"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88620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11480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 will build</a:t>
            </a:r>
          </a:p>
        </p:txBody>
      </p:sp>
      <p:sp>
        <p:nvSpPr>
          <p:cNvPr id="15" name="TextBox 14"/>
          <p:cNvSpPr txBox="1"/>
          <p:nvPr/>
        </p:nvSpPr>
        <p:spPr>
          <a:xfrm>
            <a:off x="1005840" y="4480560"/>
            <a:ext cx="10149840" cy="640080"/>
          </a:xfrm>
          <a:prstGeom prst="rect">
            <a:avLst/>
          </a:prstGeom>
          <a:noFill/>
        </p:spPr>
        <p:txBody>
          <a:bodyPr wrap="square" anchor="t">
            <a:spAutoFit/>
          </a:bodyPr>
          <a:lstStyle/>
          <a:p>
            <a:pPr algn="l">
              <a:spcAft>
                <a:spcPts val="400"/>
              </a:spcAft>
            </a:pPr>
            <a:r>
              <a:rPr sz="1700" b="1">
                <a:solidFill>
                  <a:srgbClr val="161B26"/>
                </a:solidFill>
                <a:latin typeface="Arial"/>
              </a:rPr>
              <a:t>An orchestrating agent that routes requests to a connected specialist agent</a:t>
            </a:r>
          </a:p>
        </p:txBody>
      </p:sp>
      <p:sp>
        <p:nvSpPr>
          <p:cNvPr id="16" name="TextBox 15"/>
          <p:cNvSpPr txBox="1"/>
          <p:nvPr/>
        </p:nvSpPr>
        <p:spPr>
          <a:xfrm>
            <a:off x="1005840" y="5212080"/>
            <a:ext cx="10241280" cy="365760"/>
          </a:xfrm>
          <a:prstGeom prst="rect">
            <a:avLst/>
          </a:prstGeom>
          <a:noFill/>
        </p:spPr>
        <p:txBody>
          <a:bodyPr wrap="square" anchor="t">
            <a:spAutoFit/>
          </a:bodyPr>
          <a:lstStyle/>
          <a:p>
            <a:pPr algn="l">
              <a:spcAft>
                <a:spcPts val="400"/>
              </a:spcAft>
            </a:pPr>
            <a:r>
              <a:rPr sz="1200" b="1">
                <a:solidFill>
                  <a:srgbClr val="5B6372"/>
                </a:solidFill>
                <a:latin typeface="Arial"/>
              </a:rPr>
              <a:t>Apps:  </a:t>
            </a:r>
            <a:r>
              <a:rPr sz="1200" b="0">
                <a:solidFill>
                  <a:srgbClr val="5B6372"/>
                </a:solidFill>
                <a:latin typeface="Arial"/>
              </a:rPr>
              <a:t>Copilot Studio, connected agents</a:t>
            </a:r>
          </a:p>
        </p:txBody>
      </p:sp>
      <p:sp>
        <p:nvSpPr>
          <p:cNvPr id="17" name="Rectangle 16"/>
          <p:cNvSpPr/>
          <p:nvPr/>
        </p:nvSpPr>
        <p:spPr>
          <a:xfrm>
            <a:off x="777240"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5943600"/>
            <a:ext cx="64008"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5943600"/>
            <a:ext cx="3154680" cy="457200"/>
          </a:xfrm>
          <a:prstGeom prst="rect">
            <a:avLst/>
          </a:prstGeom>
          <a:noFill/>
        </p:spPr>
        <p:txBody>
          <a:bodyPr wrap="square" anchor="ctr">
            <a:spAutoFit/>
          </a:bodyPr>
          <a:lstStyle/>
          <a:p>
            <a:pPr algn="l">
              <a:spcAft>
                <a:spcPts val="400"/>
              </a:spcAft>
            </a:pPr>
            <a:r>
              <a:rPr sz="900" b="1">
                <a:solidFill>
                  <a:srgbClr val="1F6FEB"/>
                </a:solidFill>
                <a:latin typeface="Arial"/>
              </a:rPr>
              <a:t>ASSESSED   </a:t>
            </a:r>
            <a:r>
              <a:rPr sz="1050" b="0">
                <a:solidFill>
                  <a:srgbClr val="161B26"/>
                </a:solidFill>
                <a:latin typeface="Arial"/>
              </a:rPr>
              <a:t>K4 · A5</a:t>
            </a:r>
          </a:p>
        </p:txBody>
      </p:sp>
      <p:sp>
        <p:nvSpPr>
          <p:cNvPr id="20" name="Rectangle 19"/>
          <p:cNvSpPr/>
          <p:nvPr/>
        </p:nvSpPr>
        <p:spPr>
          <a:xfrm>
            <a:off x="4407408"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07408" y="5943600"/>
            <a:ext cx="64008"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0" y="5943600"/>
            <a:ext cx="3154680" cy="457200"/>
          </a:xfrm>
          <a:prstGeom prst="rect">
            <a:avLst/>
          </a:prstGeom>
          <a:noFill/>
        </p:spPr>
        <p:txBody>
          <a:bodyPr wrap="square" anchor="ctr">
            <a:spAutoFit/>
          </a:bodyPr>
          <a:lstStyle/>
          <a:p>
            <a:pPr algn="l">
              <a:spcAft>
                <a:spcPts val="400"/>
              </a:spcAft>
            </a:pPr>
            <a:r>
              <a:rPr sz="900" b="1">
                <a:solidFill>
                  <a:srgbClr val="10B981"/>
                </a:solidFill>
                <a:latin typeface="Arial"/>
              </a:rPr>
              <a:t>LEVEL   </a:t>
            </a:r>
            <a:r>
              <a:rPr sz="1050" b="0">
                <a:solidFill>
                  <a:srgbClr val="161B26"/>
                </a:solidFill>
                <a:latin typeface="Arial"/>
              </a:rPr>
              <a:t>Advanced</a:t>
            </a:r>
          </a:p>
        </p:txBody>
      </p:sp>
      <p:sp>
        <p:nvSpPr>
          <p:cNvPr id="23" name="Rectangle 22"/>
          <p:cNvSpPr/>
          <p:nvPr/>
        </p:nvSpPr>
        <p:spPr>
          <a:xfrm>
            <a:off x="8037576"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37576" y="5943600"/>
            <a:ext cx="64008"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02168" y="5943600"/>
            <a:ext cx="3154680" cy="457200"/>
          </a:xfrm>
          <a:prstGeom prst="rect">
            <a:avLst/>
          </a:prstGeom>
          <a:noFill/>
        </p:spPr>
        <p:txBody>
          <a:bodyPr wrap="square" anchor="ctr">
            <a:spAutoFit/>
          </a:bodyPr>
          <a:lstStyle/>
          <a:p>
            <a:pPr algn="l">
              <a:spcAft>
                <a:spcPts val="400"/>
              </a:spcAft>
            </a:pPr>
            <a:r>
              <a:rPr sz="900" b="1">
                <a:solidFill>
                  <a:srgbClr val="7C3AED"/>
                </a:solidFill>
                <a:latin typeface="Arial"/>
              </a:rPr>
              <a:t>EVIDENCE   </a:t>
            </a:r>
            <a:r>
              <a:rPr sz="1050" b="0">
                <a:solidFill>
                  <a:srgbClr val="161B26"/>
                </a:solidFill>
                <a:latin typeface="Arial"/>
              </a:rPr>
              <a:t>Workbook · screenshot · reviewer</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176</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19 · PROCESS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How Lab 19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Prepare</a:t>
            </a:r>
          </a:p>
        </p:txBody>
      </p:sp>
      <p:sp>
        <p:nvSpPr>
          <p:cNvPr id="10" name="TextBox 9"/>
          <p:cNvSpPr txBox="1"/>
          <p:nvPr/>
        </p:nvSpPr>
        <p:spPr>
          <a:xfrm>
            <a:off x="905256"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Create the specialist</a:t>
            </a:r>
          </a:p>
        </p:txBody>
      </p:sp>
      <p:sp>
        <p:nvSpPr>
          <p:cNvPr id="11" name="Rectangle 10"/>
          <p:cNvSpPr/>
          <p:nvPr/>
        </p:nvSpPr>
        <p:spPr>
          <a:xfrm>
            <a:off x="3175254"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3292298"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50158"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50158"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78174"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Generate</a:t>
            </a:r>
          </a:p>
        </p:txBody>
      </p:sp>
      <p:sp>
        <p:nvSpPr>
          <p:cNvPr id="16" name="TextBox 15"/>
          <p:cNvSpPr txBox="1"/>
          <p:nvPr/>
        </p:nvSpPr>
        <p:spPr>
          <a:xfrm>
            <a:off x="3678174"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Connect the specialists</a:t>
            </a:r>
          </a:p>
        </p:txBody>
      </p:sp>
      <p:sp>
        <p:nvSpPr>
          <p:cNvPr id="17" name="Rectangle 16"/>
          <p:cNvSpPr/>
          <p:nvPr/>
        </p:nvSpPr>
        <p:spPr>
          <a:xfrm>
            <a:off x="5948172"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6065216"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3076"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23076"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1092"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Verify</a:t>
            </a:r>
          </a:p>
        </p:txBody>
      </p:sp>
      <p:sp>
        <p:nvSpPr>
          <p:cNvPr id="22" name="TextBox 21"/>
          <p:cNvSpPr txBox="1"/>
          <p:nvPr/>
        </p:nvSpPr>
        <p:spPr>
          <a:xfrm>
            <a:off x="6451092"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Require attribution</a:t>
            </a:r>
          </a:p>
        </p:txBody>
      </p:sp>
      <p:sp>
        <p:nvSpPr>
          <p:cNvPr id="23" name="Rectangle 22"/>
          <p:cNvSpPr/>
          <p:nvPr/>
        </p:nvSpPr>
        <p:spPr>
          <a:xfrm>
            <a:off x="8721090"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8838134"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095994"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5994"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24010"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Record</a:t>
            </a:r>
          </a:p>
        </p:txBody>
      </p:sp>
      <p:sp>
        <p:nvSpPr>
          <p:cNvPr id="28" name="TextBox 27"/>
          <p:cNvSpPr txBox="1"/>
          <p:nvPr/>
        </p:nvSpPr>
        <p:spPr>
          <a:xfrm>
            <a:off x="9224010"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Record each route tested</a:t>
            </a:r>
          </a:p>
        </p:txBody>
      </p:sp>
      <p:sp>
        <p:nvSpPr>
          <p:cNvPr id="29" name="Rectangle 28"/>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0B981"/>
                </a:solidFill>
                <a:latin typeface="Arial"/>
              </a:rPr>
              <a:t>WHY IT MATTERS   </a:t>
            </a:r>
            <a:r>
              <a:rPr sz="1300" b="0">
                <a:solidFill>
                  <a:srgbClr val="161B26"/>
                </a:solidFill>
                <a:latin typeface="Arial"/>
              </a:rPr>
              <a:t>The shape of the work. Full step-by-step is in the Learner Guide (Lab 19) and the lab's instruction PDF.</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177</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19 · ACCEPTANCE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Orchestrate Connected Agents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46888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03120"/>
            <a:ext cx="10698480" cy="9144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423160"/>
            <a:ext cx="10058400" cy="457200"/>
          </a:xfrm>
          <a:prstGeom prst="rect">
            <a:avLst/>
          </a:prstGeom>
          <a:noFill/>
        </p:spPr>
        <p:txBody>
          <a:bodyPr wrap="square" anchor="t">
            <a:spAutoFit/>
          </a:bodyPr>
          <a:lstStyle/>
          <a:p>
            <a:pPr algn="l">
              <a:spcAft>
                <a:spcPts val="400"/>
              </a:spcAft>
            </a:pPr>
            <a:r>
              <a:rPr sz="1900" b="1">
                <a:solidFill>
                  <a:srgbClr val="127A3E"/>
                </a:solidFill>
                <a:latin typeface="Arial"/>
              </a:rPr>
              <a:t>✅  Acceptance check</a:t>
            </a:r>
          </a:p>
        </p:txBody>
      </p:sp>
      <p:sp>
        <p:nvSpPr>
          <p:cNvPr id="10" name="TextBox 9"/>
          <p:cNvSpPr txBox="1"/>
          <p:nvPr/>
        </p:nvSpPr>
        <p:spPr>
          <a:xfrm>
            <a:off x="1097280" y="3063240"/>
            <a:ext cx="10149840" cy="1371600"/>
          </a:xfrm>
          <a:prstGeom prst="rect">
            <a:avLst/>
          </a:prstGeom>
          <a:noFill/>
        </p:spPr>
        <p:txBody>
          <a:bodyPr wrap="square" anchor="t">
            <a:spAutoFit/>
          </a:bodyPr>
          <a:lstStyle/>
          <a:p>
            <a:pPr algn="l">
              <a:spcAft>
                <a:spcPts val="400"/>
              </a:spcAft>
            </a:pPr>
            <a:r>
              <a:rPr sz="1700" b="0">
                <a:solidFill>
                  <a:srgbClr val="161B26"/>
                </a:solidFill>
                <a:latin typeface="Arial"/>
              </a:rPr>
              <a:t>Each test request reaches the correct specialist, the out-of-scope request is refused, and every reply names the agent that answered it.</a:t>
            </a:r>
          </a:p>
        </p:txBody>
      </p:sp>
      <p:sp>
        <p:nvSpPr>
          <p:cNvPr id="11" name="Rectangle 10"/>
          <p:cNvSpPr/>
          <p:nvPr/>
        </p:nvSpPr>
        <p:spPr>
          <a:xfrm>
            <a:off x="777240" y="4800600"/>
            <a:ext cx="10698480" cy="1143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4800600"/>
            <a:ext cx="10698480"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956048"/>
            <a:ext cx="10058400" cy="320040"/>
          </a:xfrm>
          <a:prstGeom prst="rect">
            <a:avLst/>
          </a:prstGeom>
          <a:noFill/>
        </p:spPr>
        <p:txBody>
          <a:bodyPr wrap="square" anchor="t">
            <a:spAutoFit/>
          </a:bodyPr>
          <a:lstStyle/>
          <a:p>
            <a:pPr algn="l">
              <a:spcAft>
                <a:spcPts val="400"/>
              </a:spcAft>
            </a:pPr>
            <a:r>
              <a:rPr sz="1100" b="1">
                <a:solidFill>
                  <a:srgbClr val="F59E0B"/>
                </a:solidFill>
                <a:latin typeface="Arial"/>
              </a:rPr>
              <a:t>IF IT DOES NOT WORK</a:t>
            </a:r>
          </a:p>
        </p:txBody>
      </p:sp>
      <p:sp>
        <p:nvSpPr>
          <p:cNvPr id="14" name="Oval 13"/>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Re-read the step inputs before you change anything.</a:t>
            </a:r>
          </a:p>
        </p:txBody>
      </p:sp>
      <p:sp>
        <p:nvSpPr>
          <p:cNvPr id="16" name="Oval 15"/>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Check the source is attached and the value inserted, not typed.</a:t>
            </a:r>
          </a:p>
        </p:txBody>
      </p:sp>
      <p:sp>
        <p:nvSpPr>
          <p:cNvPr id="18" name="Oval 17"/>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3816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Full step-by-step: Learner Guide and the lab instruction PDF.</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178</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04 · ADVANCED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Publish an Agent to Microsoft Teams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371600" cy="4389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371600" cy="365760"/>
          </a:xfrm>
          <a:prstGeom prst="rect">
            <a:avLst/>
          </a:prstGeom>
          <a:noFill/>
        </p:spPr>
        <p:txBody>
          <a:bodyPr wrap="square" anchor="t">
            <a:spAutoFit/>
          </a:bodyPr>
          <a:lstStyle/>
          <a:p>
            <a:pPr algn="ctr">
              <a:spcAft>
                <a:spcPts val="400"/>
              </a:spcAft>
            </a:pPr>
            <a:r>
              <a:rPr sz="1500" b="1">
                <a:solidFill>
                  <a:srgbClr val="FFFFFF"/>
                </a:solidFill>
                <a:latin typeface="Arial"/>
              </a:rPr>
              <a:t>LAB 20</a:t>
            </a:r>
          </a:p>
        </p:txBody>
      </p:sp>
      <p:sp>
        <p:nvSpPr>
          <p:cNvPr id="9" name="Rectangle 8"/>
          <p:cNvSpPr/>
          <p:nvPr/>
        </p:nvSpPr>
        <p:spPr>
          <a:xfrm>
            <a:off x="2286000" y="1691640"/>
            <a:ext cx="1371600" cy="438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0" y="1737360"/>
            <a:ext cx="1371600" cy="365760"/>
          </a:xfrm>
          <a:prstGeom prst="rect">
            <a:avLst/>
          </a:prstGeom>
          <a:noFill/>
        </p:spPr>
        <p:txBody>
          <a:bodyPr wrap="square" anchor="t">
            <a:spAutoFit/>
          </a:bodyPr>
          <a:lstStyle/>
          <a:p>
            <a:pPr algn="ctr">
              <a:spcAft>
                <a:spcPts val="400"/>
              </a:spcAft>
            </a:pPr>
            <a:r>
              <a:rPr sz="1300" b="1">
                <a:solidFill>
                  <a:srgbClr val="5B6372"/>
                </a:solidFill>
                <a:latin typeface="Arial"/>
              </a:rPr>
              <a:t>K4 · A5</a:t>
            </a:r>
          </a:p>
        </p:txBody>
      </p:sp>
      <p:sp>
        <p:nvSpPr>
          <p:cNvPr id="11" name="TextBox 10"/>
          <p:cNvSpPr txBox="1"/>
          <p:nvPr/>
        </p:nvSpPr>
        <p:spPr>
          <a:xfrm>
            <a:off x="777240" y="2331720"/>
            <a:ext cx="10698480" cy="1371600"/>
          </a:xfrm>
          <a:prstGeom prst="rect">
            <a:avLst/>
          </a:prstGeom>
          <a:noFill/>
        </p:spPr>
        <p:txBody>
          <a:bodyPr wrap="square" anchor="t">
            <a:spAutoFit/>
          </a:bodyPr>
          <a:lstStyle/>
          <a:p>
            <a:pPr algn="l">
              <a:spcAft>
                <a:spcPts val="400"/>
              </a:spcAft>
            </a:pPr>
            <a:r>
              <a:rPr sz="1900" b="0">
                <a:solidFill>
                  <a:srgbClr val="161B26"/>
                </a:solidFill>
                <a:latin typeface="Arial"/>
              </a:rPr>
              <a:t>The learner publishes the grounded agent to Microsoft Teams, confirms the published version behaves as the test version did, and records the release decision and rollback plan.</a:t>
            </a:r>
          </a:p>
        </p:txBody>
      </p:sp>
      <p:sp>
        <p:nvSpPr>
          <p:cNvPr id="12" name="Rectangle 11"/>
          <p:cNvSpPr/>
          <p:nvPr/>
        </p:nvSpPr>
        <p:spPr>
          <a:xfrm>
            <a:off x="777240" y="3886200"/>
            <a:ext cx="10698480"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88620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11480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 will build</a:t>
            </a:r>
          </a:p>
        </p:txBody>
      </p:sp>
      <p:sp>
        <p:nvSpPr>
          <p:cNvPr id="15" name="TextBox 14"/>
          <p:cNvSpPr txBox="1"/>
          <p:nvPr/>
        </p:nvSpPr>
        <p:spPr>
          <a:xfrm>
            <a:off x="1005840" y="4480560"/>
            <a:ext cx="10149840" cy="640080"/>
          </a:xfrm>
          <a:prstGeom prst="rect">
            <a:avLst/>
          </a:prstGeom>
          <a:noFill/>
        </p:spPr>
        <p:txBody>
          <a:bodyPr wrap="square" anchor="t">
            <a:spAutoFit/>
          </a:bodyPr>
          <a:lstStyle/>
          <a:p>
            <a:pPr algn="l">
              <a:spcAft>
                <a:spcPts val="400"/>
              </a:spcAft>
            </a:pPr>
            <a:r>
              <a:rPr sz="1700" b="1">
                <a:solidFill>
                  <a:srgbClr val="161B26"/>
                </a:solidFill>
                <a:latin typeface="Arial"/>
              </a:rPr>
              <a:t>A published agent available in Microsoft Teams with a recorded release decision</a:t>
            </a:r>
          </a:p>
        </p:txBody>
      </p:sp>
      <p:sp>
        <p:nvSpPr>
          <p:cNvPr id="16" name="TextBox 15"/>
          <p:cNvSpPr txBox="1"/>
          <p:nvPr/>
        </p:nvSpPr>
        <p:spPr>
          <a:xfrm>
            <a:off x="1005840" y="5212080"/>
            <a:ext cx="10241280" cy="365760"/>
          </a:xfrm>
          <a:prstGeom prst="rect">
            <a:avLst/>
          </a:prstGeom>
          <a:noFill/>
        </p:spPr>
        <p:txBody>
          <a:bodyPr wrap="square" anchor="t">
            <a:spAutoFit/>
          </a:bodyPr>
          <a:lstStyle/>
          <a:p>
            <a:pPr algn="l">
              <a:spcAft>
                <a:spcPts val="400"/>
              </a:spcAft>
            </a:pPr>
            <a:r>
              <a:rPr sz="1200" b="1">
                <a:solidFill>
                  <a:srgbClr val="5B6372"/>
                </a:solidFill>
                <a:latin typeface="Arial"/>
              </a:rPr>
              <a:t>Apps:  </a:t>
            </a:r>
            <a:r>
              <a:rPr sz="1200" b="0">
                <a:solidFill>
                  <a:srgbClr val="5B6372"/>
                </a:solidFill>
                <a:latin typeface="Arial"/>
              </a:rPr>
              <a:t>Copilot Studio, Microsoft Teams</a:t>
            </a:r>
          </a:p>
        </p:txBody>
      </p:sp>
      <p:sp>
        <p:nvSpPr>
          <p:cNvPr id="17" name="Rectangle 16"/>
          <p:cNvSpPr/>
          <p:nvPr/>
        </p:nvSpPr>
        <p:spPr>
          <a:xfrm>
            <a:off x="777240"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5943600"/>
            <a:ext cx="64008"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5943600"/>
            <a:ext cx="3154680" cy="457200"/>
          </a:xfrm>
          <a:prstGeom prst="rect">
            <a:avLst/>
          </a:prstGeom>
          <a:noFill/>
        </p:spPr>
        <p:txBody>
          <a:bodyPr wrap="square" anchor="ctr">
            <a:spAutoFit/>
          </a:bodyPr>
          <a:lstStyle/>
          <a:p>
            <a:pPr algn="l">
              <a:spcAft>
                <a:spcPts val="400"/>
              </a:spcAft>
            </a:pPr>
            <a:r>
              <a:rPr sz="900" b="1">
                <a:solidFill>
                  <a:srgbClr val="1F6FEB"/>
                </a:solidFill>
                <a:latin typeface="Arial"/>
              </a:rPr>
              <a:t>ASSESSED   </a:t>
            </a:r>
            <a:r>
              <a:rPr sz="1050" b="0">
                <a:solidFill>
                  <a:srgbClr val="161B26"/>
                </a:solidFill>
                <a:latin typeface="Arial"/>
              </a:rPr>
              <a:t>K4 · A5</a:t>
            </a:r>
          </a:p>
        </p:txBody>
      </p:sp>
      <p:sp>
        <p:nvSpPr>
          <p:cNvPr id="20" name="Rectangle 19"/>
          <p:cNvSpPr/>
          <p:nvPr/>
        </p:nvSpPr>
        <p:spPr>
          <a:xfrm>
            <a:off x="4407408"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07408" y="5943600"/>
            <a:ext cx="64008"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0" y="5943600"/>
            <a:ext cx="3154680" cy="457200"/>
          </a:xfrm>
          <a:prstGeom prst="rect">
            <a:avLst/>
          </a:prstGeom>
          <a:noFill/>
        </p:spPr>
        <p:txBody>
          <a:bodyPr wrap="square" anchor="ctr">
            <a:spAutoFit/>
          </a:bodyPr>
          <a:lstStyle/>
          <a:p>
            <a:pPr algn="l">
              <a:spcAft>
                <a:spcPts val="400"/>
              </a:spcAft>
            </a:pPr>
            <a:r>
              <a:rPr sz="900" b="1">
                <a:solidFill>
                  <a:srgbClr val="10B981"/>
                </a:solidFill>
                <a:latin typeface="Arial"/>
              </a:rPr>
              <a:t>LEVEL   </a:t>
            </a:r>
            <a:r>
              <a:rPr sz="1050" b="0">
                <a:solidFill>
                  <a:srgbClr val="161B26"/>
                </a:solidFill>
                <a:latin typeface="Arial"/>
              </a:rPr>
              <a:t>Advanced</a:t>
            </a:r>
          </a:p>
        </p:txBody>
      </p:sp>
      <p:sp>
        <p:nvSpPr>
          <p:cNvPr id="23" name="Rectangle 22"/>
          <p:cNvSpPr/>
          <p:nvPr/>
        </p:nvSpPr>
        <p:spPr>
          <a:xfrm>
            <a:off x="8037576"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37576" y="5943600"/>
            <a:ext cx="64008"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02168" y="5943600"/>
            <a:ext cx="3154680" cy="457200"/>
          </a:xfrm>
          <a:prstGeom prst="rect">
            <a:avLst/>
          </a:prstGeom>
          <a:noFill/>
        </p:spPr>
        <p:txBody>
          <a:bodyPr wrap="square" anchor="ctr">
            <a:spAutoFit/>
          </a:bodyPr>
          <a:lstStyle/>
          <a:p>
            <a:pPr algn="l">
              <a:spcAft>
                <a:spcPts val="400"/>
              </a:spcAft>
            </a:pPr>
            <a:r>
              <a:rPr sz="900" b="1">
                <a:solidFill>
                  <a:srgbClr val="7C3AED"/>
                </a:solidFill>
                <a:latin typeface="Arial"/>
              </a:rPr>
              <a:t>EVIDENCE   </a:t>
            </a:r>
            <a:r>
              <a:rPr sz="1050" b="0">
                <a:solidFill>
                  <a:srgbClr val="161B26"/>
                </a:solidFill>
                <a:latin typeface="Arial"/>
              </a:rPr>
              <a:t>Workbook · screenshot · reviewer</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179</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20 · PROCESS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How Lab 20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Prepare</a:t>
            </a:r>
          </a:p>
        </p:txBody>
      </p:sp>
      <p:sp>
        <p:nvSpPr>
          <p:cNvPr id="10" name="TextBox 9"/>
          <p:cNvSpPr txBox="1"/>
          <p:nvPr/>
        </p:nvSpPr>
        <p:spPr>
          <a:xfrm>
            <a:off x="905256"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Re-run the tests first</a:t>
            </a:r>
          </a:p>
        </p:txBody>
      </p:sp>
      <p:sp>
        <p:nvSpPr>
          <p:cNvPr id="11" name="Rectangle 10"/>
          <p:cNvSpPr/>
          <p:nvPr/>
        </p:nvSpPr>
        <p:spPr>
          <a:xfrm>
            <a:off x="3175254"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3292298"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50158"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50158"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78174"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Generate</a:t>
            </a:r>
          </a:p>
        </p:txBody>
      </p:sp>
      <p:sp>
        <p:nvSpPr>
          <p:cNvPr id="16" name="TextBox 15"/>
          <p:cNvSpPr txBox="1"/>
          <p:nvPr/>
        </p:nvSpPr>
        <p:spPr>
          <a:xfrm>
            <a:off x="3678174"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Add the Teams channel</a:t>
            </a:r>
          </a:p>
        </p:txBody>
      </p:sp>
      <p:sp>
        <p:nvSpPr>
          <p:cNvPr id="17" name="Rectangle 16"/>
          <p:cNvSpPr/>
          <p:nvPr/>
        </p:nvSpPr>
        <p:spPr>
          <a:xfrm>
            <a:off x="5948172"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6065216"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3076"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23076"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1092"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Verify</a:t>
            </a:r>
          </a:p>
        </p:txBody>
      </p:sp>
      <p:sp>
        <p:nvSpPr>
          <p:cNvPr id="22" name="TextBox 21"/>
          <p:cNvSpPr txBox="1"/>
          <p:nvPr/>
        </p:nvSpPr>
        <p:spPr>
          <a:xfrm>
            <a:off x="6451092"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Re-test refusals in Teams</a:t>
            </a:r>
          </a:p>
        </p:txBody>
      </p:sp>
      <p:sp>
        <p:nvSpPr>
          <p:cNvPr id="23" name="Rectangle 22"/>
          <p:cNvSpPr/>
          <p:nvPr/>
        </p:nvSpPr>
        <p:spPr>
          <a:xfrm>
            <a:off x="8721090"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8838134"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095994"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5994"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24010"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Record</a:t>
            </a:r>
          </a:p>
        </p:txBody>
      </p:sp>
      <p:sp>
        <p:nvSpPr>
          <p:cNvPr id="28" name="TextBox 27"/>
          <p:cNvSpPr txBox="1"/>
          <p:nvPr/>
        </p:nvSpPr>
        <p:spPr>
          <a:xfrm>
            <a:off x="9224010"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Write the rollback plan</a:t>
            </a:r>
          </a:p>
        </p:txBody>
      </p:sp>
      <p:sp>
        <p:nvSpPr>
          <p:cNvPr id="29" name="Rectangle 28"/>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0B981"/>
                </a:solidFill>
                <a:latin typeface="Arial"/>
              </a:rPr>
              <a:t>WHY IT MATTERS   </a:t>
            </a:r>
            <a:r>
              <a:rPr sz="1300" b="0">
                <a:solidFill>
                  <a:srgbClr val="161B26"/>
                </a:solidFill>
                <a:latin typeface="Arial"/>
              </a:rPr>
              <a:t>The shape of the work. Full step-by-step is in the Learner Guide (Lab 20) and the lab's instruction PDF.</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180</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20 · ACCEPTANCE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Publish an Agent to Microsoft Teams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46888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03120"/>
            <a:ext cx="10698480" cy="9144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423160"/>
            <a:ext cx="10058400" cy="457200"/>
          </a:xfrm>
          <a:prstGeom prst="rect">
            <a:avLst/>
          </a:prstGeom>
          <a:noFill/>
        </p:spPr>
        <p:txBody>
          <a:bodyPr wrap="square" anchor="t">
            <a:spAutoFit/>
          </a:bodyPr>
          <a:lstStyle/>
          <a:p>
            <a:pPr algn="l">
              <a:spcAft>
                <a:spcPts val="400"/>
              </a:spcAft>
            </a:pPr>
            <a:r>
              <a:rPr sz="1900" b="1">
                <a:solidFill>
                  <a:srgbClr val="127A3E"/>
                </a:solidFill>
                <a:latin typeface="Arial"/>
              </a:rPr>
              <a:t>✅  Acceptance check</a:t>
            </a:r>
          </a:p>
        </p:txBody>
      </p:sp>
      <p:sp>
        <p:nvSpPr>
          <p:cNvPr id="10" name="TextBox 9"/>
          <p:cNvSpPr txBox="1"/>
          <p:nvPr/>
        </p:nvSpPr>
        <p:spPr>
          <a:xfrm>
            <a:off x="1097280" y="3063240"/>
            <a:ext cx="10149840" cy="1371600"/>
          </a:xfrm>
          <a:prstGeom prst="rect">
            <a:avLst/>
          </a:prstGeom>
          <a:noFill/>
        </p:spPr>
        <p:txBody>
          <a:bodyPr wrap="square" anchor="t">
            <a:spAutoFit/>
          </a:bodyPr>
          <a:lstStyle/>
          <a:p>
            <a:pPr algn="l">
              <a:spcAft>
                <a:spcPts val="400"/>
              </a:spcAft>
            </a:pPr>
            <a:r>
              <a:rPr sz="1700" b="0">
                <a:solidFill>
                  <a:srgbClr val="161B26"/>
                </a:solidFill>
                <a:latin typeface="Arial"/>
              </a:rPr>
              <a:t>The agent responds correctly inside Microsoft Teams, still refuses out-of-scope questions, and the release log records the version, tests, approver and rollback plan.</a:t>
            </a:r>
          </a:p>
        </p:txBody>
      </p:sp>
      <p:sp>
        <p:nvSpPr>
          <p:cNvPr id="11" name="Rectangle 10"/>
          <p:cNvSpPr/>
          <p:nvPr/>
        </p:nvSpPr>
        <p:spPr>
          <a:xfrm>
            <a:off x="777240" y="4800600"/>
            <a:ext cx="10698480" cy="1143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4800600"/>
            <a:ext cx="10698480"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956048"/>
            <a:ext cx="10058400" cy="320040"/>
          </a:xfrm>
          <a:prstGeom prst="rect">
            <a:avLst/>
          </a:prstGeom>
          <a:noFill/>
        </p:spPr>
        <p:txBody>
          <a:bodyPr wrap="square" anchor="t">
            <a:spAutoFit/>
          </a:bodyPr>
          <a:lstStyle/>
          <a:p>
            <a:pPr algn="l">
              <a:spcAft>
                <a:spcPts val="400"/>
              </a:spcAft>
            </a:pPr>
            <a:r>
              <a:rPr sz="1100" b="1">
                <a:solidFill>
                  <a:srgbClr val="F59E0B"/>
                </a:solidFill>
                <a:latin typeface="Arial"/>
              </a:rPr>
              <a:t>IF IT DOES NOT WORK</a:t>
            </a:r>
          </a:p>
        </p:txBody>
      </p:sp>
      <p:sp>
        <p:nvSpPr>
          <p:cNvPr id="14" name="Oval 13"/>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Re-read the step inputs before you change anything.</a:t>
            </a:r>
          </a:p>
        </p:txBody>
      </p:sp>
      <p:sp>
        <p:nvSpPr>
          <p:cNvPr id="16" name="Oval 15"/>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Check the source is attached and the value inserted, not typed.</a:t>
            </a:r>
          </a:p>
        </p:txBody>
      </p:sp>
      <p:sp>
        <p:nvSpPr>
          <p:cNvPr id="18" name="Oval 17"/>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3816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Full step-by-step: Learner Guide and the lab instruction PDF.</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181</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 CAN NOW DO</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Recap — Topic 04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Lab 16</a:t>
            </a:r>
          </a:p>
          <a:p>
            <a:pPr algn="l">
              <a:spcAft>
                <a:spcPts val="300"/>
              </a:spcAft>
            </a:pPr>
            <a:r>
              <a:rPr sz="1000" b="0">
                <a:solidFill>
                  <a:srgbClr val="5B6372"/>
                </a:solidFill>
                <a:latin typeface="Arial"/>
              </a:rPr>
              <a:t>Define an agent's purpose, boundaries and acceptance tests before any configuration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Lab 17</a:t>
            </a:r>
          </a:p>
          <a:p>
            <a:pPr algn="l">
              <a:spcAft>
                <a:spcPts val="300"/>
              </a:spcAft>
            </a:pPr>
            <a:r>
              <a:rPr sz="1000" b="0">
                <a:solidFill>
                  <a:srgbClr val="5B6372"/>
                </a:solidFill>
                <a:latin typeface="Arial"/>
              </a:rPr>
              <a:t>Create an agent, write its instructions and ground it in approved knowledge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29000"/>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Lab 18</a:t>
            </a:r>
          </a:p>
          <a:p>
            <a:pPr algn="l">
              <a:spcAft>
                <a:spcPts val="300"/>
              </a:spcAft>
            </a:pPr>
            <a:r>
              <a:rPr sz="1000" b="0">
                <a:solidFill>
                  <a:srgbClr val="5B6372"/>
                </a:solidFill>
                <a:latin typeface="Arial"/>
              </a:rPr>
              <a:t>Extend an agent so it can look up real data and act, not only answer from a document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29000"/>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Lab 19</a:t>
            </a:r>
          </a:p>
          <a:p>
            <a:pPr algn="l">
              <a:spcAft>
                <a:spcPts val="300"/>
              </a:spcAft>
            </a:pPr>
            <a:r>
              <a:rPr sz="1000" b="0">
                <a:solidFill>
                  <a:srgbClr val="5B6372"/>
                </a:solidFill>
                <a:latin typeface="Arial"/>
              </a:rPr>
              <a:t>Delegate specialised work from one agent to another and keep the handover accountable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65192"/>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Lab 20</a:t>
            </a:r>
          </a:p>
          <a:p>
            <a:pPr algn="l">
              <a:spcAft>
                <a:spcPts val="300"/>
              </a:spcAft>
            </a:pPr>
            <a:r>
              <a:rPr sz="1000" b="0">
                <a:solidFill>
                  <a:srgbClr val="5B6372"/>
                </a:solidFill>
                <a:latin typeface="Arial"/>
              </a:rPr>
              <a:t>Release an agent to real users through a channel and confirm it behaves after publishing</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182</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600" b="1">
                <a:solidFill>
                  <a:srgbClr val="161B26"/>
                </a:solidFill>
                <a:latin typeface="Arial"/>
              </a:rPr>
              <a:t>End of Day 4</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100" b="1">
                <a:solidFill>
                  <a:srgbClr val="10B981"/>
                </a:solidFill>
                <a:latin typeface="Arial"/>
              </a:rPr>
              <a:t>See you tomorrow</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05</a:t>
            </a:r>
          </a:p>
        </p:txBody>
      </p:sp>
      <p:sp>
        <p:nvSpPr>
          <p:cNvPr id="6" name="TextBox 5"/>
          <p:cNvSpPr txBox="1"/>
          <p:nvPr/>
        </p:nvSpPr>
        <p:spPr>
          <a:xfrm>
            <a:off x="1143000" y="2743200"/>
            <a:ext cx="9692640" cy="1463040"/>
          </a:xfrm>
          <a:prstGeom prst="rect">
            <a:avLst/>
          </a:prstGeom>
          <a:noFill/>
        </p:spPr>
        <p:txBody>
          <a:bodyPr wrap="square" anchor="t">
            <a:spAutoFit/>
          </a:bodyPr>
          <a:lstStyle/>
          <a:p>
            <a:pPr algn="l">
              <a:spcAft>
                <a:spcPts val="400"/>
              </a:spcAft>
            </a:pPr>
            <a:r>
              <a:rPr sz="3600" b="1">
                <a:solidFill>
                  <a:srgbClr val="161B26"/>
                </a:solidFill>
                <a:latin typeface="Arial"/>
              </a:rPr>
              <a:t>Integrating, Testing, Securing and Optimising Agentic Automation</a:t>
            </a:r>
          </a:p>
        </p:txBody>
      </p:sp>
      <p:sp>
        <p:nvSpPr>
          <p:cNvPr id="7" name="TextBox 6"/>
          <p:cNvSpPr txBox="1"/>
          <p:nvPr/>
        </p:nvSpPr>
        <p:spPr>
          <a:xfrm>
            <a:off x="1161288" y="4343400"/>
            <a:ext cx="9692640" cy="822960"/>
          </a:xfrm>
          <a:prstGeom prst="rect">
            <a:avLst/>
          </a:prstGeom>
          <a:noFill/>
        </p:spPr>
        <p:txBody>
          <a:bodyPr wrap="square" anchor="t">
            <a:spAutoFit/>
          </a:bodyPr>
          <a:lstStyle/>
          <a:p>
            <a:pPr algn="l">
              <a:spcAft>
                <a:spcPts val="400"/>
              </a:spcAft>
            </a:pPr>
            <a:r>
              <a:rPr sz="1500" b="0">
                <a:solidFill>
                  <a:srgbClr val="5B6372"/>
                </a:solidFill>
                <a:latin typeface="Arial"/>
              </a:rPr>
              <a:t>Agent flows · HTTP · JSON schema · RAG · human review · testing · governance</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05</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184</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DAY 5 · WHAT THIS TOPIC COVERS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Key Concepts — Topic 05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74520"/>
            <a:ext cx="4027932" cy="1152144"/>
          </a:xfrm>
          <a:prstGeom prst="rect">
            <a:avLst/>
          </a:prstGeom>
          <a:noFill/>
        </p:spPr>
        <p:txBody>
          <a:bodyPr wrap="square" anchor="ctr">
            <a:spAutoFit/>
          </a:bodyPr>
          <a:lstStyle/>
          <a:p>
            <a:pPr algn="l">
              <a:spcAft>
                <a:spcPts val="400"/>
              </a:spcAft>
            </a:pPr>
            <a:r>
              <a:rPr sz="1400" b="0">
                <a:solidFill>
                  <a:srgbClr val="161B26"/>
                </a:solidFill>
                <a:latin typeface="Arial"/>
              </a:rPr>
              <a:t>An agent flow exposes automation to an agent, and an HTTP trigger exposes it to any external application.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74520"/>
            <a:ext cx="4027932" cy="1152144"/>
          </a:xfrm>
          <a:prstGeom prst="rect">
            <a:avLst/>
          </a:prstGeom>
          <a:noFill/>
        </p:spPr>
        <p:txBody>
          <a:bodyPr wrap="square" anchor="ctr">
            <a:spAutoFit/>
          </a:bodyPr>
          <a:lstStyle/>
          <a:p>
            <a:pPr algn="l">
              <a:spcAft>
                <a:spcPts val="400"/>
              </a:spcAft>
            </a:pPr>
            <a:r>
              <a:rPr sz="1400" b="0">
                <a:solidFill>
                  <a:srgbClr val="161B26"/>
                </a:solidFill>
                <a:latin typeface="Arial"/>
              </a:rPr>
              <a:t>A JSON schema defines the request contract so an external caller and the flow agree on the data.</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0712"/>
            <a:ext cx="4027932" cy="1152144"/>
          </a:xfrm>
          <a:prstGeom prst="rect">
            <a:avLst/>
          </a:prstGeom>
          <a:noFill/>
        </p:spPr>
        <p:txBody>
          <a:bodyPr wrap="square" anchor="ctr">
            <a:spAutoFit/>
          </a:bodyPr>
          <a:lstStyle/>
          <a:p>
            <a:pPr algn="l">
              <a:spcAft>
                <a:spcPts val="400"/>
              </a:spcAft>
            </a:pPr>
            <a:r>
              <a:rPr sz="1400" b="0">
                <a:solidFill>
                  <a:srgbClr val="161B26"/>
                </a:solidFill>
                <a:latin typeface="Arial"/>
              </a:rPr>
              <a:t>Structured output turns a model response into named fields a flow can branch on reliably.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10712"/>
            <a:ext cx="4027932" cy="1152144"/>
          </a:xfrm>
          <a:prstGeom prst="rect">
            <a:avLst/>
          </a:prstGeom>
          <a:noFill/>
        </p:spPr>
        <p:txBody>
          <a:bodyPr wrap="square" anchor="ctr">
            <a:spAutoFit/>
          </a:bodyPr>
          <a:lstStyle/>
          <a:p>
            <a:pPr algn="l">
              <a:spcAft>
                <a:spcPts val="400"/>
              </a:spcAft>
            </a:pPr>
            <a:r>
              <a:rPr sz="1400" b="0">
                <a:solidFill>
                  <a:srgbClr val="161B26"/>
                </a:solidFill>
                <a:latin typeface="Arial"/>
              </a:rPr>
              <a:t>Retrieval-augmented generation grounds answers in retrieved passages instead of model memory.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6904"/>
            <a:ext cx="4027932" cy="1152144"/>
          </a:xfrm>
          <a:prstGeom prst="rect">
            <a:avLst/>
          </a:prstGeom>
          <a:noFill/>
        </p:spPr>
        <p:txBody>
          <a:bodyPr wrap="square" anchor="ctr">
            <a:spAutoFit/>
          </a:bodyPr>
          <a:lstStyle/>
          <a:p>
            <a:pPr algn="l">
              <a:spcAft>
                <a:spcPts val="400"/>
              </a:spcAft>
            </a:pPr>
            <a:r>
              <a:rPr sz="1400" b="0">
                <a:solidFill>
                  <a:srgbClr val="161B26"/>
                </a:solidFill>
                <a:latin typeface="Arial"/>
              </a:rPr>
              <a:t>The boundary of agency decides what an agent may do alone and what needs a person to approve.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46904"/>
            <a:ext cx="4027932" cy="1152144"/>
          </a:xfrm>
          <a:prstGeom prst="rect">
            <a:avLst/>
          </a:prstGeom>
          <a:noFill/>
        </p:spPr>
        <p:txBody>
          <a:bodyPr wrap="square" anchor="ctr">
            <a:spAutoFit/>
          </a:bodyPr>
          <a:lstStyle/>
          <a:p>
            <a:pPr algn="l">
              <a:spcAft>
                <a:spcPts val="400"/>
              </a:spcAft>
            </a:pPr>
            <a:r>
              <a:rPr sz="1400" b="0">
                <a:solidFill>
                  <a:srgbClr val="161B26"/>
                </a:solidFill>
                <a:latin typeface="Arial"/>
              </a:rPr>
              <a:t>Testing means verifying correct answers, correct refusals and the run history behind both.</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185</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 WILL DO</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Hands-On Labs — Topic 05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640080"/>
          </a:xfrm>
          <a:prstGeom prst="rect">
            <a:avLst/>
          </a:prstGeom>
          <a:noFill/>
        </p:spPr>
        <p:txBody>
          <a:bodyPr wrap="square" anchor="t">
            <a:spAutoFit/>
          </a:bodyPr>
          <a:lstStyle/>
          <a:p>
            <a:pPr algn="l">
              <a:spcAft>
                <a:spcPts val="400"/>
              </a:spcAft>
            </a:pPr>
            <a:r>
              <a:rPr sz="1800" b="1">
                <a:solidFill>
                  <a:srgbClr val="1F6FEB"/>
                </a:solidFill>
                <a:latin typeface="Arial"/>
              </a:rPr>
              <a:t>Labs 21–22</a:t>
            </a:r>
          </a:p>
        </p:txBody>
      </p:sp>
      <p:sp>
        <p:nvSpPr>
          <p:cNvPr id="10" name="TextBox 9"/>
          <p:cNvSpPr txBox="1"/>
          <p:nvPr/>
        </p:nvSpPr>
        <p:spPr>
          <a:xfrm>
            <a:off x="1005840" y="2743200"/>
            <a:ext cx="2926080" cy="3063240"/>
          </a:xfrm>
          <a:prstGeom prst="rect">
            <a:avLst/>
          </a:prstGeom>
          <a:noFill/>
        </p:spPr>
        <p:txBody>
          <a:bodyPr wrap="square">
            <a:spAutoFit/>
          </a:bodyPr>
          <a:lstStyle/>
          <a:p>
            <a:pPr>
              <a:spcAft>
                <a:spcPts val="900"/>
              </a:spcAft>
            </a:pPr>
            <a:r>
              <a:rPr sz="1300">
                <a:solidFill>
                  <a:srgbClr val="161B26"/>
                </a:solidFill>
                <a:latin typeface="Arial"/>
              </a:rPr>
              <a:t>•  Expose a Flow over HTTP with a JSON Schema</a:t>
            </a:r>
          </a:p>
          <a:p>
            <a:pPr>
              <a:spcAft>
                <a:spcPts val="900"/>
              </a:spcAft>
            </a:pPr>
            <a:r>
              <a:rPr sz="1300">
                <a:solidFill>
                  <a:srgbClr val="161B26"/>
                </a:solidFill>
                <a:latin typeface="Arial"/>
              </a:rPr>
              <a:t>•  Ground an Agent with Retrieval-Augmented Generation</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640080"/>
          </a:xfrm>
          <a:prstGeom prst="rect">
            <a:avLst/>
          </a:prstGeom>
          <a:noFill/>
        </p:spPr>
        <p:txBody>
          <a:bodyPr wrap="square" anchor="t">
            <a:spAutoFit/>
          </a:bodyPr>
          <a:lstStyle/>
          <a:p>
            <a:pPr algn="l">
              <a:spcAft>
                <a:spcPts val="400"/>
              </a:spcAft>
            </a:pPr>
            <a:r>
              <a:rPr sz="1800" b="1">
                <a:solidFill>
                  <a:srgbClr val="10B981"/>
                </a:solidFill>
                <a:latin typeface="Arial"/>
              </a:rPr>
              <a:t>Labs 23–24</a:t>
            </a:r>
          </a:p>
        </p:txBody>
      </p:sp>
      <p:sp>
        <p:nvSpPr>
          <p:cNvPr id="14" name="TextBox 13"/>
          <p:cNvSpPr txBox="1"/>
          <p:nvPr/>
        </p:nvSpPr>
        <p:spPr>
          <a:xfrm>
            <a:off x="4800600" y="2743200"/>
            <a:ext cx="2926080" cy="3063240"/>
          </a:xfrm>
          <a:prstGeom prst="rect">
            <a:avLst/>
          </a:prstGeom>
          <a:noFill/>
        </p:spPr>
        <p:txBody>
          <a:bodyPr wrap="square">
            <a:spAutoFit/>
          </a:bodyPr>
          <a:lstStyle/>
          <a:p>
            <a:pPr>
              <a:spcAft>
                <a:spcPts val="900"/>
              </a:spcAft>
            </a:pPr>
            <a:r>
              <a:rPr sz="1300">
                <a:solidFill>
                  <a:srgbClr val="161B26"/>
                </a:solidFill>
                <a:latin typeface="Arial"/>
              </a:rPr>
              <a:t>•  Add a Human Review Gate to an Agent Action</a:t>
            </a:r>
          </a:p>
          <a:p>
            <a:pPr>
              <a:spcAft>
                <a:spcPts val="900"/>
              </a:spcAft>
            </a:pPr>
            <a:r>
              <a:rPr sz="1300">
                <a:solidFill>
                  <a:srgbClr val="161B26"/>
                </a:solidFill>
                <a:latin typeface="Arial"/>
              </a:rPr>
              <a:t>•  Test, Secure and Troubleshoot the Solution</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640080"/>
          </a:xfrm>
          <a:prstGeom prst="rect">
            <a:avLst/>
          </a:prstGeom>
          <a:noFill/>
        </p:spPr>
        <p:txBody>
          <a:bodyPr wrap="square" anchor="t">
            <a:spAutoFit/>
          </a:bodyPr>
          <a:lstStyle/>
          <a:p>
            <a:pPr algn="l">
              <a:spcAft>
                <a:spcPts val="400"/>
              </a:spcAft>
            </a:pPr>
            <a:r>
              <a:rPr sz="1800" b="1">
                <a:solidFill>
                  <a:srgbClr val="7C3AED"/>
                </a:solidFill>
                <a:latin typeface="Arial"/>
              </a:rPr>
              <a:t>Labs 25–25</a:t>
            </a:r>
          </a:p>
        </p:txBody>
      </p:sp>
      <p:sp>
        <p:nvSpPr>
          <p:cNvPr id="18" name="TextBox 17"/>
          <p:cNvSpPr txBox="1"/>
          <p:nvPr/>
        </p:nvSpPr>
        <p:spPr>
          <a:xfrm>
            <a:off x="8595360" y="2743200"/>
            <a:ext cx="2926080" cy="3063240"/>
          </a:xfrm>
          <a:prstGeom prst="rect">
            <a:avLst/>
          </a:prstGeom>
          <a:noFill/>
        </p:spPr>
        <p:txBody>
          <a:bodyPr wrap="square">
            <a:spAutoFit/>
          </a:bodyPr>
          <a:lstStyle/>
          <a:p>
            <a:pPr>
              <a:spcAft>
                <a:spcPts val="900"/>
              </a:spcAft>
            </a:pPr>
            <a:r>
              <a:rPr sz="1300">
                <a:solidFill>
                  <a:srgbClr val="161B26"/>
                </a:solidFill>
                <a:latin typeface="Arial"/>
              </a:rPr>
              <a:t>•  Operate a Governed End-to-End Copilot Pipeline</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186</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INTEGRATION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Exposing Automation Over HTTP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2315718"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231571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HTTP trigger</a:t>
            </a:r>
          </a:p>
        </p:txBody>
      </p:sp>
      <p:sp>
        <p:nvSpPr>
          <p:cNvPr id="10" name="TextBox 9"/>
          <p:cNvSpPr txBox="1"/>
          <p:nvPr/>
        </p:nvSpPr>
        <p:spPr>
          <a:xfrm>
            <a:off x="905256"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The flow gets its own URL</a:t>
            </a:r>
          </a:p>
        </p:txBody>
      </p:sp>
      <p:sp>
        <p:nvSpPr>
          <p:cNvPr id="11" name="Rectangle 10"/>
          <p:cNvSpPr/>
          <p:nvPr/>
        </p:nvSpPr>
        <p:spPr>
          <a:xfrm>
            <a:off x="3175254"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3292298"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50158" y="2468880"/>
            <a:ext cx="2315718"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50158" y="2468880"/>
            <a:ext cx="231571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78174"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Request schema</a:t>
            </a:r>
          </a:p>
        </p:txBody>
      </p:sp>
      <p:sp>
        <p:nvSpPr>
          <p:cNvPr id="16" name="TextBox 15"/>
          <p:cNvSpPr txBox="1"/>
          <p:nvPr/>
        </p:nvSpPr>
        <p:spPr>
          <a:xfrm>
            <a:off x="3678174"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The contract for the incoming data</a:t>
            </a:r>
          </a:p>
        </p:txBody>
      </p:sp>
      <p:sp>
        <p:nvSpPr>
          <p:cNvPr id="17" name="Rectangle 16"/>
          <p:cNvSpPr/>
          <p:nvPr/>
        </p:nvSpPr>
        <p:spPr>
          <a:xfrm>
            <a:off x="5948172"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6065216"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3076" y="2468880"/>
            <a:ext cx="2315718"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23076" y="2468880"/>
            <a:ext cx="231571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1092"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Actions</a:t>
            </a:r>
          </a:p>
        </p:txBody>
      </p:sp>
      <p:sp>
        <p:nvSpPr>
          <p:cNvPr id="22" name="TextBox 21"/>
          <p:cNvSpPr txBox="1"/>
          <p:nvPr/>
        </p:nvSpPr>
        <p:spPr>
          <a:xfrm>
            <a:off x="6451092"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The flow does the work</a:t>
            </a:r>
          </a:p>
        </p:txBody>
      </p:sp>
      <p:sp>
        <p:nvSpPr>
          <p:cNvPr id="23" name="Rectangle 22"/>
          <p:cNvSpPr/>
          <p:nvPr/>
        </p:nvSpPr>
        <p:spPr>
          <a:xfrm>
            <a:off x="8721090"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8838134"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095994" y="2468880"/>
            <a:ext cx="2315718"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5994" y="2468880"/>
            <a:ext cx="231571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24010"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Response action</a:t>
            </a:r>
          </a:p>
        </p:txBody>
      </p:sp>
      <p:sp>
        <p:nvSpPr>
          <p:cNvPr id="28" name="TextBox 27"/>
          <p:cNvSpPr txBox="1"/>
          <p:nvPr/>
        </p:nvSpPr>
        <p:spPr>
          <a:xfrm>
            <a:off x="9224010"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A status code and a body go back</a:t>
            </a:r>
          </a:p>
        </p:txBody>
      </p:sp>
      <p:sp>
        <p:nvSpPr>
          <p:cNvPr id="29" name="Rectangle 28"/>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F6FEB"/>
                </a:solidFill>
                <a:latin typeface="Arial"/>
              </a:rPr>
              <a:t>WHY IT MATTERS   </a:t>
            </a:r>
            <a:r>
              <a:rPr sz="1300" b="0">
                <a:solidFill>
                  <a:srgbClr val="161B26"/>
                </a:solidFill>
                <a:latin typeface="Arial"/>
              </a:rPr>
              <a:t>Without a Response action the caller gets an acknowledgement, not an answer.</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187</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CONTRACT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Why a JSON Schema Matters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It names the fields</a:t>
            </a:r>
          </a:p>
          <a:p>
            <a:pPr algn="l">
              <a:spcAft>
                <a:spcPts val="300"/>
              </a:spcAft>
            </a:pPr>
            <a:r>
              <a:rPr sz="1200" b="0">
                <a:solidFill>
                  <a:srgbClr val="5B6372"/>
                </a:solidFill>
                <a:latin typeface="Arial"/>
              </a:rPr>
              <a:t>So the caller and the flow agree on the data.</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It makes them dynamic content</a:t>
            </a:r>
          </a:p>
          <a:p>
            <a:pPr algn="l">
              <a:spcAft>
                <a:spcPts val="300"/>
              </a:spcAft>
            </a:pPr>
            <a:r>
              <a:rPr sz="1200" b="0">
                <a:solidFill>
                  <a:srgbClr val="5B6372"/>
                </a:solidFill>
                <a:latin typeface="Arial"/>
              </a:rPr>
              <a:t>Parsed fields become usable in later steps.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It rejects malformed data</a:t>
            </a:r>
          </a:p>
          <a:p>
            <a:pPr algn="l">
              <a:spcAft>
                <a:spcPts val="300"/>
              </a:spcAft>
            </a:pPr>
            <a:r>
              <a:rPr sz="1200" b="0">
                <a:solidFill>
                  <a:srgbClr val="5B6372"/>
                </a:solidFill>
                <a:latin typeface="Arial"/>
              </a:rPr>
              <a:t>A typed contract is a real control.</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It documents the interface</a:t>
            </a:r>
          </a:p>
          <a:p>
            <a:pPr algn="l">
              <a:spcAft>
                <a:spcPts val="300"/>
              </a:spcAft>
            </a:pPr>
            <a:r>
              <a:rPr sz="1200" b="0">
                <a:solidFill>
                  <a:srgbClr val="5B6372"/>
                </a:solidFill>
                <a:latin typeface="Arial"/>
              </a:rPr>
              <a:t>The schema is the specification.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188</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SECURITY</a:t>
            </a:r>
          </a:p>
        </p:txBody>
      </p:sp>
      <p:sp>
        <p:nvSpPr>
          <p:cNvPr id="5" name="TextBox 4"/>
          <p:cNvSpPr txBox="1"/>
          <p:nvPr/>
        </p:nvSpPr>
        <p:spPr>
          <a:xfrm>
            <a:off x="1005840" y="2560320"/>
            <a:ext cx="10332720" cy="2011680"/>
          </a:xfrm>
          <a:prstGeom prst="rect">
            <a:avLst/>
          </a:prstGeom>
          <a:noFill/>
        </p:spPr>
        <p:txBody>
          <a:bodyPr wrap="square" anchor="t">
            <a:spAutoFit/>
          </a:bodyPr>
          <a:lstStyle/>
          <a:p>
            <a:pPr algn="l">
              <a:spcAft>
                <a:spcPts val="400"/>
              </a:spcAft>
            </a:pPr>
            <a:r>
              <a:rPr sz="3600" b="1">
                <a:solidFill>
                  <a:srgbClr val="161B26"/>
                </a:solidFill>
                <a:latin typeface="Arial"/>
              </a:rPr>
              <a:t>The endpoint URL is a credential.</a:t>
            </a:r>
          </a:p>
        </p:txBody>
      </p:sp>
      <p:sp>
        <p:nvSpPr>
          <p:cNvPr id="6" name="TextBox 5"/>
          <p:cNvSpPr txBox="1"/>
          <p:nvPr/>
        </p:nvSpPr>
        <p:spPr>
          <a:xfrm>
            <a:off x="1024128" y="4572000"/>
            <a:ext cx="10058400" cy="1097280"/>
          </a:xfrm>
          <a:prstGeom prst="rect">
            <a:avLst/>
          </a:prstGeom>
          <a:noFill/>
        </p:spPr>
        <p:txBody>
          <a:bodyPr wrap="square" anchor="t">
            <a:spAutoFit/>
          </a:bodyPr>
          <a:lstStyle/>
          <a:p>
            <a:pPr algn="l">
              <a:spcAft>
                <a:spcPts val="400"/>
              </a:spcAft>
            </a:pPr>
            <a:r>
              <a:rPr sz="1900" b="0">
                <a:solidFill>
                  <a:srgbClr val="5B6372"/>
                </a:solidFill>
                <a:latin typeface="Arial"/>
              </a:rPr>
              <a:t>Anyone holding the URL can trigger the flow. Treat it like a password, not like a link.</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189</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BRANCHING ON A MODEL ANSWER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Structured Output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Prose is hard to branch on</a:t>
            </a:r>
          </a:p>
          <a:p>
            <a:pPr algn="l">
              <a:spcAft>
                <a:spcPts val="300"/>
              </a:spcAft>
            </a:pPr>
            <a:r>
              <a:rPr sz="1200" b="0">
                <a:solidFill>
                  <a:srgbClr val="5B6372"/>
                </a:solidFill>
                <a:latin typeface="Arial"/>
              </a:rPr>
              <a:t>'It seems approved' is not a value you can test.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Structured output returns fields</a:t>
            </a:r>
          </a:p>
          <a:p>
            <a:pPr algn="l">
              <a:spcAft>
                <a:spcPts val="300"/>
              </a:spcAft>
            </a:pPr>
            <a:r>
              <a:rPr sz="1200" b="0">
                <a:solidFill>
                  <a:srgbClr val="5B6372"/>
                </a:solidFill>
                <a:latin typeface="Arial"/>
              </a:rPr>
              <a:t>Named, typed values a condition can read.</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Define the shape you need</a:t>
            </a:r>
          </a:p>
          <a:p>
            <a:pPr algn="l">
              <a:spcAft>
                <a:spcPts val="300"/>
              </a:spcAft>
            </a:pPr>
            <a:r>
              <a:rPr sz="1200" b="0">
                <a:solidFill>
                  <a:srgbClr val="5B6372"/>
                </a:solidFill>
                <a:latin typeface="Arial"/>
              </a:rPr>
              <a:t>Decision, reason, confidence — whatever you will act on.</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Validate before acting</a:t>
            </a:r>
          </a:p>
          <a:p>
            <a:pPr algn="l">
              <a:spcAft>
                <a:spcPts val="300"/>
              </a:spcAft>
            </a:pPr>
            <a:r>
              <a:rPr sz="1200" b="0">
                <a:solidFill>
                  <a:srgbClr val="5B6372"/>
                </a:solidFill>
                <a:latin typeface="Arial"/>
              </a:rPr>
              <a:t>A field can still arrive empty or unexpected.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190</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RAG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How Retrieval-Augmented Generation Works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2670048"/>
            <a:ext cx="1505102" cy="713232"/>
          </a:xfrm>
          <a:prstGeom prst="rect">
            <a:avLst/>
          </a:prstGeom>
          <a:noFill/>
        </p:spPr>
        <p:txBody>
          <a:bodyPr wrap="square" anchor="ctr">
            <a:spAutoFit/>
          </a:bodyPr>
          <a:lstStyle/>
          <a:p>
            <a:pPr algn="ctr">
              <a:spcAft>
                <a:spcPts val="400"/>
              </a:spcAft>
            </a:pPr>
            <a:r>
              <a:rPr sz="1500" b="1">
                <a:solidFill>
                  <a:srgbClr val="161B26"/>
                </a:solidFill>
                <a:latin typeface="Arial"/>
              </a:rPr>
              <a:t>Ingest</a:t>
            </a:r>
          </a:p>
        </p:txBody>
      </p:sp>
      <p:sp>
        <p:nvSpPr>
          <p:cNvPr id="10" name="TextBox 9"/>
          <p:cNvSpPr txBox="1"/>
          <p:nvPr/>
        </p:nvSpPr>
        <p:spPr>
          <a:xfrm>
            <a:off x="905256" y="3401568"/>
            <a:ext cx="1505102" cy="804672"/>
          </a:xfrm>
          <a:prstGeom prst="rect">
            <a:avLst/>
          </a:prstGeom>
          <a:noFill/>
        </p:spPr>
        <p:txBody>
          <a:bodyPr wrap="square" anchor="t">
            <a:spAutoFit/>
          </a:bodyPr>
          <a:lstStyle/>
          <a:p>
            <a:pPr algn="ctr">
              <a:spcAft>
                <a:spcPts val="400"/>
              </a:spcAft>
            </a:pPr>
            <a:r>
              <a:rPr sz="1100" b="0">
                <a:solidFill>
                  <a:srgbClr val="5B6372"/>
                </a:solidFill>
                <a:latin typeface="Arial"/>
              </a:rPr>
              <a:t>Documents are split into chunks</a:t>
            </a:r>
          </a:p>
        </p:txBody>
      </p:sp>
      <p:sp>
        <p:nvSpPr>
          <p:cNvPr id="11" name="Rectangle 10"/>
          <p:cNvSpPr/>
          <p:nvPr/>
        </p:nvSpPr>
        <p:spPr>
          <a:xfrm>
            <a:off x="2620670"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2737714"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995574"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95574"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23590" y="2670048"/>
            <a:ext cx="1505102" cy="713232"/>
          </a:xfrm>
          <a:prstGeom prst="rect">
            <a:avLst/>
          </a:prstGeom>
          <a:noFill/>
        </p:spPr>
        <p:txBody>
          <a:bodyPr wrap="square" anchor="ctr">
            <a:spAutoFit/>
          </a:bodyPr>
          <a:lstStyle/>
          <a:p>
            <a:pPr algn="ctr">
              <a:spcAft>
                <a:spcPts val="400"/>
              </a:spcAft>
            </a:pPr>
            <a:r>
              <a:rPr sz="1500" b="1">
                <a:solidFill>
                  <a:srgbClr val="161B26"/>
                </a:solidFill>
                <a:latin typeface="Arial"/>
              </a:rPr>
              <a:t>Embed</a:t>
            </a:r>
          </a:p>
        </p:txBody>
      </p:sp>
      <p:sp>
        <p:nvSpPr>
          <p:cNvPr id="16" name="TextBox 15"/>
          <p:cNvSpPr txBox="1"/>
          <p:nvPr/>
        </p:nvSpPr>
        <p:spPr>
          <a:xfrm>
            <a:off x="3123590" y="3401568"/>
            <a:ext cx="1505102" cy="804672"/>
          </a:xfrm>
          <a:prstGeom prst="rect">
            <a:avLst/>
          </a:prstGeom>
          <a:noFill/>
        </p:spPr>
        <p:txBody>
          <a:bodyPr wrap="square" anchor="t">
            <a:spAutoFit/>
          </a:bodyPr>
          <a:lstStyle/>
          <a:p>
            <a:pPr algn="ctr">
              <a:spcAft>
                <a:spcPts val="400"/>
              </a:spcAft>
            </a:pPr>
            <a:r>
              <a:rPr sz="1100" b="0">
                <a:solidFill>
                  <a:srgbClr val="5B6372"/>
                </a:solidFill>
                <a:latin typeface="Arial"/>
              </a:rPr>
              <a:t>Each chunk becomes a vector</a:t>
            </a:r>
          </a:p>
        </p:txBody>
      </p:sp>
      <p:sp>
        <p:nvSpPr>
          <p:cNvPr id="17" name="Rectangle 16"/>
          <p:cNvSpPr/>
          <p:nvPr/>
        </p:nvSpPr>
        <p:spPr>
          <a:xfrm>
            <a:off x="4839004"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4956048"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213908"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213908"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41924" y="2670048"/>
            <a:ext cx="1505102" cy="713232"/>
          </a:xfrm>
          <a:prstGeom prst="rect">
            <a:avLst/>
          </a:prstGeom>
          <a:noFill/>
        </p:spPr>
        <p:txBody>
          <a:bodyPr wrap="square" anchor="ctr">
            <a:spAutoFit/>
          </a:bodyPr>
          <a:lstStyle/>
          <a:p>
            <a:pPr algn="ctr">
              <a:spcAft>
                <a:spcPts val="400"/>
              </a:spcAft>
            </a:pPr>
            <a:r>
              <a:rPr sz="1500" b="1">
                <a:solidFill>
                  <a:srgbClr val="161B26"/>
                </a:solidFill>
                <a:latin typeface="Arial"/>
              </a:rPr>
              <a:t>Retrieve</a:t>
            </a:r>
          </a:p>
        </p:txBody>
      </p:sp>
      <p:sp>
        <p:nvSpPr>
          <p:cNvPr id="22" name="TextBox 21"/>
          <p:cNvSpPr txBox="1"/>
          <p:nvPr/>
        </p:nvSpPr>
        <p:spPr>
          <a:xfrm>
            <a:off x="5341924" y="3401568"/>
            <a:ext cx="1505102" cy="804672"/>
          </a:xfrm>
          <a:prstGeom prst="rect">
            <a:avLst/>
          </a:prstGeom>
          <a:noFill/>
        </p:spPr>
        <p:txBody>
          <a:bodyPr wrap="square" anchor="t">
            <a:spAutoFit/>
          </a:bodyPr>
          <a:lstStyle/>
          <a:p>
            <a:pPr algn="ctr">
              <a:spcAft>
                <a:spcPts val="400"/>
              </a:spcAft>
            </a:pPr>
            <a:r>
              <a:rPr sz="1100" b="0">
                <a:solidFill>
                  <a:srgbClr val="5B6372"/>
                </a:solidFill>
                <a:latin typeface="Arial"/>
              </a:rPr>
              <a:t>The question finds the closest chunks</a:t>
            </a:r>
          </a:p>
        </p:txBody>
      </p:sp>
      <p:sp>
        <p:nvSpPr>
          <p:cNvPr id="23" name="Rectangle 22"/>
          <p:cNvSpPr/>
          <p:nvPr/>
        </p:nvSpPr>
        <p:spPr>
          <a:xfrm>
            <a:off x="7057338"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7174382"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432242"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32242"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60258" y="2670048"/>
            <a:ext cx="1505102" cy="713232"/>
          </a:xfrm>
          <a:prstGeom prst="rect">
            <a:avLst/>
          </a:prstGeom>
          <a:noFill/>
        </p:spPr>
        <p:txBody>
          <a:bodyPr wrap="square" anchor="ctr">
            <a:spAutoFit/>
          </a:bodyPr>
          <a:lstStyle/>
          <a:p>
            <a:pPr algn="ctr">
              <a:spcAft>
                <a:spcPts val="400"/>
              </a:spcAft>
            </a:pPr>
            <a:r>
              <a:rPr sz="1500" b="1">
                <a:solidFill>
                  <a:srgbClr val="161B26"/>
                </a:solidFill>
                <a:latin typeface="Arial"/>
              </a:rPr>
              <a:t>Generate</a:t>
            </a:r>
          </a:p>
        </p:txBody>
      </p:sp>
      <p:sp>
        <p:nvSpPr>
          <p:cNvPr id="28" name="TextBox 27"/>
          <p:cNvSpPr txBox="1"/>
          <p:nvPr/>
        </p:nvSpPr>
        <p:spPr>
          <a:xfrm>
            <a:off x="7560258" y="3401568"/>
            <a:ext cx="1505102" cy="804672"/>
          </a:xfrm>
          <a:prstGeom prst="rect">
            <a:avLst/>
          </a:prstGeom>
          <a:noFill/>
        </p:spPr>
        <p:txBody>
          <a:bodyPr wrap="square" anchor="t">
            <a:spAutoFit/>
          </a:bodyPr>
          <a:lstStyle/>
          <a:p>
            <a:pPr algn="ctr">
              <a:spcAft>
                <a:spcPts val="400"/>
              </a:spcAft>
            </a:pPr>
            <a:r>
              <a:rPr sz="1100" b="0">
                <a:solidFill>
                  <a:srgbClr val="5B6372"/>
                </a:solidFill>
                <a:latin typeface="Arial"/>
              </a:rPr>
              <a:t>The model answers from those chunks</a:t>
            </a:r>
          </a:p>
        </p:txBody>
      </p:sp>
      <p:sp>
        <p:nvSpPr>
          <p:cNvPr id="29" name="Rectangle 28"/>
          <p:cNvSpPr/>
          <p:nvPr/>
        </p:nvSpPr>
        <p:spPr>
          <a:xfrm>
            <a:off x="9275672"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Freeform 29"/>
          <p:cNvSpPr/>
          <p:nvPr/>
        </p:nvSpPr>
        <p:spPr>
          <a:xfrm>
            <a:off x="9392716"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650576"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650576"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778592" y="2670048"/>
            <a:ext cx="1505102" cy="713232"/>
          </a:xfrm>
          <a:prstGeom prst="rect">
            <a:avLst/>
          </a:prstGeom>
          <a:noFill/>
        </p:spPr>
        <p:txBody>
          <a:bodyPr wrap="square" anchor="ctr">
            <a:spAutoFit/>
          </a:bodyPr>
          <a:lstStyle/>
          <a:p>
            <a:pPr algn="ctr">
              <a:spcAft>
                <a:spcPts val="400"/>
              </a:spcAft>
            </a:pPr>
            <a:r>
              <a:rPr sz="1500" b="1">
                <a:solidFill>
                  <a:srgbClr val="161B26"/>
                </a:solidFill>
                <a:latin typeface="Arial"/>
              </a:rPr>
              <a:t>Cite</a:t>
            </a:r>
          </a:p>
        </p:txBody>
      </p:sp>
      <p:sp>
        <p:nvSpPr>
          <p:cNvPr id="34" name="TextBox 33"/>
          <p:cNvSpPr txBox="1"/>
          <p:nvPr/>
        </p:nvSpPr>
        <p:spPr>
          <a:xfrm>
            <a:off x="9778592" y="3401568"/>
            <a:ext cx="1505102" cy="804672"/>
          </a:xfrm>
          <a:prstGeom prst="rect">
            <a:avLst/>
          </a:prstGeom>
          <a:noFill/>
        </p:spPr>
        <p:txBody>
          <a:bodyPr wrap="square" anchor="t">
            <a:spAutoFit/>
          </a:bodyPr>
          <a:lstStyle/>
          <a:p>
            <a:pPr algn="ctr">
              <a:spcAft>
                <a:spcPts val="400"/>
              </a:spcAft>
            </a:pPr>
            <a:r>
              <a:rPr sz="1100" b="0">
                <a:solidFill>
                  <a:srgbClr val="5B6372"/>
                </a:solidFill>
                <a:latin typeface="Arial"/>
              </a:rPr>
              <a:t>The answer names its source</a:t>
            </a:r>
          </a:p>
        </p:txBody>
      </p:sp>
      <p:sp>
        <p:nvSpPr>
          <p:cNvPr id="35" name="Rectangle 34"/>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F6FEB"/>
                </a:solidFill>
                <a:latin typeface="Arial"/>
              </a:rPr>
              <a:t>WHY IT MATTERS   </a:t>
            </a:r>
            <a:r>
              <a:rPr sz="1300" b="0">
                <a:solidFill>
                  <a:srgbClr val="161B26"/>
                </a:solidFill>
                <a:latin typeface="Arial"/>
              </a:rPr>
              <a:t>RAG replaces 'what the model remembers' with 'what the document says'.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191</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CHOOSING THE APPROACH</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Built-In Knowledge vs an External Vector Store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2764962" cy="548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28800"/>
            <a:ext cx="2490642" cy="548640"/>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3542202" y="1828800"/>
            <a:ext cx="3934755" cy="548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1930" y="1828800"/>
            <a:ext cx="3715299" cy="548640"/>
          </a:xfrm>
          <a:prstGeom prst="rect">
            <a:avLst/>
          </a:prstGeom>
          <a:noFill/>
        </p:spPr>
        <p:txBody>
          <a:bodyPr wrap="square" anchor="ctr">
            <a:spAutoFit/>
          </a:bodyPr>
          <a:lstStyle/>
          <a:p>
            <a:pPr algn="ctr">
              <a:spcAft>
                <a:spcPts val="400"/>
              </a:spcAft>
            </a:pPr>
            <a:r>
              <a:rPr sz="1300" b="1">
                <a:solidFill>
                  <a:srgbClr val="FFFFFF"/>
                </a:solidFill>
                <a:latin typeface="Arial"/>
              </a:rPr>
              <a:t>Built-in knowledge</a:t>
            </a:r>
          </a:p>
        </p:txBody>
      </p:sp>
      <p:sp>
        <p:nvSpPr>
          <p:cNvPr id="11" name="Rectangle 10"/>
          <p:cNvSpPr/>
          <p:nvPr/>
        </p:nvSpPr>
        <p:spPr>
          <a:xfrm>
            <a:off x="7476957" y="1828800"/>
            <a:ext cx="3934755" cy="548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6685" y="1828800"/>
            <a:ext cx="3715299" cy="548640"/>
          </a:xfrm>
          <a:prstGeom prst="rect">
            <a:avLst/>
          </a:prstGeom>
          <a:noFill/>
        </p:spPr>
        <p:txBody>
          <a:bodyPr wrap="square" anchor="ctr">
            <a:spAutoFit/>
          </a:bodyPr>
          <a:lstStyle/>
          <a:p>
            <a:pPr algn="ctr">
              <a:spcAft>
                <a:spcPts val="400"/>
              </a:spcAft>
            </a:pPr>
            <a:r>
              <a:rPr sz="1300" b="1">
                <a:solidFill>
                  <a:srgbClr val="FFFFFF"/>
                </a:solidFill>
                <a:latin typeface="Arial"/>
              </a:rPr>
              <a:t>External vector store</a:t>
            </a:r>
          </a:p>
        </p:txBody>
      </p:sp>
      <p:sp>
        <p:nvSpPr>
          <p:cNvPr id="13" name="Rectangle 12"/>
          <p:cNvSpPr/>
          <p:nvPr/>
        </p:nvSpPr>
        <p:spPr>
          <a:xfrm>
            <a:off x="777240" y="2377440"/>
            <a:ext cx="2764962"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377440"/>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Setup</a:t>
            </a:r>
          </a:p>
        </p:txBody>
      </p:sp>
      <p:sp>
        <p:nvSpPr>
          <p:cNvPr id="15" name="Rectangle 14"/>
          <p:cNvSpPr/>
          <p:nvPr/>
        </p:nvSpPr>
        <p:spPr>
          <a:xfrm>
            <a:off x="3542202" y="2377440"/>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1930" y="2377440"/>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Upload and go</a:t>
            </a:r>
          </a:p>
        </p:txBody>
      </p:sp>
      <p:sp>
        <p:nvSpPr>
          <p:cNvPr id="17" name="Rectangle 16"/>
          <p:cNvSpPr/>
          <p:nvPr/>
        </p:nvSpPr>
        <p:spPr>
          <a:xfrm>
            <a:off x="7476957" y="2377440"/>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6685" y="2377440"/>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Ingestion pipeline to build and run</a:t>
            </a:r>
          </a:p>
        </p:txBody>
      </p:sp>
      <p:sp>
        <p:nvSpPr>
          <p:cNvPr id="19" name="Rectangle 18"/>
          <p:cNvSpPr/>
          <p:nvPr/>
        </p:nvSpPr>
        <p:spPr>
          <a:xfrm>
            <a:off x="777240" y="2852928"/>
            <a:ext cx="2764962"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2852928"/>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Control</a:t>
            </a:r>
          </a:p>
        </p:txBody>
      </p:sp>
      <p:sp>
        <p:nvSpPr>
          <p:cNvPr id="21" name="Rectangle 20"/>
          <p:cNvSpPr/>
          <p:nvPr/>
        </p:nvSpPr>
        <p:spPr>
          <a:xfrm>
            <a:off x="3542202" y="2852928"/>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1930" y="2852928"/>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Platform decides chunking</a:t>
            </a:r>
          </a:p>
        </p:txBody>
      </p:sp>
      <p:sp>
        <p:nvSpPr>
          <p:cNvPr id="23" name="Rectangle 22"/>
          <p:cNvSpPr/>
          <p:nvPr/>
        </p:nvSpPr>
        <p:spPr>
          <a:xfrm>
            <a:off x="7476957" y="2852928"/>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86685" y="2852928"/>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You control chunking and top-k</a:t>
            </a:r>
          </a:p>
        </p:txBody>
      </p:sp>
      <p:sp>
        <p:nvSpPr>
          <p:cNvPr id="25" name="Rectangle 24"/>
          <p:cNvSpPr/>
          <p:nvPr/>
        </p:nvSpPr>
        <p:spPr>
          <a:xfrm>
            <a:off x="777240" y="3328416"/>
            <a:ext cx="2764962"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3328416"/>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Scale</a:t>
            </a:r>
          </a:p>
        </p:txBody>
      </p:sp>
      <p:sp>
        <p:nvSpPr>
          <p:cNvPr id="27" name="Rectangle 26"/>
          <p:cNvSpPr/>
          <p:nvPr/>
        </p:nvSpPr>
        <p:spPr>
          <a:xfrm>
            <a:off x="3542202" y="3328416"/>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1930" y="3328416"/>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Good for a document set</a:t>
            </a:r>
          </a:p>
        </p:txBody>
      </p:sp>
      <p:sp>
        <p:nvSpPr>
          <p:cNvPr id="29" name="Rectangle 28"/>
          <p:cNvSpPr/>
          <p:nvPr/>
        </p:nvSpPr>
        <p:spPr>
          <a:xfrm>
            <a:off x="7476957" y="3328416"/>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86685" y="3328416"/>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Better for large or changing corpora</a:t>
            </a:r>
          </a:p>
        </p:txBody>
      </p:sp>
      <p:sp>
        <p:nvSpPr>
          <p:cNvPr id="31" name="Rectangle 30"/>
          <p:cNvSpPr/>
          <p:nvPr/>
        </p:nvSpPr>
        <p:spPr>
          <a:xfrm>
            <a:off x="777240" y="3803904"/>
            <a:ext cx="2764962"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3803904"/>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Use when</a:t>
            </a:r>
          </a:p>
        </p:txBody>
      </p:sp>
      <p:sp>
        <p:nvSpPr>
          <p:cNvPr id="33" name="Rectangle 32"/>
          <p:cNvSpPr/>
          <p:nvPr/>
        </p:nvSpPr>
        <p:spPr>
          <a:xfrm>
            <a:off x="3542202" y="3803904"/>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51930" y="3803904"/>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The source is stable and modest</a:t>
            </a:r>
          </a:p>
        </p:txBody>
      </p:sp>
      <p:sp>
        <p:nvSpPr>
          <p:cNvPr id="35" name="Rectangle 34"/>
          <p:cNvSpPr/>
          <p:nvPr/>
        </p:nvSpPr>
        <p:spPr>
          <a:xfrm>
            <a:off x="7476957" y="3803904"/>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586685" y="3803904"/>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You need control or scale</a:t>
            </a:r>
          </a:p>
        </p:txBody>
      </p:sp>
      <p:sp>
        <p:nvSpPr>
          <p:cNvPr id="37" name="TextBox 36"/>
          <p:cNvSpPr txBox="1"/>
          <p:nvPr/>
        </p:nvSpPr>
        <p:spPr>
          <a:xfrm>
            <a:off x="777240" y="4507992"/>
            <a:ext cx="10634472" cy="457200"/>
          </a:xfrm>
          <a:prstGeom prst="rect">
            <a:avLst/>
          </a:prstGeom>
          <a:noFill/>
        </p:spPr>
        <p:txBody>
          <a:bodyPr wrap="square" anchor="t">
            <a:spAutoFit/>
          </a:bodyPr>
          <a:lstStyle/>
          <a:p>
            <a:pPr algn="l">
              <a:spcAft>
                <a:spcPts val="400"/>
              </a:spcAft>
            </a:pPr>
            <a:r>
              <a:rPr sz="1100" b="1">
                <a:solidFill>
                  <a:srgbClr val="1F6FEB"/>
                </a:solidFill>
                <a:latin typeface="Arial"/>
              </a:rPr>
              <a:t>RULE   </a:t>
            </a:r>
            <a:r>
              <a:rPr sz="1300" b="0">
                <a:solidFill>
                  <a:srgbClr val="161B26"/>
                </a:solidFill>
                <a:latin typeface="Arial"/>
              </a:rPr>
              <a:t>Start with built-in knowledge. Move to a vector store when you can name the reason.</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192</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TEST THAT MATTERS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Probing for Invention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Ask about something absent</a:t>
            </a:r>
          </a:p>
          <a:p>
            <a:pPr algn="l">
              <a:spcAft>
                <a:spcPts val="300"/>
              </a:spcAft>
            </a:pPr>
            <a:r>
              <a:rPr sz="1200" b="0">
                <a:solidFill>
                  <a:srgbClr val="5B6372"/>
                </a:solidFill>
                <a:latin typeface="Arial"/>
              </a:rPr>
              <a:t>A course, a price or a policy that does not exist.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Ask for a number never stated</a:t>
            </a:r>
          </a:p>
          <a:p>
            <a:pPr algn="l">
              <a:spcAft>
                <a:spcPts val="300"/>
              </a:spcAft>
            </a:pPr>
            <a:r>
              <a:rPr sz="1200" b="0">
                <a:solidFill>
                  <a:srgbClr val="5B6372"/>
                </a:solidFill>
                <a:latin typeface="Arial"/>
              </a:rPr>
              <a:t>A price the documents never give.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Ask a leading question</a:t>
            </a:r>
          </a:p>
          <a:p>
            <a:pPr algn="l">
              <a:spcAft>
                <a:spcPts val="300"/>
              </a:spcAft>
            </a:pPr>
            <a:r>
              <a:rPr sz="1200" b="0">
                <a:solidFill>
                  <a:srgbClr val="5B6372"/>
                </a:solidFill>
                <a:latin typeface="Arial"/>
              </a:rPr>
              <a:t>One that presumes a false fact.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The only pass is a refusal</a:t>
            </a:r>
          </a:p>
          <a:p>
            <a:pPr algn="l">
              <a:spcAft>
                <a:spcPts val="300"/>
              </a:spcAft>
            </a:pPr>
            <a:r>
              <a:rPr sz="1200" b="0">
                <a:solidFill>
                  <a:srgbClr val="5B6372"/>
                </a:solidFill>
                <a:latin typeface="Arial"/>
              </a:rPr>
              <a:t>A plausible answer here is a failure.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193</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DECISION RULE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Where Does the Boundary of Agency Sit?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331720"/>
            <a:ext cx="3017520" cy="210312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788920"/>
            <a:ext cx="2468880" cy="1188720"/>
          </a:xfrm>
          <a:prstGeom prst="rect">
            <a:avLst/>
          </a:prstGeom>
          <a:noFill/>
        </p:spPr>
        <p:txBody>
          <a:bodyPr wrap="square" anchor="ctr">
            <a:spAutoFit/>
          </a:bodyPr>
          <a:lstStyle/>
          <a:p>
            <a:pPr algn="ctr">
              <a:spcAft>
                <a:spcPts val="400"/>
              </a:spcAft>
            </a:pPr>
            <a:r>
              <a:rPr sz="1300" b="1">
                <a:solidFill>
                  <a:srgbClr val="FFFFFF"/>
                </a:solidFill>
                <a:latin typeface="Arial"/>
              </a:rPr>
              <a:t>Can this action be undone easily and cheaply?</a:t>
            </a:r>
          </a:p>
        </p:txBody>
      </p:sp>
      <p:sp>
        <p:nvSpPr>
          <p:cNvPr id="9" name="Rectangle 8"/>
          <p:cNvSpPr/>
          <p:nvPr/>
        </p:nvSpPr>
        <p:spPr>
          <a:xfrm>
            <a:off x="3931920" y="2761488"/>
            <a:ext cx="32004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reeform 9"/>
          <p:cNvSpPr/>
          <p:nvPr/>
        </p:nvSpPr>
        <p:spPr>
          <a:xfrm>
            <a:off x="4251960" y="2732227"/>
            <a:ext cx="182880" cy="113385"/>
          </a:xfrm>
          <a:custGeom>
            <a:avLst/>
            <a:gdLst/>
            <a:ahLst/>
            <a:cxnLst/>
            <a:rect l="l" t="t" r="r" b="b"/>
            <a:pathLst>
              <a:path w="182880" h="113385">
                <a:moveTo>
                  <a:pt x="0" y="0"/>
                </a:moveTo>
                <a:lnTo>
                  <a:pt x="182880" y="56693"/>
                </a:lnTo>
                <a:lnTo>
                  <a:pt x="0" y="113385"/>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0" y="1965960"/>
            <a:ext cx="6858000" cy="1920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965960"/>
            <a:ext cx="91440" cy="19202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28032" y="2112264"/>
            <a:ext cx="6400800" cy="365760"/>
          </a:xfrm>
          <a:prstGeom prst="rect">
            <a:avLst/>
          </a:prstGeom>
          <a:noFill/>
        </p:spPr>
        <p:txBody>
          <a:bodyPr wrap="square" anchor="t">
            <a:spAutoFit/>
          </a:bodyPr>
          <a:lstStyle/>
          <a:p>
            <a:pPr algn="l">
              <a:spcAft>
                <a:spcPts val="400"/>
              </a:spcAft>
            </a:pPr>
            <a:r>
              <a:rPr sz="1300" b="1">
                <a:solidFill>
                  <a:srgbClr val="10B981"/>
                </a:solidFill>
                <a:latin typeface="Arial"/>
              </a:rPr>
              <a:t>YES</a:t>
            </a:r>
          </a:p>
        </p:txBody>
      </p:sp>
      <p:sp>
        <p:nvSpPr>
          <p:cNvPr id="14" name="TextBox 13"/>
          <p:cNvSpPr txBox="1"/>
          <p:nvPr/>
        </p:nvSpPr>
        <p:spPr>
          <a:xfrm>
            <a:off x="4828032" y="2514600"/>
            <a:ext cx="6400800" cy="1280160"/>
          </a:xfrm>
          <a:prstGeom prst="rect">
            <a:avLst/>
          </a:prstGeom>
          <a:noFill/>
        </p:spPr>
        <p:txBody>
          <a:bodyPr wrap="square">
            <a:spAutoFit/>
          </a:bodyPr>
          <a:lstStyle/>
          <a:p>
            <a:pPr>
              <a:spcAft>
                <a:spcPts val="600"/>
              </a:spcAft>
            </a:pPr>
            <a:r>
              <a:rPr sz="1300">
                <a:solidFill>
                  <a:srgbClr val="161B26"/>
                </a:solidFill>
                <a:latin typeface="Arial"/>
              </a:rPr>
              <a:t>•  The agent may act, with an audit row</a:t>
            </a:r>
          </a:p>
          <a:p>
            <a:pPr>
              <a:spcAft>
                <a:spcPts val="600"/>
              </a:spcAft>
            </a:pPr>
            <a:r>
              <a:rPr sz="1300">
                <a:solidFill>
                  <a:srgbClr val="161B26"/>
                </a:solidFill>
                <a:latin typeface="Arial"/>
              </a:rPr>
              <a:t>•  Review the audit log regularly</a:t>
            </a:r>
          </a:p>
        </p:txBody>
      </p:sp>
      <p:sp>
        <p:nvSpPr>
          <p:cNvPr id="15" name="Rectangle 14"/>
          <p:cNvSpPr/>
          <p:nvPr/>
        </p:nvSpPr>
        <p:spPr>
          <a:xfrm>
            <a:off x="3931920" y="5001768"/>
            <a:ext cx="32004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reeform 15"/>
          <p:cNvSpPr/>
          <p:nvPr/>
        </p:nvSpPr>
        <p:spPr>
          <a:xfrm>
            <a:off x="4251960" y="4972507"/>
            <a:ext cx="182880" cy="113385"/>
          </a:xfrm>
          <a:custGeom>
            <a:avLst/>
            <a:gdLst/>
            <a:ahLst/>
            <a:cxnLst/>
            <a:rect l="l" t="t" r="r" b="b"/>
            <a:pathLst>
              <a:path w="182880" h="113385">
                <a:moveTo>
                  <a:pt x="0" y="0"/>
                </a:moveTo>
                <a:lnTo>
                  <a:pt x="182880" y="56693"/>
                </a:lnTo>
                <a:lnTo>
                  <a:pt x="0" y="113385"/>
                </a:lnTo>
                <a:close/>
              </a:path>
            </a:pathLst>
          </a:cu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0" y="4206240"/>
            <a:ext cx="6858000" cy="1920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0" y="4206240"/>
            <a:ext cx="91440" cy="19202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28032" y="4352544"/>
            <a:ext cx="6400800" cy="365760"/>
          </a:xfrm>
          <a:prstGeom prst="rect">
            <a:avLst/>
          </a:prstGeom>
          <a:noFill/>
        </p:spPr>
        <p:txBody>
          <a:bodyPr wrap="square" anchor="t">
            <a:spAutoFit/>
          </a:bodyPr>
          <a:lstStyle/>
          <a:p>
            <a:pPr algn="l">
              <a:spcAft>
                <a:spcPts val="400"/>
              </a:spcAft>
            </a:pPr>
            <a:r>
              <a:rPr sz="1300" b="1">
                <a:solidFill>
                  <a:srgbClr val="F59E0B"/>
                </a:solidFill>
                <a:latin typeface="Arial"/>
              </a:rPr>
              <a:t>NO</a:t>
            </a:r>
          </a:p>
        </p:txBody>
      </p:sp>
      <p:sp>
        <p:nvSpPr>
          <p:cNvPr id="20" name="TextBox 19"/>
          <p:cNvSpPr txBox="1"/>
          <p:nvPr/>
        </p:nvSpPr>
        <p:spPr>
          <a:xfrm>
            <a:off x="4828032" y="4754880"/>
            <a:ext cx="6400800" cy="1280160"/>
          </a:xfrm>
          <a:prstGeom prst="rect">
            <a:avLst/>
          </a:prstGeom>
          <a:noFill/>
        </p:spPr>
        <p:txBody>
          <a:bodyPr wrap="square">
            <a:spAutoFit/>
          </a:bodyPr>
          <a:lstStyle/>
          <a:p>
            <a:pPr>
              <a:spcAft>
                <a:spcPts val="600"/>
              </a:spcAft>
            </a:pPr>
            <a:r>
              <a:rPr sz="1300">
                <a:solidFill>
                  <a:srgbClr val="161B26"/>
                </a:solidFill>
                <a:latin typeface="Arial"/>
              </a:rPr>
              <a:t>•  Require a named person to approve first</a:t>
            </a:r>
          </a:p>
          <a:p>
            <a:pPr>
              <a:spcAft>
                <a:spcPts val="600"/>
              </a:spcAft>
            </a:pPr>
            <a:r>
              <a:rPr sz="1300">
                <a:solidFill>
                  <a:srgbClr val="161B26"/>
                </a:solidFill>
                <a:latin typeface="Arial"/>
              </a:rPr>
              <a:t>•  The gate must be one the agent cannot bypass</a:t>
            </a:r>
          </a:p>
        </p:txBody>
      </p:sp>
      <p:sp>
        <p:nvSpPr>
          <p:cNvPr id="21" name="TextBox 20"/>
          <p:cNvSpPr txBox="1"/>
          <p:nvPr/>
        </p:nvSpPr>
        <p:spPr>
          <a:xfrm>
            <a:off x="777240" y="5989320"/>
            <a:ext cx="10607040" cy="457200"/>
          </a:xfrm>
          <a:prstGeom prst="rect">
            <a:avLst/>
          </a:prstGeom>
          <a:noFill/>
        </p:spPr>
        <p:txBody>
          <a:bodyPr wrap="square" anchor="t">
            <a:spAutoFit/>
          </a:bodyPr>
          <a:lstStyle/>
          <a:p>
            <a:pPr algn="l">
              <a:spcAft>
                <a:spcPts val="400"/>
              </a:spcAft>
            </a:pPr>
            <a:r>
              <a:rPr sz="1100" b="1">
                <a:solidFill>
                  <a:srgbClr val="7C3AED"/>
                </a:solidFill>
                <a:latin typeface="Arial"/>
              </a:rPr>
              <a:t>RULE   </a:t>
            </a:r>
            <a:r>
              <a:rPr sz="1300" b="0">
                <a:solidFill>
                  <a:srgbClr val="161B26"/>
                </a:solidFill>
                <a:latin typeface="Arial"/>
              </a:rPr>
              <a:t>Rank by consequence, not by how impressive the automation looks.</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194</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CONTROL IN PRACTICE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Human Review Gate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2670048"/>
            <a:ext cx="1505102" cy="713232"/>
          </a:xfrm>
          <a:prstGeom prst="rect">
            <a:avLst/>
          </a:prstGeom>
          <a:noFill/>
        </p:spPr>
        <p:txBody>
          <a:bodyPr wrap="square" anchor="ctr">
            <a:spAutoFit/>
          </a:bodyPr>
          <a:lstStyle/>
          <a:p>
            <a:pPr algn="ctr">
              <a:spcAft>
                <a:spcPts val="400"/>
              </a:spcAft>
            </a:pPr>
            <a:r>
              <a:rPr sz="1500" b="1">
                <a:solidFill>
                  <a:srgbClr val="161B26"/>
                </a:solidFill>
                <a:latin typeface="Arial"/>
              </a:rPr>
              <a:t>Agent proposes</a:t>
            </a:r>
          </a:p>
        </p:txBody>
      </p:sp>
      <p:sp>
        <p:nvSpPr>
          <p:cNvPr id="10" name="TextBox 9"/>
          <p:cNvSpPr txBox="1"/>
          <p:nvPr/>
        </p:nvSpPr>
        <p:spPr>
          <a:xfrm>
            <a:off x="905256" y="3401568"/>
            <a:ext cx="1505102" cy="804672"/>
          </a:xfrm>
          <a:prstGeom prst="rect">
            <a:avLst/>
          </a:prstGeom>
          <a:noFill/>
        </p:spPr>
        <p:txBody>
          <a:bodyPr wrap="square" anchor="t">
            <a:spAutoFit/>
          </a:bodyPr>
          <a:lstStyle/>
          <a:p>
            <a:pPr algn="ctr">
              <a:spcAft>
                <a:spcPts val="400"/>
              </a:spcAft>
            </a:pPr>
            <a:r>
              <a:rPr sz="1100" b="0">
                <a:solidFill>
                  <a:srgbClr val="5B6372"/>
                </a:solidFill>
                <a:latin typeface="Arial"/>
              </a:rPr>
              <a:t>With its reasoning and recommendation</a:t>
            </a:r>
          </a:p>
        </p:txBody>
      </p:sp>
      <p:sp>
        <p:nvSpPr>
          <p:cNvPr id="11" name="Rectangle 10"/>
          <p:cNvSpPr/>
          <p:nvPr/>
        </p:nvSpPr>
        <p:spPr>
          <a:xfrm>
            <a:off x="2620670"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2737714"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995574"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95574"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23590" y="2670048"/>
            <a:ext cx="1505102" cy="713232"/>
          </a:xfrm>
          <a:prstGeom prst="rect">
            <a:avLst/>
          </a:prstGeom>
          <a:noFill/>
        </p:spPr>
        <p:txBody>
          <a:bodyPr wrap="square" anchor="ctr">
            <a:spAutoFit/>
          </a:bodyPr>
          <a:lstStyle/>
          <a:p>
            <a:pPr algn="ctr">
              <a:spcAft>
                <a:spcPts val="400"/>
              </a:spcAft>
            </a:pPr>
            <a:r>
              <a:rPr sz="1500" b="1">
                <a:solidFill>
                  <a:srgbClr val="161B26"/>
                </a:solidFill>
                <a:latin typeface="Arial"/>
              </a:rPr>
              <a:t>Approval raised</a:t>
            </a:r>
          </a:p>
        </p:txBody>
      </p:sp>
      <p:sp>
        <p:nvSpPr>
          <p:cNvPr id="16" name="TextBox 15"/>
          <p:cNvSpPr txBox="1"/>
          <p:nvPr/>
        </p:nvSpPr>
        <p:spPr>
          <a:xfrm>
            <a:off x="3123590" y="3401568"/>
            <a:ext cx="1505102" cy="804672"/>
          </a:xfrm>
          <a:prstGeom prst="rect">
            <a:avLst/>
          </a:prstGeom>
          <a:noFill/>
        </p:spPr>
        <p:txBody>
          <a:bodyPr wrap="square" anchor="t">
            <a:spAutoFit/>
          </a:bodyPr>
          <a:lstStyle/>
          <a:p>
            <a:pPr algn="ctr">
              <a:spcAft>
                <a:spcPts val="400"/>
              </a:spcAft>
            </a:pPr>
            <a:r>
              <a:rPr sz="1100" b="0">
                <a:solidFill>
                  <a:srgbClr val="5B6372"/>
                </a:solidFill>
                <a:latin typeface="Arial"/>
              </a:rPr>
              <a:t>To a named person in Teams</a:t>
            </a:r>
          </a:p>
        </p:txBody>
      </p:sp>
      <p:sp>
        <p:nvSpPr>
          <p:cNvPr id="17" name="Rectangle 16"/>
          <p:cNvSpPr/>
          <p:nvPr/>
        </p:nvSpPr>
        <p:spPr>
          <a:xfrm>
            <a:off x="4839004"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4956048"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213908"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213908"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41924" y="2670048"/>
            <a:ext cx="1505102" cy="713232"/>
          </a:xfrm>
          <a:prstGeom prst="rect">
            <a:avLst/>
          </a:prstGeom>
          <a:noFill/>
        </p:spPr>
        <p:txBody>
          <a:bodyPr wrap="square" anchor="ctr">
            <a:spAutoFit/>
          </a:bodyPr>
          <a:lstStyle/>
          <a:p>
            <a:pPr algn="ctr">
              <a:spcAft>
                <a:spcPts val="400"/>
              </a:spcAft>
            </a:pPr>
            <a:r>
              <a:rPr sz="1500" b="1">
                <a:solidFill>
                  <a:srgbClr val="161B26"/>
                </a:solidFill>
                <a:latin typeface="Arial"/>
              </a:rPr>
              <a:t>Person decides</a:t>
            </a:r>
          </a:p>
        </p:txBody>
      </p:sp>
      <p:sp>
        <p:nvSpPr>
          <p:cNvPr id="22" name="TextBox 21"/>
          <p:cNvSpPr txBox="1"/>
          <p:nvPr/>
        </p:nvSpPr>
        <p:spPr>
          <a:xfrm>
            <a:off x="5341924" y="3401568"/>
            <a:ext cx="1505102" cy="804672"/>
          </a:xfrm>
          <a:prstGeom prst="rect">
            <a:avLst/>
          </a:prstGeom>
          <a:noFill/>
        </p:spPr>
        <p:txBody>
          <a:bodyPr wrap="square" anchor="t">
            <a:spAutoFit/>
          </a:bodyPr>
          <a:lstStyle/>
          <a:p>
            <a:pPr algn="ctr">
              <a:spcAft>
                <a:spcPts val="400"/>
              </a:spcAft>
            </a:pPr>
            <a:r>
              <a:rPr sz="1100" b="0">
                <a:solidFill>
                  <a:srgbClr val="5B6372"/>
                </a:solidFill>
                <a:latin typeface="Arial"/>
              </a:rPr>
              <a:t>Approve or reject, on the record</a:t>
            </a:r>
          </a:p>
        </p:txBody>
      </p:sp>
      <p:sp>
        <p:nvSpPr>
          <p:cNvPr id="23" name="Rectangle 22"/>
          <p:cNvSpPr/>
          <p:nvPr/>
        </p:nvSpPr>
        <p:spPr>
          <a:xfrm>
            <a:off x="7057338"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7174382"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432242"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32242"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60258" y="2670048"/>
            <a:ext cx="1505102" cy="713232"/>
          </a:xfrm>
          <a:prstGeom prst="rect">
            <a:avLst/>
          </a:prstGeom>
          <a:noFill/>
        </p:spPr>
        <p:txBody>
          <a:bodyPr wrap="square" anchor="ctr">
            <a:spAutoFit/>
          </a:bodyPr>
          <a:lstStyle/>
          <a:p>
            <a:pPr algn="ctr">
              <a:spcAft>
                <a:spcPts val="400"/>
              </a:spcAft>
            </a:pPr>
            <a:r>
              <a:rPr sz="1500" b="1">
                <a:solidFill>
                  <a:srgbClr val="161B26"/>
                </a:solidFill>
                <a:latin typeface="Arial"/>
              </a:rPr>
              <a:t>Action or stop</a:t>
            </a:r>
          </a:p>
        </p:txBody>
      </p:sp>
      <p:sp>
        <p:nvSpPr>
          <p:cNvPr id="28" name="TextBox 27"/>
          <p:cNvSpPr txBox="1"/>
          <p:nvPr/>
        </p:nvSpPr>
        <p:spPr>
          <a:xfrm>
            <a:off x="7560258" y="3401568"/>
            <a:ext cx="1505102" cy="804672"/>
          </a:xfrm>
          <a:prstGeom prst="rect">
            <a:avLst/>
          </a:prstGeom>
          <a:noFill/>
        </p:spPr>
        <p:txBody>
          <a:bodyPr wrap="square" anchor="t">
            <a:spAutoFit/>
          </a:bodyPr>
          <a:lstStyle/>
          <a:p>
            <a:pPr algn="ctr">
              <a:spcAft>
                <a:spcPts val="400"/>
              </a:spcAft>
            </a:pPr>
            <a:r>
              <a:rPr sz="1100" b="0">
                <a:solidFill>
                  <a:srgbClr val="5B6372"/>
                </a:solidFill>
                <a:latin typeface="Arial"/>
              </a:rPr>
              <a:t>Only then does anything take effect</a:t>
            </a:r>
          </a:p>
        </p:txBody>
      </p:sp>
      <p:sp>
        <p:nvSpPr>
          <p:cNvPr id="29" name="Rectangle 28"/>
          <p:cNvSpPr/>
          <p:nvPr/>
        </p:nvSpPr>
        <p:spPr>
          <a:xfrm>
            <a:off x="9275672"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Freeform 29"/>
          <p:cNvSpPr/>
          <p:nvPr/>
        </p:nvSpPr>
        <p:spPr>
          <a:xfrm>
            <a:off x="9392716"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650576"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650576"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778592" y="2670048"/>
            <a:ext cx="1505102" cy="713232"/>
          </a:xfrm>
          <a:prstGeom prst="rect">
            <a:avLst/>
          </a:prstGeom>
          <a:noFill/>
        </p:spPr>
        <p:txBody>
          <a:bodyPr wrap="square" anchor="ctr">
            <a:spAutoFit/>
          </a:bodyPr>
          <a:lstStyle/>
          <a:p>
            <a:pPr algn="ctr">
              <a:spcAft>
                <a:spcPts val="400"/>
              </a:spcAft>
            </a:pPr>
            <a:r>
              <a:rPr sz="1500" b="1">
                <a:solidFill>
                  <a:srgbClr val="161B26"/>
                </a:solidFill>
                <a:latin typeface="Arial"/>
              </a:rPr>
              <a:t>Audit row written</a:t>
            </a:r>
          </a:p>
        </p:txBody>
      </p:sp>
      <p:sp>
        <p:nvSpPr>
          <p:cNvPr id="34" name="TextBox 33"/>
          <p:cNvSpPr txBox="1"/>
          <p:nvPr/>
        </p:nvSpPr>
        <p:spPr>
          <a:xfrm>
            <a:off x="9778592" y="3401568"/>
            <a:ext cx="1505102" cy="804672"/>
          </a:xfrm>
          <a:prstGeom prst="rect">
            <a:avLst/>
          </a:prstGeom>
          <a:noFill/>
        </p:spPr>
        <p:txBody>
          <a:bodyPr wrap="square" anchor="t">
            <a:spAutoFit/>
          </a:bodyPr>
          <a:lstStyle/>
          <a:p>
            <a:pPr algn="ctr">
              <a:spcAft>
                <a:spcPts val="400"/>
              </a:spcAft>
            </a:pPr>
            <a:r>
              <a:rPr sz="1100" b="0">
                <a:solidFill>
                  <a:srgbClr val="5B6372"/>
                </a:solidFill>
                <a:latin typeface="Arial"/>
              </a:rPr>
              <a:t>Whatever the outcome</a:t>
            </a:r>
          </a:p>
        </p:txBody>
      </p:sp>
      <p:sp>
        <p:nvSpPr>
          <p:cNvPr id="35" name="Rectangle 34"/>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F6FEB"/>
                </a:solidFill>
                <a:latin typeface="Arial"/>
              </a:rPr>
              <a:t>WHY IT MATTERS   </a:t>
            </a:r>
            <a:r>
              <a:rPr sz="1300" b="0">
                <a:solidFill>
                  <a:srgbClr val="161B26"/>
                </a:solidFill>
                <a:latin typeface="Arial"/>
              </a:rPr>
              <a:t>Write the audit row regardless of the decision, or your record depends on the answer.</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195</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AUDITABILITY</a:t>
            </a:r>
          </a:p>
        </p:txBody>
      </p:sp>
      <p:sp>
        <p:nvSpPr>
          <p:cNvPr id="5" name="TextBox 4"/>
          <p:cNvSpPr txBox="1"/>
          <p:nvPr/>
        </p:nvSpPr>
        <p:spPr>
          <a:xfrm>
            <a:off x="1005840" y="2560320"/>
            <a:ext cx="10332720" cy="2011680"/>
          </a:xfrm>
          <a:prstGeom prst="rect">
            <a:avLst/>
          </a:prstGeom>
          <a:noFill/>
        </p:spPr>
        <p:txBody>
          <a:bodyPr wrap="square" anchor="t">
            <a:spAutoFit/>
          </a:bodyPr>
          <a:lstStyle/>
          <a:p>
            <a:pPr algn="l">
              <a:spcAft>
                <a:spcPts val="400"/>
              </a:spcAft>
            </a:pPr>
            <a:r>
              <a:rPr sz="3600" b="1">
                <a:solidFill>
                  <a:srgbClr val="161B26"/>
                </a:solidFill>
                <a:latin typeface="Arial"/>
              </a:rPr>
              <a:t>Log every request, approved or rejected.</a:t>
            </a:r>
          </a:p>
        </p:txBody>
      </p:sp>
      <p:sp>
        <p:nvSpPr>
          <p:cNvPr id="6" name="TextBox 5"/>
          <p:cNvSpPr txBox="1"/>
          <p:nvPr/>
        </p:nvSpPr>
        <p:spPr>
          <a:xfrm>
            <a:off x="1024128" y="4572000"/>
            <a:ext cx="10058400" cy="1097280"/>
          </a:xfrm>
          <a:prstGeom prst="rect">
            <a:avLst/>
          </a:prstGeom>
          <a:noFill/>
        </p:spPr>
        <p:txBody>
          <a:bodyPr wrap="square" anchor="t">
            <a:spAutoFit/>
          </a:bodyPr>
          <a:lstStyle/>
          <a:p>
            <a:pPr algn="l">
              <a:spcAft>
                <a:spcPts val="400"/>
              </a:spcAft>
            </a:pPr>
            <a:r>
              <a:rPr sz="1900" b="0">
                <a:solidFill>
                  <a:srgbClr val="5B6372"/>
                </a:solidFill>
                <a:latin typeface="Arial"/>
              </a:rPr>
              <a:t>A record that only exists when things go well is not a record.</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196</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THREE CAUSES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Diagnosing a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Data</a:t>
            </a:r>
          </a:p>
          <a:p>
            <a:pPr algn="l">
              <a:spcAft>
                <a:spcPts val="300"/>
              </a:spcAft>
            </a:pPr>
            <a:r>
              <a:rPr sz="1200" b="0">
                <a:solidFill>
                  <a:srgbClr val="5B6372"/>
                </a:solidFill>
                <a:latin typeface="Arial"/>
              </a:rPr>
              <a:t>The wrong value arrived, or none did. Check the step inputs.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Permission</a:t>
            </a:r>
          </a:p>
          <a:p>
            <a:pPr algn="l">
              <a:spcAft>
                <a:spcPts val="300"/>
              </a:spcAft>
            </a:pPr>
            <a:r>
              <a:rPr sz="1200" b="0">
                <a:solidFill>
                  <a:srgbClr val="5B6372"/>
                </a:solidFill>
                <a:latin typeface="Arial"/>
              </a:rPr>
              <a:t>A connection is broken or access was revoked.</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Configuration</a:t>
            </a:r>
          </a:p>
          <a:p>
            <a:pPr algn="l">
              <a:spcAft>
                <a:spcPts val="300"/>
              </a:spcAft>
            </a:pPr>
            <a:r>
              <a:rPr sz="1200" b="0">
                <a:solidFill>
                  <a:srgbClr val="5B6372"/>
                </a:solidFill>
                <a:latin typeface="Arial"/>
              </a:rPr>
              <a:t>A field is empty, mis-mapped or typed instead of inserted.</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Classify before you fix</a:t>
            </a:r>
          </a:p>
          <a:p>
            <a:pPr algn="l">
              <a:spcAft>
                <a:spcPts val="300"/>
              </a:spcAft>
            </a:pPr>
            <a:r>
              <a:rPr sz="1200" b="0">
                <a:solidFill>
                  <a:srgbClr val="5B6372"/>
                </a:solidFill>
                <a:latin typeface="Arial"/>
              </a:rPr>
              <a:t>Naming the cause is what stops it recurring.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197</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NATIVE CHART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Where Automation Time Is Recovered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828800"/>
          <a:ext cx="7498079" cy="4114800"/>
        </p:xfrm>
        <a:graphic>
          <a:graphicData uri="http://schemas.openxmlformats.org/drawingml/2006/chart">
            <c:chart xmlns:c="http://schemas.openxmlformats.org/drawingml/2006/chart" r:id="rId2"/>
          </a:graphicData>
        </a:graphic>
      </p:graphicFrame>
      <p:sp>
        <p:nvSpPr>
          <p:cNvPr id="8" name="Rectangle 7"/>
          <p:cNvSpPr/>
          <p:nvPr/>
        </p:nvSpPr>
        <p:spPr>
          <a:xfrm>
            <a:off x="8503920" y="1828800"/>
            <a:ext cx="2926080" cy="4114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503920" y="1828800"/>
            <a:ext cx="2926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0" y="2103120"/>
            <a:ext cx="2377440" cy="365760"/>
          </a:xfrm>
          <a:prstGeom prst="rect">
            <a:avLst/>
          </a:prstGeom>
          <a:noFill/>
        </p:spPr>
        <p:txBody>
          <a:bodyPr wrap="square" anchor="t">
            <a:spAutoFit/>
          </a:bodyPr>
          <a:lstStyle/>
          <a:p>
            <a:pPr algn="l">
              <a:spcAft>
                <a:spcPts val="400"/>
              </a:spcAft>
            </a:pPr>
            <a:r>
              <a:rPr sz="1200" b="1">
                <a:solidFill>
                  <a:srgbClr val="1F6FEB"/>
                </a:solidFill>
                <a:latin typeface="Arial"/>
              </a:rPr>
              <a:t>DECISION LENS</a:t>
            </a:r>
          </a:p>
        </p:txBody>
      </p:sp>
      <p:sp>
        <p:nvSpPr>
          <p:cNvPr id="11" name="TextBox 10"/>
          <p:cNvSpPr txBox="1"/>
          <p:nvPr/>
        </p:nvSpPr>
        <p:spPr>
          <a:xfrm>
            <a:off x="8778240" y="2560320"/>
            <a:ext cx="2377440" cy="1737360"/>
          </a:xfrm>
          <a:prstGeom prst="rect">
            <a:avLst/>
          </a:prstGeom>
          <a:noFill/>
        </p:spPr>
        <p:txBody>
          <a:bodyPr wrap="square" anchor="t">
            <a:spAutoFit/>
          </a:bodyPr>
          <a:lstStyle/>
          <a:p>
            <a:pPr algn="l">
              <a:spcAft>
                <a:spcPts val="400"/>
              </a:spcAft>
            </a:pPr>
            <a:r>
              <a:rPr sz="1300" b="0">
                <a:solidFill>
                  <a:srgbClr val="161B26"/>
                </a:solidFill>
                <a:latin typeface="Arial"/>
              </a:rPr>
              <a:t>Data entry and enquiry handling dominate — which is where the hand-offs were.</a:t>
            </a:r>
          </a:p>
        </p:txBody>
      </p:sp>
      <p:sp>
        <p:nvSpPr>
          <p:cNvPr id="12" name="Rectangle 11"/>
          <p:cNvSpPr/>
          <p:nvPr/>
        </p:nvSpPr>
        <p:spPr>
          <a:xfrm>
            <a:off x="8732520" y="4343400"/>
            <a:ext cx="24688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778240" y="4526280"/>
            <a:ext cx="310896" cy="31089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0" y="4526280"/>
            <a:ext cx="310896" cy="310896"/>
          </a:xfrm>
          <a:prstGeom prst="rect">
            <a:avLst/>
          </a:prstGeom>
          <a:noFill/>
        </p:spPr>
        <p:txBody>
          <a:bodyPr wrap="square" anchor="ctr">
            <a:spAutoFit/>
          </a:bodyPr>
          <a:lstStyle/>
          <a:p>
            <a:pPr algn="ctr">
              <a:spcAft>
                <a:spcPts val="400"/>
              </a:spcAft>
            </a:pPr>
            <a:r>
              <a:rPr sz="1300" b="1">
                <a:solidFill>
                  <a:srgbClr val="FFFFFF"/>
                </a:solidFill>
                <a:latin typeface="Arial"/>
              </a:rPr>
              <a:t>?</a:t>
            </a:r>
          </a:p>
        </p:txBody>
      </p:sp>
      <p:sp>
        <p:nvSpPr>
          <p:cNvPr id="15" name="TextBox 14"/>
          <p:cNvSpPr txBox="1"/>
          <p:nvPr/>
        </p:nvSpPr>
        <p:spPr>
          <a:xfrm>
            <a:off x="9189720" y="4507992"/>
            <a:ext cx="2011680" cy="777240"/>
          </a:xfrm>
          <a:prstGeom prst="rect">
            <a:avLst/>
          </a:prstGeom>
          <a:noFill/>
        </p:spPr>
        <p:txBody>
          <a:bodyPr wrap="square" anchor="t">
            <a:spAutoFit/>
          </a:bodyPr>
          <a:lstStyle/>
          <a:p>
            <a:pPr algn="l">
              <a:spcAft>
                <a:spcPts val="100"/>
              </a:spcAft>
            </a:pPr>
            <a:r>
              <a:rPr sz="1050" b="0">
                <a:solidFill>
                  <a:srgbClr val="5B6372"/>
                </a:solidFill>
                <a:latin typeface="Arial"/>
              </a:rPr>
              <a:t>Check the axis, the units</a:t>
            </a:r>
          </a:p>
          <a:p>
            <a:pPr algn="l">
              <a:spcAft>
                <a:spcPts val="100"/>
              </a:spcAft>
            </a:pPr>
            <a:r>
              <a:rPr sz="1050" b="0">
                <a:solidFill>
                  <a:srgbClr val="5B6372"/>
                </a:solidFill>
                <a:latin typeface="Arial"/>
              </a:rPr>
              <a:t>and the source before you act.</a:t>
            </a:r>
          </a:p>
        </p:txBody>
      </p:sp>
      <p:sp>
        <p:nvSpPr>
          <p:cNvPr id="16" name="Rectangle 15"/>
          <p:cNvSpPr/>
          <p:nvPr/>
        </p:nvSpPr>
        <p:spPr>
          <a:xfrm>
            <a:off x="8778240" y="5440680"/>
            <a:ext cx="2377440" cy="3840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69680" y="5440680"/>
            <a:ext cx="2194560" cy="384048"/>
          </a:xfrm>
          <a:prstGeom prst="rect">
            <a:avLst/>
          </a:prstGeom>
          <a:noFill/>
        </p:spPr>
        <p:txBody>
          <a:bodyPr wrap="square" anchor="ctr">
            <a:spAutoFit/>
          </a:bodyPr>
          <a:lstStyle/>
          <a:p>
            <a:pPr algn="l">
              <a:spcAft>
                <a:spcPts val="400"/>
              </a:spcAft>
            </a:pPr>
            <a:r>
              <a:rPr sz="900" b="0">
                <a:solidFill>
                  <a:srgbClr val="5B6372"/>
                </a:solidFill>
                <a:latin typeface="Arial"/>
              </a:rPr>
              <a:t>Native PowerPoint chart · editable data · verify source and units</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198</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AFTER IT 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Optimising a Solution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Remove needless steps</a:t>
            </a:r>
          </a:p>
          <a:p>
            <a:pPr algn="l">
              <a:spcAft>
                <a:spcPts val="300"/>
              </a:spcAft>
            </a:pPr>
            <a:r>
              <a:rPr sz="1200" b="0">
                <a:solidFill>
                  <a:srgbClr val="5B6372"/>
                </a:solidFill>
                <a:latin typeface="Arial"/>
              </a:rPr>
              <a:t>Every action is a thing that can fail.</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Handle the failure path</a:t>
            </a:r>
          </a:p>
          <a:p>
            <a:pPr algn="l">
              <a:spcAft>
                <a:spcPts val="300"/>
              </a:spcAft>
            </a:pPr>
            <a:r>
              <a:rPr sz="1200" b="0">
                <a:solidFill>
                  <a:srgbClr val="5B6372"/>
                </a:solidFill>
                <a:latin typeface="Arial"/>
              </a:rPr>
              <a:t>Decide what happens when a step errors.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Watch the run history</a:t>
            </a:r>
          </a:p>
          <a:p>
            <a:pPr algn="l">
              <a:spcAft>
                <a:spcPts val="300"/>
              </a:spcAft>
            </a:pPr>
            <a:r>
              <a:rPr sz="1200" b="0">
                <a:solidFill>
                  <a:srgbClr val="5B6372"/>
                </a:solidFill>
                <a:latin typeface="Arial"/>
              </a:rPr>
              <a:t>Recurring failures are a design signal.</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Review the boundary</a:t>
            </a:r>
          </a:p>
          <a:p>
            <a:pPr algn="l">
              <a:spcAft>
                <a:spcPts val="300"/>
              </a:spcAft>
            </a:pPr>
            <a:r>
              <a:rPr sz="1200" b="0">
                <a:solidFill>
                  <a:srgbClr val="5B6372"/>
                </a:solidFill>
                <a:latin typeface="Arial"/>
              </a:rPr>
              <a:t>As trust grows, move the gate deliberately, not by drift.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199</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6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100" b="1">
                <a:solidFill>
                  <a:srgbClr val="F59E0B"/>
                </a:solidFill>
                <a:latin typeface="Arial"/>
              </a:rPr>
              <a:t>10 minutes</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INTERFACE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an Integration Contract Specifies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The endpoint</a:t>
            </a:r>
          </a:p>
          <a:p>
            <a:pPr algn="l">
              <a:spcAft>
                <a:spcPts val="300"/>
              </a:spcAft>
            </a:pPr>
            <a:r>
              <a:rPr sz="1200" b="0">
                <a:solidFill>
                  <a:srgbClr val="5B6372"/>
                </a:solidFill>
                <a:latin typeface="Arial"/>
              </a:rPr>
              <a:t>Where the caller sends the request.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The method and body</a:t>
            </a:r>
          </a:p>
          <a:p>
            <a:pPr algn="l">
              <a:spcAft>
                <a:spcPts val="300"/>
              </a:spcAft>
            </a:pPr>
            <a:r>
              <a:rPr sz="1200" b="0">
                <a:solidFill>
                  <a:srgbClr val="5B6372"/>
                </a:solidFill>
                <a:latin typeface="Arial"/>
              </a:rPr>
              <a:t>How the request is shaped.</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The schema</a:t>
            </a:r>
          </a:p>
          <a:p>
            <a:pPr algn="l">
              <a:spcAft>
                <a:spcPts val="300"/>
              </a:spcAft>
            </a:pPr>
            <a:r>
              <a:rPr sz="1200" b="0">
                <a:solidFill>
                  <a:srgbClr val="5B6372"/>
                </a:solidFill>
                <a:latin typeface="Arial"/>
              </a:rPr>
              <a:t>Which fields are required and their types.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The response</a:t>
            </a:r>
          </a:p>
          <a:p>
            <a:pPr algn="l">
              <a:spcAft>
                <a:spcPts val="300"/>
              </a:spcAft>
            </a:pPr>
            <a:r>
              <a:rPr sz="1200" b="0">
                <a:solidFill>
                  <a:srgbClr val="5B6372"/>
                </a:solidFill>
                <a:latin typeface="Arial"/>
              </a:rPr>
              <a:t>Status code and the fields returned.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201</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INTEGRATION SURFACES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Where Automation Can Be Called From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2764962" cy="548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28800"/>
            <a:ext cx="2490642" cy="548640"/>
          </a:xfrm>
          <a:prstGeom prst="rect">
            <a:avLst/>
          </a:prstGeom>
          <a:noFill/>
        </p:spPr>
        <p:txBody>
          <a:bodyPr wrap="square" anchor="ctr">
            <a:spAutoFit/>
          </a:bodyPr>
          <a:lstStyle/>
          <a:p>
            <a:pPr algn="l">
              <a:spcAft>
                <a:spcPts val="400"/>
              </a:spcAft>
            </a:pPr>
            <a:r>
              <a:rPr sz="1300" b="1">
                <a:solidFill>
                  <a:srgbClr val="FFFFFF"/>
                </a:solidFill>
                <a:latin typeface="Arial"/>
              </a:rPr>
              <a:t>Caller</a:t>
            </a:r>
          </a:p>
        </p:txBody>
      </p:sp>
      <p:sp>
        <p:nvSpPr>
          <p:cNvPr id="9" name="Rectangle 8"/>
          <p:cNvSpPr/>
          <p:nvPr/>
        </p:nvSpPr>
        <p:spPr>
          <a:xfrm>
            <a:off x="3542202" y="1828800"/>
            <a:ext cx="3934755" cy="548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1930" y="1828800"/>
            <a:ext cx="3715299" cy="548640"/>
          </a:xfrm>
          <a:prstGeom prst="rect">
            <a:avLst/>
          </a:prstGeom>
          <a:noFill/>
        </p:spPr>
        <p:txBody>
          <a:bodyPr wrap="square" anchor="ctr">
            <a:spAutoFit/>
          </a:bodyPr>
          <a:lstStyle/>
          <a:p>
            <a:pPr algn="ctr">
              <a:spcAft>
                <a:spcPts val="400"/>
              </a:spcAft>
            </a:pPr>
            <a:r>
              <a:rPr sz="1300" b="1">
                <a:solidFill>
                  <a:srgbClr val="FFFFFF"/>
                </a:solidFill>
                <a:latin typeface="Arial"/>
              </a:rPr>
              <a:t>Mechanism</a:t>
            </a:r>
          </a:p>
        </p:txBody>
      </p:sp>
      <p:sp>
        <p:nvSpPr>
          <p:cNvPr id="11" name="Rectangle 10"/>
          <p:cNvSpPr/>
          <p:nvPr/>
        </p:nvSpPr>
        <p:spPr>
          <a:xfrm>
            <a:off x="7476957" y="1828800"/>
            <a:ext cx="3934755" cy="548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6685" y="1828800"/>
            <a:ext cx="3715299" cy="548640"/>
          </a:xfrm>
          <a:prstGeom prst="rect">
            <a:avLst/>
          </a:prstGeom>
          <a:noFill/>
        </p:spPr>
        <p:txBody>
          <a:bodyPr wrap="square" anchor="ctr">
            <a:spAutoFit/>
          </a:bodyPr>
          <a:lstStyle/>
          <a:p>
            <a:pPr algn="ctr">
              <a:spcAft>
                <a:spcPts val="400"/>
              </a:spcAft>
            </a:pPr>
            <a:r>
              <a:rPr sz="1300" b="1">
                <a:solidFill>
                  <a:srgbClr val="FFFFFF"/>
                </a:solidFill>
                <a:latin typeface="Arial"/>
              </a:rPr>
              <a:t>Typical use</a:t>
            </a:r>
          </a:p>
        </p:txBody>
      </p:sp>
      <p:sp>
        <p:nvSpPr>
          <p:cNvPr id="13" name="Rectangle 12"/>
          <p:cNvSpPr/>
          <p:nvPr/>
        </p:nvSpPr>
        <p:spPr>
          <a:xfrm>
            <a:off x="777240" y="2377440"/>
            <a:ext cx="2764962"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377440"/>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A person</a:t>
            </a:r>
          </a:p>
        </p:txBody>
      </p:sp>
      <p:sp>
        <p:nvSpPr>
          <p:cNvPr id="15" name="Rectangle 14"/>
          <p:cNvSpPr/>
          <p:nvPr/>
        </p:nvSpPr>
        <p:spPr>
          <a:xfrm>
            <a:off x="3542202" y="2377440"/>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1930" y="2377440"/>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Instant trigger</a:t>
            </a:r>
          </a:p>
        </p:txBody>
      </p:sp>
      <p:sp>
        <p:nvSpPr>
          <p:cNvPr id="17" name="Rectangle 16"/>
          <p:cNvSpPr/>
          <p:nvPr/>
        </p:nvSpPr>
        <p:spPr>
          <a:xfrm>
            <a:off x="7476957" y="2377440"/>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6685" y="2377440"/>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A button in an app</a:t>
            </a:r>
          </a:p>
        </p:txBody>
      </p:sp>
      <p:sp>
        <p:nvSpPr>
          <p:cNvPr id="19" name="Rectangle 18"/>
          <p:cNvSpPr/>
          <p:nvPr/>
        </p:nvSpPr>
        <p:spPr>
          <a:xfrm>
            <a:off x="777240" y="2852928"/>
            <a:ext cx="2764962"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2852928"/>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Another Microsoft service</a:t>
            </a:r>
          </a:p>
        </p:txBody>
      </p:sp>
      <p:sp>
        <p:nvSpPr>
          <p:cNvPr id="21" name="Rectangle 20"/>
          <p:cNvSpPr/>
          <p:nvPr/>
        </p:nvSpPr>
        <p:spPr>
          <a:xfrm>
            <a:off x="3542202" y="2852928"/>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1930" y="2852928"/>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Connector trigger</a:t>
            </a:r>
          </a:p>
        </p:txBody>
      </p:sp>
      <p:sp>
        <p:nvSpPr>
          <p:cNvPr id="23" name="Rectangle 22"/>
          <p:cNvSpPr/>
          <p:nvPr/>
        </p:nvSpPr>
        <p:spPr>
          <a:xfrm>
            <a:off x="7476957" y="2852928"/>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86685" y="2852928"/>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A form, a file, a mail</a:t>
            </a:r>
          </a:p>
        </p:txBody>
      </p:sp>
      <p:sp>
        <p:nvSpPr>
          <p:cNvPr id="25" name="Rectangle 24"/>
          <p:cNvSpPr/>
          <p:nvPr/>
        </p:nvSpPr>
        <p:spPr>
          <a:xfrm>
            <a:off x="777240" y="3328416"/>
            <a:ext cx="2764962"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3328416"/>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An external application</a:t>
            </a:r>
          </a:p>
        </p:txBody>
      </p:sp>
      <p:sp>
        <p:nvSpPr>
          <p:cNvPr id="27" name="Rectangle 26"/>
          <p:cNvSpPr/>
          <p:nvPr/>
        </p:nvSpPr>
        <p:spPr>
          <a:xfrm>
            <a:off x="3542202" y="3328416"/>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1930" y="3328416"/>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HTTP trigger</a:t>
            </a:r>
          </a:p>
        </p:txBody>
      </p:sp>
      <p:sp>
        <p:nvSpPr>
          <p:cNvPr id="29" name="Rectangle 28"/>
          <p:cNvSpPr/>
          <p:nvPr/>
        </p:nvSpPr>
        <p:spPr>
          <a:xfrm>
            <a:off x="7476957" y="3328416"/>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86685" y="3328416"/>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A website or third-party system</a:t>
            </a:r>
          </a:p>
        </p:txBody>
      </p:sp>
      <p:sp>
        <p:nvSpPr>
          <p:cNvPr id="31" name="Rectangle 30"/>
          <p:cNvSpPr/>
          <p:nvPr/>
        </p:nvSpPr>
        <p:spPr>
          <a:xfrm>
            <a:off x="777240" y="3803904"/>
            <a:ext cx="2764962"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3803904"/>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An agent</a:t>
            </a:r>
          </a:p>
        </p:txBody>
      </p:sp>
      <p:sp>
        <p:nvSpPr>
          <p:cNvPr id="33" name="Rectangle 32"/>
          <p:cNvSpPr/>
          <p:nvPr/>
        </p:nvSpPr>
        <p:spPr>
          <a:xfrm>
            <a:off x="3542202" y="3803904"/>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51930" y="3803904"/>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Tool / agent flow</a:t>
            </a:r>
          </a:p>
        </p:txBody>
      </p:sp>
      <p:sp>
        <p:nvSpPr>
          <p:cNvPr id="35" name="Rectangle 34"/>
          <p:cNvSpPr/>
          <p:nvPr/>
        </p:nvSpPr>
        <p:spPr>
          <a:xfrm>
            <a:off x="7476957" y="3803904"/>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586685" y="3803904"/>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The agent decides to call it</a:t>
            </a:r>
          </a:p>
        </p:txBody>
      </p:sp>
      <p:sp>
        <p:nvSpPr>
          <p:cNvPr id="37" name="TextBox 36"/>
          <p:cNvSpPr txBox="1"/>
          <p:nvPr/>
        </p:nvSpPr>
        <p:spPr>
          <a:xfrm>
            <a:off x="777240" y="4507992"/>
            <a:ext cx="10634472" cy="457200"/>
          </a:xfrm>
          <a:prstGeom prst="rect">
            <a:avLst/>
          </a:prstGeom>
          <a:noFill/>
        </p:spPr>
        <p:txBody>
          <a:bodyPr wrap="square" anchor="t">
            <a:spAutoFit/>
          </a:bodyPr>
          <a:lstStyle/>
          <a:p>
            <a:pPr algn="l">
              <a:spcAft>
                <a:spcPts val="400"/>
              </a:spcAft>
            </a:pPr>
            <a:r>
              <a:rPr sz="1100" b="1">
                <a:solidFill>
                  <a:srgbClr val="1F6FEB"/>
                </a:solidFill>
                <a:latin typeface="Arial"/>
              </a:rPr>
              <a:t>RULE   </a:t>
            </a:r>
            <a:r>
              <a:rPr sz="1300" b="0">
                <a:solidFill>
                  <a:srgbClr val="161B26"/>
                </a:solidFill>
                <a:latin typeface="Arial"/>
              </a:rPr>
              <a:t>The same flow logic can be exposed to all four. The trigger is what changes.</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202</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RAG PARAMETERS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Chunking, Embeddings and Top-K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Chunk size</a:t>
            </a:r>
          </a:p>
          <a:p>
            <a:pPr algn="l">
              <a:spcAft>
                <a:spcPts val="300"/>
              </a:spcAft>
            </a:pPr>
            <a:r>
              <a:rPr sz="1200" b="0">
                <a:solidFill>
                  <a:srgbClr val="5B6372"/>
                </a:solidFill>
                <a:latin typeface="Arial"/>
              </a:rPr>
              <a:t>Too small loses context; too large dilutes relevance.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Overlap</a:t>
            </a:r>
          </a:p>
          <a:p>
            <a:pPr algn="l">
              <a:spcAft>
                <a:spcPts val="300"/>
              </a:spcAft>
            </a:pPr>
            <a:r>
              <a:rPr sz="1200" b="0">
                <a:solidFill>
                  <a:srgbClr val="5B6372"/>
                </a:solidFill>
                <a:latin typeface="Arial"/>
              </a:rPr>
              <a:t>A little overlap stops a fact being split in half.</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Embeddings</a:t>
            </a:r>
          </a:p>
          <a:p>
            <a:pPr algn="l">
              <a:spcAft>
                <a:spcPts val="300"/>
              </a:spcAft>
            </a:pPr>
            <a:r>
              <a:rPr sz="1200" b="0">
                <a:solidFill>
                  <a:srgbClr val="5B6372"/>
                </a:solidFill>
                <a:latin typeface="Arial"/>
              </a:rPr>
              <a:t>Text becomes vectors so similarity can be measured.</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Top-k</a:t>
            </a:r>
          </a:p>
          <a:p>
            <a:pPr algn="l">
              <a:spcAft>
                <a:spcPts val="300"/>
              </a:spcAft>
            </a:pPr>
            <a:r>
              <a:rPr sz="1200" b="0">
                <a:solidFill>
                  <a:srgbClr val="5B6372"/>
                </a:solidFill>
                <a:latin typeface="Arial"/>
              </a:rPr>
              <a:t>How many chunks are retrieved and given to the model.</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203</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DECISION RULE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Built-In Knowledge or an External Vector Store?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331720"/>
            <a:ext cx="3017520" cy="210312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788920"/>
            <a:ext cx="2468880" cy="1188720"/>
          </a:xfrm>
          <a:prstGeom prst="rect">
            <a:avLst/>
          </a:prstGeom>
          <a:noFill/>
        </p:spPr>
        <p:txBody>
          <a:bodyPr wrap="square" anchor="ctr">
            <a:spAutoFit/>
          </a:bodyPr>
          <a:lstStyle/>
          <a:p>
            <a:pPr algn="ctr">
              <a:spcAft>
                <a:spcPts val="400"/>
              </a:spcAft>
            </a:pPr>
            <a:r>
              <a:rPr sz="1300" b="1">
                <a:solidFill>
                  <a:srgbClr val="FFFFFF"/>
                </a:solidFill>
                <a:latin typeface="Arial"/>
              </a:rPr>
              <a:t>Can you name a concrete reason built-in is insufficient?</a:t>
            </a:r>
          </a:p>
        </p:txBody>
      </p:sp>
      <p:sp>
        <p:nvSpPr>
          <p:cNvPr id="9" name="Rectangle 8"/>
          <p:cNvSpPr/>
          <p:nvPr/>
        </p:nvSpPr>
        <p:spPr>
          <a:xfrm>
            <a:off x="3931920" y="2761488"/>
            <a:ext cx="32004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reeform 9"/>
          <p:cNvSpPr/>
          <p:nvPr/>
        </p:nvSpPr>
        <p:spPr>
          <a:xfrm>
            <a:off x="4251960" y="2732227"/>
            <a:ext cx="182880" cy="113385"/>
          </a:xfrm>
          <a:custGeom>
            <a:avLst/>
            <a:gdLst/>
            <a:ahLst/>
            <a:cxnLst/>
            <a:rect l="l" t="t" r="r" b="b"/>
            <a:pathLst>
              <a:path w="182880" h="113385">
                <a:moveTo>
                  <a:pt x="0" y="0"/>
                </a:moveTo>
                <a:lnTo>
                  <a:pt x="182880" y="56693"/>
                </a:lnTo>
                <a:lnTo>
                  <a:pt x="0" y="113385"/>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0" y="1965960"/>
            <a:ext cx="6858000" cy="1920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965960"/>
            <a:ext cx="91440" cy="19202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28032" y="2112264"/>
            <a:ext cx="6400800" cy="365760"/>
          </a:xfrm>
          <a:prstGeom prst="rect">
            <a:avLst/>
          </a:prstGeom>
          <a:noFill/>
        </p:spPr>
        <p:txBody>
          <a:bodyPr wrap="square" anchor="t">
            <a:spAutoFit/>
          </a:bodyPr>
          <a:lstStyle/>
          <a:p>
            <a:pPr algn="l">
              <a:spcAft>
                <a:spcPts val="400"/>
              </a:spcAft>
            </a:pPr>
            <a:r>
              <a:rPr sz="1300" b="1">
                <a:solidFill>
                  <a:srgbClr val="10B981"/>
                </a:solidFill>
                <a:latin typeface="Arial"/>
              </a:rPr>
              <a:t>YES</a:t>
            </a:r>
          </a:p>
        </p:txBody>
      </p:sp>
      <p:sp>
        <p:nvSpPr>
          <p:cNvPr id="14" name="TextBox 13"/>
          <p:cNvSpPr txBox="1"/>
          <p:nvPr/>
        </p:nvSpPr>
        <p:spPr>
          <a:xfrm>
            <a:off x="4828032" y="2514600"/>
            <a:ext cx="6400800" cy="1280160"/>
          </a:xfrm>
          <a:prstGeom prst="rect">
            <a:avLst/>
          </a:prstGeom>
          <a:noFill/>
        </p:spPr>
        <p:txBody>
          <a:bodyPr wrap="square">
            <a:spAutoFit/>
          </a:bodyPr>
          <a:lstStyle/>
          <a:p>
            <a:pPr>
              <a:spcAft>
                <a:spcPts val="600"/>
              </a:spcAft>
            </a:pPr>
            <a:r>
              <a:rPr sz="1300">
                <a:solidFill>
                  <a:srgbClr val="161B26"/>
                </a:solidFill>
                <a:latin typeface="Arial"/>
              </a:rPr>
              <a:t>•  Use the external vector store</a:t>
            </a:r>
          </a:p>
          <a:p>
            <a:pPr>
              <a:spcAft>
                <a:spcPts val="600"/>
              </a:spcAft>
            </a:pPr>
            <a:r>
              <a:rPr sz="1300">
                <a:solidFill>
                  <a:srgbClr val="161B26"/>
                </a:solidFill>
                <a:latin typeface="Arial"/>
              </a:rPr>
              <a:t>•  You control chunking, top-k and the index</a:t>
            </a:r>
          </a:p>
        </p:txBody>
      </p:sp>
      <p:sp>
        <p:nvSpPr>
          <p:cNvPr id="15" name="Rectangle 14"/>
          <p:cNvSpPr/>
          <p:nvPr/>
        </p:nvSpPr>
        <p:spPr>
          <a:xfrm>
            <a:off x="3931920" y="5001768"/>
            <a:ext cx="32004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reeform 15"/>
          <p:cNvSpPr/>
          <p:nvPr/>
        </p:nvSpPr>
        <p:spPr>
          <a:xfrm>
            <a:off x="4251960" y="4972507"/>
            <a:ext cx="182880" cy="113385"/>
          </a:xfrm>
          <a:custGeom>
            <a:avLst/>
            <a:gdLst/>
            <a:ahLst/>
            <a:cxnLst/>
            <a:rect l="l" t="t" r="r" b="b"/>
            <a:pathLst>
              <a:path w="182880" h="113385">
                <a:moveTo>
                  <a:pt x="0" y="0"/>
                </a:moveTo>
                <a:lnTo>
                  <a:pt x="182880" y="56693"/>
                </a:lnTo>
                <a:lnTo>
                  <a:pt x="0" y="113385"/>
                </a:lnTo>
                <a:close/>
              </a:path>
            </a:pathLst>
          </a:cu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0" y="4206240"/>
            <a:ext cx="6858000" cy="1920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0" y="4206240"/>
            <a:ext cx="91440" cy="19202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28032" y="4352544"/>
            <a:ext cx="6400800" cy="365760"/>
          </a:xfrm>
          <a:prstGeom prst="rect">
            <a:avLst/>
          </a:prstGeom>
          <a:noFill/>
        </p:spPr>
        <p:txBody>
          <a:bodyPr wrap="square" anchor="t">
            <a:spAutoFit/>
          </a:bodyPr>
          <a:lstStyle/>
          <a:p>
            <a:pPr algn="l">
              <a:spcAft>
                <a:spcPts val="400"/>
              </a:spcAft>
            </a:pPr>
            <a:r>
              <a:rPr sz="1300" b="1">
                <a:solidFill>
                  <a:srgbClr val="F59E0B"/>
                </a:solidFill>
                <a:latin typeface="Arial"/>
              </a:rPr>
              <a:t>NO</a:t>
            </a:r>
          </a:p>
        </p:txBody>
      </p:sp>
      <p:sp>
        <p:nvSpPr>
          <p:cNvPr id="20" name="TextBox 19"/>
          <p:cNvSpPr txBox="1"/>
          <p:nvPr/>
        </p:nvSpPr>
        <p:spPr>
          <a:xfrm>
            <a:off x="4828032" y="4754880"/>
            <a:ext cx="6400800" cy="1280160"/>
          </a:xfrm>
          <a:prstGeom prst="rect">
            <a:avLst/>
          </a:prstGeom>
          <a:noFill/>
        </p:spPr>
        <p:txBody>
          <a:bodyPr wrap="square">
            <a:spAutoFit/>
          </a:bodyPr>
          <a:lstStyle/>
          <a:p>
            <a:pPr>
              <a:spcAft>
                <a:spcPts val="600"/>
              </a:spcAft>
            </a:pPr>
            <a:r>
              <a:rPr sz="1300">
                <a:solidFill>
                  <a:srgbClr val="161B26"/>
                </a:solidFill>
                <a:latin typeface="Arial"/>
              </a:rPr>
              <a:t>•  Use built-in knowledge</a:t>
            </a:r>
          </a:p>
          <a:p>
            <a:pPr>
              <a:spcAft>
                <a:spcPts val="600"/>
              </a:spcAft>
            </a:pPr>
            <a:r>
              <a:rPr sz="1300">
                <a:solidFill>
                  <a:srgbClr val="161B26"/>
                </a:solidFill>
                <a:latin typeface="Arial"/>
              </a:rPr>
              <a:t>•  Less to build, less to run, less to get wrong</a:t>
            </a:r>
          </a:p>
        </p:txBody>
      </p:sp>
      <p:sp>
        <p:nvSpPr>
          <p:cNvPr id="21" name="TextBox 20"/>
          <p:cNvSpPr txBox="1"/>
          <p:nvPr/>
        </p:nvSpPr>
        <p:spPr>
          <a:xfrm>
            <a:off x="777240" y="5989320"/>
            <a:ext cx="10607040" cy="457200"/>
          </a:xfrm>
          <a:prstGeom prst="rect">
            <a:avLst/>
          </a:prstGeom>
          <a:noFill/>
        </p:spPr>
        <p:txBody>
          <a:bodyPr wrap="square" anchor="t">
            <a:spAutoFit/>
          </a:bodyPr>
          <a:lstStyle/>
          <a:p>
            <a:pPr algn="l">
              <a:spcAft>
                <a:spcPts val="400"/>
              </a:spcAft>
            </a:pPr>
            <a:r>
              <a:rPr sz="1100" b="1">
                <a:solidFill>
                  <a:srgbClr val="7C3AED"/>
                </a:solidFill>
                <a:latin typeface="Arial"/>
              </a:rPr>
              <a:t>RULE   </a:t>
            </a:r>
            <a:r>
              <a:rPr sz="1300" b="0">
                <a:solidFill>
                  <a:srgbClr val="161B26"/>
                </a:solidFill>
                <a:latin typeface="Arial"/>
              </a:rPr>
              <a:t>Choose the extra machinery when you can articulate why. Not by default.</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204</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GOVERNANCE CHECK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Security Questions to Ask Before Release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Who can trigger it?</a:t>
            </a:r>
          </a:p>
          <a:p>
            <a:pPr algn="l">
              <a:spcAft>
                <a:spcPts val="300"/>
              </a:spcAft>
            </a:pPr>
            <a:r>
              <a:rPr sz="1200" b="0">
                <a:solidFill>
                  <a:srgbClr val="5B6372"/>
                </a:solidFill>
                <a:latin typeface="Arial"/>
              </a:rPr>
              <a:t>Especially anything with an HTTP endpoint.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What can it reach?</a:t>
            </a:r>
          </a:p>
          <a:p>
            <a:pPr algn="l">
              <a:spcAft>
                <a:spcPts val="300"/>
              </a:spcAft>
            </a:pPr>
            <a:r>
              <a:rPr sz="1200" b="0">
                <a:solidFill>
                  <a:srgbClr val="5B6372"/>
                </a:solidFill>
                <a:latin typeface="Arial"/>
              </a:rPr>
              <a:t>Which systems, and with whose permissions.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What is logged?</a:t>
            </a:r>
          </a:p>
          <a:p>
            <a:pPr algn="l">
              <a:spcAft>
                <a:spcPts val="300"/>
              </a:spcAft>
            </a:pPr>
            <a:r>
              <a:rPr sz="1200" b="0">
                <a:solidFill>
                  <a:srgbClr val="5B6372"/>
                </a:solidFill>
                <a:latin typeface="Arial"/>
              </a:rPr>
              <a:t>Enough to reconstruct what happened.</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What is the blast radius?</a:t>
            </a:r>
          </a:p>
          <a:p>
            <a:pPr algn="l">
              <a:spcAft>
                <a:spcPts val="300"/>
              </a:spcAft>
            </a:pPr>
            <a:r>
              <a:rPr sz="1200" b="0">
                <a:solidFill>
                  <a:srgbClr val="5B6372"/>
                </a:solidFill>
                <a:latin typeface="Arial"/>
              </a:rPr>
              <a:t>The worst outcome if it behaves incorrectly.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205</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NATIVE CHART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Failure Causes in Deployed Automations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828800"/>
          <a:ext cx="7498079" cy="4114800"/>
        </p:xfrm>
        <a:graphic>
          <a:graphicData uri="http://schemas.openxmlformats.org/drawingml/2006/chart">
            <c:chart xmlns:c="http://schemas.openxmlformats.org/drawingml/2006/chart" r:id="rId2"/>
          </a:graphicData>
        </a:graphic>
      </p:graphicFrame>
      <p:sp>
        <p:nvSpPr>
          <p:cNvPr id="8" name="Rectangle 7"/>
          <p:cNvSpPr/>
          <p:nvPr/>
        </p:nvSpPr>
        <p:spPr>
          <a:xfrm>
            <a:off x="8503920" y="1828800"/>
            <a:ext cx="2926080" cy="4114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503920" y="1828800"/>
            <a:ext cx="2926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0" y="2103120"/>
            <a:ext cx="2377440" cy="365760"/>
          </a:xfrm>
          <a:prstGeom prst="rect">
            <a:avLst/>
          </a:prstGeom>
          <a:noFill/>
        </p:spPr>
        <p:txBody>
          <a:bodyPr wrap="square" anchor="t">
            <a:spAutoFit/>
          </a:bodyPr>
          <a:lstStyle/>
          <a:p>
            <a:pPr algn="l">
              <a:spcAft>
                <a:spcPts val="400"/>
              </a:spcAft>
            </a:pPr>
            <a:r>
              <a:rPr sz="1200" b="1">
                <a:solidFill>
                  <a:srgbClr val="1F6FEB"/>
                </a:solidFill>
                <a:latin typeface="Arial"/>
              </a:rPr>
              <a:t>DECISION LENS</a:t>
            </a:r>
          </a:p>
        </p:txBody>
      </p:sp>
      <p:sp>
        <p:nvSpPr>
          <p:cNvPr id="11" name="TextBox 10"/>
          <p:cNvSpPr txBox="1"/>
          <p:nvPr/>
        </p:nvSpPr>
        <p:spPr>
          <a:xfrm>
            <a:off x="8778240" y="2560320"/>
            <a:ext cx="2377440" cy="1737360"/>
          </a:xfrm>
          <a:prstGeom prst="rect">
            <a:avLst/>
          </a:prstGeom>
          <a:noFill/>
        </p:spPr>
        <p:txBody>
          <a:bodyPr wrap="square" anchor="t">
            <a:spAutoFit/>
          </a:bodyPr>
          <a:lstStyle/>
          <a:p>
            <a:pPr algn="l">
              <a:spcAft>
                <a:spcPts val="400"/>
              </a:spcAft>
            </a:pPr>
            <a:r>
              <a:rPr sz="1300" b="0">
                <a:solidFill>
                  <a:srgbClr val="161B26"/>
                </a:solidFill>
                <a:latin typeface="Arial"/>
              </a:rPr>
              <a:t>Two thirds are data, permission and configuration — all visible in the run history.</a:t>
            </a:r>
          </a:p>
        </p:txBody>
      </p:sp>
      <p:sp>
        <p:nvSpPr>
          <p:cNvPr id="12" name="Rectangle 11"/>
          <p:cNvSpPr/>
          <p:nvPr/>
        </p:nvSpPr>
        <p:spPr>
          <a:xfrm>
            <a:off x="8732520" y="4343400"/>
            <a:ext cx="24688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778240" y="4526280"/>
            <a:ext cx="310896" cy="31089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0" y="4526280"/>
            <a:ext cx="310896" cy="310896"/>
          </a:xfrm>
          <a:prstGeom prst="rect">
            <a:avLst/>
          </a:prstGeom>
          <a:noFill/>
        </p:spPr>
        <p:txBody>
          <a:bodyPr wrap="square" anchor="ctr">
            <a:spAutoFit/>
          </a:bodyPr>
          <a:lstStyle/>
          <a:p>
            <a:pPr algn="ctr">
              <a:spcAft>
                <a:spcPts val="400"/>
              </a:spcAft>
            </a:pPr>
            <a:r>
              <a:rPr sz="1300" b="1">
                <a:solidFill>
                  <a:srgbClr val="FFFFFF"/>
                </a:solidFill>
                <a:latin typeface="Arial"/>
              </a:rPr>
              <a:t>?</a:t>
            </a:r>
          </a:p>
        </p:txBody>
      </p:sp>
      <p:sp>
        <p:nvSpPr>
          <p:cNvPr id="15" name="TextBox 14"/>
          <p:cNvSpPr txBox="1"/>
          <p:nvPr/>
        </p:nvSpPr>
        <p:spPr>
          <a:xfrm>
            <a:off x="9189720" y="4507992"/>
            <a:ext cx="2011680" cy="777240"/>
          </a:xfrm>
          <a:prstGeom prst="rect">
            <a:avLst/>
          </a:prstGeom>
          <a:noFill/>
        </p:spPr>
        <p:txBody>
          <a:bodyPr wrap="square" anchor="t">
            <a:spAutoFit/>
          </a:bodyPr>
          <a:lstStyle/>
          <a:p>
            <a:pPr algn="l">
              <a:spcAft>
                <a:spcPts val="100"/>
              </a:spcAft>
            </a:pPr>
            <a:r>
              <a:rPr sz="1050" b="0">
                <a:solidFill>
                  <a:srgbClr val="5B6372"/>
                </a:solidFill>
                <a:latin typeface="Arial"/>
              </a:rPr>
              <a:t>Check the axis, the units</a:t>
            </a:r>
          </a:p>
          <a:p>
            <a:pPr algn="l">
              <a:spcAft>
                <a:spcPts val="100"/>
              </a:spcAft>
            </a:pPr>
            <a:r>
              <a:rPr sz="1050" b="0">
                <a:solidFill>
                  <a:srgbClr val="5B6372"/>
                </a:solidFill>
                <a:latin typeface="Arial"/>
              </a:rPr>
              <a:t>and the source before you act.</a:t>
            </a:r>
          </a:p>
        </p:txBody>
      </p:sp>
      <p:sp>
        <p:nvSpPr>
          <p:cNvPr id="16" name="Rectangle 15"/>
          <p:cNvSpPr/>
          <p:nvPr/>
        </p:nvSpPr>
        <p:spPr>
          <a:xfrm>
            <a:off x="8778240" y="5440680"/>
            <a:ext cx="2377440" cy="3840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69680" y="5440680"/>
            <a:ext cx="2194560" cy="384048"/>
          </a:xfrm>
          <a:prstGeom prst="rect">
            <a:avLst/>
          </a:prstGeom>
          <a:noFill/>
        </p:spPr>
        <p:txBody>
          <a:bodyPr wrap="square" anchor="ctr">
            <a:spAutoFit/>
          </a:bodyPr>
          <a:lstStyle/>
          <a:p>
            <a:pPr algn="l">
              <a:spcAft>
                <a:spcPts val="400"/>
              </a:spcAft>
            </a:pPr>
            <a:r>
              <a:rPr sz="900" b="0">
                <a:solidFill>
                  <a:srgbClr val="5B6372"/>
                </a:solidFill>
                <a:latin typeface="Arial"/>
              </a:rPr>
              <a:t>Native PowerPoint chart · editable data · verify source and units</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206</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WHEN TO STOP PATCHING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Signs an Automation Needs Redesign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The same failure recurs</a:t>
            </a:r>
          </a:p>
          <a:p>
            <a:pPr algn="l">
              <a:spcAft>
                <a:spcPts val="300"/>
              </a:spcAft>
            </a:pPr>
            <a:r>
              <a:rPr sz="1200" b="0">
                <a:solidFill>
                  <a:srgbClr val="5B6372"/>
                </a:solidFill>
                <a:latin typeface="Arial"/>
              </a:rPr>
              <a:t>A pattern is a design signal, not bad luck.</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Nobody can explain it</a:t>
            </a:r>
          </a:p>
          <a:p>
            <a:pPr algn="l">
              <a:spcAft>
                <a:spcPts val="300"/>
              </a:spcAft>
            </a:pPr>
            <a:r>
              <a:rPr sz="1200" b="0">
                <a:solidFill>
                  <a:srgbClr val="5B6372"/>
                </a:solidFill>
                <a:latin typeface="Arial"/>
              </a:rPr>
              <a:t>Complexity has outrun understanding.</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Every change breaks something</a:t>
            </a:r>
          </a:p>
          <a:p>
            <a:pPr algn="l">
              <a:spcAft>
                <a:spcPts val="300"/>
              </a:spcAft>
            </a:pPr>
            <a:r>
              <a:rPr sz="1200" b="0">
                <a:solidFill>
                  <a:srgbClr val="5B6372"/>
                </a:solidFill>
                <a:latin typeface="Arial"/>
              </a:rPr>
              <a:t>The steps are too tightly coupled.</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The gate is routinely bypassed</a:t>
            </a:r>
          </a:p>
          <a:p>
            <a:pPr algn="l">
              <a:spcAft>
                <a:spcPts val="300"/>
              </a:spcAft>
            </a:pPr>
            <a:r>
              <a:rPr sz="1200" b="0">
                <a:solidFill>
                  <a:srgbClr val="5B6372"/>
                </a:solidFill>
                <a:latin typeface="Arial"/>
              </a:rPr>
              <a:t>The control does not fit how people work.</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207</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THE LAST WORD</a:t>
            </a:r>
          </a:p>
        </p:txBody>
      </p:sp>
      <p:sp>
        <p:nvSpPr>
          <p:cNvPr id="5" name="TextBox 4"/>
          <p:cNvSpPr txBox="1"/>
          <p:nvPr/>
        </p:nvSpPr>
        <p:spPr>
          <a:xfrm>
            <a:off x="1005840" y="2560320"/>
            <a:ext cx="10332720" cy="2011680"/>
          </a:xfrm>
          <a:prstGeom prst="rect">
            <a:avLst/>
          </a:prstGeom>
          <a:noFill/>
        </p:spPr>
        <p:txBody>
          <a:bodyPr wrap="square" anchor="t">
            <a:spAutoFit/>
          </a:bodyPr>
          <a:lstStyle/>
          <a:p>
            <a:pPr algn="l">
              <a:spcAft>
                <a:spcPts val="400"/>
              </a:spcAft>
            </a:pPr>
            <a:r>
              <a:rPr sz="3600" b="1">
                <a:solidFill>
                  <a:srgbClr val="161B26"/>
                </a:solidFill>
                <a:latin typeface="Arial"/>
              </a:rPr>
              <a:t>Move the boundary of agency deliberately.</a:t>
            </a:r>
          </a:p>
        </p:txBody>
      </p:sp>
      <p:sp>
        <p:nvSpPr>
          <p:cNvPr id="6" name="TextBox 5"/>
          <p:cNvSpPr txBox="1"/>
          <p:nvPr/>
        </p:nvSpPr>
        <p:spPr>
          <a:xfrm>
            <a:off x="1024128" y="4572000"/>
            <a:ext cx="10058400" cy="1097280"/>
          </a:xfrm>
          <a:prstGeom prst="rect">
            <a:avLst/>
          </a:prstGeom>
          <a:noFill/>
        </p:spPr>
        <p:txBody>
          <a:bodyPr wrap="square" anchor="t">
            <a:spAutoFit/>
          </a:bodyPr>
          <a:lstStyle/>
          <a:p>
            <a:pPr algn="l">
              <a:spcAft>
                <a:spcPts val="400"/>
              </a:spcAft>
            </a:pPr>
            <a:r>
              <a:rPr sz="1900" b="0">
                <a:solidFill>
                  <a:srgbClr val="5B6372"/>
                </a:solidFill>
                <a:latin typeface="Arial"/>
              </a:rPr>
              <a:t>Trust should be extended by a decision that is recorded — never by drift.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208</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05 · INTERMEDIATE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Expose a Flow over HTTP with a JSON Schema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371600" cy="4389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371600" cy="365760"/>
          </a:xfrm>
          <a:prstGeom prst="rect">
            <a:avLst/>
          </a:prstGeom>
          <a:noFill/>
        </p:spPr>
        <p:txBody>
          <a:bodyPr wrap="square" anchor="t">
            <a:spAutoFit/>
          </a:bodyPr>
          <a:lstStyle/>
          <a:p>
            <a:pPr algn="ctr">
              <a:spcAft>
                <a:spcPts val="400"/>
              </a:spcAft>
            </a:pPr>
            <a:r>
              <a:rPr sz="1500" b="1">
                <a:solidFill>
                  <a:srgbClr val="FFFFFF"/>
                </a:solidFill>
                <a:latin typeface="Arial"/>
              </a:rPr>
              <a:t>LAB 21</a:t>
            </a:r>
          </a:p>
        </p:txBody>
      </p:sp>
      <p:sp>
        <p:nvSpPr>
          <p:cNvPr id="9" name="Rectangle 8"/>
          <p:cNvSpPr/>
          <p:nvPr/>
        </p:nvSpPr>
        <p:spPr>
          <a:xfrm>
            <a:off x="2286000" y="1691640"/>
            <a:ext cx="1371600" cy="438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0" y="1737360"/>
            <a:ext cx="1371600" cy="365760"/>
          </a:xfrm>
          <a:prstGeom prst="rect">
            <a:avLst/>
          </a:prstGeom>
          <a:noFill/>
        </p:spPr>
        <p:txBody>
          <a:bodyPr wrap="square" anchor="t">
            <a:spAutoFit/>
          </a:bodyPr>
          <a:lstStyle/>
          <a:p>
            <a:pPr algn="ctr">
              <a:spcAft>
                <a:spcPts val="400"/>
              </a:spcAft>
            </a:pPr>
            <a:r>
              <a:rPr sz="1300" b="1">
                <a:solidFill>
                  <a:srgbClr val="5B6372"/>
                </a:solidFill>
                <a:latin typeface="Arial"/>
              </a:rPr>
              <a:t>K5 · A4</a:t>
            </a:r>
          </a:p>
        </p:txBody>
      </p:sp>
      <p:sp>
        <p:nvSpPr>
          <p:cNvPr id="11" name="TextBox 10"/>
          <p:cNvSpPr txBox="1"/>
          <p:nvPr/>
        </p:nvSpPr>
        <p:spPr>
          <a:xfrm>
            <a:off x="777240" y="2331720"/>
            <a:ext cx="10698480" cy="1371600"/>
          </a:xfrm>
          <a:prstGeom prst="rect">
            <a:avLst/>
          </a:prstGeom>
          <a:noFill/>
        </p:spPr>
        <p:txBody>
          <a:bodyPr wrap="square" anchor="t">
            <a:spAutoFit/>
          </a:bodyPr>
          <a:lstStyle/>
          <a:p>
            <a:pPr algn="l">
              <a:spcAft>
                <a:spcPts val="400"/>
              </a:spcAft>
            </a:pPr>
            <a:r>
              <a:rPr sz="1900" b="0">
                <a:solidFill>
                  <a:srgbClr val="161B26"/>
                </a:solidFill>
                <a:latin typeface="Arial"/>
              </a:rPr>
              <a:t>The learner builds a flow with an HTTP request trigger, defines the request body with a JSON schema, returns a structured response, and calls it from outside Power Automate to prove the integration works.</a:t>
            </a:r>
          </a:p>
        </p:txBody>
      </p:sp>
      <p:sp>
        <p:nvSpPr>
          <p:cNvPr id="12" name="Rectangle 11"/>
          <p:cNvSpPr/>
          <p:nvPr/>
        </p:nvSpPr>
        <p:spPr>
          <a:xfrm>
            <a:off x="777240" y="3886200"/>
            <a:ext cx="10698480"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88620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11480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 will build</a:t>
            </a:r>
          </a:p>
        </p:txBody>
      </p:sp>
      <p:sp>
        <p:nvSpPr>
          <p:cNvPr id="15" name="TextBox 14"/>
          <p:cNvSpPr txBox="1"/>
          <p:nvPr/>
        </p:nvSpPr>
        <p:spPr>
          <a:xfrm>
            <a:off x="1005840" y="4480560"/>
            <a:ext cx="10149840" cy="640080"/>
          </a:xfrm>
          <a:prstGeom prst="rect">
            <a:avLst/>
          </a:prstGeom>
          <a:noFill/>
        </p:spPr>
        <p:txBody>
          <a:bodyPr wrap="square" anchor="t">
            <a:spAutoFit/>
          </a:bodyPr>
          <a:lstStyle/>
          <a:p>
            <a:pPr algn="l">
              <a:spcAft>
                <a:spcPts val="400"/>
              </a:spcAft>
            </a:pPr>
            <a:r>
              <a:rPr sz="1700" b="1">
                <a:solidFill>
                  <a:srgbClr val="161B26"/>
                </a:solidFill>
                <a:latin typeface="Arial"/>
              </a:rPr>
              <a:t>An HTTP-triggered flow with a defined request schema and a structured JSON response</a:t>
            </a:r>
          </a:p>
        </p:txBody>
      </p:sp>
      <p:sp>
        <p:nvSpPr>
          <p:cNvPr id="16" name="TextBox 15"/>
          <p:cNvSpPr txBox="1"/>
          <p:nvPr/>
        </p:nvSpPr>
        <p:spPr>
          <a:xfrm>
            <a:off x="1005840" y="5212080"/>
            <a:ext cx="10241280" cy="365760"/>
          </a:xfrm>
          <a:prstGeom prst="rect">
            <a:avLst/>
          </a:prstGeom>
          <a:noFill/>
        </p:spPr>
        <p:txBody>
          <a:bodyPr wrap="square" anchor="t">
            <a:spAutoFit/>
          </a:bodyPr>
          <a:lstStyle/>
          <a:p>
            <a:pPr algn="l">
              <a:spcAft>
                <a:spcPts val="400"/>
              </a:spcAft>
            </a:pPr>
            <a:r>
              <a:rPr sz="1200" b="1">
                <a:solidFill>
                  <a:srgbClr val="5B6372"/>
                </a:solidFill>
                <a:latin typeface="Arial"/>
              </a:rPr>
              <a:t>Apps:  </a:t>
            </a:r>
            <a:r>
              <a:rPr sz="1200" b="0">
                <a:solidFill>
                  <a:srgbClr val="5B6372"/>
                </a:solidFill>
                <a:latin typeface="Arial"/>
              </a:rPr>
              <a:t>Power Automate, HTTP, JSON</a:t>
            </a:r>
          </a:p>
        </p:txBody>
      </p:sp>
      <p:sp>
        <p:nvSpPr>
          <p:cNvPr id="17" name="Rectangle 16"/>
          <p:cNvSpPr/>
          <p:nvPr/>
        </p:nvSpPr>
        <p:spPr>
          <a:xfrm>
            <a:off x="777240"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5943600"/>
            <a:ext cx="64008"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5943600"/>
            <a:ext cx="3154680" cy="457200"/>
          </a:xfrm>
          <a:prstGeom prst="rect">
            <a:avLst/>
          </a:prstGeom>
          <a:noFill/>
        </p:spPr>
        <p:txBody>
          <a:bodyPr wrap="square" anchor="ctr">
            <a:spAutoFit/>
          </a:bodyPr>
          <a:lstStyle/>
          <a:p>
            <a:pPr algn="l">
              <a:spcAft>
                <a:spcPts val="400"/>
              </a:spcAft>
            </a:pPr>
            <a:r>
              <a:rPr sz="900" b="1">
                <a:solidFill>
                  <a:srgbClr val="1F6FEB"/>
                </a:solidFill>
                <a:latin typeface="Arial"/>
              </a:rPr>
              <a:t>ASSESSED   </a:t>
            </a:r>
            <a:r>
              <a:rPr sz="1050" b="0">
                <a:solidFill>
                  <a:srgbClr val="161B26"/>
                </a:solidFill>
                <a:latin typeface="Arial"/>
              </a:rPr>
              <a:t>K5 · A4</a:t>
            </a:r>
          </a:p>
        </p:txBody>
      </p:sp>
      <p:sp>
        <p:nvSpPr>
          <p:cNvPr id="20" name="Rectangle 19"/>
          <p:cNvSpPr/>
          <p:nvPr/>
        </p:nvSpPr>
        <p:spPr>
          <a:xfrm>
            <a:off x="4407408"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07408" y="5943600"/>
            <a:ext cx="64008"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0" y="5943600"/>
            <a:ext cx="3154680" cy="457200"/>
          </a:xfrm>
          <a:prstGeom prst="rect">
            <a:avLst/>
          </a:prstGeom>
          <a:noFill/>
        </p:spPr>
        <p:txBody>
          <a:bodyPr wrap="square" anchor="ctr">
            <a:spAutoFit/>
          </a:bodyPr>
          <a:lstStyle/>
          <a:p>
            <a:pPr algn="l">
              <a:spcAft>
                <a:spcPts val="400"/>
              </a:spcAft>
            </a:pPr>
            <a:r>
              <a:rPr sz="900" b="1">
                <a:solidFill>
                  <a:srgbClr val="10B981"/>
                </a:solidFill>
                <a:latin typeface="Arial"/>
              </a:rPr>
              <a:t>LEVEL   </a:t>
            </a:r>
            <a:r>
              <a:rPr sz="1050" b="0">
                <a:solidFill>
                  <a:srgbClr val="161B26"/>
                </a:solidFill>
                <a:latin typeface="Arial"/>
              </a:rPr>
              <a:t>Intermediate</a:t>
            </a:r>
          </a:p>
        </p:txBody>
      </p:sp>
      <p:sp>
        <p:nvSpPr>
          <p:cNvPr id="23" name="Rectangle 22"/>
          <p:cNvSpPr/>
          <p:nvPr/>
        </p:nvSpPr>
        <p:spPr>
          <a:xfrm>
            <a:off x="8037576"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37576" y="5943600"/>
            <a:ext cx="64008"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02168" y="5943600"/>
            <a:ext cx="3154680" cy="457200"/>
          </a:xfrm>
          <a:prstGeom prst="rect">
            <a:avLst/>
          </a:prstGeom>
          <a:noFill/>
        </p:spPr>
        <p:txBody>
          <a:bodyPr wrap="square" anchor="ctr">
            <a:spAutoFit/>
          </a:bodyPr>
          <a:lstStyle/>
          <a:p>
            <a:pPr algn="l">
              <a:spcAft>
                <a:spcPts val="400"/>
              </a:spcAft>
            </a:pPr>
            <a:r>
              <a:rPr sz="900" b="1">
                <a:solidFill>
                  <a:srgbClr val="7C3AED"/>
                </a:solidFill>
                <a:latin typeface="Arial"/>
              </a:rPr>
              <a:t>EVIDENCE   </a:t>
            </a:r>
            <a:r>
              <a:rPr sz="1050" b="0">
                <a:solidFill>
                  <a:srgbClr val="161B26"/>
                </a:solidFill>
                <a:latin typeface="Arial"/>
              </a:rPr>
              <a:t>Workbook · screenshot · reviewer</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209</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21 · PROCESS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How Lab 21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Prepare</a:t>
            </a:r>
          </a:p>
        </p:txBody>
      </p:sp>
      <p:sp>
        <p:nvSpPr>
          <p:cNvPr id="10" name="TextBox 9"/>
          <p:cNvSpPr txBox="1"/>
          <p:nvPr/>
        </p:nvSpPr>
        <p:spPr>
          <a:xfrm>
            <a:off x="905256"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Add an HTTP trigger</a:t>
            </a:r>
          </a:p>
        </p:txBody>
      </p:sp>
      <p:sp>
        <p:nvSpPr>
          <p:cNvPr id="11" name="Rectangle 10"/>
          <p:cNvSpPr/>
          <p:nvPr/>
        </p:nvSpPr>
        <p:spPr>
          <a:xfrm>
            <a:off x="3175254"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3292298"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50158"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50158"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78174"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Generate</a:t>
            </a:r>
          </a:p>
        </p:txBody>
      </p:sp>
      <p:sp>
        <p:nvSpPr>
          <p:cNvPr id="16" name="TextBox 15"/>
          <p:cNvSpPr txBox="1"/>
          <p:nvPr/>
        </p:nvSpPr>
        <p:spPr>
          <a:xfrm>
            <a:off x="3678174"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Treat the URL as a secret</a:t>
            </a:r>
          </a:p>
        </p:txBody>
      </p:sp>
      <p:sp>
        <p:nvSpPr>
          <p:cNvPr id="17" name="Rectangle 16"/>
          <p:cNvSpPr/>
          <p:nvPr/>
        </p:nvSpPr>
        <p:spPr>
          <a:xfrm>
            <a:off x="5948172"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6065216"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3076"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23076"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1092"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Verify</a:t>
            </a:r>
          </a:p>
        </p:txBody>
      </p:sp>
      <p:sp>
        <p:nvSpPr>
          <p:cNvPr id="22" name="TextBox 21"/>
          <p:cNvSpPr txBox="1"/>
          <p:nvPr/>
        </p:nvSpPr>
        <p:spPr>
          <a:xfrm>
            <a:off x="6451092"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Add a Response action</a:t>
            </a:r>
          </a:p>
        </p:txBody>
      </p:sp>
      <p:sp>
        <p:nvSpPr>
          <p:cNvPr id="23" name="Rectangle 22"/>
          <p:cNvSpPr/>
          <p:nvPr/>
        </p:nvSpPr>
        <p:spPr>
          <a:xfrm>
            <a:off x="8721090"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8838134"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095994"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5994"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24010"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Record</a:t>
            </a:r>
          </a:p>
        </p:txBody>
      </p:sp>
      <p:sp>
        <p:nvSpPr>
          <p:cNvPr id="28" name="TextBox 27"/>
          <p:cNvSpPr txBox="1"/>
          <p:nvPr/>
        </p:nvSpPr>
        <p:spPr>
          <a:xfrm>
            <a:off x="9224010"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Call it and inspect the run</a:t>
            </a:r>
          </a:p>
        </p:txBody>
      </p:sp>
      <p:sp>
        <p:nvSpPr>
          <p:cNvPr id="29" name="Rectangle 28"/>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0B981"/>
                </a:solidFill>
                <a:latin typeface="Arial"/>
              </a:rPr>
              <a:t>WHY IT MATTERS   </a:t>
            </a:r>
            <a:r>
              <a:rPr sz="1300" b="0">
                <a:solidFill>
                  <a:srgbClr val="161B26"/>
                </a:solidFill>
                <a:latin typeface="Arial"/>
              </a:rPr>
              <a:t>The shape of the work. Full step-by-step is in the Learner Guide (Lab 21) and the lab's instruction PDF.</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210</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21 · ACCEPTANCE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Expose a Flow over HTTP with a JSON Schema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46888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03120"/>
            <a:ext cx="10698480" cy="9144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423160"/>
            <a:ext cx="10058400" cy="457200"/>
          </a:xfrm>
          <a:prstGeom prst="rect">
            <a:avLst/>
          </a:prstGeom>
          <a:noFill/>
        </p:spPr>
        <p:txBody>
          <a:bodyPr wrap="square" anchor="t">
            <a:spAutoFit/>
          </a:bodyPr>
          <a:lstStyle/>
          <a:p>
            <a:pPr algn="l">
              <a:spcAft>
                <a:spcPts val="400"/>
              </a:spcAft>
            </a:pPr>
            <a:r>
              <a:rPr sz="1900" b="1">
                <a:solidFill>
                  <a:srgbClr val="127A3E"/>
                </a:solidFill>
                <a:latin typeface="Arial"/>
              </a:rPr>
              <a:t>✅  Acceptance check</a:t>
            </a:r>
          </a:p>
        </p:txBody>
      </p:sp>
      <p:sp>
        <p:nvSpPr>
          <p:cNvPr id="10" name="TextBox 9"/>
          <p:cNvSpPr txBox="1"/>
          <p:nvPr/>
        </p:nvSpPr>
        <p:spPr>
          <a:xfrm>
            <a:off x="1097280" y="3063240"/>
            <a:ext cx="10149840" cy="1371600"/>
          </a:xfrm>
          <a:prstGeom prst="rect">
            <a:avLst/>
          </a:prstGeom>
          <a:noFill/>
        </p:spPr>
        <p:txBody>
          <a:bodyPr wrap="square" anchor="t">
            <a:spAutoFit/>
          </a:bodyPr>
          <a:lstStyle/>
          <a:p>
            <a:pPr algn="l">
              <a:spcAft>
                <a:spcPts val="400"/>
              </a:spcAft>
            </a:pPr>
            <a:r>
              <a:rPr sz="1700" b="0">
                <a:solidFill>
                  <a:srgbClr val="161B26"/>
                </a:solidFill>
                <a:latin typeface="Arial"/>
              </a:rPr>
              <a:t>An external call with a valid body returns the expected JSON response, and the run history shows the parsed fields exactly as the schema defined them.</a:t>
            </a:r>
          </a:p>
        </p:txBody>
      </p:sp>
      <p:sp>
        <p:nvSpPr>
          <p:cNvPr id="11" name="Rectangle 10"/>
          <p:cNvSpPr/>
          <p:nvPr/>
        </p:nvSpPr>
        <p:spPr>
          <a:xfrm>
            <a:off x="777240" y="4800600"/>
            <a:ext cx="10698480" cy="1143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4800600"/>
            <a:ext cx="10698480"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956048"/>
            <a:ext cx="10058400" cy="320040"/>
          </a:xfrm>
          <a:prstGeom prst="rect">
            <a:avLst/>
          </a:prstGeom>
          <a:noFill/>
        </p:spPr>
        <p:txBody>
          <a:bodyPr wrap="square" anchor="t">
            <a:spAutoFit/>
          </a:bodyPr>
          <a:lstStyle/>
          <a:p>
            <a:pPr algn="l">
              <a:spcAft>
                <a:spcPts val="400"/>
              </a:spcAft>
            </a:pPr>
            <a:r>
              <a:rPr sz="1100" b="1">
                <a:solidFill>
                  <a:srgbClr val="F59E0B"/>
                </a:solidFill>
                <a:latin typeface="Arial"/>
              </a:rPr>
              <a:t>IF IT DOES NOT WORK</a:t>
            </a:r>
          </a:p>
        </p:txBody>
      </p:sp>
      <p:sp>
        <p:nvSpPr>
          <p:cNvPr id="14" name="Oval 13"/>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Re-read the step inputs before you change anything.</a:t>
            </a:r>
          </a:p>
        </p:txBody>
      </p:sp>
      <p:sp>
        <p:nvSpPr>
          <p:cNvPr id="16" name="Oval 15"/>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Check the source is attached and the value inserted, not typed.</a:t>
            </a:r>
          </a:p>
        </p:txBody>
      </p:sp>
      <p:sp>
        <p:nvSpPr>
          <p:cNvPr id="18" name="Oval 17"/>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3816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Full step-by-step: Learner Guide and the lab instruction PDF.</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211</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05 · ADVANCED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Ground an Agent with Retrieval-Augmented Generation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371600" cy="4389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371600" cy="365760"/>
          </a:xfrm>
          <a:prstGeom prst="rect">
            <a:avLst/>
          </a:prstGeom>
          <a:noFill/>
        </p:spPr>
        <p:txBody>
          <a:bodyPr wrap="square" anchor="t">
            <a:spAutoFit/>
          </a:bodyPr>
          <a:lstStyle/>
          <a:p>
            <a:pPr algn="ctr">
              <a:spcAft>
                <a:spcPts val="400"/>
              </a:spcAft>
            </a:pPr>
            <a:r>
              <a:rPr sz="1500" b="1">
                <a:solidFill>
                  <a:srgbClr val="FFFFFF"/>
                </a:solidFill>
                <a:latin typeface="Arial"/>
              </a:rPr>
              <a:t>LAB 22</a:t>
            </a:r>
          </a:p>
        </p:txBody>
      </p:sp>
      <p:sp>
        <p:nvSpPr>
          <p:cNvPr id="9" name="Rectangle 8"/>
          <p:cNvSpPr/>
          <p:nvPr/>
        </p:nvSpPr>
        <p:spPr>
          <a:xfrm>
            <a:off x="2286000" y="1691640"/>
            <a:ext cx="1371600" cy="438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0" y="1737360"/>
            <a:ext cx="1371600" cy="365760"/>
          </a:xfrm>
          <a:prstGeom prst="rect">
            <a:avLst/>
          </a:prstGeom>
          <a:noFill/>
        </p:spPr>
        <p:txBody>
          <a:bodyPr wrap="square" anchor="t">
            <a:spAutoFit/>
          </a:bodyPr>
          <a:lstStyle/>
          <a:p>
            <a:pPr algn="ctr">
              <a:spcAft>
                <a:spcPts val="400"/>
              </a:spcAft>
            </a:pPr>
            <a:r>
              <a:rPr sz="1300" b="1">
                <a:solidFill>
                  <a:srgbClr val="5B6372"/>
                </a:solidFill>
                <a:latin typeface="Arial"/>
              </a:rPr>
              <a:t>K5 · A5</a:t>
            </a:r>
          </a:p>
        </p:txBody>
      </p:sp>
      <p:sp>
        <p:nvSpPr>
          <p:cNvPr id="11" name="TextBox 10"/>
          <p:cNvSpPr txBox="1"/>
          <p:nvPr/>
        </p:nvSpPr>
        <p:spPr>
          <a:xfrm>
            <a:off x="777240" y="2331720"/>
            <a:ext cx="10698480" cy="1371600"/>
          </a:xfrm>
          <a:prstGeom prst="rect">
            <a:avLst/>
          </a:prstGeom>
          <a:noFill/>
        </p:spPr>
        <p:txBody>
          <a:bodyPr wrap="square" anchor="t">
            <a:spAutoFit/>
          </a:bodyPr>
          <a:lstStyle/>
          <a:p>
            <a:pPr algn="l">
              <a:spcAft>
                <a:spcPts val="400"/>
              </a:spcAft>
            </a:pPr>
            <a:r>
              <a:rPr sz="1900" b="0">
                <a:solidFill>
                  <a:srgbClr val="161B26"/>
                </a:solidFill>
                <a:latin typeface="Arial"/>
              </a:rPr>
              <a:t>The learner grounds an agent in a document set, tests it with questions the documents answer and questions they do not, and probes deliberately for invention to confirm the refusal behaviour holds.</a:t>
            </a:r>
          </a:p>
        </p:txBody>
      </p:sp>
      <p:sp>
        <p:nvSpPr>
          <p:cNvPr id="12" name="Rectangle 11"/>
          <p:cNvSpPr/>
          <p:nvPr/>
        </p:nvSpPr>
        <p:spPr>
          <a:xfrm>
            <a:off x="777240" y="3886200"/>
            <a:ext cx="10698480"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88620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11480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 will build</a:t>
            </a:r>
          </a:p>
        </p:txBody>
      </p:sp>
      <p:sp>
        <p:nvSpPr>
          <p:cNvPr id="15" name="TextBox 14"/>
          <p:cNvSpPr txBox="1"/>
          <p:nvPr/>
        </p:nvSpPr>
        <p:spPr>
          <a:xfrm>
            <a:off x="1005840" y="4480560"/>
            <a:ext cx="10149840" cy="640080"/>
          </a:xfrm>
          <a:prstGeom prst="rect">
            <a:avLst/>
          </a:prstGeom>
          <a:noFill/>
        </p:spPr>
        <p:txBody>
          <a:bodyPr wrap="square" anchor="t">
            <a:spAutoFit/>
          </a:bodyPr>
          <a:lstStyle/>
          <a:p>
            <a:pPr algn="l">
              <a:spcAft>
                <a:spcPts val="400"/>
              </a:spcAft>
            </a:pPr>
            <a:r>
              <a:rPr sz="1700" b="1">
                <a:solidFill>
                  <a:srgbClr val="161B26"/>
                </a:solidFill>
                <a:latin typeface="Arial"/>
              </a:rPr>
              <a:t>A retrieval-grounded agent with a documented answer, citation and refusal test set</a:t>
            </a:r>
          </a:p>
        </p:txBody>
      </p:sp>
      <p:sp>
        <p:nvSpPr>
          <p:cNvPr id="16" name="TextBox 15"/>
          <p:cNvSpPr txBox="1"/>
          <p:nvPr/>
        </p:nvSpPr>
        <p:spPr>
          <a:xfrm>
            <a:off x="1005840" y="5212080"/>
            <a:ext cx="10241280" cy="365760"/>
          </a:xfrm>
          <a:prstGeom prst="rect">
            <a:avLst/>
          </a:prstGeom>
          <a:noFill/>
        </p:spPr>
        <p:txBody>
          <a:bodyPr wrap="square" anchor="t">
            <a:spAutoFit/>
          </a:bodyPr>
          <a:lstStyle/>
          <a:p>
            <a:pPr algn="l">
              <a:spcAft>
                <a:spcPts val="400"/>
              </a:spcAft>
            </a:pPr>
            <a:r>
              <a:rPr sz="1200" b="1">
                <a:solidFill>
                  <a:srgbClr val="5B6372"/>
                </a:solidFill>
                <a:latin typeface="Arial"/>
              </a:rPr>
              <a:t>Apps:  </a:t>
            </a:r>
            <a:r>
              <a:rPr sz="1200" b="0">
                <a:solidFill>
                  <a:srgbClr val="5B6372"/>
                </a:solidFill>
                <a:latin typeface="Arial"/>
              </a:rPr>
              <a:t>Copilot Studio, Knowledge, SharePoint</a:t>
            </a:r>
          </a:p>
        </p:txBody>
      </p:sp>
      <p:sp>
        <p:nvSpPr>
          <p:cNvPr id="17" name="Rectangle 16"/>
          <p:cNvSpPr/>
          <p:nvPr/>
        </p:nvSpPr>
        <p:spPr>
          <a:xfrm>
            <a:off x="777240"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5943600"/>
            <a:ext cx="64008"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5943600"/>
            <a:ext cx="3154680" cy="457200"/>
          </a:xfrm>
          <a:prstGeom prst="rect">
            <a:avLst/>
          </a:prstGeom>
          <a:noFill/>
        </p:spPr>
        <p:txBody>
          <a:bodyPr wrap="square" anchor="ctr">
            <a:spAutoFit/>
          </a:bodyPr>
          <a:lstStyle/>
          <a:p>
            <a:pPr algn="l">
              <a:spcAft>
                <a:spcPts val="400"/>
              </a:spcAft>
            </a:pPr>
            <a:r>
              <a:rPr sz="900" b="1">
                <a:solidFill>
                  <a:srgbClr val="1F6FEB"/>
                </a:solidFill>
                <a:latin typeface="Arial"/>
              </a:rPr>
              <a:t>ASSESSED   </a:t>
            </a:r>
            <a:r>
              <a:rPr sz="1050" b="0">
                <a:solidFill>
                  <a:srgbClr val="161B26"/>
                </a:solidFill>
                <a:latin typeface="Arial"/>
              </a:rPr>
              <a:t>K5 · A5</a:t>
            </a:r>
          </a:p>
        </p:txBody>
      </p:sp>
      <p:sp>
        <p:nvSpPr>
          <p:cNvPr id="20" name="Rectangle 19"/>
          <p:cNvSpPr/>
          <p:nvPr/>
        </p:nvSpPr>
        <p:spPr>
          <a:xfrm>
            <a:off x="4407408"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07408" y="5943600"/>
            <a:ext cx="64008"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0" y="5943600"/>
            <a:ext cx="3154680" cy="457200"/>
          </a:xfrm>
          <a:prstGeom prst="rect">
            <a:avLst/>
          </a:prstGeom>
          <a:noFill/>
        </p:spPr>
        <p:txBody>
          <a:bodyPr wrap="square" anchor="ctr">
            <a:spAutoFit/>
          </a:bodyPr>
          <a:lstStyle/>
          <a:p>
            <a:pPr algn="l">
              <a:spcAft>
                <a:spcPts val="400"/>
              </a:spcAft>
            </a:pPr>
            <a:r>
              <a:rPr sz="900" b="1">
                <a:solidFill>
                  <a:srgbClr val="10B981"/>
                </a:solidFill>
                <a:latin typeface="Arial"/>
              </a:rPr>
              <a:t>LEVEL   </a:t>
            </a:r>
            <a:r>
              <a:rPr sz="1050" b="0">
                <a:solidFill>
                  <a:srgbClr val="161B26"/>
                </a:solidFill>
                <a:latin typeface="Arial"/>
              </a:rPr>
              <a:t>Advanced</a:t>
            </a:r>
          </a:p>
        </p:txBody>
      </p:sp>
      <p:sp>
        <p:nvSpPr>
          <p:cNvPr id="23" name="Rectangle 22"/>
          <p:cNvSpPr/>
          <p:nvPr/>
        </p:nvSpPr>
        <p:spPr>
          <a:xfrm>
            <a:off x="8037576"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37576" y="5943600"/>
            <a:ext cx="64008"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02168" y="5943600"/>
            <a:ext cx="3154680" cy="457200"/>
          </a:xfrm>
          <a:prstGeom prst="rect">
            <a:avLst/>
          </a:prstGeom>
          <a:noFill/>
        </p:spPr>
        <p:txBody>
          <a:bodyPr wrap="square" anchor="ctr">
            <a:spAutoFit/>
          </a:bodyPr>
          <a:lstStyle/>
          <a:p>
            <a:pPr algn="l">
              <a:spcAft>
                <a:spcPts val="400"/>
              </a:spcAft>
            </a:pPr>
            <a:r>
              <a:rPr sz="900" b="1">
                <a:solidFill>
                  <a:srgbClr val="7C3AED"/>
                </a:solidFill>
                <a:latin typeface="Arial"/>
              </a:rPr>
              <a:t>EVIDENCE   </a:t>
            </a:r>
            <a:r>
              <a:rPr sz="1050" b="0">
                <a:solidFill>
                  <a:srgbClr val="161B26"/>
                </a:solidFill>
                <a:latin typeface="Arial"/>
              </a:rPr>
              <a:t>Workbook · screenshot · reviewer</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212</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22 · PROCESS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How Lab 22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Prepare</a:t>
            </a:r>
          </a:p>
        </p:txBody>
      </p:sp>
      <p:sp>
        <p:nvSpPr>
          <p:cNvPr id="10" name="TextBox 9"/>
          <p:cNvSpPr txBox="1"/>
          <p:nvPr/>
        </p:nvSpPr>
        <p:spPr>
          <a:xfrm>
            <a:off x="905256"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Upload the document set</a:t>
            </a:r>
          </a:p>
        </p:txBody>
      </p:sp>
      <p:sp>
        <p:nvSpPr>
          <p:cNvPr id="11" name="Rectangle 10"/>
          <p:cNvSpPr/>
          <p:nvPr/>
        </p:nvSpPr>
        <p:spPr>
          <a:xfrm>
            <a:off x="3175254"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3292298"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50158"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50158"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78174"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Generate</a:t>
            </a:r>
          </a:p>
        </p:txBody>
      </p:sp>
      <p:sp>
        <p:nvSpPr>
          <p:cNvPr id="16" name="TextBox 15"/>
          <p:cNvSpPr txBox="1"/>
          <p:nvPr/>
        </p:nvSpPr>
        <p:spPr>
          <a:xfrm>
            <a:off x="3678174"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Require a citation</a:t>
            </a:r>
          </a:p>
        </p:txBody>
      </p:sp>
      <p:sp>
        <p:nvSpPr>
          <p:cNvPr id="17" name="Rectangle 16"/>
          <p:cNvSpPr/>
          <p:nvPr/>
        </p:nvSpPr>
        <p:spPr>
          <a:xfrm>
            <a:off x="5948172"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6065216"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3076"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23076"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1092"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Verify</a:t>
            </a:r>
          </a:p>
        </p:txBody>
      </p:sp>
      <p:sp>
        <p:nvSpPr>
          <p:cNvPr id="22" name="TextBox 21"/>
          <p:cNvSpPr txBox="1"/>
          <p:nvPr/>
        </p:nvSpPr>
        <p:spPr>
          <a:xfrm>
            <a:off x="6451092"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Test across two documents</a:t>
            </a:r>
          </a:p>
        </p:txBody>
      </p:sp>
      <p:sp>
        <p:nvSpPr>
          <p:cNvPr id="23" name="Rectangle 22"/>
          <p:cNvSpPr/>
          <p:nvPr/>
        </p:nvSpPr>
        <p:spPr>
          <a:xfrm>
            <a:off x="8721090"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8838134"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095994"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5994"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24010"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Record</a:t>
            </a:r>
          </a:p>
        </p:txBody>
      </p:sp>
      <p:sp>
        <p:nvSpPr>
          <p:cNvPr id="28" name="TextBox 27"/>
          <p:cNvSpPr txBox="1"/>
          <p:nvPr/>
        </p:nvSpPr>
        <p:spPr>
          <a:xfrm>
            <a:off x="9224010"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Probe for invention</a:t>
            </a:r>
          </a:p>
        </p:txBody>
      </p:sp>
      <p:sp>
        <p:nvSpPr>
          <p:cNvPr id="29" name="Rectangle 28"/>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0B981"/>
                </a:solidFill>
                <a:latin typeface="Arial"/>
              </a:rPr>
              <a:t>WHY IT MATTERS   </a:t>
            </a:r>
            <a:r>
              <a:rPr sz="1300" b="0">
                <a:solidFill>
                  <a:srgbClr val="161B26"/>
                </a:solidFill>
                <a:latin typeface="Arial"/>
              </a:rPr>
              <a:t>The shape of the work. Full step-by-step is in the Learner Guide (Lab 22) and the lab's instruction PDF.</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213</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22 · ACCEPTANCE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Ground an Agent with Retrieval-Augmented Generation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46888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03120"/>
            <a:ext cx="10698480" cy="9144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423160"/>
            <a:ext cx="10058400" cy="457200"/>
          </a:xfrm>
          <a:prstGeom prst="rect">
            <a:avLst/>
          </a:prstGeom>
          <a:noFill/>
        </p:spPr>
        <p:txBody>
          <a:bodyPr wrap="square" anchor="t">
            <a:spAutoFit/>
          </a:bodyPr>
          <a:lstStyle/>
          <a:p>
            <a:pPr algn="l">
              <a:spcAft>
                <a:spcPts val="400"/>
              </a:spcAft>
            </a:pPr>
            <a:r>
              <a:rPr sz="1900" b="1">
                <a:solidFill>
                  <a:srgbClr val="127A3E"/>
                </a:solidFill>
                <a:latin typeface="Arial"/>
              </a:rPr>
              <a:t>✅  Acceptance check</a:t>
            </a:r>
          </a:p>
        </p:txBody>
      </p:sp>
      <p:sp>
        <p:nvSpPr>
          <p:cNvPr id="10" name="TextBox 9"/>
          <p:cNvSpPr txBox="1"/>
          <p:nvPr/>
        </p:nvSpPr>
        <p:spPr>
          <a:xfrm>
            <a:off x="1097280" y="3063240"/>
            <a:ext cx="10149840" cy="1371600"/>
          </a:xfrm>
          <a:prstGeom prst="rect">
            <a:avLst/>
          </a:prstGeom>
          <a:noFill/>
        </p:spPr>
        <p:txBody>
          <a:bodyPr wrap="square" anchor="t">
            <a:spAutoFit/>
          </a:bodyPr>
          <a:lstStyle/>
          <a:p>
            <a:pPr algn="l">
              <a:spcAft>
                <a:spcPts val="400"/>
              </a:spcAft>
            </a:pPr>
            <a:r>
              <a:rPr sz="1700" b="0">
                <a:solidFill>
                  <a:srgbClr val="161B26"/>
                </a:solidFill>
                <a:latin typeface="Arial"/>
              </a:rPr>
              <a:t>Every in-scope question is answered with a correct citation, and questions about non-existent courses or unstated prices produce an explicit refusal rather than an invented answer.</a:t>
            </a:r>
          </a:p>
        </p:txBody>
      </p:sp>
      <p:sp>
        <p:nvSpPr>
          <p:cNvPr id="11" name="Rectangle 10"/>
          <p:cNvSpPr/>
          <p:nvPr/>
        </p:nvSpPr>
        <p:spPr>
          <a:xfrm>
            <a:off x="777240" y="4800600"/>
            <a:ext cx="10698480" cy="1143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4800600"/>
            <a:ext cx="10698480"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956048"/>
            <a:ext cx="10058400" cy="320040"/>
          </a:xfrm>
          <a:prstGeom prst="rect">
            <a:avLst/>
          </a:prstGeom>
          <a:noFill/>
        </p:spPr>
        <p:txBody>
          <a:bodyPr wrap="square" anchor="t">
            <a:spAutoFit/>
          </a:bodyPr>
          <a:lstStyle/>
          <a:p>
            <a:pPr algn="l">
              <a:spcAft>
                <a:spcPts val="400"/>
              </a:spcAft>
            </a:pPr>
            <a:r>
              <a:rPr sz="1100" b="1">
                <a:solidFill>
                  <a:srgbClr val="F59E0B"/>
                </a:solidFill>
                <a:latin typeface="Arial"/>
              </a:rPr>
              <a:t>IF IT DOES NOT WORK</a:t>
            </a:r>
          </a:p>
        </p:txBody>
      </p:sp>
      <p:sp>
        <p:nvSpPr>
          <p:cNvPr id="14" name="Oval 13"/>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Re-read the step inputs before you change anything.</a:t>
            </a:r>
          </a:p>
        </p:txBody>
      </p:sp>
      <p:sp>
        <p:nvSpPr>
          <p:cNvPr id="16" name="Oval 15"/>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Check the source is attached and the value inserted, not typed.</a:t>
            </a:r>
          </a:p>
        </p:txBody>
      </p:sp>
      <p:sp>
        <p:nvSpPr>
          <p:cNvPr id="18" name="Oval 17"/>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3816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Full step-by-step: Learner Guide and the lab instruction PDF.</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214</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05 · ADVANCED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Add a Human Review Gate to an Agent Action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371600" cy="4389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371600" cy="365760"/>
          </a:xfrm>
          <a:prstGeom prst="rect">
            <a:avLst/>
          </a:prstGeom>
          <a:noFill/>
        </p:spPr>
        <p:txBody>
          <a:bodyPr wrap="square" anchor="t">
            <a:spAutoFit/>
          </a:bodyPr>
          <a:lstStyle/>
          <a:p>
            <a:pPr algn="ctr">
              <a:spcAft>
                <a:spcPts val="400"/>
              </a:spcAft>
            </a:pPr>
            <a:r>
              <a:rPr sz="1500" b="1">
                <a:solidFill>
                  <a:srgbClr val="FFFFFF"/>
                </a:solidFill>
                <a:latin typeface="Arial"/>
              </a:rPr>
              <a:t>LAB 23</a:t>
            </a:r>
          </a:p>
        </p:txBody>
      </p:sp>
      <p:sp>
        <p:nvSpPr>
          <p:cNvPr id="9" name="Rectangle 8"/>
          <p:cNvSpPr/>
          <p:nvPr/>
        </p:nvSpPr>
        <p:spPr>
          <a:xfrm>
            <a:off x="2286000" y="1691640"/>
            <a:ext cx="1371600" cy="438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0" y="1737360"/>
            <a:ext cx="1371600" cy="365760"/>
          </a:xfrm>
          <a:prstGeom prst="rect">
            <a:avLst/>
          </a:prstGeom>
          <a:noFill/>
        </p:spPr>
        <p:txBody>
          <a:bodyPr wrap="square" anchor="t">
            <a:spAutoFit/>
          </a:bodyPr>
          <a:lstStyle/>
          <a:p>
            <a:pPr algn="ctr">
              <a:spcAft>
                <a:spcPts val="400"/>
              </a:spcAft>
            </a:pPr>
            <a:r>
              <a:rPr sz="1300" b="1">
                <a:solidFill>
                  <a:srgbClr val="5B6372"/>
                </a:solidFill>
                <a:latin typeface="Arial"/>
              </a:rPr>
              <a:t>K5 · A7</a:t>
            </a:r>
          </a:p>
        </p:txBody>
      </p:sp>
      <p:sp>
        <p:nvSpPr>
          <p:cNvPr id="11" name="TextBox 10"/>
          <p:cNvSpPr txBox="1"/>
          <p:nvPr/>
        </p:nvSpPr>
        <p:spPr>
          <a:xfrm>
            <a:off x="777240" y="2331720"/>
            <a:ext cx="10698480" cy="1371600"/>
          </a:xfrm>
          <a:prstGeom prst="rect">
            <a:avLst/>
          </a:prstGeom>
          <a:noFill/>
        </p:spPr>
        <p:txBody>
          <a:bodyPr wrap="square" anchor="t">
            <a:spAutoFit/>
          </a:bodyPr>
          <a:lstStyle/>
          <a:p>
            <a:pPr algn="l">
              <a:spcAft>
                <a:spcPts val="400"/>
              </a:spcAft>
            </a:pPr>
            <a:r>
              <a:rPr sz="1900" b="0">
                <a:solidFill>
                  <a:srgbClr val="161B26"/>
                </a:solidFill>
                <a:latin typeface="Arial"/>
              </a:rPr>
              <a:t>The learner takes an agent that can trigger a consequential action and inserts an approval gate, so the model may propose the action but only a named person can release it.</a:t>
            </a:r>
          </a:p>
        </p:txBody>
      </p:sp>
      <p:sp>
        <p:nvSpPr>
          <p:cNvPr id="12" name="Rectangle 11"/>
          <p:cNvSpPr/>
          <p:nvPr/>
        </p:nvSpPr>
        <p:spPr>
          <a:xfrm>
            <a:off x="777240" y="3886200"/>
            <a:ext cx="10698480"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88620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11480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 will build</a:t>
            </a:r>
          </a:p>
        </p:txBody>
      </p:sp>
      <p:sp>
        <p:nvSpPr>
          <p:cNvPr id="15" name="TextBox 14"/>
          <p:cNvSpPr txBox="1"/>
          <p:nvPr/>
        </p:nvSpPr>
        <p:spPr>
          <a:xfrm>
            <a:off x="1005840" y="4480560"/>
            <a:ext cx="10149840" cy="640080"/>
          </a:xfrm>
          <a:prstGeom prst="rect">
            <a:avLst/>
          </a:prstGeom>
          <a:noFill/>
        </p:spPr>
        <p:txBody>
          <a:bodyPr wrap="square" anchor="t">
            <a:spAutoFit/>
          </a:bodyPr>
          <a:lstStyle/>
          <a:p>
            <a:pPr algn="l">
              <a:spcAft>
                <a:spcPts val="400"/>
              </a:spcAft>
            </a:pPr>
            <a:r>
              <a:rPr sz="1700" b="1">
                <a:solidFill>
                  <a:srgbClr val="161B26"/>
                </a:solidFill>
                <a:latin typeface="Arial"/>
              </a:rPr>
              <a:t>An agent whose consequential action is suspended until a named person approves it</a:t>
            </a:r>
          </a:p>
        </p:txBody>
      </p:sp>
      <p:sp>
        <p:nvSpPr>
          <p:cNvPr id="16" name="TextBox 15"/>
          <p:cNvSpPr txBox="1"/>
          <p:nvPr/>
        </p:nvSpPr>
        <p:spPr>
          <a:xfrm>
            <a:off x="1005840" y="5212080"/>
            <a:ext cx="10241280" cy="365760"/>
          </a:xfrm>
          <a:prstGeom prst="rect">
            <a:avLst/>
          </a:prstGeom>
          <a:noFill/>
        </p:spPr>
        <p:txBody>
          <a:bodyPr wrap="square" anchor="t">
            <a:spAutoFit/>
          </a:bodyPr>
          <a:lstStyle/>
          <a:p>
            <a:pPr algn="l">
              <a:spcAft>
                <a:spcPts val="400"/>
              </a:spcAft>
            </a:pPr>
            <a:r>
              <a:rPr sz="1200" b="1">
                <a:solidFill>
                  <a:srgbClr val="5B6372"/>
                </a:solidFill>
                <a:latin typeface="Arial"/>
              </a:rPr>
              <a:t>Apps:  </a:t>
            </a:r>
            <a:r>
              <a:rPr sz="1200" b="0">
                <a:solidFill>
                  <a:srgbClr val="5B6372"/>
                </a:solidFill>
                <a:latin typeface="Arial"/>
              </a:rPr>
              <a:t>Copilot Studio, Power Automate, Teams Approvals</a:t>
            </a:r>
          </a:p>
        </p:txBody>
      </p:sp>
      <p:sp>
        <p:nvSpPr>
          <p:cNvPr id="17" name="Rectangle 16"/>
          <p:cNvSpPr/>
          <p:nvPr/>
        </p:nvSpPr>
        <p:spPr>
          <a:xfrm>
            <a:off x="777240"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5943600"/>
            <a:ext cx="64008"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5943600"/>
            <a:ext cx="3154680" cy="457200"/>
          </a:xfrm>
          <a:prstGeom prst="rect">
            <a:avLst/>
          </a:prstGeom>
          <a:noFill/>
        </p:spPr>
        <p:txBody>
          <a:bodyPr wrap="square" anchor="ctr">
            <a:spAutoFit/>
          </a:bodyPr>
          <a:lstStyle/>
          <a:p>
            <a:pPr algn="l">
              <a:spcAft>
                <a:spcPts val="400"/>
              </a:spcAft>
            </a:pPr>
            <a:r>
              <a:rPr sz="900" b="1">
                <a:solidFill>
                  <a:srgbClr val="1F6FEB"/>
                </a:solidFill>
                <a:latin typeface="Arial"/>
              </a:rPr>
              <a:t>ASSESSED   </a:t>
            </a:r>
            <a:r>
              <a:rPr sz="1050" b="0">
                <a:solidFill>
                  <a:srgbClr val="161B26"/>
                </a:solidFill>
                <a:latin typeface="Arial"/>
              </a:rPr>
              <a:t>K5 · A7</a:t>
            </a:r>
          </a:p>
        </p:txBody>
      </p:sp>
      <p:sp>
        <p:nvSpPr>
          <p:cNvPr id="20" name="Rectangle 19"/>
          <p:cNvSpPr/>
          <p:nvPr/>
        </p:nvSpPr>
        <p:spPr>
          <a:xfrm>
            <a:off x="4407408"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07408" y="5943600"/>
            <a:ext cx="64008"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0" y="5943600"/>
            <a:ext cx="3154680" cy="457200"/>
          </a:xfrm>
          <a:prstGeom prst="rect">
            <a:avLst/>
          </a:prstGeom>
          <a:noFill/>
        </p:spPr>
        <p:txBody>
          <a:bodyPr wrap="square" anchor="ctr">
            <a:spAutoFit/>
          </a:bodyPr>
          <a:lstStyle/>
          <a:p>
            <a:pPr algn="l">
              <a:spcAft>
                <a:spcPts val="400"/>
              </a:spcAft>
            </a:pPr>
            <a:r>
              <a:rPr sz="900" b="1">
                <a:solidFill>
                  <a:srgbClr val="10B981"/>
                </a:solidFill>
                <a:latin typeface="Arial"/>
              </a:rPr>
              <a:t>LEVEL   </a:t>
            </a:r>
            <a:r>
              <a:rPr sz="1050" b="0">
                <a:solidFill>
                  <a:srgbClr val="161B26"/>
                </a:solidFill>
                <a:latin typeface="Arial"/>
              </a:rPr>
              <a:t>Advanced</a:t>
            </a:r>
          </a:p>
        </p:txBody>
      </p:sp>
      <p:sp>
        <p:nvSpPr>
          <p:cNvPr id="23" name="Rectangle 22"/>
          <p:cNvSpPr/>
          <p:nvPr/>
        </p:nvSpPr>
        <p:spPr>
          <a:xfrm>
            <a:off x="8037576"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37576" y="5943600"/>
            <a:ext cx="64008"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02168" y="5943600"/>
            <a:ext cx="3154680" cy="457200"/>
          </a:xfrm>
          <a:prstGeom prst="rect">
            <a:avLst/>
          </a:prstGeom>
          <a:noFill/>
        </p:spPr>
        <p:txBody>
          <a:bodyPr wrap="square" anchor="ctr">
            <a:spAutoFit/>
          </a:bodyPr>
          <a:lstStyle/>
          <a:p>
            <a:pPr algn="l">
              <a:spcAft>
                <a:spcPts val="400"/>
              </a:spcAft>
            </a:pPr>
            <a:r>
              <a:rPr sz="900" b="1">
                <a:solidFill>
                  <a:srgbClr val="7C3AED"/>
                </a:solidFill>
                <a:latin typeface="Arial"/>
              </a:rPr>
              <a:t>EVIDENCE   </a:t>
            </a:r>
            <a:r>
              <a:rPr sz="1050" b="0">
                <a:solidFill>
                  <a:srgbClr val="161B26"/>
                </a:solidFill>
                <a:latin typeface="Arial"/>
              </a:rPr>
              <a:t>Workbook · screenshot · reviewer</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215</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23 · PROCESS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How Lab 23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Prepare</a:t>
            </a:r>
          </a:p>
        </p:txBody>
      </p:sp>
      <p:sp>
        <p:nvSpPr>
          <p:cNvPr id="10" name="TextBox 9"/>
          <p:cNvSpPr txBox="1"/>
          <p:nvPr/>
        </p:nvSpPr>
        <p:spPr>
          <a:xfrm>
            <a:off x="905256"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Find the consequential step</a:t>
            </a:r>
          </a:p>
        </p:txBody>
      </p:sp>
      <p:sp>
        <p:nvSpPr>
          <p:cNvPr id="11" name="Rectangle 10"/>
          <p:cNvSpPr/>
          <p:nvPr/>
        </p:nvSpPr>
        <p:spPr>
          <a:xfrm>
            <a:off x="3175254"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3292298"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50158"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50158"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78174"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Generate</a:t>
            </a:r>
          </a:p>
        </p:txBody>
      </p:sp>
      <p:sp>
        <p:nvSpPr>
          <p:cNvPr id="16" name="TextBox 15"/>
          <p:cNvSpPr txBox="1"/>
          <p:nvPr/>
        </p:nvSpPr>
        <p:spPr>
          <a:xfrm>
            <a:off x="3678174"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Insert the approval gate</a:t>
            </a:r>
          </a:p>
        </p:txBody>
      </p:sp>
      <p:sp>
        <p:nvSpPr>
          <p:cNvPr id="17" name="Rectangle 16"/>
          <p:cNvSpPr/>
          <p:nvPr/>
        </p:nvSpPr>
        <p:spPr>
          <a:xfrm>
            <a:off x="5948172"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6065216"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3076"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23076"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1092"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Verify</a:t>
            </a:r>
          </a:p>
        </p:txBody>
      </p:sp>
      <p:sp>
        <p:nvSpPr>
          <p:cNvPr id="22" name="TextBox 21"/>
          <p:cNvSpPr txBox="1"/>
          <p:nvPr/>
        </p:nvSpPr>
        <p:spPr>
          <a:xfrm>
            <a:off x="6451092"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Give the approver context</a:t>
            </a:r>
          </a:p>
        </p:txBody>
      </p:sp>
      <p:sp>
        <p:nvSpPr>
          <p:cNvPr id="23" name="Rectangle 22"/>
          <p:cNvSpPr/>
          <p:nvPr/>
        </p:nvSpPr>
        <p:spPr>
          <a:xfrm>
            <a:off x="8721090"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8838134"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095994"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5994"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24010"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Record</a:t>
            </a:r>
          </a:p>
        </p:txBody>
      </p:sp>
      <p:sp>
        <p:nvSpPr>
          <p:cNvPr id="28" name="TextBox 27"/>
          <p:cNvSpPr txBox="1"/>
          <p:nvPr/>
        </p:nvSpPr>
        <p:spPr>
          <a:xfrm>
            <a:off x="9224010"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Test approve and reject</a:t>
            </a:r>
          </a:p>
        </p:txBody>
      </p:sp>
      <p:sp>
        <p:nvSpPr>
          <p:cNvPr id="29" name="Rectangle 28"/>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0B981"/>
                </a:solidFill>
                <a:latin typeface="Arial"/>
              </a:rPr>
              <a:t>WHY IT MATTERS   </a:t>
            </a:r>
            <a:r>
              <a:rPr sz="1300" b="0">
                <a:solidFill>
                  <a:srgbClr val="161B26"/>
                </a:solidFill>
                <a:latin typeface="Arial"/>
              </a:rPr>
              <a:t>The shape of the work. Full step-by-step is in the Learner Guide (Lab 23) and the lab's instruction PDF.</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216</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23 · ACCEPTANCE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Add a Human Review Gate to an Agent Action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46888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03120"/>
            <a:ext cx="10698480" cy="9144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423160"/>
            <a:ext cx="10058400" cy="457200"/>
          </a:xfrm>
          <a:prstGeom prst="rect">
            <a:avLst/>
          </a:prstGeom>
          <a:noFill/>
        </p:spPr>
        <p:txBody>
          <a:bodyPr wrap="square" anchor="t">
            <a:spAutoFit/>
          </a:bodyPr>
          <a:lstStyle/>
          <a:p>
            <a:pPr algn="l">
              <a:spcAft>
                <a:spcPts val="400"/>
              </a:spcAft>
            </a:pPr>
            <a:r>
              <a:rPr sz="1900" b="1">
                <a:solidFill>
                  <a:srgbClr val="127A3E"/>
                </a:solidFill>
                <a:latin typeface="Arial"/>
              </a:rPr>
              <a:t>✅  Acceptance check</a:t>
            </a:r>
          </a:p>
        </p:txBody>
      </p:sp>
      <p:sp>
        <p:nvSpPr>
          <p:cNvPr id="10" name="TextBox 9"/>
          <p:cNvSpPr txBox="1"/>
          <p:nvPr/>
        </p:nvSpPr>
        <p:spPr>
          <a:xfrm>
            <a:off x="1097280" y="3063240"/>
            <a:ext cx="10149840" cy="1371600"/>
          </a:xfrm>
          <a:prstGeom prst="rect">
            <a:avLst/>
          </a:prstGeom>
          <a:noFill/>
        </p:spPr>
        <p:txBody>
          <a:bodyPr wrap="square" anchor="t">
            <a:spAutoFit/>
          </a:bodyPr>
          <a:lstStyle/>
          <a:p>
            <a:pPr algn="l">
              <a:spcAft>
                <a:spcPts val="400"/>
              </a:spcAft>
            </a:pPr>
            <a:r>
              <a:rPr sz="1700" b="0">
                <a:solidFill>
                  <a:srgbClr val="161B26"/>
                </a:solidFill>
                <a:latin typeface="Arial"/>
              </a:rPr>
              <a:t>The consequential action never completes without a recorded approval, a rejection stops it cleanly, and an audit row exists for every request regardless of outcome.</a:t>
            </a:r>
          </a:p>
        </p:txBody>
      </p:sp>
      <p:sp>
        <p:nvSpPr>
          <p:cNvPr id="11" name="Rectangle 10"/>
          <p:cNvSpPr/>
          <p:nvPr/>
        </p:nvSpPr>
        <p:spPr>
          <a:xfrm>
            <a:off x="777240" y="4800600"/>
            <a:ext cx="10698480" cy="1143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4800600"/>
            <a:ext cx="10698480"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956048"/>
            <a:ext cx="10058400" cy="320040"/>
          </a:xfrm>
          <a:prstGeom prst="rect">
            <a:avLst/>
          </a:prstGeom>
          <a:noFill/>
        </p:spPr>
        <p:txBody>
          <a:bodyPr wrap="square" anchor="t">
            <a:spAutoFit/>
          </a:bodyPr>
          <a:lstStyle/>
          <a:p>
            <a:pPr algn="l">
              <a:spcAft>
                <a:spcPts val="400"/>
              </a:spcAft>
            </a:pPr>
            <a:r>
              <a:rPr sz="1100" b="1">
                <a:solidFill>
                  <a:srgbClr val="F59E0B"/>
                </a:solidFill>
                <a:latin typeface="Arial"/>
              </a:rPr>
              <a:t>IF IT DOES NOT WORK</a:t>
            </a:r>
          </a:p>
        </p:txBody>
      </p:sp>
      <p:sp>
        <p:nvSpPr>
          <p:cNvPr id="14" name="Oval 13"/>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Re-read the step inputs before you change anything.</a:t>
            </a:r>
          </a:p>
        </p:txBody>
      </p:sp>
      <p:sp>
        <p:nvSpPr>
          <p:cNvPr id="16" name="Oval 15"/>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Check the source is attached and the value inserted, not typed.</a:t>
            </a:r>
          </a:p>
        </p:txBody>
      </p:sp>
      <p:sp>
        <p:nvSpPr>
          <p:cNvPr id="18" name="Oval 17"/>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3816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Full step-by-step: Learner Guide and the lab instruction PDF.</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217</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05 · ADVANCED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Test, Secure and Troubleshoot the Solution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371600" cy="4389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371600" cy="365760"/>
          </a:xfrm>
          <a:prstGeom prst="rect">
            <a:avLst/>
          </a:prstGeom>
          <a:noFill/>
        </p:spPr>
        <p:txBody>
          <a:bodyPr wrap="square" anchor="t">
            <a:spAutoFit/>
          </a:bodyPr>
          <a:lstStyle/>
          <a:p>
            <a:pPr algn="ctr">
              <a:spcAft>
                <a:spcPts val="400"/>
              </a:spcAft>
            </a:pPr>
            <a:r>
              <a:rPr sz="1500" b="1">
                <a:solidFill>
                  <a:srgbClr val="FFFFFF"/>
                </a:solidFill>
                <a:latin typeface="Arial"/>
              </a:rPr>
              <a:t>LAB 24</a:t>
            </a:r>
          </a:p>
        </p:txBody>
      </p:sp>
      <p:sp>
        <p:nvSpPr>
          <p:cNvPr id="9" name="Rectangle 8"/>
          <p:cNvSpPr/>
          <p:nvPr/>
        </p:nvSpPr>
        <p:spPr>
          <a:xfrm>
            <a:off x="2286000" y="1691640"/>
            <a:ext cx="1371600" cy="438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0" y="1737360"/>
            <a:ext cx="1371600" cy="365760"/>
          </a:xfrm>
          <a:prstGeom prst="rect">
            <a:avLst/>
          </a:prstGeom>
          <a:noFill/>
        </p:spPr>
        <p:txBody>
          <a:bodyPr wrap="square" anchor="t">
            <a:spAutoFit/>
          </a:bodyPr>
          <a:lstStyle/>
          <a:p>
            <a:pPr algn="ctr">
              <a:spcAft>
                <a:spcPts val="400"/>
              </a:spcAft>
            </a:pPr>
            <a:r>
              <a:rPr sz="1300" b="1">
                <a:solidFill>
                  <a:srgbClr val="5B6372"/>
                </a:solidFill>
                <a:latin typeface="Arial"/>
              </a:rPr>
              <a:t>K5 · A6,A8</a:t>
            </a:r>
          </a:p>
        </p:txBody>
      </p:sp>
      <p:sp>
        <p:nvSpPr>
          <p:cNvPr id="11" name="TextBox 10"/>
          <p:cNvSpPr txBox="1"/>
          <p:nvPr/>
        </p:nvSpPr>
        <p:spPr>
          <a:xfrm>
            <a:off x="777240" y="2331720"/>
            <a:ext cx="10698480" cy="1371600"/>
          </a:xfrm>
          <a:prstGeom prst="rect">
            <a:avLst/>
          </a:prstGeom>
          <a:noFill/>
        </p:spPr>
        <p:txBody>
          <a:bodyPr wrap="square" anchor="t">
            <a:spAutoFit/>
          </a:bodyPr>
          <a:lstStyle/>
          <a:p>
            <a:pPr algn="l">
              <a:spcAft>
                <a:spcPts val="400"/>
              </a:spcAft>
            </a:pPr>
            <a:r>
              <a:rPr sz="1900" b="0">
                <a:solidFill>
                  <a:srgbClr val="161B26"/>
                </a:solidFill>
                <a:latin typeface="Arial"/>
              </a:rPr>
              <a:t>The learner runs a structured test pass over the flows and agents built during the course, deliberately triggers failures, reads the run history to diagnose each one, and records the cause and the fix.</a:t>
            </a:r>
          </a:p>
        </p:txBody>
      </p:sp>
      <p:sp>
        <p:nvSpPr>
          <p:cNvPr id="12" name="Rectangle 11"/>
          <p:cNvSpPr/>
          <p:nvPr/>
        </p:nvSpPr>
        <p:spPr>
          <a:xfrm>
            <a:off x="777240" y="3886200"/>
            <a:ext cx="10698480"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88620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11480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 will build</a:t>
            </a:r>
          </a:p>
        </p:txBody>
      </p:sp>
      <p:sp>
        <p:nvSpPr>
          <p:cNvPr id="15" name="TextBox 14"/>
          <p:cNvSpPr txBox="1"/>
          <p:nvPr/>
        </p:nvSpPr>
        <p:spPr>
          <a:xfrm>
            <a:off x="1005840" y="4480560"/>
            <a:ext cx="10149840" cy="640080"/>
          </a:xfrm>
          <a:prstGeom prst="rect">
            <a:avLst/>
          </a:prstGeom>
          <a:noFill/>
        </p:spPr>
        <p:txBody>
          <a:bodyPr wrap="square" anchor="t">
            <a:spAutoFit/>
          </a:bodyPr>
          <a:lstStyle/>
          <a:p>
            <a:pPr algn="l">
              <a:spcAft>
                <a:spcPts val="400"/>
              </a:spcAft>
            </a:pPr>
            <a:r>
              <a:rPr sz="1700" b="1">
                <a:solidFill>
                  <a:srgbClr val="161B26"/>
                </a:solidFill>
                <a:latin typeface="Arial"/>
              </a:rPr>
              <a:t>A completed test log and an issue register with a diagnosed cause and fix for every failure</a:t>
            </a:r>
          </a:p>
        </p:txBody>
      </p:sp>
      <p:sp>
        <p:nvSpPr>
          <p:cNvPr id="16" name="TextBox 15"/>
          <p:cNvSpPr txBox="1"/>
          <p:nvPr/>
        </p:nvSpPr>
        <p:spPr>
          <a:xfrm>
            <a:off x="1005840" y="5212080"/>
            <a:ext cx="10241280" cy="365760"/>
          </a:xfrm>
          <a:prstGeom prst="rect">
            <a:avLst/>
          </a:prstGeom>
          <a:noFill/>
        </p:spPr>
        <p:txBody>
          <a:bodyPr wrap="square" anchor="t">
            <a:spAutoFit/>
          </a:bodyPr>
          <a:lstStyle/>
          <a:p>
            <a:pPr algn="l">
              <a:spcAft>
                <a:spcPts val="400"/>
              </a:spcAft>
            </a:pPr>
            <a:r>
              <a:rPr sz="1200" b="1">
                <a:solidFill>
                  <a:srgbClr val="5B6372"/>
                </a:solidFill>
                <a:latin typeface="Arial"/>
              </a:rPr>
              <a:t>Apps:  </a:t>
            </a:r>
            <a:r>
              <a:rPr sz="1200" b="0">
                <a:solidFill>
                  <a:srgbClr val="5B6372"/>
                </a:solidFill>
                <a:latin typeface="Arial"/>
              </a:rPr>
              <a:t>Power Automate, Copilot Studio, run history</a:t>
            </a:r>
          </a:p>
        </p:txBody>
      </p:sp>
      <p:sp>
        <p:nvSpPr>
          <p:cNvPr id="17" name="Rectangle 16"/>
          <p:cNvSpPr/>
          <p:nvPr/>
        </p:nvSpPr>
        <p:spPr>
          <a:xfrm>
            <a:off x="777240"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5943600"/>
            <a:ext cx="64008"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5943600"/>
            <a:ext cx="3154680" cy="457200"/>
          </a:xfrm>
          <a:prstGeom prst="rect">
            <a:avLst/>
          </a:prstGeom>
          <a:noFill/>
        </p:spPr>
        <p:txBody>
          <a:bodyPr wrap="square" anchor="ctr">
            <a:spAutoFit/>
          </a:bodyPr>
          <a:lstStyle/>
          <a:p>
            <a:pPr algn="l">
              <a:spcAft>
                <a:spcPts val="400"/>
              </a:spcAft>
            </a:pPr>
            <a:r>
              <a:rPr sz="900" b="1">
                <a:solidFill>
                  <a:srgbClr val="1F6FEB"/>
                </a:solidFill>
                <a:latin typeface="Arial"/>
              </a:rPr>
              <a:t>ASSESSED   </a:t>
            </a:r>
            <a:r>
              <a:rPr sz="1050" b="0">
                <a:solidFill>
                  <a:srgbClr val="161B26"/>
                </a:solidFill>
                <a:latin typeface="Arial"/>
              </a:rPr>
              <a:t>K5 · A6,A8</a:t>
            </a:r>
          </a:p>
        </p:txBody>
      </p:sp>
      <p:sp>
        <p:nvSpPr>
          <p:cNvPr id="20" name="Rectangle 19"/>
          <p:cNvSpPr/>
          <p:nvPr/>
        </p:nvSpPr>
        <p:spPr>
          <a:xfrm>
            <a:off x="4407408"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07408" y="5943600"/>
            <a:ext cx="64008"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0" y="5943600"/>
            <a:ext cx="3154680" cy="457200"/>
          </a:xfrm>
          <a:prstGeom prst="rect">
            <a:avLst/>
          </a:prstGeom>
          <a:noFill/>
        </p:spPr>
        <p:txBody>
          <a:bodyPr wrap="square" anchor="ctr">
            <a:spAutoFit/>
          </a:bodyPr>
          <a:lstStyle/>
          <a:p>
            <a:pPr algn="l">
              <a:spcAft>
                <a:spcPts val="400"/>
              </a:spcAft>
            </a:pPr>
            <a:r>
              <a:rPr sz="900" b="1">
                <a:solidFill>
                  <a:srgbClr val="10B981"/>
                </a:solidFill>
                <a:latin typeface="Arial"/>
              </a:rPr>
              <a:t>LEVEL   </a:t>
            </a:r>
            <a:r>
              <a:rPr sz="1050" b="0">
                <a:solidFill>
                  <a:srgbClr val="161B26"/>
                </a:solidFill>
                <a:latin typeface="Arial"/>
              </a:rPr>
              <a:t>Advanced</a:t>
            </a:r>
          </a:p>
        </p:txBody>
      </p:sp>
      <p:sp>
        <p:nvSpPr>
          <p:cNvPr id="23" name="Rectangle 22"/>
          <p:cNvSpPr/>
          <p:nvPr/>
        </p:nvSpPr>
        <p:spPr>
          <a:xfrm>
            <a:off x="8037576"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37576" y="5943600"/>
            <a:ext cx="64008"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02168" y="5943600"/>
            <a:ext cx="3154680" cy="457200"/>
          </a:xfrm>
          <a:prstGeom prst="rect">
            <a:avLst/>
          </a:prstGeom>
          <a:noFill/>
        </p:spPr>
        <p:txBody>
          <a:bodyPr wrap="square" anchor="ctr">
            <a:spAutoFit/>
          </a:bodyPr>
          <a:lstStyle/>
          <a:p>
            <a:pPr algn="l">
              <a:spcAft>
                <a:spcPts val="400"/>
              </a:spcAft>
            </a:pPr>
            <a:r>
              <a:rPr sz="900" b="1">
                <a:solidFill>
                  <a:srgbClr val="7C3AED"/>
                </a:solidFill>
                <a:latin typeface="Arial"/>
              </a:rPr>
              <a:t>EVIDENCE   </a:t>
            </a:r>
            <a:r>
              <a:rPr sz="1050" b="0">
                <a:solidFill>
                  <a:srgbClr val="161B26"/>
                </a:solidFill>
                <a:latin typeface="Arial"/>
              </a:rPr>
              <a:t>Workbook · screenshot · reviewer</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218</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24 · PROCESS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How Lab 24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Prepare</a:t>
            </a:r>
          </a:p>
        </p:txBody>
      </p:sp>
      <p:sp>
        <p:nvSpPr>
          <p:cNvPr id="10" name="TextBox 9"/>
          <p:cNvSpPr txBox="1"/>
          <p:nvPr/>
        </p:nvSpPr>
        <p:spPr>
          <a:xfrm>
            <a:off x="905256"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Build the test pass</a:t>
            </a:r>
          </a:p>
        </p:txBody>
      </p:sp>
      <p:sp>
        <p:nvSpPr>
          <p:cNvPr id="11" name="Rectangle 10"/>
          <p:cNvSpPr/>
          <p:nvPr/>
        </p:nvSpPr>
        <p:spPr>
          <a:xfrm>
            <a:off x="3175254"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3292298"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50158"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50158"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78174"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Generate</a:t>
            </a:r>
          </a:p>
        </p:txBody>
      </p:sp>
      <p:sp>
        <p:nvSpPr>
          <p:cNvPr id="16" name="TextBox 15"/>
          <p:cNvSpPr txBox="1"/>
          <p:nvPr/>
        </p:nvSpPr>
        <p:spPr>
          <a:xfrm>
            <a:off x="3678174"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Trigger failures deliberately</a:t>
            </a:r>
          </a:p>
        </p:txBody>
      </p:sp>
      <p:sp>
        <p:nvSpPr>
          <p:cNvPr id="17" name="Rectangle 16"/>
          <p:cNvSpPr/>
          <p:nvPr/>
        </p:nvSpPr>
        <p:spPr>
          <a:xfrm>
            <a:off x="5948172"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6065216"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3076"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23076"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1092"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Verify</a:t>
            </a:r>
          </a:p>
        </p:txBody>
      </p:sp>
      <p:sp>
        <p:nvSpPr>
          <p:cNvPr id="22" name="TextBox 21"/>
          <p:cNvSpPr txBox="1"/>
          <p:nvPr/>
        </p:nvSpPr>
        <p:spPr>
          <a:xfrm>
            <a:off x="6451092"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Diagnose from run history</a:t>
            </a:r>
          </a:p>
        </p:txBody>
      </p:sp>
      <p:sp>
        <p:nvSpPr>
          <p:cNvPr id="23" name="Rectangle 22"/>
          <p:cNvSpPr/>
          <p:nvPr/>
        </p:nvSpPr>
        <p:spPr>
          <a:xfrm>
            <a:off x="8721090"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8838134"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095994"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5994"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24010"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Record</a:t>
            </a:r>
          </a:p>
        </p:txBody>
      </p:sp>
      <p:sp>
        <p:nvSpPr>
          <p:cNvPr id="28" name="TextBox 27"/>
          <p:cNvSpPr txBox="1"/>
          <p:nvPr/>
        </p:nvSpPr>
        <p:spPr>
          <a:xfrm>
            <a:off x="9224010"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Confirm the fix and retest</a:t>
            </a:r>
          </a:p>
        </p:txBody>
      </p:sp>
      <p:sp>
        <p:nvSpPr>
          <p:cNvPr id="29" name="Rectangle 28"/>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0B981"/>
                </a:solidFill>
                <a:latin typeface="Arial"/>
              </a:rPr>
              <a:t>WHY IT MATTERS   </a:t>
            </a:r>
            <a:r>
              <a:rPr sz="1300" b="0">
                <a:solidFill>
                  <a:srgbClr val="161B26"/>
                </a:solidFill>
                <a:latin typeface="Arial"/>
              </a:rPr>
              <a:t>The shape of the work. Full step-by-step is in the Learner Guide (Lab 24) and the lab's instruction PDF.</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219</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24 · ACCEPTANCE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Test, Secure and Troubleshoot the Solution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46888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03120"/>
            <a:ext cx="10698480" cy="9144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423160"/>
            <a:ext cx="10058400" cy="457200"/>
          </a:xfrm>
          <a:prstGeom prst="rect">
            <a:avLst/>
          </a:prstGeom>
          <a:noFill/>
        </p:spPr>
        <p:txBody>
          <a:bodyPr wrap="square" anchor="t">
            <a:spAutoFit/>
          </a:bodyPr>
          <a:lstStyle/>
          <a:p>
            <a:pPr algn="l">
              <a:spcAft>
                <a:spcPts val="400"/>
              </a:spcAft>
            </a:pPr>
            <a:r>
              <a:rPr sz="1900" b="1">
                <a:solidFill>
                  <a:srgbClr val="127A3E"/>
                </a:solidFill>
                <a:latin typeface="Arial"/>
              </a:rPr>
              <a:t>✅  Acceptance check</a:t>
            </a:r>
          </a:p>
        </p:txBody>
      </p:sp>
      <p:sp>
        <p:nvSpPr>
          <p:cNvPr id="10" name="TextBox 9"/>
          <p:cNvSpPr txBox="1"/>
          <p:nvPr/>
        </p:nvSpPr>
        <p:spPr>
          <a:xfrm>
            <a:off x="1097280" y="3063240"/>
            <a:ext cx="10149840" cy="1371600"/>
          </a:xfrm>
          <a:prstGeom prst="rect">
            <a:avLst/>
          </a:prstGeom>
          <a:noFill/>
        </p:spPr>
        <p:txBody>
          <a:bodyPr wrap="square" anchor="t">
            <a:spAutoFit/>
          </a:bodyPr>
          <a:lstStyle/>
          <a:p>
            <a:pPr algn="l">
              <a:spcAft>
                <a:spcPts val="400"/>
              </a:spcAft>
            </a:pPr>
            <a:r>
              <a:rPr sz="1700" b="0">
                <a:solidFill>
                  <a:srgbClr val="161B26"/>
                </a:solidFill>
                <a:latin typeface="Arial"/>
              </a:rPr>
              <a:t>Every flow and agent has a recorded happy-path result, each deliberately triggered failure is diagnosed with a cause and a fix, and every fix has a passing retest.</a:t>
            </a:r>
          </a:p>
        </p:txBody>
      </p:sp>
      <p:sp>
        <p:nvSpPr>
          <p:cNvPr id="11" name="Rectangle 10"/>
          <p:cNvSpPr/>
          <p:nvPr/>
        </p:nvSpPr>
        <p:spPr>
          <a:xfrm>
            <a:off x="777240" y="4800600"/>
            <a:ext cx="10698480" cy="1143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4800600"/>
            <a:ext cx="10698480"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956048"/>
            <a:ext cx="10058400" cy="320040"/>
          </a:xfrm>
          <a:prstGeom prst="rect">
            <a:avLst/>
          </a:prstGeom>
          <a:noFill/>
        </p:spPr>
        <p:txBody>
          <a:bodyPr wrap="square" anchor="t">
            <a:spAutoFit/>
          </a:bodyPr>
          <a:lstStyle/>
          <a:p>
            <a:pPr algn="l">
              <a:spcAft>
                <a:spcPts val="400"/>
              </a:spcAft>
            </a:pPr>
            <a:r>
              <a:rPr sz="1100" b="1">
                <a:solidFill>
                  <a:srgbClr val="F59E0B"/>
                </a:solidFill>
                <a:latin typeface="Arial"/>
              </a:rPr>
              <a:t>IF IT DOES NOT WORK</a:t>
            </a:r>
          </a:p>
        </p:txBody>
      </p:sp>
      <p:sp>
        <p:nvSpPr>
          <p:cNvPr id="14" name="Oval 13"/>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Re-read the step inputs before you change anything.</a:t>
            </a:r>
          </a:p>
        </p:txBody>
      </p:sp>
      <p:sp>
        <p:nvSpPr>
          <p:cNvPr id="16" name="Oval 15"/>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Check the source is attached and the value inserted, not typed.</a:t>
            </a:r>
          </a:p>
        </p:txBody>
      </p:sp>
      <p:sp>
        <p:nvSpPr>
          <p:cNvPr id="18" name="Oval 17"/>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3816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Full step-by-step: Learner Guide and the lab instruction PDF.</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220</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05 · CAPSTONE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Operate a Governed End-to-End Copilot Pipeline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371600" cy="4389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371600" cy="365760"/>
          </a:xfrm>
          <a:prstGeom prst="rect">
            <a:avLst/>
          </a:prstGeom>
          <a:noFill/>
        </p:spPr>
        <p:txBody>
          <a:bodyPr wrap="square" anchor="t">
            <a:spAutoFit/>
          </a:bodyPr>
          <a:lstStyle/>
          <a:p>
            <a:pPr algn="ctr">
              <a:spcAft>
                <a:spcPts val="400"/>
              </a:spcAft>
            </a:pPr>
            <a:r>
              <a:rPr sz="1500" b="1">
                <a:solidFill>
                  <a:srgbClr val="FFFFFF"/>
                </a:solidFill>
                <a:latin typeface="Arial"/>
              </a:rPr>
              <a:t>LAB 25</a:t>
            </a:r>
          </a:p>
        </p:txBody>
      </p:sp>
      <p:sp>
        <p:nvSpPr>
          <p:cNvPr id="9" name="Rectangle 8"/>
          <p:cNvSpPr/>
          <p:nvPr/>
        </p:nvSpPr>
        <p:spPr>
          <a:xfrm>
            <a:off x="2286000" y="1691640"/>
            <a:ext cx="1371600" cy="438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0" y="1737360"/>
            <a:ext cx="1371600" cy="365760"/>
          </a:xfrm>
          <a:prstGeom prst="rect">
            <a:avLst/>
          </a:prstGeom>
          <a:noFill/>
        </p:spPr>
        <p:txBody>
          <a:bodyPr wrap="square" anchor="t">
            <a:spAutoFit/>
          </a:bodyPr>
          <a:lstStyle/>
          <a:p>
            <a:pPr algn="ctr">
              <a:spcAft>
                <a:spcPts val="400"/>
              </a:spcAft>
            </a:pPr>
            <a:r>
              <a:rPr sz="1300" b="1">
                <a:solidFill>
                  <a:srgbClr val="5B6372"/>
                </a:solidFill>
                <a:latin typeface="Arial"/>
              </a:rPr>
              <a:t>K5 · A7,A8</a:t>
            </a:r>
          </a:p>
        </p:txBody>
      </p:sp>
      <p:sp>
        <p:nvSpPr>
          <p:cNvPr id="11" name="TextBox 10"/>
          <p:cNvSpPr txBox="1"/>
          <p:nvPr/>
        </p:nvSpPr>
        <p:spPr>
          <a:xfrm>
            <a:off x="777240" y="2331720"/>
            <a:ext cx="10698480" cy="1371600"/>
          </a:xfrm>
          <a:prstGeom prst="rect">
            <a:avLst/>
          </a:prstGeom>
          <a:noFill/>
        </p:spPr>
        <p:txBody>
          <a:bodyPr wrap="square" anchor="t">
            <a:spAutoFit/>
          </a:bodyPr>
          <a:lstStyle/>
          <a:p>
            <a:pPr algn="l">
              <a:spcAft>
                <a:spcPts val="400"/>
              </a:spcAft>
            </a:pPr>
            <a:r>
              <a:rPr sz="1900" b="0">
                <a:solidFill>
                  <a:srgbClr val="161B26"/>
                </a:solidFill>
                <a:latin typeface="Arial"/>
              </a:rPr>
              <a:t>The learner runs one request end to end through the whole solution built during the week, produces the content, routes it through the automation and the human gate, and assembles the governance evidence pack.</a:t>
            </a:r>
          </a:p>
        </p:txBody>
      </p:sp>
      <p:sp>
        <p:nvSpPr>
          <p:cNvPr id="12" name="Rectangle 11"/>
          <p:cNvSpPr/>
          <p:nvPr/>
        </p:nvSpPr>
        <p:spPr>
          <a:xfrm>
            <a:off x="777240" y="3886200"/>
            <a:ext cx="10698480"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88620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11480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 will build</a:t>
            </a:r>
          </a:p>
        </p:txBody>
      </p:sp>
      <p:sp>
        <p:nvSpPr>
          <p:cNvPr id="15" name="TextBox 14"/>
          <p:cNvSpPr txBox="1"/>
          <p:nvPr/>
        </p:nvSpPr>
        <p:spPr>
          <a:xfrm>
            <a:off x="1005840" y="4480560"/>
            <a:ext cx="10149840" cy="640080"/>
          </a:xfrm>
          <a:prstGeom prst="rect">
            <a:avLst/>
          </a:prstGeom>
          <a:noFill/>
        </p:spPr>
        <p:txBody>
          <a:bodyPr wrap="square" anchor="t">
            <a:spAutoFit/>
          </a:bodyPr>
          <a:lstStyle/>
          <a:p>
            <a:pPr algn="l">
              <a:spcAft>
                <a:spcPts val="400"/>
              </a:spcAft>
            </a:pPr>
            <a:r>
              <a:rPr sz="1700" b="1">
                <a:solidFill>
                  <a:srgbClr val="161B26"/>
                </a:solidFill>
                <a:latin typeface="Arial"/>
              </a:rPr>
              <a:t>A complete pipeline run with content, automation, approval and a governance evidence pack</a:t>
            </a:r>
          </a:p>
        </p:txBody>
      </p:sp>
      <p:sp>
        <p:nvSpPr>
          <p:cNvPr id="16" name="TextBox 15"/>
          <p:cNvSpPr txBox="1"/>
          <p:nvPr/>
        </p:nvSpPr>
        <p:spPr>
          <a:xfrm>
            <a:off x="1005840" y="5212080"/>
            <a:ext cx="10241280" cy="365760"/>
          </a:xfrm>
          <a:prstGeom prst="rect">
            <a:avLst/>
          </a:prstGeom>
          <a:noFill/>
        </p:spPr>
        <p:txBody>
          <a:bodyPr wrap="square" anchor="t">
            <a:spAutoFit/>
          </a:bodyPr>
          <a:lstStyle/>
          <a:p>
            <a:pPr algn="l">
              <a:spcAft>
                <a:spcPts val="400"/>
              </a:spcAft>
            </a:pPr>
            <a:r>
              <a:rPr sz="1200" b="1">
                <a:solidFill>
                  <a:srgbClr val="5B6372"/>
                </a:solidFill>
                <a:latin typeface="Arial"/>
              </a:rPr>
              <a:t>Apps:  </a:t>
            </a:r>
            <a:r>
              <a:rPr sz="1200" b="0">
                <a:solidFill>
                  <a:srgbClr val="5B6372"/>
                </a:solidFill>
                <a:latin typeface="Arial"/>
              </a:rPr>
              <a:t>Microsoft 365 Copilot, Power Automate, Copilot Studio, Outlook, Teams, Excel</a:t>
            </a:r>
          </a:p>
        </p:txBody>
      </p:sp>
      <p:sp>
        <p:nvSpPr>
          <p:cNvPr id="17" name="Rectangle 16"/>
          <p:cNvSpPr/>
          <p:nvPr/>
        </p:nvSpPr>
        <p:spPr>
          <a:xfrm>
            <a:off x="777240"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5943600"/>
            <a:ext cx="64008"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5943600"/>
            <a:ext cx="3154680" cy="457200"/>
          </a:xfrm>
          <a:prstGeom prst="rect">
            <a:avLst/>
          </a:prstGeom>
          <a:noFill/>
        </p:spPr>
        <p:txBody>
          <a:bodyPr wrap="square" anchor="ctr">
            <a:spAutoFit/>
          </a:bodyPr>
          <a:lstStyle/>
          <a:p>
            <a:pPr algn="l">
              <a:spcAft>
                <a:spcPts val="400"/>
              </a:spcAft>
            </a:pPr>
            <a:r>
              <a:rPr sz="900" b="1">
                <a:solidFill>
                  <a:srgbClr val="1F6FEB"/>
                </a:solidFill>
                <a:latin typeface="Arial"/>
              </a:rPr>
              <a:t>ASSESSED   </a:t>
            </a:r>
            <a:r>
              <a:rPr sz="1050" b="0">
                <a:solidFill>
                  <a:srgbClr val="161B26"/>
                </a:solidFill>
                <a:latin typeface="Arial"/>
              </a:rPr>
              <a:t>K5 · A7,A8</a:t>
            </a:r>
          </a:p>
        </p:txBody>
      </p:sp>
      <p:sp>
        <p:nvSpPr>
          <p:cNvPr id="20" name="Rectangle 19"/>
          <p:cNvSpPr/>
          <p:nvPr/>
        </p:nvSpPr>
        <p:spPr>
          <a:xfrm>
            <a:off x="4407408"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07408" y="5943600"/>
            <a:ext cx="64008"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0" y="5943600"/>
            <a:ext cx="3154680" cy="457200"/>
          </a:xfrm>
          <a:prstGeom prst="rect">
            <a:avLst/>
          </a:prstGeom>
          <a:noFill/>
        </p:spPr>
        <p:txBody>
          <a:bodyPr wrap="square" anchor="ctr">
            <a:spAutoFit/>
          </a:bodyPr>
          <a:lstStyle/>
          <a:p>
            <a:pPr algn="l">
              <a:spcAft>
                <a:spcPts val="400"/>
              </a:spcAft>
            </a:pPr>
            <a:r>
              <a:rPr sz="900" b="1">
                <a:solidFill>
                  <a:srgbClr val="10B981"/>
                </a:solidFill>
                <a:latin typeface="Arial"/>
              </a:rPr>
              <a:t>LEVEL   </a:t>
            </a:r>
            <a:r>
              <a:rPr sz="1050" b="0">
                <a:solidFill>
                  <a:srgbClr val="161B26"/>
                </a:solidFill>
                <a:latin typeface="Arial"/>
              </a:rPr>
              <a:t>Capstone</a:t>
            </a:r>
          </a:p>
        </p:txBody>
      </p:sp>
      <p:sp>
        <p:nvSpPr>
          <p:cNvPr id="23" name="Rectangle 22"/>
          <p:cNvSpPr/>
          <p:nvPr/>
        </p:nvSpPr>
        <p:spPr>
          <a:xfrm>
            <a:off x="8037576" y="594360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37576" y="5943600"/>
            <a:ext cx="64008"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02168" y="5943600"/>
            <a:ext cx="3154680" cy="457200"/>
          </a:xfrm>
          <a:prstGeom prst="rect">
            <a:avLst/>
          </a:prstGeom>
          <a:noFill/>
        </p:spPr>
        <p:txBody>
          <a:bodyPr wrap="square" anchor="ctr">
            <a:spAutoFit/>
          </a:bodyPr>
          <a:lstStyle/>
          <a:p>
            <a:pPr algn="l">
              <a:spcAft>
                <a:spcPts val="400"/>
              </a:spcAft>
            </a:pPr>
            <a:r>
              <a:rPr sz="900" b="1">
                <a:solidFill>
                  <a:srgbClr val="7C3AED"/>
                </a:solidFill>
                <a:latin typeface="Arial"/>
              </a:rPr>
              <a:t>EVIDENCE   </a:t>
            </a:r>
            <a:r>
              <a:rPr sz="1050" b="0">
                <a:solidFill>
                  <a:srgbClr val="161B26"/>
                </a:solidFill>
                <a:latin typeface="Arial"/>
              </a:rPr>
              <a:t>Workbook · screenshot · reviewer</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221</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25 · PROCESS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How Lab 25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Prepare</a:t>
            </a:r>
          </a:p>
        </p:txBody>
      </p:sp>
      <p:sp>
        <p:nvSpPr>
          <p:cNvPr id="10" name="TextBox 9"/>
          <p:cNvSpPr txBox="1"/>
          <p:nvPr/>
        </p:nvSpPr>
        <p:spPr>
          <a:xfrm>
            <a:off x="905256"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Restate the whole process</a:t>
            </a:r>
          </a:p>
        </p:txBody>
      </p:sp>
      <p:sp>
        <p:nvSpPr>
          <p:cNvPr id="11" name="Rectangle 10"/>
          <p:cNvSpPr/>
          <p:nvPr/>
        </p:nvSpPr>
        <p:spPr>
          <a:xfrm>
            <a:off x="3175254"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3292298"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50158"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50158"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78174"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Generate</a:t>
            </a:r>
          </a:p>
        </p:txBody>
      </p:sp>
      <p:sp>
        <p:nvSpPr>
          <p:cNvPr id="16" name="TextBox 15"/>
          <p:cNvSpPr txBox="1"/>
          <p:nvPr/>
        </p:nvSpPr>
        <p:spPr>
          <a:xfrm>
            <a:off x="3678174"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Verify before the pipeline</a:t>
            </a:r>
          </a:p>
        </p:txBody>
      </p:sp>
      <p:sp>
        <p:nvSpPr>
          <p:cNvPr id="17" name="Rectangle 16"/>
          <p:cNvSpPr/>
          <p:nvPr/>
        </p:nvSpPr>
        <p:spPr>
          <a:xfrm>
            <a:off x="5948172"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6065216"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3076"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23076"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1092"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Verify</a:t>
            </a:r>
          </a:p>
        </p:txBody>
      </p:sp>
      <p:sp>
        <p:nvSpPr>
          <p:cNvPr id="22" name="TextBox 21"/>
          <p:cNvSpPr txBox="1"/>
          <p:nvPr/>
        </p:nvSpPr>
        <p:spPr>
          <a:xfrm>
            <a:off x="6451092"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Pass the human review gate</a:t>
            </a:r>
          </a:p>
        </p:txBody>
      </p:sp>
      <p:sp>
        <p:nvSpPr>
          <p:cNvPr id="23" name="Rectangle 22"/>
          <p:cNvSpPr/>
          <p:nvPr/>
        </p:nvSpPr>
        <p:spPr>
          <a:xfrm>
            <a:off x="8721090"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8838134"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095994"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5994"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24010" y="2670048"/>
            <a:ext cx="2059686" cy="713232"/>
          </a:xfrm>
          <a:prstGeom prst="rect">
            <a:avLst/>
          </a:prstGeom>
          <a:noFill/>
        </p:spPr>
        <p:txBody>
          <a:bodyPr wrap="square" anchor="ctr">
            <a:spAutoFit/>
          </a:bodyPr>
          <a:lstStyle/>
          <a:p>
            <a:pPr algn="ctr">
              <a:spcAft>
                <a:spcPts val="400"/>
              </a:spcAft>
            </a:pPr>
            <a:r>
              <a:rPr sz="1500" b="1">
                <a:solidFill>
                  <a:srgbClr val="161B26"/>
                </a:solidFill>
                <a:latin typeface="Arial"/>
              </a:rPr>
              <a:t>Record</a:t>
            </a:r>
          </a:p>
        </p:txBody>
      </p:sp>
      <p:sp>
        <p:nvSpPr>
          <p:cNvPr id="28" name="TextBox 27"/>
          <p:cNvSpPr txBox="1"/>
          <p:nvPr/>
        </p:nvSpPr>
        <p:spPr>
          <a:xfrm>
            <a:off x="9224010" y="3401568"/>
            <a:ext cx="2059686" cy="804672"/>
          </a:xfrm>
          <a:prstGeom prst="rect">
            <a:avLst/>
          </a:prstGeom>
          <a:noFill/>
        </p:spPr>
        <p:txBody>
          <a:bodyPr wrap="square" anchor="t">
            <a:spAutoFit/>
          </a:bodyPr>
          <a:lstStyle/>
          <a:p>
            <a:pPr algn="ctr">
              <a:spcAft>
                <a:spcPts val="400"/>
              </a:spcAft>
            </a:pPr>
            <a:r>
              <a:rPr sz="1100" b="0">
                <a:solidFill>
                  <a:srgbClr val="5B6372"/>
                </a:solidFill>
                <a:latin typeface="Arial"/>
              </a:rPr>
              <a:t>Assemble the evidence pack</a:t>
            </a:r>
          </a:p>
        </p:txBody>
      </p:sp>
      <p:sp>
        <p:nvSpPr>
          <p:cNvPr id="29" name="Rectangle 28"/>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0B981"/>
                </a:solidFill>
                <a:latin typeface="Arial"/>
              </a:rPr>
              <a:t>WHY IT MATTERS   </a:t>
            </a:r>
            <a:r>
              <a:rPr sz="1300" b="0">
                <a:solidFill>
                  <a:srgbClr val="161B26"/>
                </a:solidFill>
                <a:latin typeface="Arial"/>
              </a:rPr>
              <a:t>The shape of the work. Full step-by-step is in the Learner Guide (Lab 25) and the lab's instruction PDF.</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222</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25 · ACCEPTANCE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Operate a Governed End-to-End Copilot Pipeline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46888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03120"/>
            <a:ext cx="10698480" cy="9144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423160"/>
            <a:ext cx="10058400" cy="457200"/>
          </a:xfrm>
          <a:prstGeom prst="rect">
            <a:avLst/>
          </a:prstGeom>
          <a:noFill/>
        </p:spPr>
        <p:txBody>
          <a:bodyPr wrap="square" anchor="t">
            <a:spAutoFit/>
          </a:bodyPr>
          <a:lstStyle/>
          <a:p>
            <a:pPr algn="l">
              <a:spcAft>
                <a:spcPts val="400"/>
              </a:spcAft>
            </a:pPr>
            <a:r>
              <a:rPr sz="1900" b="1">
                <a:solidFill>
                  <a:srgbClr val="127A3E"/>
                </a:solidFill>
                <a:latin typeface="Arial"/>
              </a:rPr>
              <a:t>✅  Acceptance check</a:t>
            </a:r>
          </a:p>
        </p:txBody>
      </p:sp>
      <p:sp>
        <p:nvSpPr>
          <p:cNvPr id="10" name="TextBox 9"/>
          <p:cNvSpPr txBox="1"/>
          <p:nvPr/>
        </p:nvSpPr>
        <p:spPr>
          <a:xfrm>
            <a:off x="1097280" y="3063240"/>
            <a:ext cx="10149840" cy="1371600"/>
          </a:xfrm>
          <a:prstGeom prst="rect">
            <a:avLst/>
          </a:prstGeom>
          <a:noFill/>
        </p:spPr>
        <p:txBody>
          <a:bodyPr wrap="square" anchor="t">
            <a:spAutoFit/>
          </a:bodyPr>
          <a:lstStyle/>
          <a:p>
            <a:pPr algn="l">
              <a:spcAft>
                <a:spcPts val="400"/>
              </a:spcAft>
            </a:pPr>
            <a:r>
              <a:rPr sz="1700" b="0">
                <a:solidFill>
                  <a:srgbClr val="161B26"/>
                </a:solidFill>
                <a:latin typeface="Arial"/>
              </a:rPr>
              <a:t>One request traverses content generation, verification, automation and human approval, and the evidence pack accounts for every stage with a named owner.</a:t>
            </a:r>
          </a:p>
        </p:txBody>
      </p:sp>
      <p:sp>
        <p:nvSpPr>
          <p:cNvPr id="11" name="Rectangle 10"/>
          <p:cNvSpPr/>
          <p:nvPr/>
        </p:nvSpPr>
        <p:spPr>
          <a:xfrm>
            <a:off x="777240" y="4800600"/>
            <a:ext cx="10698480" cy="1143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4800600"/>
            <a:ext cx="10698480"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956048"/>
            <a:ext cx="10058400" cy="320040"/>
          </a:xfrm>
          <a:prstGeom prst="rect">
            <a:avLst/>
          </a:prstGeom>
          <a:noFill/>
        </p:spPr>
        <p:txBody>
          <a:bodyPr wrap="square" anchor="t">
            <a:spAutoFit/>
          </a:bodyPr>
          <a:lstStyle/>
          <a:p>
            <a:pPr algn="l">
              <a:spcAft>
                <a:spcPts val="400"/>
              </a:spcAft>
            </a:pPr>
            <a:r>
              <a:rPr sz="1100" b="1">
                <a:solidFill>
                  <a:srgbClr val="F59E0B"/>
                </a:solidFill>
                <a:latin typeface="Arial"/>
              </a:rPr>
              <a:t>IF IT DOES NOT WORK</a:t>
            </a:r>
          </a:p>
        </p:txBody>
      </p:sp>
      <p:sp>
        <p:nvSpPr>
          <p:cNvPr id="14" name="Oval 13"/>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Re-read the step inputs before you change anything.</a:t>
            </a:r>
          </a:p>
        </p:txBody>
      </p:sp>
      <p:sp>
        <p:nvSpPr>
          <p:cNvPr id="16" name="Oval 15"/>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Check the source is attached and the value inserted, not typed.</a:t>
            </a:r>
          </a:p>
        </p:txBody>
      </p:sp>
      <p:sp>
        <p:nvSpPr>
          <p:cNvPr id="18" name="Oval 17"/>
          <p:cNvSpPr/>
          <p:nvPr/>
        </p:nvSpPr>
        <p:spPr>
          <a:xfrm>
            <a:off x="1097280" y="5303520"/>
            <a:ext cx="0" cy="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38160" y="5285232"/>
            <a:ext cx="3383280" cy="566928"/>
          </a:xfrm>
          <a:prstGeom prst="rect">
            <a:avLst/>
          </a:prstGeom>
          <a:noFill/>
        </p:spPr>
        <p:txBody>
          <a:bodyPr wrap="square" anchor="t">
            <a:spAutoFit/>
          </a:bodyPr>
          <a:lstStyle/>
          <a:p>
            <a:pPr algn="l">
              <a:spcAft>
                <a:spcPts val="400"/>
              </a:spcAft>
            </a:pPr>
            <a:r>
              <a:rPr sz="1050" b="0">
                <a:solidFill>
                  <a:srgbClr val="161B26"/>
                </a:solidFill>
                <a:latin typeface="Arial"/>
              </a:rPr>
              <a:t>Full step-by-step: Learner Guide and the lab instruction PDF.</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223</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 CAN NOW DO</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Recap — Topic 05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Lab 21</a:t>
            </a:r>
          </a:p>
          <a:p>
            <a:pPr algn="l">
              <a:spcAft>
                <a:spcPts val="300"/>
              </a:spcAft>
            </a:pPr>
            <a:r>
              <a:rPr sz="1000" b="0">
                <a:solidFill>
                  <a:srgbClr val="5B6372"/>
                </a:solidFill>
                <a:latin typeface="Arial"/>
              </a:rPr>
              <a:t>Integrate an automation with an external application at API level using a defined contract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Lab 22</a:t>
            </a:r>
          </a:p>
          <a:p>
            <a:pPr algn="l">
              <a:spcAft>
                <a:spcPts val="300"/>
              </a:spcAft>
            </a:pPr>
            <a:r>
              <a:rPr sz="1000" b="0">
                <a:solidFill>
                  <a:srgbClr val="5B6372"/>
                </a:solidFill>
                <a:latin typeface="Arial"/>
              </a:rPr>
              <a:t>Ground answers in retrieved documents and prove the agent refuses what it cannot find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29000"/>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Lab 23</a:t>
            </a:r>
          </a:p>
          <a:p>
            <a:pPr algn="l">
              <a:spcAft>
                <a:spcPts val="300"/>
              </a:spcAft>
            </a:pPr>
            <a:r>
              <a:rPr sz="1000" b="0">
                <a:solidFill>
                  <a:srgbClr val="5B6372"/>
                </a:solidFill>
                <a:latin typeface="Arial"/>
              </a:rPr>
              <a:t>Apply the boundary of agency so a consequential action cannot complete without a person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29000"/>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Lab 24</a:t>
            </a:r>
          </a:p>
          <a:p>
            <a:pPr algn="l">
              <a:spcAft>
                <a:spcPts val="300"/>
              </a:spcAft>
            </a:pPr>
            <a:r>
              <a:rPr sz="1000" b="0">
                <a:solidFill>
                  <a:srgbClr val="5B6372"/>
                </a:solidFill>
                <a:latin typeface="Arial"/>
              </a:rPr>
              <a:t>Verify behaviour across platforms and diagnose the technical issues an integration reveals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65192"/>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Lab 25</a:t>
            </a:r>
          </a:p>
          <a:p>
            <a:pPr algn="l">
              <a:spcAft>
                <a:spcPts val="300"/>
              </a:spcAft>
            </a:pPr>
            <a:r>
              <a:rPr sz="1000" b="0">
                <a:solidFill>
                  <a:srgbClr val="5B6372"/>
                </a:solidFill>
                <a:latin typeface="Arial"/>
              </a:rPr>
              <a:t>Run the complete pipeline from request to verified output with governance evidence</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224</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9692640" cy="1463040"/>
          </a:xfrm>
          <a:prstGeom prst="rect">
            <a:avLst/>
          </a:prstGeom>
          <a:noFill/>
        </p:spPr>
        <p:txBody>
          <a:bodyPr wrap="square" anchor="t">
            <a:spAutoFit/>
          </a:bodyPr>
          <a:lstStyle/>
          <a:p>
            <a:pPr algn="l">
              <a:spcAft>
                <a:spcPts val="400"/>
              </a:spcAft>
            </a:pPr>
            <a:r>
              <a:rPr sz="3600" b="1">
                <a:solidFill>
                  <a:srgbClr val="161B26"/>
                </a:solidFill>
                <a:latin typeface="Arial"/>
              </a:rPr>
              <a:t>Course Summary &amp; Next Steps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225</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You Achieved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Copilot for content</a:t>
            </a:r>
          </a:p>
          <a:p>
            <a:pPr algn="l">
              <a:spcAft>
                <a:spcPts val="300"/>
              </a:spcAft>
            </a:pPr>
            <a:r>
              <a:rPr sz="1100" b="0">
                <a:solidFill>
                  <a:srgbClr val="5B6372"/>
                </a:solidFill>
                <a:latin typeface="Arial"/>
              </a:rPr>
              <a:t>Verified business content in Word, PowerPoint, Excel and Outlook.</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Feasibility scanning</a:t>
            </a:r>
          </a:p>
          <a:p>
            <a:pPr algn="l">
              <a:spcAft>
                <a:spcPts val="300"/>
              </a:spcAft>
            </a:pPr>
            <a:r>
              <a:rPr sz="1100" b="0">
                <a:solidFill>
                  <a:srgbClr val="5B6372"/>
                </a:solidFill>
                <a:latin typeface="Arial"/>
              </a:rPr>
              <a:t>Identified and scoped automation opportunities.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Power Automate</a:t>
            </a:r>
          </a:p>
          <a:p>
            <a:pPr algn="l">
              <a:spcAft>
                <a:spcPts val="300"/>
              </a:spcAft>
            </a:pPr>
            <a:r>
              <a:rPr sz="1100" b="0">
                <a:solidFill>
                  <a:srgbClr val="5B6372"/>
                </a:solidFill>
                <a:latin typeface="Arial"/>
              </a:rPr>
              <a:t>Built flows with triggers, actions, conditions and approvals.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Copilot Studio agents</a:t>
            </a:r>
          </a:p>
          <a:p>
            <a:pPr algn="l">
              <a:spcAft>
                <a:spcPts val="300"/>
              </a:spcAft>
            </a:pPr>
            <a:r>
              <a:rPr sz="1100" b="0">
                <a:solidFill>
                  <a:srgbClr val="5B6372"/>
                </a:solidFill>
                <a:latin typeface="Arial"/>
              </a:rPr>
              <a:t>Designed, grounded, tooled, orchestrated and published agents.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Integration</a:t>
            </a:r>
          </a:p>
          <a:p>
            <a:pPr algn="l">
              <a:spcAft>
                <a:spcPts val="300"/>
              </a:spcAft>
            </a:pPr>
            <a:r>
              <a:rPr sz="1100" b="0">
                <a:solidFill>
                  <a:srgbClr val="5B6372"/>
                </a:solidFill>
                <a:latin typeface="Arial"/>
              </a:rPr>
              <a:t>Connected automation over HTTP with a JSON schema.</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Testing and governance</a:t>
            </a:r>
          </a:p>
          <a:p>
            <a:pPr algn="l">
              <a:spcAft>
                <a:spcPts val="300"/>
              </a:spcAft>
            </a:pPr>
            <a:r>
              <a:rPr sz="1100" b="0">
                <a:solidFill>
                  <a:srgbClr val="5B6372"/>
                </a:solidFill>
                <a:latin typeface="Arial"/>
              </a:rPr>
              <a:t>Tested behaviour, gated actions and diagnosed failures.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226</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NEXT STEPS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Taking This Back to 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Start with one process</a:t>
            </a:r>
          </a:p>
          <a:p>
            <a:pPr algn="l">
              <a:spcAft>
                <a:spcPts val="300"/>
              </a:spcAft>
            </a:pPr>
            <a:r>
              <a:rPr sz="1100" b="0">
                <a:solidFill>
                  <a:srgbClr val="5B6372"/>
                </a:solidFill>
                <a:latin typeface="Arial"/>
              </a:rPr>
              <a:t>Pick something repetitive, rule-based and time-consuming.</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Write the prompt contract</a:t>
            </a:r>
          </a:p>
          <a:p>
            <a:pPr algn="l">
              <a:spcAft>
                <a:spcPts val="300"/>
              </a:spcAft>
            </a:pPr>
            <a:r>
              <a:rPr sz="1100" b="0">
                <a:solidFill>
                  <a:srgbClr val="5B6372"/>
                </a:solidFill>
                <a:latin typeface="Arial"/>
              </a:rPr>
              <a:t>Goal, context, source, expectation — every time.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Ground before you trust</a:t>
            </a:r>
          </a:p>
          <a:p>
            <a:pPr algn="l">
              <a:spcAft>
                <a:spcPts val="300"/>
              </a:spcAft>
            </a:pPr>
            <a:r>
              <a:rPr sz="1100" b="0">
                <a:solidFill>
                  <a:srgbClr val="5B6372"/>
                </a:solidFill>
                <a:latin typeface="Arial"/>
              </a:rPr>
              <a:t>An answer with no source is a draft, not a fact.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Gate the consequential step</a:t>
            </a:r>
          </a:p>
          <a:p>
            <a:pPr algn="l">
              <a:spcAft>
                <a:spcPts val="300"/>
              </a:spcAft>
            </a:pPr>
            <a:r>
              <a:rPr sz="1100" b="0">
                <a:solidFill>
                  <a:srgbClr val="5B6372"/>
                </a:solidFill>
                <a:latin typeface="Arial"/>
              </a:rPr>
              <a:t>Decide the boundary of agency before you build.</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Keep the evidence</a:t>
            </a:r>
          </a:p>
          <a:p>
            <a:pPr algn="l">
              <a:spcAft>
                <a:spcPts val="300"/>
              </a:spcAft>
            </a:pPr>
            <a:r>
              <a:rPr sz="1100" b="0">
                <a:solidFill>
                  <a:srgbClr val="5B6372"/>
                </a:solidFill>
                <a:latin typeface="Arial"/>
              </a:rPr>
              <a:t>Prompt log, evidence register and run history.</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Review the run history</a:t>
            </a:r>
          </a:p>
          <a:p>
            <a:pPr algn="l">
              <a:spcAft>
                <a:spcPts val="300"/>
              </a:spcAft>
            </a:pPr>
            <a:r>
              <a:rPr sz="1100" b="0">
                <a:solidFill>
                  <a:srgbClr val="5B6372"/>
                </a:solidFill>
                <a:latin typeface="Arial"/>
              </a:rPr>
              <a:t>Recurring failures are telling you about the design.</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227</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WRAP-UP · FINAL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2764962" cy="548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28800"/>
            <a:ext cx="2490642" cy="548640"/>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3542202" y="1828800"/>
            <a:ext cx="3934755" cy="548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1930" y="1828800"/>
            <a:ext cx="3715299" cy="548640"/>
          </a:xfrm>
          <a:prstGeom prst="rect">
            <a:avLst/>
          </a:prstGeom>
          <a:noFill/>
        </p:spPr>
        <p:txBody>
          <a:bodyPr wrap="square" anchor="ctr">
            <a:spAutoFit/>
          </a:bodyPr>
          <a:lstStyle/>
          <a:p>
            <a:pPr algn="ctr">
              <a:spcAft>
                <a:spcPts val="400"/>
              </a:spcAft>
            </a:pPr>
            <a:r>
              <a:rPr sz="1300" b="1">
                <a:solidFill>
                  <a:srgbClr val="FFFFFF"/>
                </a:solidFill>
                <a:latin typeface="Arial"/>
              </a:rPr>
              <a:t>Written Assessment (WA)</a:t>
            </a:r>
          </a:p>
        </p:txBody>
      </p:sp>
      <p:sp>
        <p:nvSpPr>
          <p:cNvPr id="11" name="Rectangle 10"/>
          <p:cNvSpPr/>
          <p:nvPr/>
        </p:nvSpPr>
        <p:spPr>
          <a:xfrm>
            <a:off x="7476957" y="1828800"/>
            <a:ext cx="3934755" cy="5486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6685" y="1828800"/>
            <a:ext cx="3715299" cy="548640"/>
          </a:xfrm>
          <a:prstGeom prst="rect">
            <a:avLst/>
          </a:prstGeom>
          <a:noFill/>
        </p:spPr>
        <p:txBody>
          <a:bodyPr wrap="square" anchor="ctr">
            <a:spAutoFit/>
          </a:bodyPr>
          <a:lstStyle/>
          <a:p>
            <a:pPr algn="ctr">
              <a:spcAft>
                <a:spcPts val="400"/>
              </a:spcAft>
            </a:pPr>
            <a:r>
              <a:rPr sz="1300" b="1">
                <a:solidFill>
                  <a:srgbClr val="FFFFFF"/>
                </a:solidFill>
                <a:latin typeface="Arial"/>
              </a:rPr>
              <a:t>Practical Performance (PP)</a:t>
            </a:r>
          </a:p>
        </p:txBody>
      </p:sp>
      <p:sp>
        <p:nvSpPr>
          <p:cNvPr id="13" name="Rectangle 12"/>
          <p:cNvSpPr/>
          <p:nvPr/>
        </p:nvSpPr>
        <p:spPr>
          <a:xfrm>
            <a:off x="777240" y="2377440"/>
            <a:ext cx="2764962"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377440"/>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Format</a:t>
            </a:r>
          </a:p>
        </p:txBody>
      </p:sp>
      <p:sp>
        <p:nvSpPr>
          <p:cNvPr id="15" name="Rectangle 14"/>
          <p:cNvSpPr/>
          <p:nvPr/>
        </p:nvSpPr>
        <p:spPr>
          <a:xfrm>
            <a:off x="3542202" y="2377440"/>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1930" y="2377440"/>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Short-answer questions (SAQ)</a:t>
            </a:r>
          </a:p>
        </p:txBody>
      </p:sp>
      <p:sp>
        <p:nvSpPr>
          <p:cNvPr id="17" name="Rectangle 16"/>
          <p:cNvSpPr/>
          <p:nvPr/>
        </p:nvSpPr>
        <p:spPr>
          <a:xfrm>
            <a:off x="7476957" y="2377440"/>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6685" y="2377440"/>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Hands-on practical tasks</a:t>
            </a:r>
          </a:p>
        </p:txBody>
      </p:sp>
      <p:sp>
        <p:nvSpPr>
          <p:cNvPr id="19" name="Rectangle 18"/>
          <p:cNvSpPr/>
          <p:nvPr/>
        </p:nvSpPr>
        <p:spPr>
          <a:xfrm>
            <a:off x="777240" y="2852928"/>
            <a:ext cx="2764962"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2852928"/>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What it tests</a:t>
            </a:r>
          </a:p>
        </p:txBody>
      </p:sp>
      <p:sp>
        <p:nvSpPr>
          <p:cNvPr id="21" name="Rectangle 20"/>
          <p:cNvSpPr/>
          <p:nvPr/>
        </p:nvSpPr>
        <p:spPr>
          <a:xfrm>
            <a:off x="3542202" y="2852928"/>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1930" y="2852928"/>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Underpinning knowledge K1-K5</a:t>
            </a:r>
          </a:p>
        </p:txBody>
      </p:sp>
      <p:sp>
        <p:nvSpPr>
          <p:cNvPr id="23" name="Rectangle 22"/>
          <p:cNvSpPr/>
          <p:nvPr/>
        </p:nvSpPr>
        <p:spPr>
          <a:xfrm>
            <a:off x="7476957" y="2852928"/>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86685" y="2852928"/>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Practical ability A1-A8</a:t>
            </a:r>
          </a:p>
        </p:txBody>
      </p:sp>
      <p:sp>
        <p:nvSpPr>
          <p:cNvPr id="25" name="Rectangle 24"/>
          <p:cNvSpPr/>
          <p:nvPr/>
        </p:nvSpPr>
        <p:spPr>
          <a:xfrm>
            <a:off x="777240" y="3328416"/>
            <a:ext cx="2764962"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3328416"/>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Duration</a:t>
            </a:r>
          </a:p>
        </p:txBody>
      </p:sp>
      <p:sp>
        <p:nvSpPr>
          <p:cNvPr id="27" name="Rectangle 26"/>
          <p:cNvSpPr/>
          <p:nvPr/>
        </p:nvSpPr>
        <p:spPr>
          <a:xfrm>
            <a:off x="3542202" y="3328416"/>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1930" y="3328416"/>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1 hour</a:t>
            </a:r>
          </a:p>
        </p:txBody>
      </p:sp>
      <p:sp>
        <p:nvSpPr>
          <p:cNvPr id="29" name="Rectangle 28"/>
          <p:cNvSpPr/>
          <p:nvPr/>
        </p:nvSpPr>
        <p:spPr>
          <a:xfrm>
            <a:off x="7476957" y="3328416"/>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86685" y="3328416"/>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1 hour</a:t>
            </a:r>
          </a:p>
        </p:txBody>
      </p:sp>
      <p:sp>
        <p:nvSpPr>
          <p:cNvPr id="31" name="Rectangle 30"/>
          <p:cNvSpPr/>
          <p:nvPr/>
        </p:nvSpPr>
        <p:spPr>
          <a:xfrm>
            <a:off x="777240" y="3803904"/>
            <a:ext cx="2764962"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3803904"/>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Conditions</a:t>
            </a:r>
          </a:p>
        </p:txBody>
      </p:sp>
      <p:sp>
        <p:nvSpPr>
          <p:cNvPr id="33" name="Rectangle 32"/>
          <p:cNvSpPr/>
          <p:nvPr/>
        </p:nvSpPr>
        <p:spPr>
          <a:xfrm>
            <a:off x="3542202" y="3803904"/>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51930" y="3803904"/>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Open book, individual</a:t>
            </a:r>
          </a:p>
        </p:txBody>
      </p:sp>
      <p:sp>
        <p:nvSpPr>
          <p:cNvPr id="35" name="Rectangle 34"/>
          <p:cNvSpPr/>
          <p:nvPr/>
        </p:nvSpPr>
        <p:spPr>
          <a:xfrm>
            <a:off x="7476957" y="3803904"/>
            <a:ext cx="393475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586685" y="3803904"/>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Open book, individual</a:t>
            </a:r>
          </a:p>
        </p:txBody>
      </p:sp>
      <p:sp>
        <p:nvSpPr>
          <p:cNvPr id="37" name="Rectangle 36"/>
          <p:cNvSpPr/>
          <p:nvPr/>
        </p:nvSpPr>
        <p:spPr>
          <a:xfrm>
            <a:off x="777240" y="4279392"/>
            <a:ext cx="2764962"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4400" y="4279392"/>
            <a:ext cx="2490642" cy="475488"/>
          </a:xfrm>
          <a:prstGeom prst="rect">
            <a:avLst/>
          </a:prstGeom>
          <a:noFill/>
        </p:spPr>
        <p:txBody>
          <a:bodyPr wrap="square" anchor="ctr">
            <a:spAutoFit/>
          </a:bodyPr>
          <a:lstStyle/>
          <a:p>
            <a:pPr algn="l">
              <a:spcAft>
                <a:spcPts val="400"/>
              </a:spcAft>
            </a:pPr>
            <a:r>
              <a:rPr sz="1200" b="1">
                <a:solidFill>
                  <a:srgbClr val="161B26"/>
                </a:solidFill>
                <a:latin typeface="Arial"/>
              </a:rPr>
              <a:t>Submission</a:t>
            </a:r>
          </a:p>
        </p:txBody>
      </p:sp>
      <p:sp>
        <p:nvSpPr>
          <p:cNvPr id="39" name="Rectangle 38"/>
          <p:cNvSpPr/>
          <p:nvPr/>
        </p:nvSpPr>
        <p:spPr>
          <a:xfrm>
            <a:off x="3542202" y="4279392"/>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51930" y="4279392"/>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On the LMS</a:t>
            </a:r>
          </a:p>
        </p:txBody>
      </p:sp>
      <p:sp>
        <p:nvSpPr>
          <p:cNvPr id="41" name="Rectangle 40"/>
          <p:cNvSpPr/>
          <p:nvPr/>
        </p:nvSpPr>
        <p:spPr>
          <a:xfrm>
            <a:off x="7476957" y="4279392"/>
            <a:ext cx="393475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586685" y="4279392"/>
            <a:ext cx="3715299" cy="475488"/>
          </a:xfrm>
          <a:prstGeom prst="rect">
            <a:avLst/>
          </a:prstGeom>
          <a:noFill/>
        </p:spPr>
        <p:txBody>
          <a:bodyPr wrap="square" anchor="ctr">
            <a:spAutoFit/>
          </a:bodyPr>
          <a:lstStyle/>
          <a:p>
            <a:pPr algn="ctr">
              <a:spcAft>
                <a:spcPts val="400"/>
              </a:spcAft>
            </a:pPr>
            <a:r>
              <a:rPr sz="1150" b="0">
                <a:solidFill>
                  <a:srgbClr val="5B6372"/>
                </a:solidFill>
                <a:latin typeface="Arial"/>
              </a:rPr>
              <a:t>On the LMS, with evidence</a:t>
            </a:r>
          </a:p>
        </p:txBody>
      </p:sp>
      <p:sp>
        <p:nvSpPr>
          <p:cNvPr id="43" name="TextBox 42"/>
          <p:cNvSpPr txBox="1"/>
          <p:nvPr/>
        </p:nvSpPr>
        <p:spPr>
          <a:xfrm>
            <a:off x="777240" y="4983480"/>
            <a:ext cx="10634472" cy="457200"/>
          </a:xfrm>
          <a:prstGeom prst="rect">
            <a:avLst/>
          </a:prstGeom>
          <a:noFill/>
        </p:spPr>
        <p:txBody>
          <a:bodyPr wrap="square" anchor="t">
            <a:spAutoFit/>
          </a:bodyPr>
          <a:lstStyle/>
          <a:p>
            <a:pPr algn="l">
              <a:spcAft>
                <a:spcPts val="400"/>
              </a:spcAft>
            </a:pPr>
            <a:r>
              <a:rPr sz="1100" b="1">
                <a:solidFill>
                  <a:srgbClr val="1F6FEB"/>
                </a:solidFill>
                <a:latin typeface="Arial"/>
              </a:rPr>
              <a:t>RULE   </a:t>
            </a:r>
            <a:r>
              <a:rPr sz="1300" b="0">
                <a:solidFill>
                  <a:srgbClr val="161B26"/>
                </a:solidFill>
                <a:latin typeface="Arial"/>
              </a:rPr>
              <a:t>Open book: slides, Learner Guide and your completed lab files. 75% attendance is required; a re-assessment and appeal process is available.</a:t>
            </a:r>
          </a:p>
        </p:txBody>
      </p:sp>
      <p:sp>
        <p:nvSpPr>
          <p:cNvPr id="44" name="TextBox 4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45" name="TextBox 4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6" name="TextBox 4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228</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1" name="TextBox 10"/>
          <p:cNvSpPr txBox="1"/>
          <p:nvPr/>
        </p:nvSpPr>
        <p:spPr>
          <a:xfrm>
            <a:off x="923544" y="3703320"/>
            <a:ext cx="1585569" cy="1371600"/>
          </a:xfrm>
          <a:prstGeom prst="rect">
            <a:avLst/>
          </a:prstGeom>
          <a:noFill/>
        </p:spPr>
        <p:txBody>
          <a:bodyPr wrap="square" anchor="t">
            <a:spAutoFit/>
          </a:bodyPr>
          <a:lstStyle/>
          <a:p>
            <a:pPr algn="ctr">
              <a:spcAft>
                <a:spcPts val="400"/>
              </a:spcAft>
            </a:pPr>
            <a:r>
              <a:rPr sz="1300" b="0">
                <a:solidFill>
                  <a:srgbClr val="161B26"/>
                </a:solidFill>
                <a:latin typeface="Arial"/>
              </a:rPr>
              <a:t>TRAQOM survey — scan the QR code on the LMS</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7" name="TextBox 16"/>
          <p:cNvSpPr txBox="1"/>
          <p:nvPr/>
        </p:nvSpPr>
        <p:spPr>
          <a:xfrm>
            <a:off x="3112617" y="3703320"/>
            <a:ext cx="1585569" cy="1371600"/>
          </a:xfrm>
          <a:prstGeom prst="rect">
            <a:avLst/>
          </a:prstGeom>
          <a:noFill/>
        </p:spPr>
        <p:txBody>
          <a:bodyPr wrap="square" anchor="t">
            <a:spAutoFit/>
          </a:bodyPr>
          <a:lstStyle/>
          <a:p>
            <a:pPr algn="ctr">
              <a:spcAft>
                <a:spcPts val="400"/>
              </a:spcAft>
            </a:pPr>
            <a:r>
              <a:rPr sz="1300" b="0">
                <a:solidFill>
                  <a:srgbClr val="161B26"/>
                </a:solidFill>
                <a:latin typeface="Arial"/>
              </a:rPr>
              <a:t>Assessment digital attendance — scan the SSG QR</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3" name="TextBox 22"/>
          <p:cNvSpPr txBox="1"/>
          <p:nvPr/>
        </p:nvSpPr>
        <p:spPr>
          <a:xfrm>
            <a:off x="5301690" y="3703320"/>
            <a:ext cx="1585569" cy="1371600"/>
          </a:xfrm>
          <a:prstGeom prst="rect">
            <a:avLst/>
          </a:prstGeom>
          <a:noFill/>
        </p:spPr>
        <p:txBody>
          <a:bodyPr wrap="square" anchor="t">
            <a:spAutoFit/>
          </a:bodyPr>
          <a:lstStyle/>
          <a:p>
            <a:pPr algn="ctr">
              <a:spcAft>
                <a:spcPts val="400"/>
              </a:spcAft>
            </a:pPr>
            <a:r>
              <a:rPr sz="1300" b="0">
                <a:solidFill>
                  <a:srgbClr val="161B26"/>
                </a:solidFill>
                <a:latin typeface="Arial"/>
              </a:rPr>
              <a:t>Sit WA (SAQ) then PP — open book</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9" name="TextBox 28"/>
          <p:cNvSpPr txBox="1"/>
          <p:nvPr/>
        </p:nvSpPr>
        <p:spPr>
          <a:xfrm>
            <a:off x="7490763" y="3703320"/>
            <a:ext cx="1585569" cy="1371600"/>
          </a:xfrm>
          <a:prstGeom prst="rect">
            <a:avLst/>
          </a:prstGeom>
          <a:noFill/>
        </p:spPr>
        <p:txBody>
          <a:bodyPr wrap="square" anchor="t">
            <a:spAutoFit/>
          </a:bodyPr>
          <a:lstStyle/>
          <a:p>
            <a:pPr algn="ctr">
              <a:spcAft>
                <a:spcPts val="400"/>
              </a:spcAft>
            </a:pPr>
            <a:r>
              <a:rPr sz="1300" b="0">
                <a:solidFill>
                  <a:srgbClr val="161B26"/>
                </a:solidFill>
                <a:latin typeface="Arial"/>
              </a:rPr>
              <a:t>Submit your answers on the LMS</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5" name="TextBox 34"/>
          <p:cNvSpPr txBox="1"/>
          <p:nvPr/>
        </p:nvSpPr>
        <p:spPr>
          <a:xfrm>
            <a:off x="9679836" y="3703320"/>
            <a:ext cx="1585569" cy="1371600"/>
          </a:xfrm>
          <a:prstGeom prst="rect">
            <a:avLst/>
          </a:prstGeom>
          <a:noFill/>
        </p:spPr>
        <p:txBody>
          <a:bodyPr wrap="square" anchor="t">
            <a:spAutoFit/>
          </a:bodyPr>
          <a:lstStyle/>
          <a:p>
            <a:pPr algn="ctr">
              <a:spcAft>
                <a:spcPts val="400"/>
              </a:spcAft>
            </a:pPr>
            <a:r>
              <a:rPr sz="1300" b="0">
                <a:solidFill>
                  <a:srgbClr val="161B26"/>
                </a:solidFill>
                <a:latin typeface="Arial"/>
              </a:rPr>
              <a:t>Sign the Assessment Summary Record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229</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TRAQOM · SSG DIGITAL ATTENDANCE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242544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15059"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15059" y="2715768"/>
            <a:ext cx="749808" cy="749808"/>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1" name="TextBox 10"/>
          <p:cNvSpPr txBox="1"/>
          <p:nvPr/>
        </p:nvSpPr>
        <p:spPr>
          <a:xfrm>
            <a:off x="923544" y="3703320"/>
            <a:ext cx="2132838" cy="1371600"/>
          </a:xfrm>
          <a:prstGeom prst="rect">
            <a:avLst/>
          </a:prstGeom>
          <a:noFill/>
        </p:spPr>
        <p:txBody>
          <a:bodyPr wrap="square" anchor="t">
            <a:spAutoFit/>
          </a:bodyPr>
          <a:lstStyle/>
          <a:p>
            <a:pPr algn="ctr">
              <a:spcAft>
                <a:spcPts val="400"/>
              </a:spcAft>
            </a:pPr>
            <a:r>
              <a:rPr sz="1300" b="0">
                <a:solidFill>
                  <a:srgbClr val="161B26"/>
                </a:solidFill>
                <a:latin typeface="Arial"/>
              </a:rPr>
              <a:t>Trainer displays the SSG digital attendance QR code</a:t>
            </a:r>
          </a:p>
        </p:txBody>
      </p:sp>
      <p:sp>
        <p:nvSpPr>
          <p:cNvPr id="12" name="TextBox 11"/>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3" name="Rectangle 12"/>
          <p:cNvSpPr/>
          <p:nvPr/>
        </p:nvSpPr>
        <p:spPr>
          <a:xfrm>
            <a:off x="3513582"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3582" y="2331720"/>
            <a:ext cx="242544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51401"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51401" y="2715768"/>
            <a:ext cx="749808" cy="749808"/>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7" name="TextBox 16"/>
          <p:cNvSpPr txBox="1"/>
          <p:nvPr/>
        </p:nvSpPr>
        <p:spPr>
          <a:xfrm>
            <a:off x="3659886" y="3703320"/>
            <a:ext cx="2132838" cy="1371600"/>
          </a:xfrm>
          <a:prstGeom prst="rect">
            <a:avLst/>
          </a:prstGeom>
          <a:noFill/>
        </p:spPr>
        <p:txBody>
          <a:bodyPr wrap="square" anchor="t">
            <a:spAutoFit/>
          </a:bodyPr>
          <a:lstStyle/>
          <a:p>
            <a:pPr algn="ctr">
              <a:spcAft>
                <a:spcPts val="400"/>
              </a:spcAft>
            </a:pPr>
            <a:r>
              <a:rPr sz="1300" b="0">
                <a:solidFill>
                  <a:srgbClr val="161B26"/>
                </a:solidFill>
                <a:latin typeface="Arial"/>
              </a:rPr>
              <a:t>Scan it with your phone camera</a:t>
            </a:r>
          </a:p>
        </p:txBody>
      </p:sp>
      <p:sp>
        <p:nvSpPr>
          <p:cNvPr id="18" name="TextBox 17"/>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9" name="Rectangle 18"/>
          <p:cNvSpPr/>
          <p:nvPr/>
        </p:nvSpPr>
        <p:spPr>
          <a:xfrm>
            <a:off x="6249924"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49924" y="2331720"/>
            <a:ext cx="242544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087743"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87743" y="2715768"/>
            <a:ext cx="749808" cy="749808"/>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3" name="TextBox 22"/>
          <p:cNvSpPr txBox="1"/>
          <p:nvPr/>
        </p:nvSpPr>
        <p:spPr>
          <a:xfrm>
            <a:off x="6396228" y="3703320"/>
            <a:ext cx="2132838" cy="1371600"/>
          </a:xfrm>
          <a:prstGeom prst="rect">
            <a:avLst/>
          </a:prstGeom>
          <a:noFill/>
        </p:spPr>
        <p:txBody>
          <a:bodyPr wrap="square" anchor="t">
            <a:spAutoFit/>
          </a:bodyPr>
          <a:lstStyle/>
          <a:p>
            <a:pPr algn="ctr">
              <a:spcAft>
                <a:spcPts val="400"/>
              </a:spcAft>
            </a:pPr>
            <a:r>
              <a:rPr sz="1300" b="0">
                <a:solidFill>
                  <a:srgbClr val="161B26"/>
                </a:solidFill>
                <a:latin typeface="Arial"/>
              </a:rPr>
              <a:t>Submit your attendance</a:t>
            </a:r>
          </a:p>
        </p:txBody>
      </p:sp>
      <p:sp>
        <p:nvSpPr>
          <p:cNvPr id="24" name="TextBox 23"/>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5" name="Rectangle 24"/>
          <p:cNvSpPr/>
          <p:nvPr/>
        </p:nvSpPr>
        <p:spPr>
          <a:xfrm>
            <a:off x="8986266"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6266" y="2331720"/>
            <a:ext cx="242544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24085"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24085" y="2715768"/>
            <a:ext cx="749808" cy="749808"/>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9" name="TextBox 28"/>
          <p:cNvSpPr txBox="1"/>
          <p:nvPr/>
        </p:nvSpPr>
        <p:spPr>
          <a:xfrm>
            <a:off x="9132570" y="3703320"/>
            <a:ext cx="2132838" cy="1371600"/>
          </a:xfrm>
          <a:prstGeom prst="rect">
            <a:avLst/>
          </a:prstGeom>
          <a:noFill/>
        </p:spPr>
        <p:txBody>
          <a:bodyPr wrap="square" anchor="t">
            <a:spAutoFit/>
          </a:bodyPr>
          <a:lstStyle/>
          <a:p>
            <a:pPr algn="ctr">
              <a:spcAft>
                <a:spcPts val="400"/>
              </a:spcAft>
            </a:pPr>
            <a:r>
              <a:rPr sz="1300" b="0">
                <a:solidFill>
                  <a:srgbClr val="161B26"/>
                </a:solidFill>
                <a:latin typeface="Arial"/>
              </a:rPr>
              <a:t>Repeat AM, PM and on assessment day</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230</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SEE YOU IN CLASS</a:t>
            </a:r>
          </a:p>
        </p:txBody>
      </p:sp>
      <p:sp>
        <p:nvSpPr>
          <p:cNvPr id="5" name="TextBox 4"/>
          <p:cNvSpPr txBox="1"/>
          <p:nvPr/>
        </p:nvSpPr>
        <p:spPr>
          <a:xfrm>
            <a:off x="1005840" y="2560320"/>
            <a:ext cx="10332720" cy="2011680"/>
          </a:xfrm>
          <a:prstGeom prst="rect">
            <a:avLst/>
          </a:prstGeom>
          <a:noFill/>
        </p:spPr>
        <p:txBody>
          <a:bodyPr wrap="square" anchor="t">
            <a:spAutoFit/>
          </a:bodyPr>
          <a:lstStyle/>
          <a:p>
            <a:pPr algn="l">
              <a:spcAft>
                <a:spcPts val="400"/>
              </a:spcAft>
            </a:pPr>
            <a:r>
              <a:rPr sz="3600" b="1">
                <a:solidFill>
                  <a:srgbClr val="161B26"/>
                </a:solidFill>
                <a:latin typeface="Arial"/>
              </a:rPr>
              <a:t>Thank You!</a:t>
            </a:r>
          </a:p>
        </p:txBody>
      </p:sp>
      <p:sp>
        <p:nvSpPr>
          <p:cNvPr id="6" name="TextBox 5"/>
          <p:cNvSpPr txBox="1"/>
          <p:nvPr/>
        </p:nvSpPr>
        <p:spPr>
          <a:xfrm>
            <a:off x="1024128" y="4572000"/>
            <a:ext cx="10058400" cy="1097280"/>
          </a:xfrm>
          <a:prstGeom prst="rect">
            <a:avLst/>
          </a:prstGeom>
          <a:noFill/>
        </p:spPr>
        <p:txBody>
          <a:bodyPr wrap="square" anchor="t">
            <a:spAutoFit/>
          </a:bodyPr>
          <a:lstStyle/>
          <a:p>
            <a:pPr algn="l">
              <a:spcAft>
                <a:spcPts val="400"/>
              </a:spcAft>
            </a:pPr>
            <a:r>
              <a:rPr sz="1900" b="0">
                <a:solidFill>
                  <a:srgbClr val="5B6372"/>
                </a:solidFill>
                <a:latin typeface="Arial"/>
              </a:rPr>
              <a:t>You can now create verified content with Copilot and automate the process behind it.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Microsoft Copilot for Content Creation and Task Automation  ·  TGS-2024042588</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