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488" r:id="rId239"/>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Hours per week before</c:v>
                </c:pt>
              </c:strCache>
            </c:strRef>
          </c:tx>
          <c:spPr>
            <a:solidFill>
              <a:srgbClr val="1F6FEB"/>
            </a:solidFill>
            <a:ln>
              <a:noFill/>
            </a:ln>
          </c:spPr>
          <c:cat>
            <c:strRef>
              <c:f>Sheet1!$A$2:$A$6</c:f>
              <c:strCache>
                <c:ptCount val="5"/>
                <c:pt idx="0">
                  <c:v>Drafting</c:v>
                </c:pt>
                <c:pt idx="1">
                  <c:v>Searching</c:v>
                </c:pt>
                <c:pt idx="2">
                  <c:v>Summarising</c:v>
                </c:pt>
                <c:pt idx="3">
                  <c:v>Formatting</c:v>
                </c:pt>
                <c:pt idx="4">
                  <c:v>Reviewing</c:v>
                </c:pt>
              </c:strCache>
            </c:strRef>
          </c:cat>
          <c:val>
            <c:numRef>
              <c:f>Sheet1!$B$2:$B$6</c:f>
              <c:numCache>
                <c:formatCode>General</c:formatCode>
                <c:ptCount val="5"/>
                <c:pt idx="0">
                  <c:v>6.5</c:v>
                </c:pt>
                <c:pt idx="1">
                  <c:v>4.2</c:v>
                </c:pt>
                <c:pt idx="2">
                  <c:v>3.8</c:v>
                </c:pt>
                <c:pt idx="3">
                  <c:v>2.4</c:v>
                </c:pt>
                <c:pt idx="4">
                  <c:v>2.0</c:v>
                </c:pt>
              </c:numCache>
            </c:numRef>
          </c:val>
        </c:ser>
        <c:ser>
          <c:idx val="1"/>
          <c:order val="1"/>
          <c:tx>
            <c:strRef>
              <c:f>Sheet1!$C$1</c:f>
              <c:strCache>
                <c:ptCount val="1"/>
                <c:pt idx="0">
                  <c:v>Hours per week after</c:v>
                </c:pt>
              </c:strCache>
            </c:strRef>
          </c:tx>
          <c:spPr>
            <a:solidFill>
              <a:srgbClr val="10B981"/>
            </a:solidFill>
            <a:ln>
              <a:noFill/>
            </a:ln>
          </c:spPr>
          <c:cat>
            <c:strRef>
              <c:f>Sheet1!$A$2:$A$6</c:f>
              <c:strCache>
                <c:ptCount val="5"/>
                <c:pt idx="0">
                  <c:v>Drafting</c:v>
                </c:pt>
                <c:pt idx="1">
                  <c:v>Searching</c:v>
                </c:pt>
                <c:pt idx="2">
                  <c:v>Summarising</c:v>
                </c:pt>
                <c:pt idx="3">
                  <c:v>Formatting</c:v>
                </c:pt>
                <c:pt idx="4">
                  <c:v>Reviewing</c:v>
                </c:pt>
              </c:strCache>
            </c:strRef>
          </c:cat>
          <c:val>
            <c:numRef>
              <c:f>Sheet1!$C$2:$C$6</c:f>
              <c:numCache>
                <c:formatCode>General</c:formatCode>
                <c:ptCount val="5"/>
                <c:pt idx="0">
                  <c:v>3.1</c:v>
                </c:pt>
                <c:pt idx="1">
                  <c:v>1.6</c:v>
                </c:pt>
                <c:pt idx="2">
                  <c:v>1.4</c:v>
                </c:pt>
                <c:pt idx="3">
                  <c:v>1.1</c:v>
                </c:pt>
                <c:pt idx="4">
                  <c:v>2.6</c:v>
                </c:pt>
              </c:numCache>
            </c:numRef>
          </c:val>
        </c:ser>
        <c:axId val="-2068027336"/>
        <c:axId val="-2113994440"/>
      </c:barChart>
      <c:catAx>
        <c:axId val="-2068027336"/>
        <c:scaling>
          <c:orientation val="minMax"/>
        </c:scaling>
        <c:delete val="0"/>
        <c:axPos val="b"/>
        <c:majorTickMark val="out"/>
        <c:minorTickMark val="none"/>
        <c:tickLblPos val="nextTo"/>
        <c:spPr>
          <a:ln>
            <a:solidFill>
              <a:srgbClr val="E2E8F0"/>
            </a:solidFill>
          </a:ln>
        </c:spPr>
        <c:txPr>
          <a:bodyPr/>
          <a:lstStyle/>
          <a:p>
            <a:pPr>
              <a:defRPr sz="1000">
                <a:solidFill>
                  <a:srgbClr val="5B6372"/>
                </a:solidFill>
                <a:latin typeface="Arial"/>
              </a:defRPr>
            </a:pPr>
          </a:p>
        </c:txPr>
        <c:crossAx val="-2113994440"/>
        <c:crosses val="autoZero"/>
        <c:auto val="1"/>
        <c:lblAlgn val="ctr"/>
        <c:lblOffset val="100"/>
        <c:noMultiLvlLbl val="0"/>
      </c:catAx>
      <c:valAx>
        <c:axId val="-2113994440"/>
        <c:scaling/>
        <c:delete val="0"/>
        <c:axPos val="l"/>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Readiness score (0-100)</c:v>
                </c:pt>
              </c:strCache>
            </c:strRef>
          </c:tx>
          <c:spPr>
            <a:solidFill>
              <a:srgbClr val="1F6FEB"/>
            </a:solidFill>
            <a:ln>
              <a:noFill/>
            </a:ln>
          </c:spPr>
          <c:cat>
            <c:strRef>
              <c:f>Sheet1!$A$2:$A$6</c:f>
              <c:strCache>
                <c:ptCount val="5"/>
                <c:pt idx="0">
                  <c:v>Marketing</c:v>
                </c:pt>
                <c:pt idx="1">
                  <c:v>Finance</c:v>
                </c:pt>
                <c:pt idx="2">
                  <c:v>Retail</c:v>
                </c:pt>
                <c:pt idx="3">
                  <c:v>Supply</c:v>
                </c:pt>
                <c:pt idx="4">
                  <c:v>Partner</c:v>
                </c:pt>
              </c:strCache>
            </c:strRef>
          </c:cat>
          <c:val>
            <c:numRef>
              <c:f>Sheet1!$B$2:$B$6</c:f>
              <c:numCache>
                <c:formatCode>General</c:formatCode>
                <c:ptCount val="5"/>
                <c:pt idx="0">
                  <c:v>82</c:v>
                </c:pt>
                <c:pt idx="1">
                  <c:v>74</c:v>
                </c:pt>
                <c:pt idx="2">
                  <c:v>46</c:v>
                </c:pt>
                <c:pt idx="3">
                  <c:v>58</c:v>
                </c:pt>
                <c:pt idx="4">
                  <c:v>39</c:v>
                </c:pt>
              </c:numCache>
            </c:numRef>
          </c:val>
        </c:ser>
        <c:axId val="-2068027336"/>
        <c:axId val="-2113994440"/>
      </c:barChart>
      <c:catAx>
        <c:axId val="-2068027336"/>
        <c:scaling>
          <c:orientation val="minMax"/>
        </c:scaling>
        <c:delete val="0"/>
        <c:axPos val="l"/>
        <c:majorTickMark val="out"/>
        <c:minorTickMark val="none"/>
        <c:tickLblPos val="nextTo"/>
        <c:spPr>
          <a:ln>
            <a:solidFill>
              <a:srgbClr val="E2E8F0"/>
            </a:solidFill>
          </a:ln>
        </c:spPr>
        <c:txPr>
          <a:bodyPr/>
          <a:lstStyle/>
          <a:p>
            <a:pPr>
              <a:defRPr sz="1000">
                <a:solidFill>
                  <a:srgbClr val="5B6372"/>
                </a:solidFill>
                <a:latin typeface="Arial"/>
              </a:defRPr>
            </a:pPr>
          </a:p>
        </c:txPr>
        <c:crossAx val="-2113994440"/>
        <c:crosses val="autoZero"/>
        <c:auto val="1"/>
        <c:lblAlgn val="ctr"/>
        <c:lblOffset val="100"/>
        <c:noMultiLvlLbl val="0"/>
      </c:catAx>
      <c:valAx>
        <c:axId val="-2113994440"/>
        <c:scaling/>
        <c:delete val="0"/>
        <c:axPos val="b"/>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Rework hours without review</c:v>
                </c:pt>
              </c:strCache>
            </c:strRef>
          </c:tx>
          <c:spPr>
            <a:ln w="31750">
              <a:solidFill>
                <a:srgbClr val="1F6FEB"/>
              </a:solidFill>
            </a:ln>
          </c:spPr>
          <c:marker>
            <c:spPr>
              <a:solidFill>
                <a:srgbClr val="1F6FEB"/>
              </a:solidFill>
              <a:ln>
                <a:solidFill>
                  <a:srgbClr val="1F6FEB"/>
                </a:solidFill>
              </a:ln>
            </c:spPr>
          </c:marker>
          <c:cat>
            <c:strRef>
              <c:f>Sheet1!$A$2:$A$7</c:f>
              <c:strCache>
                <c:ptCount val="6"/>
                <c:pt idx="0">
                  <c:v>Week 1</c:v>
                </c:pt>
                <c:pt idx="1">
                  <c:v>Week 2</c:v>
                </c:pt>
                <c:pt idx="2">
                  <c:v>Week 3</c:v>
                </c:pt>
                <c:pt idx="3">
                  <c:v>Week 4</c:v>
                </c:pt>
                <c:pt idx="4">
                  <c:v>Week 5</c:v>
                </c:pt>
                <c:pt idx="5">
                  <c:v>Week 6</c:v>
                </c:pt>
              </c:strCache>
            </c:strRef>
          </c:cat>
          <c:val>
            <c:numRef>
              <c:f>Sheet1!$B$2:$B$7</c:f>
              <c:numCache>
                <c:formatCode>General</c:formatCode>
                <c:ptCount val="6"/>
                <c:pt idx="0">
                  <c:v>2.0</c:v>
                </c:pt>
                <c:pt idx="1">
                  <c:v>3.4</c:v>
                </c:pt>
                <c:pt idx="2">
                  <c:v>5.1</c:v>
                </c:pt>
                <c:pt idx="3">
                  <c:v>6.8</c:v>
                </c:pt>
                <c:pt idx="4">
                  <c:v>8.2</c:v>
                </c:pt>
                <c:pt idx="5">
                  <c:v>9.9</c:v>
                </c:pt>
              </c:numCache>
            </c:numRef>
          </c:val>
          <c:smooth val="0"/>
        </c:ser>
        <c:ser>
          <c:idx val="1"/>
          <c:order val="1"/>
          <c:tx>
            <c:strRef>
              <c:f>Sheet1!$C$1</c:f>
              <c:strCache>
                <c:ptCount val="1"/>
                <c:pt idx="0">
                  <c:v>Rework hours with review</c:v>
                </c:pt>
              </c:strCache>
            </c:strRef>
          </c:tx>
          <c:spPr>
            <a:ln w="31750">
              <a:solidFill>
                <a:srgbClr val="10B981"/>
              </a:solidFill>
            </a:ln>
          </c:spPr>
          <c:marker>
            <c:spPr>
              <a:solidFill>
                <a:srgbClr val="10B981"/>
              </a:solidFill>
              <a:ln>
                <a:solidFill>
                  <a:srgbClr val="10B981"/>
                </a:solidFill>
              </a:ln>
            </c:spPr>
          </c:marker>
          <c:cat>
            <c:strRef>
              <c:f>Sheet1!$A$2:$A$7</c:f>
              <c:strCache>
                <c:ptCount val="6"/>
                <c:pt idx="0">
                  <c:v>Week 1</c:v>
                </c:pt>
                <c:pt idx="1">
                  <c:v>Week 2</c:v>
                </c:pt>
                <c:pt idx="2">
                  <c:v>Week 3</c:v>
                </c:pt>
                <c:pt idx="3">
                  <c:v>Week 4</c:v>
                </c:pt>
                <c:pt idx="4">
                  <c:v>Week 5</c:v>
                </c:pt>
                <c:pt idx="5">
                  <c:v>Week 6</c:v>
                </c:pt>
              </c:strCache>
            </c:strRef>
          </c:cat>
          <c:val>
            <c:numRef>
              <c:f>Sheet1!$C$2:$C$7</c:f>
              <c:numCache>
                <c:formatCode>General</c:formatCode>
                <c:ptCount val="6"/>
                <c:pt idx="0">
                  <c:v>3.1</c:v>
                </c:pt>
                <c:pt idx="1">
                  <c:v>2.8</c:v>
                </c:pt>
                <c:pt idx="2">
                  <c:v>2.4</c:v>
                </c:pt>
                <c:pt idx="3">
                  <c:v>2.1</c:v>
                </c:pt>
                <c:pt idx="4">
                  <c:v>1.8</c:v>
                </c:pt>
                <c:pt idx="5">
                  <c:v>1.6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E8F0"/>
            </a:solidFill>
          </a:ln>
        </c:spPr>
        <c:txPr>
          <a:bodyPr/>
          <a:lstStyle/>
          <a:p>
            <a:pPr>
              <a:defRPr sz="1000">
                <a:solidFill>
                  <a:srgbClr val="5B6372"/>
                </a:solidFill>
                <a:latin typeface="Arial"/>
              </a:defRPr>
            </a:pPr>
          </a:p>
        </c:txPr>
        <c:crossAx val="2140495176"/>
        <c:crosses val="autoZero"/>
        <c:auto val="1"/>
        <c:lblAlgn val="ctr"/>
        <c:lblOffset val="100"/>
        <c:noMultiLvlLbl val="0"/>
      </c:catAx>
      <c:valAx>
        <c:axId val="2140495176"/>
        <c:scaling/>
        <c:delete val="0"/>
        <c:axPos val="l"/>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100">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Revenue index</c:v>
                </c:pt>
              </c:strCache>
            </c:strRef>
          </c:tx>
          <c:spPr>
            <a:ln w="31750">
              <a:solidFill>
                <a:srgbClr val="1F6FEB"/>
              </a:solidFill>
            </a:ln>
          </c:spPr>
          <c:marker>
            <c:spPr>
              <a:solidFill>
                <a:srgbClr val="1F6FEB"/>
              </a:solidFill>
              <a:ln>
                <a:solidFill>
                  <a:srgbClr val="1F6FEB"/>
                </a:solidFill>
              </a:ln>
            </c:spPr>
          </c:marker>
          <c:cat>
            <c:strRef>
              <c:f>Sheet1!$A$2:$A$9</c:f>
              <c:strCache>
                <c:ptCount val="8"/>
                <c:pt idx="0">
                  <c:v>Jan</c:v>
                </c:pt>
                <c:pt idx="1">
                  <c:v>Feb</c:v>
                </c:pt>
                <c:pt idx="2">
                  <c:v>Mar</c:v>
                </c:pt>
                <c:pt idx="3">
                  <c:v>Apr</c:v>
                </c:pt>
                <c:pt idx="4">
                  <c:v>May</c:v>
                </c:pt>
                <c:pt idx="5">
                  <c:v>Jun</c:v>
                </c:pt>
                <c:pt idx="6">
                  <c:v>Jul</c:v>
                </c:pt>
                <c:pt idx="7">
                  <c:v>Aug</c:v>
                </c:pt>
              </c:strCache>
            </c:strRef>
          </c:cat>
          <c:val>
            <c:numRef>
              <c:f>Sheet1!$B$2:$B$9</c:f>
              <c:numCache>
                <c:formatCode>General</c:formatCode>
                <c:ptCount val="8"/>
                <c:pt idx="0">
                  <c:v>100</c:v>
                </c:pt>
                <c:pt idx="1">
                  <c:v>108</c:v>
                </c:pt>
                <c:pt idx="2">
                  <c:v>115</c:v>
                </c:pt>
                <c:pt idx="3">
                  <c:v>121</c:v>
                </c:pt>
                <c:pt idx="4">
                  <c:v>129</c:v>
                </c:pt>
                <c:pt idx="5">
                  <c:v>134</c:v>
                </c:pt>
                <c:pt idx="6">
                  <c:v>141</c:v>
                </c:pt>
                <c:pt idx="7">
                  <c:v>148</c:v>
                </c:pt>
              </c:numCache>
            </c:numRef>
          </c:val>
          <c:smooth val="0"/>
        </c:ser>
        <c:ser>
          <c:idx val="1"/>
          <c:order val="1"/>
          <c:tx>
            <c:strRef>
              <c:f>Sheet1!$C$1</c:f>
              <c:strCache>
                <c:ptCount val="1"/>
                <c:pt idx="0">
                  <c:v>Margin index</c:v>
                </c:pt>
              </c:strCache>
            </c:strRef>
          </c:tx>
          <c:spPr>
            <a:ln w="31750">
              <a:solidFill>
                <a:srgbClr val="10B981"/>
              </a:solidFill>
            </a:ln>
          </c:spPr>
          <c:marker>
            <c:spPr>
              <a:solidFill>
                <a:srgbClr val="10B981"/>
              </a:solidFill>
              <a:ln>
                <a:solidFill>
                  <a:srgbClr val="10B981"/>
                </a:solidFill>
              </a:ln>
            </c:spPr>
          </c:marker>
          <c:cat>
            <c:strRef>
              <c:f>Sheet1!$A$2:$A$9</c:f>
              <c:strCache>
                <c:ptCount val="8"/>
                <c:pt idx="0">
                  <c:v>Jan</c:v>
                </c:pt>
                <c:pt idx="1">
                  <c:v>Feb</c:v>
                </c:pt>
                <c:pt idx="2">
                  <c:v>Mar</c:v>
                </c:pt>
                <c:pt idx="3">
                  <c:v>Apr</c:v>
                </c:pt>
                <c:pt idx="4">
                  <c:v>May</c:v>
                </c:pt>
                <c:pt idx="5">
                  <c:v>Jun</c:v>
                </c:pt>
                <c:pt idx="6">
                  <c:v>Jul</c:v>
                </c:pt>
                <c:pt idx="7">
                  <c:v>Aug</c:v>
                </c:pt>
              </c:strCache>
            </c:strRef>
          </c:cat>
          <c:val>
            <c:numRef>
              <c:f>Sheet1!$C$2:$C$9</c:f>
              <c:numCache>
                <c:formatCode>General</c:formatCode>
                <c:ptCount val="8"/>
                <c:pt idx="0">
                  <c:v>100</c:v>
                </c:pt>
                <c:pt idx="1">
                  <c:v>99</c:v>
                </c:pt>
                <c:pt idx="2">
                  <c:v>97</c:v>
                </c:pt>
                <c:pt idx="3">
                  <c:v>95</c:v>
                </c:pt>
                <c:pt idx="4">
                  <c:v>92</c:v>
                </c:pt>
                <c:pt idx="5">
                  <c:v>90</c:v>
                </c:pt>
                <c:pt idx="6">
                  <c:v>88</c:v>
                </c:pt>
                <c:pt idx="7">
                  <c:v>85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E8F0"/>
            </a:solidFill>
          </a:ln>
        </c:spPr>
        <c:txPr>
          <a:bodyPr/>
          <a:lstStyle/>
          <a:p>
            <a:pPr>
              <a:defRPr sz="1000">
                <a:solidFill>
                  <a:srgbClr val="5B6372"/>
                </a:solidFill>
                <a:latin typeface="Arial"/>
              </a:defRPr>
            </a:pPr>
          </a:p>
        </c:txPr>
        <c:crossAx val="2140495176"/>
        <c:crosses val="autoZero"/>
        <c:auto val="1"/>
        <c:lblAlgn val="ctr"/>
        <c:lblOffset val="100"/>
        <c:noMultiLvlLbl val="0"/>
      </c:catAx>
      <c:valAx>
        <c:axId val="2140495176"/>
        <c:scaling/>
        <c:delete val="0"/>
        <c:axPos val="l"/>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1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Revenue vs target (%)</c:v>
                </c:pt>
              </c:strCache>
            </c:strRef>
          </c:tx>
          <c:spPr>
            <a:solidFill>
              <a:srgbClr val="1F6FEB"/>
            </a:solidFill>
            <a:ln>
              <a:noFill/>
            </a:ln>
          </c:spPr>
          <c:cat>
            <c:strRef>
              <c:f>Sheet1!$A$2:$A$5</c:f>
              <c:strCache>
                <c:ptCount val="4"/>
                <c:pt idx="0">
                  <c:v>North</c:v>
                </c:pt>
                <c:pt idx="1">
                  <c:v>East</c:v>
                </c:pt>
                <c:pt idx="2">
                  <c:v>South</c:v>
                </c:pt>
                <c:pt idx="3">
                  <c:v>West</c:v>
                </c:pt>
              </c:strCache>
            </c:strRef>
          </c:cat>
          <c:val>
            <c:numRef>
              <c:f>Sheet1!$B$2:$B$5</c:f>
              <c:numCache>
                <c:formatCode>General</c:formatCode>
                <c:ptCount val="4"/>
                <c:pt idx="0">
                  <c:v>112</c:v>
                </c:pt>
                <c:pt idx="1">
                  <c:v>104</c:v>
                </c:pt>
                <c:pt idx="2">
                  <c:v>86</c:v>
                </c:pt>
                <c:pt idx="3">
                  <c:v>71</c:v>
                </c:pt>
              </c:numCache>
            </c:numRef>
          </c:val>
        </c:ser>
        <c:axId val="-2068027336"/>
        <c:axId val="-2113994440"/>
      </c:barChart>
      <c:catAx>
        <c:axId val="-2068027336"/>
        <c:scaling>
          <c:orientation val="minMax"/>
        </c:scaling>
        <c:delete val="0"/>
        <c:axPos val="l"/>
        <c:majorTickMark val="out"/>
        <c:minorTickMark val="none"/>
        <c:tickLblPos val="nextTo"/>
        <c:spPr>
          <a:ln>
            <a:solidFill>
              <a:srgbClr val="E2E8F0"/>
            </a:solidFill>
          </a:ln>
        </c:spPr>
        <c:txPr>
          <a:bodyPr/>
          <a:lstStyle/>
          <a:p>
            <a:pPr>
              <a:defRPr sz="1000">
                <a:solidFill>
                  <a:srgbClr val="5B6372"/>
                </a:solidFill>
                <a:latin typeface="Arial"/>
              </a:defRPr>
            </a:pPr>
          </a:p>
        </c:txPr>
        <c:crossAx val="-2113994440"/>
        <c:crosses val="autoZero"/>
        <c:auto val="1"/>
        <c:lblAlgn val="ctr"/>
        <c:lblOffset val="100"/>
        <c:noMultiLvlLbl val="0"/>
      </c:catAx>
      <c:valAx>
        <c:axId val="-2113994440"/>
        <c:scaling/>
        <c:delete val="0"/>
        <c:axPos val="b"/>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Downside</c:v>
                </c:pt>
              </c:strCache>
            </c:strRef>
          </c:tx>
          <c:spPr>
            <a:ln w="31750">
              <a:solidFill>
                <a:srgbClr val="1F6FEB"/>
              </a:solidFill>
            </a:ln>
          </c:spPr>
          <c:marker>
            <c:spPr>
              <a:solidFill>
                <a:srgbClr val="1F6FEB"/>
              </a:solidFill>
              <a:ln>
                <a:solidFill>
                  <a:srgbClr val="1F6FEB"/>
                </a:solidFill>
              </a:ln>
            </c:spPr>
          </c:marker>
          <c:cat>
            <c:strRef>
              <c:f>Sheet1!$A$2:$A$7</c:f>
              <c:strCache>
                <c:ptCount val="6"/>
                <c:pt idx="0">
                  <c:v>M1</c:v>
                </c:pt>
                <c:pt idx="1">
                  <c:v>M2</c:v>
                </c:pt>
                <c:pt idx="2">
                  <c:v>M3</c:v>
                </c:pt>
                <c:pt idx="3">
                  <c:v>M4</c:v>
                </c:pt>
                <c:pt idx="4">
                  <c:v>M5</c:v>
                </c:pt>
                <c:pt idx="5">
                  <c:v>M6</c:v>
                </c:pt>
              </c:strCache>
            </c:strRef>
          </c:cat>
          <c:val>
            <c:numRef>
              <c:f>Sheet1!$B$2:$B$7</c:f>
              <c:numCache>
                <c:formatCode>General</c:formatCode>
                <c:ptCount val="6"/>
                <c:pt idx="0">
                  <c:v>128</c:v>
                </c:pt>
                <c:pt idx="1">
                  <c:v>131</c:v>
                </c:pt>
                <c:pt idx="2">
                  <c:v>133</c:v>
                </c:pt>
                <c:pt idx="3">
                  <c:v>136</c:v>
                </c:pt>
                <c:pt idx="4">
                  <c:v>138</c:v>
                </c:pt>
                <c:pt idx="5">
                  <c:v>141</c:v>
                </c:pt>
              </c:numCache>
            </c:numRef>
          </c:val>
          <c:smooth val="0"/>
        </c:ser>
        <c:ser>
          <c:idx val="1"/>
          <c:order val="1"/>
          <c:tx>
            <c:strRef>
              <c:f>Sheet1!$C$1</c:f>
              <c:strCache>
                <c:ptCount val="1"/>
                <c:pt idx="0">
                  <c:v>Base</c:v>
                </c:pt>
              </c:strCache>
            </c:strRef>
          </c:tx>
          <c:spPr>
            <a:ln w="31750">
              <a:solidFill>
                <a:srgbClr val="10B981"/>
              </a:solidFill>
            </a:ln>
          </c:spPr>
          <c:marker>
            <c:spPr>
              <a:solidFill>
                <a:srgbClr val="10B981"/>
              </a:solidFill>
              <a:ln>
                <a:solidFill>
                  <a:srgbClr val="10B981"/>
                </a:solidFill>
              </a:ln>
            </c:spPr>
          </c:marker>
          <c:cat>
            <c:strRef>
              <c:f>Sheet1!$A$2:$A$7</c:f>
              <c:strCache>
                <c:ptCount val="6"/>
                <c:pt idx="0">
                  <c:v>M1</c:v>
                </c:pt>
                <c:pt idx="1">
                  <c:v>M2</c:v>
                </c:pt>
                <c:pt idx="2">
                  <c:v>M3</c:v>
                </c:pt>
                <c:pt idx="3">
                  <c:v>M4</c:v>
                </c:pt>
                <c:pt idx="4">
                  <c:v>M5</c:v>
                </c:pt>
                <c:pt idx="5">
                  <c:v>M6</c:v>
                </c:pt>
              </c:strCache>
            </c:strRef>
          </c:cat>
          <c:val>
            <c:numRef>
              <c:f>Sheet1!$C$2:$C$7</c:f>
              <c:numCache>
                <c:formatCode>General</c:formatCode>
                <c:ptCount val="6"/>
                <c:pt idx="0">
                  <c:v>142</c:v>
                </c:pt>
                <c:pt idx="1">
                  <c:v>150</c:v>
                </c:pt>
                <c:pt idx="2">
                  <c:v>158</c:v>
                </c:pt>
                <c:pt idx="3">
                  <c:v>166</c:v>
                </c:pt>
                <c:pt idx="4">
                  <c:v>175</c:v>
                </c:pt>
                <c:pt idx="5">
                  <c:v>184</c:v>
                </c:pt>
              </c:numCache>
            </c:numRef>
          </c:val>
          <c:smooth val="0"/>
        </c:ser>
        <c:ser>
          <c:idx val="2"/>
          <c:order val="2"/>
          <c:tx>
            <c:strRef>
              <c:f>Sheet1!$D$1</c:f>
              <c:strCache>
                <c:ptCount val="1"/>
                <c:pt idx="0">
                  <c:v>Upside</c:v>
                </c:pt>
              </c:strCache>
            </c:strRef>
          </c:tx>
          <c:spPr>
            <a:ln w="31750">
              <a:solidFill>
                <a:srgbClr val="7C3AED"/>
              </a:solidFill>
            </a:ln>
          </c:spPr>
          <c:marker>
            <c:spPr>
              <a:solidFill>
                <a:srgbClr val="7C3AED"/>
              </a:solidFill>
              <a:ln>
                <a:solidFill>
                  <a:srgbClr val="7C3AED"/>
                </a:solidFill>
              </a:ln>
            </c:spPr>
          </c:marker>
          <c:cat>
            <c:strRef>
              <c:f>Sheet1!$A$2:$A$7</c:f>
              <c:strCache>
                <c:ptCount val="6"/>
                <c:pt idx="0">
                  <c:v>M1</c:v>
                </c:pt>
                <c:pt idx="1">
                  <c:v>M2</c:v>
                </c:pt>
                <c:pt idx="2">
                  <c:v>M3</c:v>
                </c:pt>
                <c:pt idx="3">
                  <c:v>M4</c:v>
                </c:pt>
                <c:pt idx="4">
                  <c:v>M5</c:v>
                </c:pt>
                <c:pt idx="5">
                  <c:v>M6</c:v>
                </c:pt>
              </c:strCache>
            </c:strRef>
          </c:cat>
          <c:val>
            <c:numRef>
              <c:f>Sheet1!$D$2:$D$7</c:f>
              <c:numCache>
                <c:formatCode>General</c:formatCode>
                <c:ptCount val="6"/>
                <c:pt idx="0">
                  <c:v>155</c:v>
                </c:pt>
                <c:pt idx="1">
                  <c:v>168</c:v>
                </c:pt>
                <c:pt idx="2">
                  <c:v>182</c:v>
                </c:pt>
                <c:pt idx="3">
                  <c:v>197</c:v>
                </c:pt>
                <c:pt idx="4">
                  <c:v>213</c:v>
                </c:pt>
                <c:pt idx="5">
                  <c:v>230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E8F0"/>
            </a:solidFill>
          </a:ln>
        </c:spPr>
        <c:txPr>
          <a:bodyPr/>
          <a:lstStyle/>
          <a:p>
            <a:pPr>
              <a:defRPr sz="1000">
                <a:solidFill>
                  <a:srgbClr val="5B6372"/>
                </a:solidFill>
                <a:latin typeface="Arial"/>
              </a:defRPr>
            </a:pPr>
          </a:p>
        </c:txPr>
        <c:crossAx val="2140495176"/>
        <c:crosses val="autoZero"/>
        <c:auto val="1"/>
        <c:lblAlgn val="ctr"/>
        <c:lblOffset val="100"/>
        <c:noMultiLvlLbl val="0"/>
      </c:catAx>
      <c:valAx>
        <c:axId val="2140495176"/>
        <c:scaling/>
        <c:delete val="0"/>
        <c:axPos val="l"/>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100">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Impressions index</c:v>
                </c:pt>
              </c:strCache>
            </c:strRef>
          </c:tx>
          <c:spPr>
            <a:solidFill>
              <a:srgbClr val="1F6FEB"/>
            </a:solidFill>
            <a:ln>
              <a:noFill/>
            </a:ln>
          </c:spPr>
          <c:cat>
            <c:strRef>
              <c:f>Sheet1!$A$2:$A$4</c:f>
              <c:strCache>
                <c:ptCount val="3"/>
                <c:pt idx="0">
                  <c:v>Web</c:v>
                </c:pt>
                <c:pt idx="1">
                  <c:v>Retail</c:v>
                </c:pt>
                <c:pt idx="2">
                  <c:v>Partner</c:v>
                </c:pt>
              </c:strCache>
            </c:strRef>
          </c:cat>
          <c:val>
            <c:numRef>
              <c:f>Sheet1!$B$2:$B$4</c:f>
              <c:numCache>
                <c:formatCode>General</c:formatCode>
                <c:ptCount val="3"/>
                <c:pt idx="0">
                  <c:v>100</c:v>
                </c:pt>
                <c:pt idx="1">
                  <c:v>63</c:v>
                </c:pt>
                <c:pt idx="2">
                  <c:v>46</c:v>
                </c:pt>
              </c:numCache>
            </c:numRef>
          </c:val>
        </c:ser>
        <c:ser>
          <c:idx val="1"/>
          <c:order val="1"/>
          <c:tx>
            <c:strRef>
              <c:f>Sheet1!$C$1</c:f>
              <c:strCache>
                <c:ptCount val="1"/>
                <c:pt idx="0">
                  <c:v>Conversion index</c:v>
                </c:pt>
              </c:strCache>
            </c:strRef>
          </c:tx>
          <c:spPr>
            <a:solidFill>
              <a:srgbClr val="10B981"/>
            </a:solidFill>
            <a:ln>
              <a:noFill/>
            </a:ln>
          </c:spPr>
          <c:cat>
            <c:strRef>
              <c:f>Sheet1!$A$2:$A$4</c:f>
              <c:strCache>
                <c:ptCount val="3"/>
                <c:pt idx="0">
                  <c:v>Web</c:v>
                </c:pt>
                <c:pt idx="1">
                  <c:v>Retail</c:v>
                </c:pt>
                <c:pt idx="2">
                  <c:v>Partner</c:v>
                </c:pt>
              </c:strCache>
            </c:strRef>
          </c:cat>
          <c:val>
            <c:numRef>
              <c:f>Sheet1!$C$2:$C$4</c:f>
              <c:numCache>
                <c:formatCode>General</c:formatCode>
                <c:ptCount val="3"/>
                <c:pt idx="0">
                  <c:v>100</c:v>
                </c:pt>
                <c:pt idx="1">
                  <c:v>142</c:v>
                </c:pt>
                <c:pt idx="2">
                  <c:v>71</c:v>
                </c:pt>
              </c:numCache>
            </c:numRef>
          </c:val>
        </c:ser>
        <c:axId val="-2068027336"/>
        <c:axId val="-2113994440"/>
      </c:barChart>
      <c:catAx>
        <c:axId val="-2068027336"/>
        <c:scaling>
          <c:orientation val="minMax"/>
        </c:scaling>
        <c:delete val="0"/>
        <c:axPos val="b"/>
        <c:majorTickMark val="out"/>
        <c:minorTickMark val="none"/>
        <c:tickLblPos val="nextTo"/>
        <c:spPr>
          <a:ln>
            <a:solidFill>
              <a:srgbClr val="E2E8F0"/>
            </a:solidFill>
          </a:ln>
        </c:spPr>
        <c:txPr>
          <a:bodyPr/>
          <a:lstStyle/>
          <a:p>
            <a:pPr>
              <a:defRPr sz="1000">
                <a:solidFill>
                  <a:srgbClr val="5B6372"/>
                </a:solidFill>
                <a:latin typeface="Arial"/>
              </a:defRPr>
            </a:pPr>
          </a:p>
        </c:txPr>
        <c:crossAx val="-2113994440"/>
        <c:crosses val="autoZero"/>
        <c:auto val="1"/>
        <c:lblAlgn val="ctr"/>
        <c:lblOffset val="100"/>
        <c:noMultiLvlLbl val="0"/>
      </c:catAx>
      <c:valAx>
        <c:axId val="-2113994440"/>
        <c:scaling/>
        <c:delete val="0"/>
        <c:axPos val="l"/>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068027336"/>
        <c:crosses val="autoZero"/>
      </c:valAx>
    </c:plotArea>
    <c:legend>
      <c:legendPos val="b"/>
      <c:overlay val="0"/>
      <c:txPr>
        <a:bodyPr/>
        <a:lstStyle/>
        <a:p>
          <a:pPr>
            <a:defRPr sz="1000"/>
          </a:pPr>
        </a:p>
      </c:txPr>
    </c:legend>
    <c:dispBlanksAs val="gap"/>
  </c:chart>
  <c:txPr>
    <a:bodyPr/>
    <a:lstStyle/>
    <a:p>
      <a:pPr>
        <a:defRPr sz="1100">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Hours per month</c:v>
                </c:pt>
              </c:strCache>
            </c:strRef>
          </c:tx>
          <c:spPr>
            <a:solidFill>
              <a:srgbClr val="1F6FEB"/>
            </a:solidFill>
            <a:ln>
              <a:noFill/>
            </a:ln>
          </c:spPr>
          <c:cat>
            <c:strRef>
              <c:f>Sheet1!$A$2:$A$6</c:f>
              <c:strCache>
                <c:ptCount val="5"/>
                <c:pt idx="0">
                  <c:v>Re-typing data</c:v>
                </c:pt>
                <c:pt idx="1">
                  <c:v>Chasing approvals</c:v>
                </c:pt>
                <c:pt idx="2">
                  <c:v>Sending confirmations</c:v>
                </c:pt>
                <c:pt idx="3">
                  <c:v>Compiling reports</c:v>
                </c:pt>
                <c:pt idx="4">
                  <c:v>Filing records</c:v>
                </c:pt>
              </c:strCache>
            </c:strRef>
          </c:cat>
          <c:val>
            <c:numRef>
              <c:f>Sheet1!$B$2:$B$6</c:f>
              <c:numCache>
                <c:formatCode>General</c:formatCode>
                <c:ptCount val="5"/>
                <c:pt idx="0">
                  <c:v>26</c:v>
                </c:pt>
                <c:pt idx="1">
                  <c:v>17</c:v>
                </c:pt>
                <c:pt idx="2">
                  <c:v>14</c:v>
                </c:pt>
                <c:pt idx="3">
                  <c:v>11</c:v>
                </c:pt>
                <c:pt idx="4">
                  <c:v>8</c:v>
                </c:pt>
              </c:numCache>
            </c:numRef>
          </c:val>
        </c:ser>
        <c:axId val="-2068027336"/>
        <c:axId val="-2113994440"/>
      </c:barChart>
      <c:catAx>
        <c:axId val="-2068027336"/>
        <c:scaling>
          <c:orientation val="minMax"/>
        </c:scaling>
        <c:delete val="0"/>
        <c:axPos val="l"/>
        <c:majorTickMark val="out"/>
        <c:minorTickMark val="none"/>
        <c:tickLblPos val="nextTo"/>
        <c:spPr>
          <a:ln>
            <a:solidFill>
              <a:srgbClr val="E2E8F0"/>
            </a:solidFill>
          </a:ln>
        </c:spPr>
        <c:txPr>
          <a:bodyPr/>
          <a:lstStyle/>
          <a:p>
            <a:pPr>
              <a:defRPr sz="1000">
                <a:solidFill>
                  <a:srgbClr val="5B6372"/>
                </a:solidFill>
                <a:latin typeface="Arial"/>
              </a:defRPr>
            </a:pPr>
          </a:p>
        </c:txPr>
        <c:crossAx val="-2113994440"/>
        <c:crosses val="autoZero"/>
        <c:auto val="1"/>
        <c:lblAlgn val="ctr"/>
        <c:lblOffset val="100"/>
        <c:noMultiLvlLbl val="0"/>
      </c:catAx>
      <c:valAx>
        <c:axId val="-2113994440"/>
        <c:scaling/>
        <c:delete val="0"/>
        <c:axPos val="b"/>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Share of failures (%)</c:v>
                </c:pt>
              </c:strCache>
            </c:strRef>
          </c:tx>
          <c:spPr>
            <a:solidFill>
              <a:srgbClr val="1F6FEB"/>
            </a:solidFill>
            <a:ln>
              <a:noFill/>
            </a:ln>
          </c:spPr>
          <c:cat>
            <c:strRef>
              <c:f>Sheet1!$A$2:$A$6</c:f>
              <c:strCache>
                <c:ptCount val="5"/>
                <c:pt idx="0">
                  <c:v>Answers out of scope</c:v>
                </c:pt>
                <c:pt idx="1">
                  <c:v>Invents a fact</c:v>
                </c:pt>
                <c:pt idx="2">
                  <c:v>Wrong tool called</c:v>
                </c:pt>
                <c:pt idx="3">
                  <c:v>Fails to cite</c:v>
                </c:pt>
                <c:pt idx="4">
                  <c:v>Tool not called</c:v>
                </c:pt>
              </c:strCache>
            </c:strRef>
          </c:cat>
          <c:val>
            <c:numRef>
              <c:f>Sheet1!$B$2:$B$6</c:f>
              <c:numCache>
                <c:formatCode>General</c:formatCode>
                <c:ptCount val="5"/>
                <c:pt idx="0">
                  <c:v>31</c:v>
                </c:pt>
                <c:pt idx="1">
                  <c:v>24</c:v>
                </c:pt>
                <c:pt idx="2">
                  <c:v>18</c:v>
                </c:pt>
                <c:pt idx="3">
                  <c:v>15</c:v>
                </c:pt>
                <c:pt idx="4">
                  <c:v>12</c:v>
                </c:pt>
              </c:numCache>
            </c:numRef>
          </c:val>
        </c:ser>
        <c:axId val="-2068027336"/>
        <c:axId val="-2113994440"/>
      </c:barChart>
      <c:catAx>
        <c:axId val="-2068027336"/>
        <c:scaling>
          <c:orientation val="minMax"/>
        </c:scaling>
        <c:delete val="0"/>
        <c:axPos val="l"/>
        <c:majorTickMark val="out"/>
        <c:minorTickMark val="none"/>
        <c:tickLblPos val="nextTo"/>
        <c:spPr>
          <a:ln>
            <a:solidFill>
              <a:srgbClr val="E2E8F0"/>
            </a:solidFill>
          </a:ln>
        </c:spPr>
        <c:txPr>
          <a:bodyPr/>
          <a:lstStyle/>
          <a:p>
            <a:pPr>
              <a:defRPr sz="1000">
                <a:solidFill>
                  <a:srgbClr val="5B6372"/>
                </a:solidFill>
                <a:latin typeface="Arial"/>
              </a:defRPr>
            </a:pPr>
          </a:p>
        </c:txPr>
        <c:crossAx val="-2113994440"/>
        <c:crosses val="autoZero"/>
        <c:auto val="1"/>
        <c:lblAlgn val="ctr"/>
        <c:lblOffset val="100"/>
        <c:noMultiLvlLbl val="0"/>
      </c:catAx>
      <c:valAx>
        <c:axId val="-2113994440"/>
        <c:scaling/>
        <c:delete val="0"/>
        <c:axPos val="b"/>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Hours per month saved</c:v>
                </c:pt>
              </c:strCache>
            </c:strRef>
          </c:tx>
          <c:spPr>
            <a:solidFill>
              <a:srgbClr val="1F6FEB"/>
            </a:solidFill>
            <a:ln>
              <a:noFill/>
            </a:ln>
          </c:spPr>
          <c:cat>
            <c:strRef>
              <c:f>Sheet1!$A$2:$A$6</c:f>
              <c:strCache>
                <c:ptCount val="5"/>
                <c:pt idx="0">
                  <c:v>Enquiry handling</c:v>
                </c:pt>
                <c:pt idx="1">
                  <c:v>Data entry</c:v>
                </c:pt>
                <c:pt idx="2">
                  <c:v>Approvals chasing</c:v>
                </c:pt>
                <c:pt idx="3">
                  <c:v>Reporting</c:v>
                </c:pt>
                <c:pt idx="4">
                  <c:v>Follow-ups</c:v>
                </c:pt>
              </c:strCache>
            </c:strRef>
          </c:cat>
          <c:val>
            <c:numRef>
              <c:f>Sheet1!$B$2:$B$6</c:f>
              <c:numCache>
                <c:formatCode>General</c:formatCode>
                <c:ptCount val="5"/>
                <c:pt idx="0">
                  <c:v>18</c:v>
                </c:pt>
                <c:pt idx="1">
                  <c:v>24</c:v>
                </c:pt>
                <c:pt idx="2">
                  <c:v>11</c:v>
                </c:pt>
                <c:pt idx="3">
                  <c:v>9</c:v>
                </c:pt>
                <c:pt idx="4">
                  <c:v>14</c:v>
                </c:pt>
              </c:numCache>
            </c:numRef>
          </c:val>
        </c:ser>
        <c:axId val="-2068027336"/>
        <c:axId val="-2113994440"/>
      </c:barChart>
      <c:catAx>
        <c:axId val="-2068027336"/>
        <c:scaling>
          <c:orientation val="minMax"/>
        </c:scaling>
        <c:delete val="0"/>
        <c:axPos val="b"/>
        <c:majorTickMark val="out"/>
        <c:minorTickMark val="none"/>
        <c:tickLblPos val="nextTo"/>
        <c:spPr>
          <a:ln>
            <a:solidFill>
              <a:srgbClr val="E2E8F0"/>
            </a:solidFill>
          </a:ln>
        </c:spPr>
        <c:txPr>
          <a:bodyPr/>
          <a:lstStyle/>
          <a:p>
            <a:pPr>
              <a:defRPr sz="1000">
                <a:solidFill>
                  <a:srgbClr val="5B6372"/>
                </a:solidFill>
                <a:latin typeface="Arial"/>
              </a:defRPr>
            </a:pPr>
          </a:p>
        </c:txPr>
        <c:crossAx val="-2113994440"/>
        <c:crosses val="autoZero"/>
        <c:auto val="1"/>
        <c:lblAlgn val="ctr"/>
        <c:lblOffset val="100"/>
        <c:noMultiLvlLbl val="0"/>
      </c:catAx>
      <c:valAx>
        <c:axId val="-2113994440"/>
        <c:scaling/>
        <c:delete val="0"/>
        <c:axPos val="l"/>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Share of incidents (%)</c:v>
                </c:pt>
              </c:strCache>
            </c:strRef>
          </c:tx>
          <c:spPr>
            <a:solidFill>
              <a:srgbClr val="1F6FEB"/>
            </a:solidFill>
            <a:ln>
              <a:noFill/>
            </a:ln>
          </c:spPr>
          <c:cat>
            <c:strRef>
              <c:f>Sheet1!$A$2:$A$6</c:f>
              <c:strCache>
                <c:ptCount val="5"/>
                <c:pt idx="0">
                  <c:v>Data / mapping</c:v>
                </c:pt>
                <c:pt idx="1">
                  <c:v>Permissions</c:v>
                </c:pt>
                <c:pt idx="2">
                  <c:v>Configuration</c:v>
                </c:pt>
                <c:pt idx="3">
                  <c:v>External system</c:v>
                </c:pt>
                <c:pt idx="4">
                  <c:v>Logic</c:v>
                </c:pt>
              </c:strCache>
            </c:strRef>
          </c:cat>
          <c:val>
            <c:numRef>
              <c:f>Sheet1!$B$2:$B$6</c:f>
              <c:numCache>
                <c:formatCode>General</c:formatCode>
                <c:ptCount val="5"/>
                <c:pt idx="0">
                  <c:v>34</c:v>
                </c:pt>
                <c:pt idx="1">
                  <c:v>22</c:v>
                </c:pt>
                <c:pt idx="2">
                  <c:v>21</c:v>
                </c:pt>
                <c:pt idx="3">
                  <c:v>14</c:v>
                </c:pt>
                <c:pt idx="4">
                  <c:v>9</c:v>
                </c:pt>
              </c:numCache>
            </c:numRef>
          </c:val>
        </c:ser>
        <c:axId val="-2068027336"/>
        <c:axId val="-2113994440"/>
      </c:barChart>
      <c:catAx>
        <c:axId val="-2068027336"/>
        <c:scaling>
          <c:orientation val="minMax"/>
        </c:scaling>
        <c:delete val="0"/>
        <c:axPos val="l"/>
        <c:majorTickMark val="out"/>
        <c:minorTickMark val="none"/>
        <c:tickLblPos val="nextTo"/>
        <c:spPr>
          <a:ln>
            <a:solidFill>
              <a:srgbClr val="E2E8F0"/>
            </a:solidFill>
          </a:ln>
        </c:spPr>
        <c:txPr>
          <a:bodyPr/>
          <a:lstStyle/>
          <a:p>
            <a:pPr>
              <a:defRPr sz="1000">
                <a:solidFill>
                  <a:srgbClr val="5B6372"/>
                </a:solidFill>
                <a:latin typeface="Arial"/>
              </a:defRPr>
            </a:pPr>
          </a:p>
        </c:txPr>
        <c:crossAx val="-2113994440"/>
        <c:crosses val="autoZero"/>
        <c:auto val="1"/>
        <c:lblAlgn val="ctr"/>
        <c:lblOffset val="100"/>
        <c:noMultiLvlLbl val="0"/>
      </c:catAx>
      <c:valAx>
        <c:axId val="-2113994440"/>
        <c:scaling/>
        <c:delete val="0"/>
        <c:axPos val="b"/>
        <c:majorGridlines>
          <c:spPr>
            <a:ln w="9525">
              <a:solidFill>
                <a:srgbClr val="E2E8F0"/>
              </a:solidFill>
            </a:ln>
          </c:spPr>
        </c:majorGridlines>
        <c:majorTickMark val="out"/>
        <c:minorTickMark val="none"/>
        <c:tickLblPos val="nextTo"/>
        <c:spPr>
          <a:ln>
            <a:noFill/>
          </a:ln>
        </c:spPr>
        <c:txPr>
          <a:bodyPr/>
          <a:lstStyle/>
          <a:p>
            <a:pPr>
              <a:defRPr sz="1000">
                <a:solidFill>
                  <a:srgbClr val="5B6372"/>
                </a:solidFill>
                <a:latin typeface="Arial"/>
              </a:defRPr>
            </a:pPr>
          </a:p>
        </c:txPr>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658368"/>
            <a:ext cx="164592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749808"/>
            <a:ext cx="1645920" cy="457200"/>
          </a:xfrm>
          <a:prstGeom prst="rect">
            <a:avLst/>
          </a:prstGeom>
          <a:noFill/>
        </p:spPr>
        <p:txBody>
          <a:bodyPr wrap="square" anchor="t">
            <a:spAutoFit/>
          </a:bodyPr>
          <a:lstStyle/>
          <a:p>
            <a:pPr algn="ctr">
              <a:spcAft>
                <a:spcPts val="400"/>
              </a:spcAft>
            </a:pPr>
            <a:r>
              <a:rPr sz="1900" b="1">
                <a:solidFill>
                  <a:srgbClr val="FFFFFF"/>
                </a:solidFill>
                <a:latin typeface="Arial"/>
              </a:rPr>
              <a:t>COPILOT</a:t>
            </a:r>
          </a:p>
        </p:txBody>
      </p:sp>
      <p:sp>
        <p:nvSpPr>
          <p:cNvPr id="8" name="TextBox 7"/>
          <p:cNvSpPr txBox="1"/>
          <p:nvPr/>
        </p:nvSpPr>
        <p:spPr>
          <a:xfrm>
            <a:off x="9829800" y="1170432"/>
            <a:ext cx="1645920" cy="365760"/>
          </a:xfrm>
          <a:prstGeom prst="rect">
            <a:avLst/>
          </a:prstGeom>
          <a:noFill/>
        </p:spPr>
        <p:txBody>
          <a:bodyPr wrap="square" anchor="t">
            <a:spAutoFit/>
          </a:bodyPr>
          <a:lstStyle/>
          <a:p>
            <a:pPr algn="ctr">
              <a:spcAft>
                <a:spcPts val="400"/>
              </a:spcAft>
            </a:pPr>
            <a:r>
              <a:rPr sz="800" b="1">
                <a:solidFill>
                  <a:srgbClr val="FFFFFF"/>
                </a:solidFill>
                <a:latin typeface="Arial"/>
              </a:rPr>
              <a:t>MICROSOFT 365</a:t>
            </a:r>
          </a:p>
        </p:txBody>
      </p:sp>
      <p:sp>
        <p:nvSpPr>
          <p:cNvPr id="9" name="TextBox 8"/>
          <p:cNvSpPr txBox="1"/>
          <p:nvPr/>
        </p:nvSpPr>
        <p:spPr>
          <a:xfrm>
            <a:off x="822960" y="205740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514600"/>
            <a:ext cx="10607040" cy="1828800"/>
          </a:xfrm>
          <a:prstGeom prst="rect">
            <a:avLst/>
          </a:prstGeom>
          <a:noFill/>
        </p:spPr>
        <p:txBody>
          <a:bodyPr wrap="square" anchor="t">
            <a:spAutoFit/>
          </a:bodyPr>
          <a:lstStyle/>
          <a:p>
            <a:pPr algn="l">
              <a:spcAft>
                <a:spcPts val="400"/>
              </a:spcAft>
            </a:pPr>
            <a:r>
              <a:rPr sz="3700" b="1">
                <a:solidFill>
                  <a:srgbClr val="161B26"/>
                </a:solidFill>
                <a:latin typeface="Arial"/>
              </a:rPr>
              <a:t>Microsoft Copilot for Content Creation and Task Automation</a:t>
            </a:r>
          </a:p>
        </p:txBody>
      </p:sp>
      <p:sp>
        <p:nvSpPr>
          <p:cNvPr id="11" name="Rectangle 10"/>
          <p:cNvSpPr/>
          <p:nvPr/>
        </p:nvSpPr>
        <p:spPr>
          <a:xfrm>
            <a:off x="841248" y="443484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7091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TGS-2024042588</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1 September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23544" y="370332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3659886" y="370332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Scan it with your phone camera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6396228" y="370332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Submit your attendance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9132570" y="370332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Repeat AM, PM and on assessment day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t>
            </a:r>
          </a:p>
        </p:txBody>
      </p:sp>
      <p:sp>
        <p:nvSpPr>
          <p:cNvPr id="11" name="TextBox 10"/>
          <p:cNvSpPr txBox="1"/>
          <p:nvPr/>
        </p:nvSpPr>
        <p:spPr>
          <a:xfrm>
            <a:off x="914400" y="4114800"/>
            <a:ext cx="3063240" cy="548640"/>
          </a:xfrm>
          <a:prstGeom prst="rect">
            <a:avLst/>
          </a:prstGeom>
          <a:noFill/>
        </p:spPr>
        <p:txBody>
          <a:bodyPr wrap="square" anchor="t">
            <a:spAutoFit/>
          </a:bodyPr>
          <a:lstStyle/>
          <a:p>
            <a:pPr algn="ctr">
              <a:spcAft>
                <a:spcPts val="400"/>
              </a:spcAft>
            </a:pPr>
            <a:r>
              <a:rPr sz="2000" b="1">
                <a:solidFill>
                  <a:srgbClr val="161B26"/>
                </a:solidFill>
                <a:latin typeface="Arial"/>
              </a:rPr>
              <a:t>Your Trainer</a:t>
            </a:r>
          </a:p>
        </p:txBody>
      </p:sp>
      <p:sp>
        <p:nvSpPr>
          <p:cNvPr id="12" name="TextBox 11"/>
          <p:cNvSpPr txBox="1"/>
          <p:nvPr/>
        </p:nvSpPr>
        <p:spPr>
          <a:xfrm>
            <a:off x="914400" y="4709160"/>
            <a:ext cx="3063240" cy="1097280"/>
          </a:xfrm>
          <a:prstGeom prst="rect">
            <a:avLst/>
          </a:prstGeom>
          <a:noFill/>
        </p:spPr>
        <p:txBody>
          <a:bodyPr wrap="square" anchor="t">
            <a:spAutoFit/>
          </a:bodyPr>
          <a:lstStyle/>
          <a:p>
            <a:pPr algn="ctr">
              <a:spcAft>
                <a:spcPts val="400"/>
              </a:spcAft>
            </a:pPr>
            <a:r>
              <a:rPr sz="12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AA</a:t>
            </a:r>
          </a:p>
        </p:txBody>
      </p:sp>
      <p:sp>
        <p:nvSpPr>
          <p:cNvPr id="11" name="TextBox 10"/>
          <p:cNvSpPr txBox="1"/>
          <p:nvPr/>
        </p:nvSpPr>
        <p:spPr>
          <a:xfrm>
            <a:off x="914400" y="4114800"/>
            <a:ext cx="3063240" cy="548640"/>
          </a:xfrm>
          <a:prstGeom prst="rect">
            <a:avLst/>
          </a:prstGeom>
          <a:noFill/>
        </p:spPr>
        <p:txBody>
          <a:bodyPr wrap="square" anchor="t">
            <a:spAutoFit/>
          </a:bodyPr>
          <a:lstStyle/>
          <a:p>
            <a:pPr algn="ctr">
              <a:spcAft>
                <a:spcPts val="400"/>
              </a:spcAft>
            </a:pPr>
            <a:r>
              <a:rPr sz="2000" b="1">
                <a:solidFill>
                  <a:srgbClr val="161B26"/>
                </a:solidFill>
                <a:latin typeface="Arial"/>
              </a:rPr>
              <a:t>Dr. Alfred Ang</a:t>
            </a:r>
          </a:p>
        </p:txBody>
      </p:sp>
      <p:sp>
        <p:nvSpPr>
          <p:cNvPr id="12" name="TextBox 11"/>
          <p:cNvSpPr txBox="1"/>
          <p:nvPr/>
        </p:nvSpPr>
        <p:spPr>
          <a:xfrm>
            <a:off x="914400" y="4709160"/>
            <a:ext cx="3063240" cy="1097280"/>
          </a:xfrm>
          <a:prstGeom prst="rect">
            <a:avLst/>
          </a:prstGeom>
          <a:noFill/>
        </p:spPr>
        <p:txBody>
          <a:bodyPr wrap="square" anchor="t">
            <a:spAutoFit/>
          </a:bodyPr>
          <a:lstStyle/>
          <a:p>
            <a:pPr algn="ctr">
              <a:spcAft>
                <a:spcPts val="400"/>
              </a:spcAft>
            </a:pPr>
            <a:r>
              <a:rPr sz="12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000" b="1">
                <a:solidFill>
                  <a:srgbClr val="10B981"/>
                </a:solidFill>
                <a:latin typeface="Arial"/>
              </a:rPr>
              <a:t>CERTIFICATION</a:t>
            </a:r>
          </a:p>
          <a:p>
            <a:pPr algn="l">
              <a:spcAft>
                <a:spcPts val="300"/>
              </a:spcAft>
            </a:pPr>
            <a:r>
              <a:rPr sz="1300" b="0">
                <a:solidFill>
                  <a:srgbClr val="161B26"/>
                </a:solidFill>
                <a:latin typeface="Arial"/>
              </a:rPr>
              <a:t>Microsoft certified — Power Platform, Microsoft 365 and AI solutions.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Microsoft Copilot, Power Automate and automation.</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000" b="1">
                <a:solidFill>
                  <a:srgbClr val="F59E0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Who you are</a:t>
            </a:r>
          </a:p>
          <a:p>
            <a:pPr algn="l">
              <a:spcAft>
                <a:spcPts val="300"/>
              </a:spcAft>
            </a:pPr>
            <a:r>
              <a:rPr sz="1200" b="0">
                <a:solidFill>
                  <a:srgbClr val="5B6372"/>
                </a:solidFill>
                <a:latin typeface="Arial"/>
              </a:rPr>
              <a:t>Your name, your organisation and the role you play in 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you repeat</a:t>
            </a:r>
          </a:p>
          <a:p>
            <a:pPr algn="l">
              <a:spcAft>
                <a:spcPts val="300"/>
              </a:spcAft>
            </a:pPr>
            <a:r>
              <a:rPr sz="1200" b="0">
                <a:solidFill>
                  <a:srgbClr val="5B6372"/>
                </a:solidFill>
                <a:latin typeface="Arial"/>
              </a:rPr>
              <a:t>The task you find yourself redoing most often each week.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you want back</a:t>
            </a:r>
          </a:p>
          <a:p>
            <a:pPr algn="l">
              <a:spcAft>
                <a:spcPts val="300"/>
              </a:spcAft>
            </a:pPr>
            <a:r>
              <a:rPr sz="1200" b="0">
                <a:solidFill>
                  <a:srgbClr val="5B6372"/>
                </a:solidFill>
                <a:latin typeface="Arial"/>
              </a:rPr>
              <a:t>The hours you would reclaim if that task ran itself.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Where you want to get to</a:t>
            </a:r>
          </a:p>
          <a:p>
            <a:pPr algn="l">
              <a:spcAft>
                <a:spcPts val="300"/>
              </a:spcAft>
            </a:pPr>
            <a:r>
              <a:rPr sz="1200" b="0">
                <a:solidFill>
                  <a:srgbClr val="5B6372"/>
                </a:solidFill>
                <a:latin typeface="Arial"/>
              </a:rPr>
              <a:t>What you want to automate or produce faster after this week.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REPOSITORY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LMS / TMS portal</a:t>
            </a:r>
          </a:p>
          <a:p>
            <a:pPr algn="l">
              <a:spcAft>
                <a:spcPts val="300"/>
              </a:spcAft>
            </a:pPr>
            <a:r>
              <a:rPr sz="1100" b="0">
                <a:solidFill>
                  <a:srgbClr val="5B6372"/>
                </a:solidFill>
                <a:latin typeface="Arial"/>
              </a:rPr>
              <a:t>lms-tms.tertiaryinfotech.com — sign in with the account issued to you.</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Trainer slides</a:t>
            </a:r>
          </a:p>
          <a:p>
            <a:pPr algn="l">
              <a:spcAft>
                <a:spcPts val="300"/>
              </a:spcAft>
            </a:pPr>
            <a:r>
              <a:rPr sz="1100" b="0">
                <a:solidFill>
                  <a:srgbClr val="5B6372"/>
                </a:solidFill>
                <a:latin typeface="Arial"/>
              </a:rPr>
              <a:t>The deck used in class, as a PDF for reference.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Learner Guide</a:t>
            </a:r>
          </a:p>
          <a:p>
            <a:pPr algn="l">
              <a:spcAft>
                <a:spcPts val="300"/>
              </a:spcAft>
            </a:pPr>
            <a:r>
              <a:rPr sz="1100" b="0">
                <a:solidFill>
                  <a:srgbClr val="5B6372"/>
                </a:solidFill>
                <a:latin typeface="Arial"/>
              </a:rPr>
              <a:t>Every lab's full step-by-step procedure and prompts.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Lab files</a:t>
            </a:r>
          </a:p>
          <a:p>
            <a:pPr algn="l">
              <a:spcAft>
                <a:spcPts val="300"/>
              </a:spcAft>
            </a:pPr>
            <a:r>
              <a:rPr sz="1100" b="0">
                <a:solidFill>
                  <a:srgbClr val="5B6372"/>
                </a:solidFill>
                <a:latin typeface="Arial"/>
              </a:rPr>
              <a:t>Each lab folder holds its own data and instruction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Lesson Plan</a:t>
            </a:r>
          </a:p>
          <a:p>
            <a:pPr algn="l">
              <a:spcAft>
                <a:spcPts val="300"/>
              </a:spcAft>
            </a:pPr>
            <a:r>
              <a:rPr sz="1100" b="0">
                <a:solidFill>
                  <a:srgbClr val="5B6372"/>
                </a:solidFill>
                <a:latin typeface="Arial"/>
              </a:rPr>
              <a:t>The daily schedule and what is covered when.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100" b="0">
                <a:solidFill>
                  <a:srgbClr val="5B6372"/>
                </a:solidFill>
                <a:latin typeface="Arial"/>
              </a:rPr>
              <a:t>You may use these materials during the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Will Achieve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Copilot for content</a:t>
            </a:r>
          </a:p>
          <a:p>
            <a:pPr algn="l">
              <a:spcAft>
                <a:spcPts val="300"/>
              </a:spcAft>
            </a:pPr>
            <a:r>
              <a:rPr sz="1100" b="0">
                <a:solidFill>
                  <a:srgbClr val="5B6372"/>
                </a:solidFill>
                <a:latin typeface="Arial"/>
              </a:rPr>
              <a:t>Produce verified business content in Word, PowerPoint, Excel and Outlook.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Feasibility scanning</a:t>
            </a:r>
          </a:p>
          <a:p>
            <a:pPr algn="l">
              <a:spcAft>
                <a:spcPts val="300"/>
              </a:spcAft>
            </a:pPr>
            <a:r>
              <a:rPr sz="1100" b="0">
                <a:solidFill>
                  <a:srgbClr val="5B6372"/>
                </a:solidFill>
                <a:latin typeface="Arial"/>
              </a:rPr>
              <a:t>Identify which work is worth automating, and what it would take.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Power Automate</a:t>
            </a:r>
          </a:p>
          <a:p>
            <a:pPr algn="l">
              <a:spcAft>
                <a:spcPts val="300"/>
              </a:spcAft>
            </a:pPr>
            <a:r>
              <a:rPr sz="1100" b="0">
                <a:solidFill>
                  <a:srgbClr val="5B6372"/>
                </a:solidFill>
                <a:latin typeface="Arial"/>
              </a:rPr>
              <a:t>Build flows that integrate Forms, Outlook, Excel and Approvals.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Copilot Studio agents</a:t>
            </a:r>
          </a:p>
          <a:p>
            <a:pPr algn="l">
              <a:spcAft>
                <a:spcPts val="300"/>
              </a:spcAft>
            </a:pPr>
            <a:r>
              <a:rPr sz="1100" b="0">
                <a:solidFill>
                  <a:srgbClr val="5B6372"/>
                </a:solidFill>
                <a:latin typeface="Arial"/>
              </a:rPr>
              <a:t>Design, ground, tool and publish agents that behave.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Integration</a:t>
            </a:r>
          </a:p>
          <a:p>
            <a:pPr algn="l">
              <a:spcAft>
                <a:spcPts val="300"/>
              </a:spcAft>
            </a:pPr>
            <a:r>
              <a:rPr sz="1100" b="0">
                <a:solidFill>
                  <a:srgbClr val="5B6372"/>
                </a:solidFill>
                <a:latin typeface="Arial"/>
              </a:rPr>
              <a:t>Connect automation to other systems over HTTP with a schema.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Testing and governance</a:t>
            </a:r>
          </a:p>
          <a:p>
            <a:pPr algn="l">
              <a:spcAft>
                <a:spcPts val="300"/>
              </a:spcAft>
            </a:pPr>
            <a:r>
              <a:rPr sz="1100" b="0">
                <a:solidFill>
                  <a:srgbClr val="5B6372"/>
                </a:solidFill>
                <a:latin typeface="Arial"/>
              </a:rPr>
              <a:t>Verify behaviour, gate consequential actions and diagnose failures.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COURSE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LO1</a:t>
            </a:r>
          </a:p>
          <a:p>
            <a:pPr algn="l">
              <a:spcAft>
                <a:spcPts val="300"/>
              </a:spcAft>
            </a:pPr>
            <a:r>
              <a:rPr sz="1100" b="0">
                <a:solidFill>
                  <a:srgbClr val="5B6372"/>
                </a:solidFill>
                <a:latin typeface="Arial"/>
              </a:rPr>
              <a:t>Identify opportunities and perform feasibility scans for dataverse and Power App applications.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044952"/>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LO2</a:t>
            </a:r>
          </a:p>
          <a:p>
            <a:pPr algn="l">
              <a:spcAft>
                <a:spcPts val="300"/>
              </a:spcAft>
            </a:pPr>
            <a:r>
              <a:rPr sz="1100" b="0">
                <a:solidFill>
                  <a:srgbClr val="5B6372"/>
                </a:solidFill>
                <a:latin typeface="Arial"/>
              </a:rPr>
              <a:t>Utilise Business Flow and Power Automate to integrate functions across programs with API-level integration.</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LO3</a:t>
            </a:r>
          </a:p>
          <a:p>
            <a:pPr algn="l">
              <a:spcAft>
                <a:spcPts val="300"/>
              </a:spcAft>
            </a:pPr>
            <a:r>
              <a:rPr sz="1100" b="0">
                <a:solidFill>
                  <a:srgbClr val="5B6372"/>
                </a:solidFill>
                <a:latin typeface="Arial"/>
              </a:rPr>
              <a:t>Execute tests in Power Virtual Agent and Power BI to verify their functioning across platforms.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5349240"/>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LO4</a:t>
            </a:r>
          </a:p>
          <a:p>
            <a:pPr algn="l">
              <a:spcAft>
                <a:spcPts val="300"/>
              </a:spcAft>
            </a:pPr>
            <a:r>
              <a:rPr sz="1100" b="0">
                <a:solidFill>
                  <a:srgbClr val="5B6372"/>
                </a:solidFill>
                <a:latin typeface="Arial"/>
              </a:rPr>
              <a:t>Implement modifications to Power Platform with Power AI Builder and highlight technical issues.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5 Days, 8 Hours a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Day 1 — Copilot Foundations, Word and PowerPoint</a:t>
            </a:r>
          </a:p>
          <a:p>
            <a:pPr algn="l">
              <a:spcAft>
                <a:spcPts val="300"/>
              </a:spcAft>
            </a:pPr>
            <a:r>
              <a:rPr sz="1100" b="0">
                <a:solidFill>
                  <a:srgbClr val="5B6372"/>
                </a:solidFill>
                <a:latin typeface="Arial"/>
              </a:rPr>
              <a:t>Topic 01 · Labs 01–05</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Day 2 — Copilot for Excel and Outlook</a:t>
            </a:r>
          </a:p>
          <a:p>
            <a:pPr algn="l">
              <a:spcAft>
                <a:spcPts val="300"/>
              </a:spcAft>
            </a:pPr>
            <a:r>
              <a:rPr sz="1100" b="0">
                <a:solidFill>
                  <a:srgbClr val="5B6372"/>
                </a:solidFill>
                <a:latin typeface="Arial"/>
              </a:rPr>
              <a:t>Topic 02 · Labs 06–10</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Day 3 — Business Process Automation with Power Automate</a:t>
            </a:r>
          </a:p>
          <a:p>
            <a:pPr algn="l">
              <a:spcAft>
                <a:spcPts val="300"/>
              </a:spcAft>
            </a:pPr>
            <a:r>
              <a:rPr sz="1100" b="0">
                <a:solidFill>
                  <a:srgbClr val="5B6372"/>
                </a:solidFill>
                <a:latin typeface="Arial"/>
              </a:rPr>
              <a:t>Topic 03 · Labs 11–15</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Day 4 — Copilot Studio Agents</a:t>
            </a:r>
          </a:p>
          <a:p>
            <a:pPr algn="l">
              <a:spcAft>
                <a:spcPts val="300"/>
              </a:spcAft>
            </a:pPr>
            <a:r>
              <a:rPr sz="1100" b="0">
                <a:solidFill>
                  <a:srgbClr val="5B6372"/>
                </a:solidFill>
                <a:latin typeface="Arial"/>
              </a:rPr>
              <a:t>Topic 04 · Labs 16–20</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Day 5 — Integration, Testing, Security and Assessment</a:t>
            </a:r>
          </a:p>
          <a:p>
            <a:pPr algn="l">
              <a:spcAft>
                <a:spcPts val="300"/>
              </a:spcAft>
            </a:pPr>
            <a:r>
              <a:rPr sz="1100" b="0">
                <a:solidFill>
                  <a:srgbClr val="5B6372"/>
                </a:solidFill>
                <a:latin typeface="Arial"/>
              </a:rPr>
              <a:t>Topic 05 · Labs 21–25 + Assessment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Daily timing</a:t>
            </a:r>
          </a:p>
          <a:p>
            <a:pPr algn="l">
              <a:spcAft>
                <a:spcPts val="300"/>
              </a:spcAft>
            </a:pPr>
            <a:r>
              <a:rPr sz="1100" b="0">
                <a:solidFill>
                  <a:srgbClr val="5B6372"/>
                </a:solidFill>
                <a:latin typeface="Arial"/>
              </a:rPr>
              <a:t>9:30am–6:30pm · 1-hour lunch · tea breaks within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 STORY, TWENTY-FIVE LABS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Course Scenario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Lumina Living Pte Ltd</a:t>
            </a:r>
          </a:p>
          <a:p>
            <a:pPr algn="l">
              <a:spcAft>
                <a:spcPts val="300"/>
              </a:spcAft>
            </a:pPr>
            <a:r>
              <a:rPr sz="1200" b="0">
                <a:solidFill>
                  <a:srgbClr val="5B6372"/>
                </a:solidFill>
                <a:latin typeface="Arial"/>
              </a:rPr>
              <a:t>A Singapore workspace-furniture company.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Sustainable Workspace campaign</a:t>
            </a:r>
          </a:p>
          <a:p>
            <a:pPr algn="l">
              <a:spcAft>
                <a:spcPts val="300"/>
              </a:spcAft>
            </a:pPr>
            <a:r>
              <a:rPr sz="1200" b="0">
                <a:solidFill>
                  <a:srgbClr val="5B6372"/>
                </a:solidFill>
                <a:latin typeface="Arial"/>
              </a:rPr>
              <a:t>One connected scenario across all 25 labs.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Day 1–2</a:t>
            </a:r>
          </a:p>
          <a:p>
            <a:pPr algn="l">
              <a:spcAft>
                <a:spcPts val="300"/>
              </a:spcAft>
            </a:pPr>
            <a:r>
              <a:rPr sz="1200" b="0">
                <a:solidFill>
                  <a:srgbClr val="5B6372"/>
                </a:solidFill>
                <a:latin typeface="Arial"/>
              </a:rPr>
              <a:t>You create and verify the campaign's content.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Day 3–5</a:t>
            </a:r>
          </a:p>
          <a:p>
            <a:pPr algn="l">
              <a:spcAft>
                <a:spcPts val="300"/>
              </a:spcAft>
            </a:pPr>
            <a:r>
              <a:rPr sz="1200" b="0">
                <a:solidFill>
                  <a:srgbClr val="5B6372"/>
                </a:solidFill>
                <a:latin typeface="Arial"/>
              </a:rPr>
              <a:t>You automate the process behind it and put agents on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Phones away</a:t>
            </a:r>
          </a:p>
          <a:p>
            <a:pPr algn="l">
              <a:spcAft>
                <a:spcPts val="300"/>
              </a:spcAft>
            </a:pPr>
            <a:r>
              <a:rPr sz="11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recording</a:t>
            </a:r>
          </a:p>
          <a:p>
            <a:pPr algn="l">
              <a:spcAft>
                <a:spcPts val="300"/>
              </a:spcAft>
            </a:pPr>
            <a:r>
              <a:rPr sz="1100" b="0">
                <a:solidFill>
                  <a:srgbClr val="5B6372"/>
                </a:solidFill>
                <a:latin typeface="Arial"/>
              </a:rPr>
              <a:t>No photos or recording of assessment scripts, at any point.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discussion</a:t>
            </a:r>
          </a:p>
          <a:p>
            <a:pPr algn="l">
              <a:spcAft>
                <a:spcPts val="300"/>
              </a:spcAft>
            </a:pPr>
            <a:r>
              <a:rPr sz="1100" b="0">
                <a:solidFill>
                  <a:srgbClr val="5B6372"/>
                </a:solidFill>
                <a:latin typeface="Arial"/>
              </a:rPr>
              <a:t>Work individually — no discussion once the assessment starts.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00" b="0">
                <a:solidFill>
                  <a:srgbClr val="5B6372"/>
                </a:solidFill>
                <a:latin typeface="Arial"/>
              </a:rPr>
              <a:t>Use a black or blue pen for any hard-copy assessment.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correction fluid</a:t>
            </a:r>
          </a:p>
          <a:p>
            <a:pPr algn="l">
              <a:spcAft>
                <a:spcPts val="300"/>
              </a:spcAft>
            </a:pPr>
            <a:r>
              <a:rPr sz="1100" b="0">
                <a:solidFill>
                  <a:srgbClr val="5B6372"/>
                </a:solidFill>
                <a:latin typeface="Arial"/>
              </a:rPr>
              <a:t>No liquid paper or correction tape; strike through instead.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Time is called</a:t>
            </a:r>
          </a:p>
          <a:p>
            <a:pPr algn="l">
              <a:spcAft>
                <a:spcPts val="300"/>
              </a:spcAft>
            </a:pPr>
            <a:r>
              <a:rPr sz="1100" b="0">
                <a:solidFill>
                  <a:srgbClr val="5B6372"/>
                </a:solidFill>
                <a:latin typeface="Arial"/>
              </a:rPr>
              <a:t>Scripts are collected when time is up — submit before then.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Written Assessment (WA)</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Practical Performance (PP)</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Format</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Short-answer questions (SAQ)</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Hands-on practical tasks</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What it tests</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Underpinning knowledge K1-K5</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Practical ability A1-A8</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Duration</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1 hour</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1 hour</a:t>
            </a:r>
          </a:p>
        </p:txBody>
      </p:sp>
      <p:sp>
        <p:nvSpPr>
          <p:cNvPr id="31" name="Rectangle 30"/>
          <p:cNvSpPr/>
          <p:nvPr/>
        </p:nvSpPr>
        <p:spPr>
          <a:xfrm>
            <a:off x="777240" y="3803904"/>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803904"/>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Conditions</a:t>
            </a:r>
          </a:p>
        </p:txBody>
      </p:sp>
      <p:sp>
        <p:nvSpPr>
          <p:cNvPr id="33" name="Rectangle 32"/>
          <p:cNvSpPr/>
          <p:nvPr/>
        </p:nvSpPr>
        <p:spPr>
          <a:xfrm>
            <a:off x="3542202"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Open book, individual</a:t>
            </a:r>
          </a:p>
        </p:txBody>
      </p:sp>
      <p:sp>
        <p:nvSpPr>
          <p:cNvPr id="35" name="Rectangle 34"/>
          <p:cNvSpPr/>
          <p:nvPr/>
        </p:nvSpPr>
        <p:spPr>
          <a:xfrm>
            <a:off x="7476957"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6685"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Open book, individual</a:t>
            </a:r>
          </a:p>
        </p:txBody>
      </p:sp>
      <p:sp>
        <p:nvSpPr>
          <p:cNvPr id="37" name="Rectangle 36"/>
          <p:cNvSpPr/>
          <p:nvPr/>
        </p:nvSpPr>
        <p:spPr>
          <a:xfrm>
            <a:off x="777240" y="4279392"/>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279392"/>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Submission</a:t>
            </a:r>
          </a:p>
        </p:txBody>
      </p:sp>
      <p:sp>
        <p:nvSpPr>
          <p:cNvPr id="39" name="Rectangle 38"/>
          <p:cNvSpPr/>
          <p:nvPr/>
        </p:nvSpPr>
        <p:spPr>
          <a:xfrm>
            <a:off x="3542202" y="4279392"/>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1930" y="4279392"/>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On the LMS</a:t>
            </a:r>
          </a:p>
        </p:txBody>
      </p:sp>
      <p:sp>
        <p:nvSpPr>
          <p:cNvPr id="41" name="Rectangle 40"/>
          <p:cNvSpPr/>
          <p:nvPr/>
        </p:nvSpPr>
        <p:spPr>
          <a:xfrm>
            <a:off x="7476957" y="4279392"/>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86685" y="4279392"/>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On the LMS, with evidence</a:t>
            </a:r>
          </a:p>
        </p:txBody>
      </p:sp>
      <p:sp>
        <p:nvSpPr>
          <p:cNvPr id="43" name="TextBox 42"/>
          <p:cNvSpPr txBox="1"/>
          <p:nvPr/>
        </p:nvSpPr>
        <p:spPr>
          <a:xfrm>
            <a:off x="777240" y="4983480"/>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Open book: slides, Learner Guide and your completed lab files. 75% attendance is required; a re-assessment and appeal process is available.</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23544" y="370332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3112617" y="370332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5301690" y="370332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90763" y="370332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5" name="TextBox 34"/>
          <p:cNvSpPr txBox="1"/>
          <p:nvPr/>
        </p:nvSpPr>
        <p:spPr>
          <a:xfrm>
            <a:off x="9679836" y="370332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Copilot Foundations and Content Creation in Word and PowerPoint</a:t>
            </a:r>
          </a:p>
        </p:txBody>
      </p:sp>
      <p:sp>
        <p:nvSpPr>
          <p:cNvPr id="7" name="TextBox 6"/>
          <p:cNvSpPr txBox="1"/>
          <p:nvPr/>
        </p:nvSpPr>
        <p:spPr>
          <a:xfrm>
            <a:off x="1161288" y="434340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Grounding · responsible use · prompt design · drafting · presentation storytelling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DAY 1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Microsoft 365 Copilot combines your prompt with permitted work context; existing access permissions always still apply.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The prompt contract states the goal, the context, the source and the expected output format, then verifies the result.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Copilot proposes and the user disposes: the human checks evidence, tone, sensitivity and final release.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Word turns approved evidence into a structured narrative; a reference document keeps the draft anchored to fact.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PowerPoint converts an approved narrative into a decision-led story with one message per slide.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Responsible AI principles — fairness, reliability, privacy, inclusiveness, transparency and accountability — govern every 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WILL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800" b="1">
                <a:solidFill>
                  <a:srgbClr val="1F6FEB"/>
                </a:solidFill>
                <a:latin typeface="Arial"/>
              </a:rPr>
              <a:t>Labs 01–02</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300">
                <a:solidFill>
                  <a:srgbClr val="161B26"/>
                </a:solidFill>
                <a:latin typeface="Arial"/>
              </a:rPr>
              <a:t>•  Set Up Microsoft 365 Copilot and Prompt Safely</a:t>
            </a:r>
          </a:p>
          <a:p>
            <a:pPr>
              <a:spcAft>
                <a:spcPts val="900"/>
              </a:spcAft>
            </a:pPr>
            <a:r>
              <a:rPr sz="1300">
                <a:solidFill>
                  <a:srgbClr val="161B26"/>
                </a:solidFill>
                <a:latin typeface="Arial"/>
              </a:rPr>
              <a:t>•  Draft a Project Brief in Word from Excel Evidence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800" b="1">
                <a:solidFill>
                  <a:srgbClr val="10B981"/>
                </a:solidFill>
                <a:latin typeface="Arial"/>
              </a:rPr>
              <a:t>Labs 03–04</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300">
                <a:solidFill>
                  <a:srgbClr val="161B26"/>
                </a:solidFill>
                <a:latin typeface="Arial"/>
              </a:rPr>
              <a:t>•  Refine a Responsible Copilot Use Policy in Word</a:t>
            </a:r>
          </a:p>
          <a:p>
            <a:pPr>
              <a:spcAft>
                <a:spcPts val="900"/>
              </a:spcAft>
            </a:pPr>
            <a:r>
              <a:rPr sz="1300">
                <a:solidFill>
                  <a:srgbClr val="161B26"/>
                </a:solidFill>
                <a:latin typeface="Arial"/>
              </a:rPr>
              <a:t>•  Build a PowerPoint Story from Word and Excel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800" b="1">
                <a:solidFill>
                  <a:srgbClr val="7C3AED"/>
                </a:solidFill>
                <a:latin typeface="Arial"/>
              </a:rPr>
              <a:t>Labs 05–05</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300">
                <a:solidFill>
                  <a:srgbClr val="161B26"/>
                </a:solidFill>
                <a:latin typeface="Arial"/>
              </a:rPr>
              <a:t>•  Enhance PowerPoint with Native Charts and Speaker Notes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WORK SYSTEM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Microsoft 365 Copilot Actually 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 interface</a:t>
            </a:r>
          </a:p>
          <a:p>
            <a:pPr algn="l">
              <a:spcAft>
                <a:spcPts val="300"/>
              </a:spcAft>
            </a:pPr>
            <a:r>
              <a:rPr sz="1200" b="0">
                <a:solidFill>
                  <a:srgbClr val="5B6372"/>
                </a:solidFill>
                <a:latin typeface="Arial"/>
              </a:rPr>
              <a:t>Chat and in-app experiences accept a goal written in natural language.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 model</a:t>
            </a:r>
          </a:p>
          <a:p>
            <a:pPr algn="l">
              <a:spcAft>
                <a:spcPts val="300"/>
              </a:spcAft>
            </a:pPr>
            <a:r>
              <a:rPr sz="1200" b="0">
                <a:solidFill>
                  <a:srgbClr val="5B6372"/>
                </a:solidFill>
                <a:latin typeface="Arial"/>
              </a:rPr>
              <a:t>A large language model generates, transforms and summarises content.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Your work context</a:t>
            </a:r>
          </a:p>
          <a:p>
            <a:pPr algn="l">
              <a:spcAft>
                <a:spcPts val="300"/>
              </a:spcAft>
            </a:pPr>
            <a:r>
              <a:rPr sz="1200" b="0">
                <a:solidFill>
                  <a:srgbClr val="5B6372"/>
                </a:solidFill>
                <a:latin typeface="Arial"/>
              </a:rPr>
              <a:t>Permitted files, mail, chats and meetings can ground the answer.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apps</a:t>
            </a:r>
          </a:p>
          <a:p>
            <a:pPr algn="l">
              <a:spcAft>
                <a:spcPts val="300"/>
              </a:spcAft>
            </a:pPr>
            <a:r>
              <a:rPr sz="1200" b="0">
                <a:solidFill>
                  <a:srgbClr val="5B6372"/>
                </a:solidFill>
                <a:latin typeface="Arial"/>
              </a:rPr>
              <a:t>Word, PowerPoint, Excel, Outlook and Teams embed task-specific assistance.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GROUNDING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a Grounded Answer Is Produced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You write a prompt</a:t>
            </a:r>
          </a:p>
        </p:txBody>
      </p:sp>
      <p:sp>
        <p:nvSpPr>
          <p:cNvPr id="10" name="TextBox 9"/>
          <p:cNvSpPr txBox="1"/>
          <p:nvPr/>
        </p:nvSpPr>
        <p:spPr>
          <a:xfrm>
            <a:off x="905256"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A goal stated in plain language</a:t>
            </a:r>
          </a:p>
        </p:txBody>
      </p:sp>
      <p:sp>
        <p:nvSpPr>
          <p:cNvPr id="11" name="Rectangle 10"/>
          <p:cNvSpPr/>
          <p:nvPr/>
        </p:nvSpPr>
        <p:spPr>
          <a:xfrm>
            <a:off x="262067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73771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95574"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95574"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23590" y="2670048"/>
            <a:ext cx="1505102" cy="713232"/>
          </a:xfrm>
          <a:prstGeom prst="rect">
            <a:avLst/>
          </a:prstGeom>
          <a:noFill/>
        </p:spPr>
        <p:txBody>
          <a:bodyPr wrap="square" anchor="ctr">
            <a:spAutoFit/>
          </a:bodyPr>
          <a:lstStyle/>
          <a:p>
            <a:pPr algn="ctr">
              <a:spcAft>
                <a:spcPts val="400"/>
              </a:spcAft>
            </a:pPr>
            <a:r>
              <a:rPr sz="1300" b="1">
                <a:solidFill>
                  <a:srgbClr val="161B26"/>
                </a:solidFill>
                <a:latin typeface="Arial"/>
              </a:rPr>
              <a:t>Copilot retrieves context</a:t>
            </a:r>
          </a:p>
        </p:txBody>
      </p:sp>
      <p:sp>
        <p:nvSpPr>
          <p:cNvPr id="16" name="TextBox 15"/>
          <p:cNvSpPr txBox="1"/>
          <p:nvPr/>
        </p:nvSpPr>
        <p:spPr>
          <a:xfrm>
            <a:off x="3123590" y="3401568"/>
            <a:ext cx="1505102" cy="804672"/>
          </a:xfrm>
          <a:prstGeom prst="rect">
            <a:avLst/>
          </a:prstGeom>
          <a:noFill/>
        </p:spPr>
        <p:txBody>
          <a:bodyPr wrap="square" anchor="t">
            <a:spAutoFit/>
          </a:bodyPr>
          <a:lstStyle/>
          <a:p>
            <a:pPr algn="ctr">
              <a:spcAft>
                <a:spcPts val="400"/>
              </a:spcAft>
            </a:pPr>
            <a:r>
              <a:rPr sz="1000" b="0">
                <a:solidFill>
                  <a:srgbClr val="5B6372"/>
                </a:solidFill>
                <a:latin typeface="Arial"/>
              </a:rPr>
              <a:t>Only files you already have permission to open</a:t>
            </a:r>
          </a:p>
        </p:txBody>
      </p:sp>
      <p:sp>
        <p:nvSpPr>
          <p:cNvPr id="17" name="Rectangle 16"/>
          <p:cNvSpPr/>
          <p:nvPr/>
        </p:nvSpPr>
        <p:spPr>
          <a:xfrm>
            <a:off x="483900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495604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13908"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3908"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1924"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The model generates</a:t>
            </a:r>
          </a:p>
        </p:txBody>
      </p:sp>
      <p:sp>
        <p:nvSpPr>
          <p:cNvPr id="22" name="TextBox 21"/>
          <p:cNvSpPr txBox="1"/>
          <p:nvPr/>
        </p:nvSpPr>
        <p:spPr>
          <a:xfrm>
            <a:off x="5341924" y="3401568"/>
            <a:ext cx="1505102" cy="804672"/>
          </a:xfrm>
          <a:prstGeom prst="rect">
            <a:avLst/>
          </a:prstGeom>
          <a:noFill/>
        </p:spPr>
        <p:txBody>
          <a:bodyPr wrap="square" anchor="t">
            <a:spAutoFit/>
          </a:bodyPr>
          <a:lstStyle/>
          <a:p>
            <a:pPr algn="ctr">
              <a:spcAft>
                <a:spcPts val="400"/>
              </a:spcAft>
            </a:pPr>
            <a:r>
              <a:rPr sz="1000" b="0">
                <a:solidFill>
                  <a:srgbClr val="5B6372"/>
                </a:solidFill>
                <a:latin typeface="Arial"/>
              </a:rPr>
              <a:t>A draft answer built from prompt plus context</a:t>
            </a:r>
          </a:p>
        </p:txBody>
      </p:sp>
      <p:sp>
        <p:nvSpPr>
          <p:cNvPr id="23" name="Rectangle 22"/>
          <p:cNvSpPr/>
          <p:nvPr/>
        </p:nvSpPr>
        <p:spPr>
          <a:xfrm>
            <a:off x="7057338"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7174382"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32242"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32242"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60258"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You verify</a:t>
            </a:r>
          </a:p>
        </p:txBody>
      </p:sp>
      <p:sp>
        <p:nvSpPr>
          <p:cNvPr id="28" name="TextBox 27"/>
          <p:cNvSpPr txBox="1"/>
          <p:nvPr/>
        </p:nvSpPr>
        <p:spPr>
          <a:xfrm>
            <a:off x="7560258"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Check the claim against the source</a:t>
            </a:r>
          </a:p>
        </p:txBody>
      </p:sp>
      <p:sp>
        <p:nvSpPr>
          <p:cNvPr id="29" name="Rectangle 28"/>
          <p:cNvSpPr/>
          <p:nvPr/>
        </p:nvSpPr>
        <p:spPr>
          <a:xfrm>
            <a:off x="92756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93927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50576"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50576"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78592"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You decide</a:t>
            </a:r>
          </a:p>
        </p:txBody>
      </p:sp>
      <p:sp>
        <p:nvSpPr>
          <p:cNvPr id="34" name="TextBox 33"/>
          <p:cNvSpPr txBox="1"/>
          <p:nvPr/>
        </p:nvSpPr>
        <p:spPr>
          <a:xfrm>
            <a:off x="9778592"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Release, correct or reject</a:t>
            </a:r>
          </a:p>
        </p:txBody>
      </p:sp>
      <p:sp>
        <p:nvSpPr>
          <p:cNvPr id="35" name="Rectangle 34"/>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Copilot never widens your access. If you could not open the file yourself, Copilot cannot use it for you.</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KNOW WHICH SURFACE YOU ARE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Web Grounding vs Work Grounding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Web / Chat</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Work (Microsoft 365)</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Sources</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Public web content</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Your permitted tenant content</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Permissions</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Not applicable</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Your existing access applies</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Best for</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General drafting and research</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Anything about your own business</a:t>
            </a:r>
          </a:p>
        </p:txBody>
      </p:sp>
      <p:sp>
        <p:nvSpPr>
          <p:cNvPr id="31" name="Rectangle 30"/>
          <p:cNvSpPr/>
          <p:nvPr/>
        </p:nvSpPr>
        <p:spPr>
          <a:xfrm>
            <a:off x="777240" y="3803904"/>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803904"/>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Risk</a:t>
            </a:r>
          </a:p>
        </p:txBody>
      </p:sp>
      <p:sp>
        <p:nvSpPr>
          <p:cNvPr id="33" name="Rectangle 32"/>
          <p:cNvSpPr/>
          <p:nvPr/>
        </p:nvSpPr>
        <p:spPr>
          <a:xfrm>
            <a:off x="3542202"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No business context</a:t>
            </a:r>
          </a:p>
        </p:txBody>
      </p:sp>
      <p:sp>
        <p:nvSpPr>
          <p:cNvPr id="35" name="Rectangle 34"/>
          <p:cNvSpPr/>
          <p:nvPr/>
        </p:nvSpPr>
        <p:spPr>
          <a:xfrm>
            <a:off x="7476957"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6685"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Answer is only as good as the source</a:t>
            </a:r>
          </a:p>
        </p:txBody>
      </p:sp>
      <p:sp>
        <p:nvSpPr>
          <p:cNvPr id="37" name="TextBox 36"/>
          <p:cNvSpPr txBox="1"/>
          <p:nvPr/>
        </p:nvSpPr>
        <p:spPr>
          <a:xfrm>
            <a:off x="777240" y="4507992"/>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Check the toggle before you trust an answer about your own organisation.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TO ASK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Four-Part Prompt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700" b="1">
                <a:solidFill>
                  <a:srgbClr val="161B26"/>
                </a:solidFill>
                <a:latin typeface="Arial"/>
              </a:rPr>
              <a:t>Goal</a:t>
            </a:r>
          </a:p>
          <a:p>
            <a:pPr algn="l">
              <a:spcAft>
                <a:spcPts val="300"/>
              </a:spcAft>
            </a:pPr>
            <a:r>
              <a:rPr sz="1300" b="0">
                <a:solidFill>
                  <a:srgbClr val="5B6372"/>
                </a:solidFill>
                <a:latin typeface="Arial"/>
              </a:rPr>
              <a:t>What you want produced, stated as an outcome.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700" b="1">
                <a:solidFill>
                  <a:srgbClr val="161B26"/>
                </a:solidFill>
                <a:latin typeface="Arial"/>
              </a:rPr>
              <a:t>Context</a:t>
            </a:r>
          </a:p>
          <a:p>
            <a:pPr algn="l">
              <a:spcAft>
                <a:spcPts val="300"/>
              </a:spcAft>
            </a:pPr>
            <a:r>
              <a:rPr sz="1300" b="0">
                <a:solidFill>
                  <a:srgbClr val="5B6372"/>
                </a:solidFill>
                <a:latin typeface="Arial"/>
              </a:rPr>
              <a:t>Who it is for and why it matters.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700" b="1">
                <a:solidFill>
                  <a:srgbClr val="161B26"/>
                </a:solidFill>
                <a:latin typeface="Arial"/>
              </a:rPr>
              <a:t>Source</a:t>
            </a:r>
          </a:p>
          <a:p>
            <a:pPr algn="l">
              <a:spcAft>
                <a:spcPts val="300"/>
              </a:spcAft>
            </a:pPr>
            <a:r>
              <a:rPr sz="1300" b="0">
                <a:solidFill>
                  <a:srgbClr val="5B6372"/>
                </a:solidFill>
                <a:latin typeface="Arial"/>
              </a:rPr>
              <a:t>The file, data or thread the answer must come from.</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700" b="1">
                <a:solidFill>
                  <a:srgbClr val="161B26"/>
                </a:solidFill>
                <a:latin typeface="Arial"/>
              </a:rPr>
              <a:t>Expectation</a:t>
            </a:r>
          </a:p>
          <a:p>
            <a:pPr algn="l">
              <a:spcAft>
                <a:spcPts val="300"/>
              </a:spcAft>
            </a:pPr>
            <a:r>
              <a:rPr sz="1300" b="0">
                <a:solidFill>
                  <a:srgbClr val="5B6372"/>
                </a:solidFill>
                <a:latin typeface="Arial"/>
              </a:rPr>
              <a:t>Length, format, tone and what must not be invented.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AND AFTER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Weak Prompt and a Strong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Weak</a:t>
            </a:r>
          </a:p>
        </p:txBody>
      </p:sp>
      <p:sp>
        <p:nvSpPr>
          <p:cNvPr id="12" name="TextBox 11"/>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Strong</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400">
                <a:solidFill>
                  <a:srgbClr val="161B26"/>
                </a:solidFill>
                <a:latin typeface="Arial"/>
              </a:rPr>
              <a:t>•  "Write something about our campaign."</a:t>
            </a:r>
          </a:p>
          <a:p>
            <a:pPr>
              <a:spcAft>
                <a:spcPts val="1000"/>
              </a:spcAft>
            </a:pPr>
            <a:r>
              <a:rPr sz="1200">
                <a:solidFill>
                  <a:srgbClr val="5B6372"/>
                </a:solidFill>
                <a:latin typeface="Arial"/>
              </a:rPr>
              <a:t>–  No goal beyond a topic</a:t>
            </a:r>
          </a:p>
          <a:p>
            <a:pPr>
              <a:spcAft>
                <a:spcPts val="1000"/>
              </a:spcAft>
            </a:pPr>
            <a:r>
              <a:rPr sz="1200">
                <a:solidFill>
                  <a:srgbClr val="5B6372"/>
                </a:solidFill>
                <a:latin typeface="Arial"/>
              </a:rPr>
              <a:t>–  No source, so nothing is grounded</a:t>
            </a:r>
          </a:p>
          <a:p>
            <a:pPr>
              <a:spcAft>
                <a:spcPts val="1000"/>
              </a:spcAft>
            </a:pPr>
            <a:r>
              <a:rPr sz="1200">
                <a:solidFill>
                  <a:srgbClr val="5B6372"/>
                </a:solidFill>
                <a:latin typeface="Arial"/>
              </a:rPr>
              <a:t>–  No format, so the shape is a guess</a:t>
            </a:r>
          </a:p>
          <a:p>
            <a:pPr>
              <a:spcAft>
                <a:spcPts val="1000"/>
              </a:spcAft>
            </a:pPr>
            <a:r>
              <a:rPr sz="1200">
                <a:solidFill>
                  <a:srgbClr val="5B6372"/>
                </a:solidFill>
                <a:latin typeface="Arial"/>
              </a:rPr>
              <a:t>–  Nothing stated as off-limits</a:t>
            </a:r>
          </a:p>
        </p:txBody>
      </p:sp>
      <p:sp>
        <p:nvSpPr>
          <p:cNvPr id="14" name="TextBox 13"/>
          <p:cNvSpPr txBox="1"/>
          <p:nvPr/>
        </p:nvSpPr>
        <p:spPr>
          <a:xfrm>
            <a:off x="6583680" y="2514600"/>
            <a:ext cx="4617720" cy="3383280"/>
          </a:xfrm>
          <a:prstGeom prst="rect">
            <a:avLst/>
          </a:prstGeom>
          <a:noFill/>
        </p:spPr>
        <p:txBody>
          <a:bodyPr wrap="square">
            <a:spAutoFit/>
          </a:bodyPr>
          <a:lstStyle/>
          <a:p>
            <a:pPr>
              <a:spcAft>
                <a:spcPts val="1000"/>
              </a:spcAft>
            </a:pPr>
            <a:r>
              <a:rPr sz="1400">
                <a:solidFill>
                  <a:srgbClr val="161B26"/>
                </a:solidFill>
                <a:latin typeface="Arial"/>
              </a:rPr>
              <a:t>•  "Draft a two-page brief for the leadership team"</a:t>
            </a:r>
          </a:p>
          <a:p>
            <a:pPr>
              <a:spcAft>
                <a:spcPts val="1000"/>
              </a:spcAft>
            </a:pPr>
            <a:r>
              <a:rPr sz="1200">
                <a:solidFill>
                  <a:srgbClr val="5B6372"/>
                </a:solidFill>
                <a:latin typeface="Arial"/>
              </a:rPr>
              <a:t>–  "using the attached workbook and template,"</a:t>
            </a:r>
          </a:p>
          <a:p>
            <a:pPr>
              <a:spcAft>
                <a:spcPts val="1000"/>
              </a:spcAft>
            </a:pPr>
            <a:r>
              <a:rPr sz="1200">
                <a:solidFill>
                  <a:srgbClr val="5B6372"/>
                </a:solidFill>
                <a:latin typeface="Arial"/>
              </a:rPr>
              <a:t>–  "with three measurable objectives and risks,"</a:t>
            </a:r>
          </a:p>
          <a:p>
            <a:pPr>
              <a:spcAft>
                <a:spcPts val="1000"/>
              </a:spcAft>
            </a:pPr>
            <a:r>
              <a:rPr sz="1200">
                <a:solidFill>
                  <a:srgbClr val="5B6372"/>
                </a:solidFill>
                <a:latin typeface="Arial"/>
              </a:rPr>
              <a:t>–  "and mark anything unevidenced as an open question."</a:t>
            </a:r>
          </a:p>
          <a:p>
            <a:pPr>
              <a:spcAft>
                <a:spcPts val="1000"/>
              </a:spcAft>
            </a:pPr>
            <a:r>
              <a:rPr sz="1200">
                <a:solidFill>
                  <a:srgbClr val="5B6372"/>
                </a:solidFill>
                <a:latin typeface="Arial"/>
              </a:rPr>
              <a:t>–  Every part of the contract is present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HUMAN DUTY</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Copilot proposes. You dispose.</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The model produces a draft. Accountability for what is released never moves.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DECISION RULE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Can I Release This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331720"/>
            <a:ext cx="3017520" cy="210312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88920"/>
            <a:ext cx="2468880" cy="1188720"/>
          </a:xfrm>
          <a:prstGeom prst="rect">
            <a:avLst/>
          </a:prstGeom>
          <a:noFill/>
        </p:spPr>
        <p:txBody>
          <a:bodyPr wrap="square" anchor="ctr">
            <a:spAutoFit/>
          </a:bodyPr>
          <a:lstStyle/>
          <a:p>
            <a:pPr algn="ctr">
              <a:spcAft>
                <a:spcPts val="400"/>
              </a:spcAft>
            </a:pPr>
            <a:r>
              <a:rPr sz="1300" b="1">
                <a:solidFill>
                  <a:srgbClr val="FFFFFF"/>
                </a:solidFill>
                <a:latin typeface="Arial"/>
              </a:rPr>
              <a:t>Does every claim trace to a source?</a:t>
            </a:r>
          </a:p>
        </p:txBody>
      </p:sp>
      <p:sp>
        <p:nvSpPr>
          <p:cNvPr id="9" name="Rectangle 8"/>
          <p:cNvSpPr/>
          <p:nvPr/>
        </p:nvSpPr>
        <p:spPr>
          <a:xfrm>
            <a:off x="3931920" y="2761488"/>
            <a:ext cx="3200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251960" y="2732227"/>
            <a:ext cx="182880" cy="113385"/>
          </a:xfrm>
          <a:custGeom>
            <a:avLst/>
            <a:gdLst/>
            <a:ahLst/>
            <a:cxnLst/>
            <a:rect l="l" t="t" r="r" b="b"/>
            <a:pathLst>
              <a:path w="182880" h="113385">
                <a:moveTo>
                  <a:pt x="0" y="0"/>
                </a:moveTo>
                <a:lnTo>
                  <a:pt x="182880" y="56693"/>
                </a:lnTo>
                <a:lnTo>
                  <a:pt x="0" y="113385"/>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96596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965960"/>
            <a:ext cx="91440" cy="1920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112264"/>
            <a:ext cx="6400800" cy="365760"/>
          </a:xfrm>
          <a:prstGeom prst="rect">
            <a:avLst/>
          </a:prstGeom>
          <a:noFill/>
        </p:spPr>
        <p:txBody>
          <a:bodyPr wrap="square" anchor="t">
            <a:spAutoFit/>
          </a:bodyPr>
          <a:lstStyle/>
          <a:p>
            <a:pPr algn="l">
              <a:spcAft>
                <a:spcPts val="400"/>
              </a:spcAft>
            </a:pPr>
            <a:r>
              <a:rPr sz="1300" b="1">
                <a:solidFill>
                  <a:srgbClr val="10B981"/>
                </a:solidFill>
                <a:latin typeface="Arial"/>
              </a:rPr>
              <a:t>YES</a:t>
            </a:r>
          </a:p>
        </p:txBody>
      </p:sp>
      <p:sp>
        <p:nvSpPr>
          <p:cNvPr id="14" name="TextBox 13"/>
          <p:cNvSpPr txBox="1"/>
          <p:nvPr/>
        </p:nvSpPr>
        <p:spPr>
          <a:xfrm>
            <a:off x="4828032" y="2514600"/>
            <a:ext cx="6400800" cy="1280160"/>
          </a:xfrm>
          <a:prstGeom prst="rect">
            <a:avLst/>
          </a:prstGeom>
          <a:noFill/>
        </p:spPr>
        <p:txBody>
          <a:bodyPr wrap="square">
            <a:spAutoFit/>
          </a:bodyPr>
          <a:lstStyle/>
          <a:p>
            <a:pPr>
              <a:spcAft>
                <a:spcPts val="600"/>
              </a:spcAft>
            </a:pPr>
            <a:r>
              <a:rPr sz="1300">
                <a:solidFill>
                  <a:srgbClr val="161B26"/>
                </a:solidFill>
                <a:latin typeface="Arial"/>
              </a:rPr>
              <a:t>•  Release it, recording who verified it</a:t>
            </a:r>
          </a:p>
          <a:p>
            <a:pPr>
              <a:spcAft>
                <a:spcPts val="600"/>
              </a:spcAft>
            </a:pPr>
            <a:r>
              <a:rPr sz="1300">
                <a:solidFill>
                  <a:srgbClr val="161B26"/>
                </a:solidFill>
                <a:latin typeface="Arial"/>
              </a:rPr>
              <a:t>•  Keep the evidence with the artifact</a:t>
            </a:r>
          </a:p>
        </p:txBody>
      </p:sp>
      <p:sp>
        <p:nvSpPr>
          <p:cNvPr id="15" name="Rectangle 14"/>
          <p:cNvSpPr/>
          <p:nvPr/>
        </p:nvSpPr>
        <p:spPr>
          <a:xfrm>
            <a:off x="3931920" y="5001768"/>
            <a:ext cx="3200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251960" y="4972507"/>
            <a:ext cx="182880" cy="113385"/>
          </a:xfrm>
          <a:custGeom>
            <a:avLst/>
            <a:gdLst/>
            <a:ahLst/>
            <a:cxnLst/>
            <a:rect l="l" t="t" r="r" b="b"/>
            <a:pathLst>
              <a:path w="182880" h="113385">
                <a:moveTo>
                  <a:pt x="0" y="0"/>
                </a:moveTo>
                <a:lnTo>
                  <a:pt x="182880" y="56693"/>
                </a:lnTo>
                <a:lnTo>
                  <a:pt x="0" y="113385"/>
                </a:lnTo>
                <a:close/>
              </a:path>
            </a:pathLst>
          </a:cu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420624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4206240"/>
            <a:ext cx="91440" cy="1920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4352544"/>
            <a:ext cx="6400800" cy="365760"/>
          </a:xfrm>
          <a:prstGeom prst="rect">
            <a:avLst/>
          </a:prstGeom>
          <a:noFill/>
        </p:spPr>
        <p:txBody>
          <a:bodyPr wrap="square" anchor="t">
            <a:spAutoFit/>
          </a:bodyPr>
          <a:lstStyle/>
          <a:p>
            <a:pPr algn="l">
              <a:spcAft>
                <a:spcPts val="400"/>
              </a:spcAft>
            </a:pPr>
            <a:r>
              <a:rPr sz="1300" b="1">
                <a:solidFill>
                  <a:srgbClr val="F59E0B"/>
                </a:solidFill>
                <a:latin typeface="Arial"/>
              </a:rPr>
              <a:t>NO</a:t>
            </a:r>
          </a:p>
        </p:txBody>
      </p:sp>
      <p:sp>
        <p:nvSpPr>
          <p:cNvPr id="20" name="TextBox 19"/>
          <p:cNvSpPr txBox="1"/>
          <p:nvPr/>
        </p:nvSpPr>
        <p:spPr>
          <a:xfrm>
            <a:off x="4828032" y="4754880"/>
            <a:ext cx="6400800" cy="1280160"/>
          </a:xfrm>
          <a:prstGeom prst="rect">
            <a:avLst/>
          </a:prstGeom>
          <a:noFill/>
        </p:spPr>
        <p:txBody>
          <a:bodyPr wrap="square">
            <a:spAutoFit/>
          </a:bodyPr>
          <a:lstStyle/>
          <a:p>
            <a:pPr>
              <a:spcAft>
                <a:spcPts val="600"/>
              </a:spcAft>
            </a:pPr>
            <a:r>
              <a:rPr sz="1300">
                <a:solidFill>
                  <a:srgbClr val="161B26"/>
                </a:solidFill>
                <a:latin typeface="Arial"/>
              </a:rPr>
              <a:t>•  Correct it, or mark it an open question</a:t>
            </a:r>
          </a:p>
          <a:p>
            <a:pPr>
              <a:spcAft>
                <a:spcPts val="600"/>
              </a:spcAft>
            </a:pPr>
            <a:r>
              <a:rPr sz="1300">
                <a:solidFill>
                  <a:srgbClr val="161B26"/>
                </a:solidFill>
                <a:latin typeface="Arial"/>
              </a:rPr>
              <a:t>•  Never publish an unevidenced claim as fact</a:t>
            </a:r>
          </a:p>
        </p:txBody>
      </p:sp>
      <p:sp>
        <p:nvSpPr>
          <p:cNvPr id="21" name="TextBox 20"/>
          <p:cNvSpPr txBox="1"/>
          <p:nvPr/>
        </p:nvSpPr>
        <p:spPr>
          <a:xfrm>
            <a:off x="777240" y="5989320"/>
            <a:ext cx="10607040" cy="457200"/>
          </a:xfrm>
          <a:prstGeom prst="rect">
            <a:avLst/>
          </a:prstGeom>
          <a:noFill/>
        </p:spPr>
        <p:txBody>
          <a:bodyPr wrap="square" anchor="t">
            <a:spAutoFit/>
          </a:bodyPr>
          <a:lstStyle/>
          <a:p>
            <a:pPr algn="l">
              <a:spcAft>
                <a:spcPts val="400"/>
              </a:spcAft>
            </a:pPr>
            <a:r>
              <a:rPr sz="1100" b="1">
                <a:solidFill>
                  <a:srgbClr val="7C3AED"/>
                </a:solidFill>
                <a:latin typeface="Arial"/>
              </a:rPr>
              <a:t>RULE   </a:t>
            </a:r>
            <a:r>
              <a:rPr sz="1300" b="0">
                <a:solidFill>
                  <a:srgbClr val="161B26"/>
                </a:solidFill>
                <a:latin typeface="Arial"/>
              </a:rPr>
              <a:t>A claim that cannot be traced is not a finding — it is a guess with good grammar.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SIX PRINCIPLES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Responsible AI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Fairness</a:t>
            </a:r>
          </a:p>
          <a:p>
            <a:pPr algn="l">
              <a:spcAft>
                <a:spcPts val="300"/>
              </a:spcAft>
            </a:pPr>
            <a:r>
              <a:rPr sz="1100" b="0">
                <a:solidFill>
                  <a:srgbClr val="5B6372"/>
                </a:solidFill>
                <a:latin typeface="Arial"/>
              </a:rPr>
              <a:t>Check that outputs do not disadvantage a group.</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51248"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1248"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5346192" y="1892808"/>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Reliability and safety</a:t>
            </a:r>
          </a:p>
          <a:p>
            <a:pPr algn="l">
              <a:spcAft>
                <a:spcPts val="300"/>
              </a:spcAft>
            </a:pPr>
            <a:r>
              <a:rPr sz="1100" b="0">
                <a:solidFill>
                  <a:srgbClr val="5B6372"/>
                </a:solidFill>
                <a:latin typeface="Arial"/>
              </a:rPr>
              <a:t>Test behaviour, including the failure cases.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87512" y="255117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7512"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8982456" y="1892808"/>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Privacy and security</a:t>
            </a:r>
          </a:p>
          <a:p>
            <a:pPr algn="l">
              <a:spcAft>
                <a:spcPts val="300"/>
              </a:spcAft>
            </a:pPr>
            <a:r>
              <a:rPr sz="1100" b="0">
                <a:solidFill>
                  <a:srgbClr val="5B6372"/>
                </a:solidFill>
                <a:latin typeface="Arial"/>
              </a:rPr>
              <a:t>Existing data protection duties still apply.</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197096"/>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Inclusiveness</a:t>
            </a:r>
          </a:p>
          <a:p>
            <a:pPr algn="l">
              <a:spcAft>
                <a:spcPts val="300"/>
              </a:spcAft>
            </a:pPr>
            <a:r>
              <a:rPr sz="1100" b="0">
                <a:solidFill>
                  <a:srgbClr val="5B6372"/>
                </a:solidFill>
                <a:latin typeface="Arial"/>
              </a:rPr>
              <a:t>Content should be usable by everyone who needs it.</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51248"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51248"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5346192" y="4197096"/>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Transparency</a:t>
            </a:r>
          </a:p>
          <a:p>
            <a:pPr algn="l">
              <a:spcAft>
                <a:spcPts val="300"/>
              </a:spcAft>
            </a:pPr>
            <a:r>
              <a:rPr sz="1100" b="0">
                <a:solidFill>
                  <a:srgbClr val="5B6372"/>
                </a:solidFill>
                <a:latin typeface="Arial"/>
              </a:rPr>
              <a:t>Say when and how AI was used.</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87512"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87512"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8982456" y="4197096"/>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Accountability</a:t>
            </a:r>
          </a:p>
          <a:p>
            <a:pPr algn="l">
              <a:spcAft>
                <a:spcPts val="300"/>
              </a:spcAft>
            </a:pPr>
            <a:r>
              <a:rPr sz="1100" b="0">
                <a:solidFill>
                  <a:srgbClr val="5B6372"/>
                </a:solidFill>
                <a:latin typeface="Arial"/>
              </a:rPr>
              <a:t>A named person answers for what is released.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the Time Actually Goes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DECISION LENS</a:t>
            </a:r>
          </a:p>
        </p:txBody>
      </p:sp>
      <p:sp>
        <p:nvSpPr>
          <p:cNvPr id="11" name="TextBox 10"/>
          <p:cNvSpPr txBox="1"/>
          <p:nvPr/>
        </p:nvSpPr>
        <p:spPr>
          <a:xfrm>
            <a:off x="8778240" y="2560320"/>
            <a:ext cx="2377440" cy="1737360"/>
          </a:xfrm>
          <a:prstGeom prst="rect">
            <a:avLst/>
          </a:prstGeom>
          <a:noFill/>
        </p:spPr>
        <p:txBody>
          <a:bodyPr wrap="square" anchor="t">
            <a:spAutoFit/>
          </a:bodyPr>
          <a:lstStyle/>
          <a:p>
            <a:pPr algn="l">
              <a:spcAft>
                <a:spcPts val="400"/>
              </a:spcAft>
            </a:pPr>
            <a:r>
              <a:rPr sz="1300" b="0">
                <a:solidFill>
                  <a:srgbClr val="161B26"/>
                </a:solidFill>
                <a:latin typeface="Arial"/>
              </a:rPr>
              <a:t>Drafting and searching fall the most. Review time rises — and that is the point, not a defect.</a:t>
            </a:r>
          </a:p>
        </p:txBody>
      </p:sp>
      <p:sp>
        <p:nvSpPr>
          <p:cNvPr id="12" name="Rectangle 11"/>
          <p:cNvSpPr/>
          <p:nvPr/>
        </p:nvSpPr>
        <p:spPr>
          <a:xfrm>
            <a:off x="8732520" y="434340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52628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526280"/>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507992"/>
            <a:ext cx="2011680" cy="777240"/>
          </a:xfrm>
          <a:prstGeom prst="rect">
            <a:avLst/>
          </a:prstGeom>
          <a:noFill/>
        </p:spPr>
        <p:txBody>
          <a:bodyPr wrap="square" anchor="t">
            <a:spAutoFit/>
          </a:bodyPr>
          <a:lstStyle/>
          <a:p>
            <a:pPr algn="l">
              <a:spcAft>
                <a:spcPts val="100"/>
              </a:spcAft>
            </a:pPr>
            <a:r>
              <a:rPr sz="1050" b="0">
                <a:solidFill>
                  <a:srgbClr val="5B6372"/>
                </a:solidFill>
                <a:latin typeface="Arial"/>
              </a:rPr>
              <a:t>Check the axis, the units</a:t>
            </a:r>
          </a:p>
          <a:p>
            <a:pPr algn="l">
              <a:spcAft>
                <a:spcPts val="100"/>
              </a:spcAft>
            </a:pPr>
            <a:r>
              <a:rPr sz="1050" b="0">
                <a:solidFill>
                  <a:srgbClr val="5B6372"/>
                </a:solidFill>
                <a:latin typeface="Arial"/>
              </a:rPr>
              <a:t>and the source before you act.</a:t>
            </a:r>
          </a:p>
        </p:txBody>
      </p:sp>
      <p:sp>
        <p:nvSpPr>
          <p:cNvPr id="16" name="Rectangle 15"/>
          <p:cNvSpPr/>
          <p:nvPr/>
        </p:nvSpPr>
        <p:spPr>
          <a:xfrm>
            <a:off x="8778240" y="5440680"/>
            <a:ext cx="2377440" cy="3840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440680"/>
            <a:ext cx="2194560" cy="384048"/>
          </a:xfrm>
          <a:prstGeom prst="rect">
            <a:avLst/>
          </a:prstGeom>
          <a:noFill/>
        </p:spPr>
        <p:txBody>
          <a:bodyPr wrap="square" anchor="ctr">
            <a:spAutoFit/>
          </a:bodyPr>
          <a:lstStyle/>
          <a:p>
            <a:pPr algn="l">
              <a:spcAft>
                <a:spcPts val="400"/>
              </a:spcAft>
            </a:pPr>
            <a:r>
              <a:rPr sz="900" b="0">
                <a:solidFill>
                  <a:srgbClr val="5B6372"/>
                </a:solidFill>
                <a:latin typeface="Arial"/>
              </a:rPr>
              <a:t>Native PowerPoint chart · editable data · verify source and units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DRAFT AND REFINE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Copilot in Word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Draft from a source</a:t>
            </a:r>
          </a:p>
          <a:p>
            <a:pPr algn="l">
              <a:spcAft>
                <a:spcPts val="300"/>
              </a:spcAft>
            </a:pPr>
            <a:r>
              <a:rPr sz="1200" b="0">
                <a:solidFill>
                  <a:srgbClr val="5B6372"/>
                </a:solidFill>
                <a:latin typeface="Arial"/>
              </a:rPr>
              <a:t>Generate a first draft grounded in a reference file.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Rewrite</a:t>
            </a:r>
          </a:p>
          <a:p>
            <a:pPr algn="l">
              <a:spcAft>
                <a:spcPts val="300"/>
              </a:spcAft>
            </a:pPr>
            <a:r>
              <a:rPr sz="1200" b="0">
                <a:solidFill>
                  <a:srgbClr val="5B6372"/>
                </a:solidFill>
                <a:latin typeface="Arial"/>
              </a:rPr>
              <a:t>Change tone, length or reading level without losing the facts.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Summarise</a:t>
            </a:r>
          </a:p>
          <a:p>
            <a:pPr algn="l">
              <a:spcAft>
                <a:spcPts val="300"/>
              </a:spcAft>
            </a:pPr>
            <a:r>
              <a:rPr sz="1200" b="0">
                <a:solidFill>
                  <a:srgbClr val="5B6372"/>
                </a:solidFill>
                <a:latin typeface="Arial"/>
              </a:rPr>
              <a:t>Reduce a long document to its decisions and obligations.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Ask about the document</a:t>
            </a:r>
          </a:p>
          <a:p>
            <a:pPr algn="l">
              <a:spcAft>
                <a:spcPts val="300"/>
              </a:spcAft>
            </a:pPr>
            <a:r>
              <a:rPr sz="1200" b="0">
                <a:solidFill>
                  <a:srgbClr val="5B6372"/>
                </a:solidFill>
                <a:latin typeface="Arial"/>
              </a:rPr>
              <a:t>Interrogate a draft rather than re-reading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WORD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Evidence to an Approved Document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Approved source</a:t>
            </a:r>
          </a:p>
        </p:txBody>
      </p:sp>
      <p:sp>
        <p:nvSpPr>
          <p:cNvPr id="10" name="TextBox 9"/>
          <p:cNvSpPr txBox="1"/>
          <p:nvPr/>
        </p:nvSpPr>
        <p:spPr>
          <a:xfrm>
            <a:off x="905256"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The workbook or data of record</a:t>
            </a:r>
          </a:p>
        </p:txBody>
      </p:sp>
      <p:sp>
        <p:nvSpPr>
          <p:cNvPr id="11" name="Rectangle 10"/>
          <p:cNvSpPr/>
          <p:nvPr/>
        </p:nvSpPr>
        <p:spPr>
          <a:xfrm>
            <a:off x="262067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73771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95574"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95574"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23590"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Structured template</a:t>
            </a:r>
          </a:p>
        </p:txBody>
      </p:sp>
      <p:sp>
        <p:nvSpPr>
          <p:cNvPr id="16" name="TextBox 15"/>
          <p:cNvSpPr txBox="1"/>
          <p:nvPr/>
        </p:nvSpPr>
        <p:spPr>
          <a:xfrm>
            <a:off x="3123590"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The agreed document headings</a:t>
            </a:r>
          </a:p>
        </p:txBody>
      </p:sp>
      <p:sp>
        <p:nvSpPr>
          <p:cNvPr id="17" name="Rectangle 16"/>
          <p:cNvSpPr/>
          <p:nvPr/>
        </p:nvSpPr>
        <p:spPr>
          <a:xfrm>
            <a:off x="483900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495604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13908"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3908"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1924"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Grounded draft</a:t>
            </a:r>
          </a:p>
        </p:txBody>
      </p:sp>
      <p:sp>
        <p:nvSpPr>
          <p:cNvPr id="22" name="TextBox 21"/>
          <p:cNvSpPr txBox="1"/>
          <p:nvPr/>
        </p:nvSpPr>
        <p:spPr>
          <a:xfrm>
            <a:off x="5341924"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Copilot writes into the structure</a:t>
            </a:r>
          </a:p>
        </p:txBody>
      </p:sp>
      <p:sp>
        <p:nvSpPr>
          <p:cNvPr id="23" name="Rectangle 22"/>
          <p:cNvSpPr/>
          <p:nvPr/>
        </p:nvSpPr>
        <p:spPr>
          <a:xfrm>
            <a:off x="7057338"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7174382"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32242"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32242"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60258"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Claim check</a:t>
            </a:r>
          </a:p>
        </p:txBody>
      </p:sp>
      <p:sp>
        <p:nvSpPr>
          <p:cNvPr id="28" name="TextBox 27"/>
          <p:cNvSpPr txBox="1"/>
          <p:nvPr/>
        </p:nvSpPr>
        <p:spPr>
          <a:xfrm>
            <a:off x="7560258"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Every figure traced to a cell</a:t>
            </a:r>
          </a:p>
        </p:txBody>
      </p:sp>
      <p:sp>
        <p:nvSpPr>
          <p:cNvPr id="29" name="Rectangle 28"/>
          <p:cNvSpPr/>
          <p:nvPr/>
        </p:nvSpPr>
        <p:spPr>
          <a:xfrm>
            <a:off x="92756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93927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50576"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50576"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78592"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Named approval</a:t>
            </a:r>
          </a:p>
        </p:txBody>
      </p:sp>
      <p:sp>
        <p:nvSpPr>
          <p:cNvPr id="34" name="TextBox 33"/>
          <p:cNvSpPr txBox="1"/>
          <p:nvPr/>
        </p:nvSpPr>
        <p:spPr>
          <a:xfrm>
            <a:off x="9778592"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A person signs it off</a:t>
            </a:r>
          </a:p>
        </p:txBody>
      </p:sp>
      <p:sp>
        <p:nvSpPr>
          <p:cNvPr id="35" name="Rectangle 34"/>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The template is what stops a good draft becoming the wrong document.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TELL THE STORY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Copilot in PowerPoint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Build from a document</a:t>
            </a:r>
          </a:p>
          <a:p>
            <a:pPr algn="l">
              <a:spcAft>
                <a:spcPts val="300"/>
              </a:spcAft>
            </a:pPr>
            <a:r>
              <a:rPr sz="1200" b="0">
                <a:solidFill>
                  <a:srgbClr val="5B6372"/>
                </a:solidFill>
                <a:latin typeface="Arial"/>
              </a:rPr>
              <a:t>Turn an approved brief into a slide structure.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Outline first</a:t>
            </a:r>
          </a:p>
          <a:p>
            <a:pPr algn="l">
              <a:spcAft>
                <a:spcPts val="300"/>
              </a:spcAft>
            </a:pPr>
            <a:r>
              <a:rPr sz="1200" b="0">
                <a:solidFill>
                  <a:srgbClr val="5B6372"/>
                </a:solidFill>
                <a:latin typeface="Arial"/>
              </a:rPr>
              <a:t>Fix the story before any slide is generated.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message per slide</a:t>
            </a:r>
          </a:p>
          <a:p>
            <a:pPr algn="l">
              <a:spcAft>
                <a:spcPts val="300"/>
              </a:spcAft>
            </a:pPr>
            <a:r>
              <a:rPr sz="1200" b="0">
                <a:solidFill>
                  <a:srgbClr val="5B6372"/>
                </a:solidFill>
                <a:latin typeface="Arial"/>
              </a:rPr>
              <a:t>The title states the takeaway, not the topic.</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Speaker notes</a:t>
            </a:r>
          </a:p>
          <a:p>
            <a:pPr algn="l">
              <a:spcAft>
                <a:spcPts val="300"/>
              </a:spcAft>
            </a:pPr>
            <a:r>
              <a:rPr sz="1200" b="0">
                <a:solidFill>
                  <a:srgbClr val="5B6372"/>
                </a:solidFill>
                <a:latin typeface="Arial"/>
              </a:rPr>
              <a:t>Draft what to say, then check it against the slide.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STATE THE TAKEAWAY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Slide Title Styles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Topic title (weak)</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Takeaway title (strong)</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Performance</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"Q3 Results"</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"Revenue grew 12%, but margin fell"</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Risk</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"Risks"</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"Stock lead time is the only launch blocker"</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Ask</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"Next Steps"</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"We need budget approval by 19 September"</a:t>
            </a:r>
          </a:p>
        </p:txBody>
      </p:sp>
      <p:sp>
        <p:nvSpPr>
          <p:cNvPr id="31" name="TextBox 30"/>
          <p:cNvSpPr txBox="1"/>
          <p:nvPr/>
        </p:nvSpPr>
        <p:spPr>
          <a:xfrm>
            <a:off x="777240" y="4032504"/>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If the audience reads only your titles, they should still get the argument.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Adoption Readiness Is Uneven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DECISION LENS</a:t>
            </a:r>
          </a:p>
        </p:txBody>
      </p:sp>
      <p:sp>
        <p:nvSpPr>
          <p:cNvPr id="11" name="TextBox 10"/>
          <p:cNvSpPr txBox="1"/>
          <p:nvPr/>
        </p:nvSpPr>
        <p:spPr>
          <a:xfrm>
            <a:off x="8778240" y="2560320"/>
            <a:ext cx="2377440" cy="1737360"/>
          </a:xfrm>
          <a:prstGeom prst="rect">
            <a:avLst/>
          </a:prstGeom>
          <a:noFill/>
        </p:spPr>
        <p:txBody>
          <a:bodyPr wrap="square" anchor="t">
            <a:spAutoFit/>
          </a:bodyPr>
          <a:lstStyle/>
          <a:p>
            <a:pPr algn="l">
              <a:spcAft>
                <a:spcPts val="400"/>
              </a:spcAft>
            </a:pPr>
            <a:r>
              <a:rPr sz="1300" b="0">
                <a:solidFill>
                  <a:srgbClr val="161B26"/>
                </a:solidFill>
                <a:latin typeface="Arial"/>
              </a:rPr>
              <a:t>Clustered bars expose the control gap before rollout. Train where readiness is lowest.</a:t>
            </a:r>
          </a:p>
        </p:txBody>
      </p:sp>
      <p:sp>
        <p:nvSpPr>
          <p:cNvPr id="12" name="Rectangle 11"/>
          <p:cNvSpPr/>
          <p:nvPr/>
        </p:nvSpPr>
        <p:spPr>
          <a:xfrm>
            <a:off x="8732520" y="434340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52628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526280"/>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507992"/>
            <a:ext cx="2011680" cy="777240"/>
          </a:xfrm>
          <a:prstGeom prst="rect">
            <a:avLst/>
          </a:prstGeom>
          <a:noFill/>
        </p:spPr>
        <p:txBody>
          <a:bodyPr wrap="square" anchor="t">
            <a:spAutoFit/>
          </a:bodyPr>
          <a:lstStyle/>
          <a:p>
            <a:pPr algn="l">
              <a:spcAft>
                <a:spcPts val="100"/>
              </a:spcAft>
            </a:pPr>
            <a:r>
              <a:rPr sz="1050" b="0">
                <a:solidFill>
                  <a:srgbClr val="5B6372"/>
                </a:solidFill>
                <a:latin typeface="Arial"/>
              </a:rPr>
              <a:t>Check the axis, the units</a:t>
            </a:r>
          </a:p>
          <a:p>
            <a:pPr algn="l">
              <a:spcAft>
                <a:spcPts val="100"/>
              </a:spcAft>
            </a:pPr>
            <a:r>
              <a:rPr sz="1050" b="0">
                <a:solidFill>
                  <a:srgbClr val="5B6372"/>
                </a:solidFill>
                <a:latin typeface="Arial"/>
              </a:rPr>
              <a:t>and the source before you act.</a:t>
            </a:r>
          </a:p>
        </p:txBody>
      </p:sp>
      <p:sp>
        <p:nvSpPr>
          <p:cNvPr id="16" name="Rectangle 15"/>
          <p:cNvSpPr/>
          <p:nvPr/>
        </p:nvSpPr>
        <p:spPr>
          <a:xfrm>
            <a:off x="8778240" y="5440680"/>
            <a:ext cx="2377440" cy="3840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440680"/>
            <a:ext cx="2194560" cy="384048"/>
          </a:xfrm>
          <a:prstGeom prst="rect">
            <a:avLst/>
          </a:prstGeom>
          <a:noFill/>
        </p:spPr>
        <p:txBody>
          <a:bodyPr wrap="square" anchor="ctr">
            <a:spAutoFit/>
          </a:bodyPr>
          <a:lstStyle/>
          <a:p>
            <a:pPr algn="l">
              <a:spcAft>
                <a:spcPts val="400"/>
              </a:spcAft>
            </a:pPr>
            <a:r>
              <a:rPr sz="900" b="0">
                <a:solidFill>
                  <a:srgbClr val="5B6372"/>
                </a:solidFill>
                <a:latin typeface="Arial"/>
              </a:rPr>
              <a:t>Native PowerPoint chart · editable data · verify source and units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LIMITS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Copilot Cannot Do For You</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Know what it was not given</a:t>
            </a:r>
          </a:p>
          <a:p>
            <a:pPr algn="l">
              <a:spcAft>
                <a:spcPts val="300"/>
              </a:spcAft>
            </a:pPr>
            <a:r>
              <a:rPr sz="1200" b="0">
                <a:solidFill>
                  <a:srgbClr val="5B6372"/>
                </a:solidFill>
                <a:latin typeface="Arial"/>
              </a:rPr>
              <a:t>An unattached source cannot be used.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Guarantee a number is right</a:t>
            </a:r>
          </a:p>
          <a:p>
            <a:pPr algn="l">
              <a:spcAft>
                <a:spcPts val="300"/>
              </a:spcAft>
            </a:pPr>
            <a:r>
              <a:rPr sz="1200" b="0">
                <a:solidFill>
                  <a:srgbClr val="5B6372"/>
                </a:solidFill>
                <a:latin typeface="Arial"/>
              </a:rPr>
              <a:t>Every figure needs checking against the source.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Take accountability</a:t>
            </a:r>
          </a:p>
          <a:p>
            <a:pPr algn="l">
              <a:spcAft>
                <a:spcPts val="300"/>
              </a:spcAft>
            </a:pPr>
            <a:r>
              <a:rPr sz="1200" b="0">
                <a:solidFill>
                  <a:srgbClr val="5B6372"/>
                </a:solidFill>
                <a:latin typeface="Arial"/>
              </a:rPr>
              <a:t>The named human approver still owns the output.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Understand your politics</a:t>
            </a:r>
          </a:p>
          <a:p>
            <a:pPr algn="l">
              <a:spcAft>
                <a:spcPts val="300"/>
              </a:spcAft>
            </a:pPr>
            <a:r>
              <a:rPr sz="1200" b="0">
                <a:solidFill>
                  <a:srgbClr val="5B6372"/>
                </a:solidFill>
                <a:latin typeface="Arial"/>
              </a:rPr>
              <a:t>Tone and sensitivity are your judgement, not its.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6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100" b="1">
                <a:solidFill>
                  <a:srgbClr val="F59E0B"/>
                </a:solidFill>
                <a:latin typeface="Arial"/>
              </a:rPr>
              <a:t>10 minutes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SURFACES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You Meet Copilot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Copilot Chat</a:t>
            </a:r>
          </a:p>
          <a:p>
            <a:pPr algn="l">
              <a:spcAft>
                <a:spcPts val="300"/>
              </a:spcAft>
            </a:pPr>
            <a:r>
              <a:rPr sz="1200" b="0">
                <a:solidFill>
                  <a:srgbClr val="5B6372"/>
                </a:solidFill>
                <a:latin typeface="Arial"/>
              </a:rPr>
              <a:t>A standalone conversation, with or without work grounding.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In-app Copilot</a:t>
            </a:r>
          </a:p>
          <a:p>
            <a:pPr algn="l">
              <a:spcAft>
                <a:spcPts val="300"/>
              </a:spcAft>
            </a:pPr>
            <a:r>
              <a:rPr sz="1200" b="0">
                <a:solidFill>
                  <a:srgbClr val="5B6372"/>
                </a:solidFill>
                <a:latin typeface="Arial"/>
              </a:rPr>
              <a:t>Inside Word, PowerPoint, Excel, Outlook and Teams.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Copilot in the flow of work</a:t>
            </a:r>
          </a:p>
          <a:p>
            <a:pPr algn="l">
              <a:spcAft>
                <a:spcPts val="300"/>
              </a:spcAft>
            </a:pPr>
            <a:r>
              <a:rPr sz="1200" b="0">
                <a:solidFill>
                  <a:srgbClr val="5B6372"/>
                </a:solidFill>
                <a:latin typeface="Arial"/>
              </a:rPr>
              <a:t>Summaries and suggestions offered where you already are.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Agents</a:t>
            </a:r>
          </a:p>
          <a:p>
            <a:pPr algn="l">
              <a:spcAft>
                <a:spcPts val="300"/>
              </a:spcAft>
            </a:pPr>
            <a:r>
              <a:rPr sz="1200" b="0">
                <a:solidFill>
                  <a:srgbClr val="5B6372"/>
                </a:solidFill>
                <a:latin typeface="Arial"/>
              </a:rPr>
              <a:t>Purpose-built assistants for a specific job — Days 4 and 5.</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FAILURE MODES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Three Ways a Draft Can Be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Failure</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What it looks like</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How you catch it</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Invention</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 confident fact that is not in any source</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Trace every claim to a cell or section</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Omission</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 true summary that leaves out the caveat</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Read the source, not only the summary</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Misframing</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Accurate numbers arranged to imply the wrong thing</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Ask what decision the reader would make</a:t>
            </a:r>
          </a:p>
        </p:txBody>
      </p:sp>
      <p:sp>
        <p:nvSpPr>
          <p:cNvPr id="31" name="TextBox 30"/>
          <p:cNvSpPr txBox="1"/>
          <p:nvPr/>
        </p:nvSpPr>
        <p:spPr>
          <a:xfrm>
            <a:off x="777240" y="4032504"/>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Invention is the famous one. Omission and misframing cause more harm in practice.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COPILOT CAN USE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Grounding Sources You Can Attach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 file</a:t>
            </a:r>
          </a:p>
          <a:p>
            <a:pPr algn="l">
              <a:spcAft>
                <a:spcPts val="300"/>
              </a:spcAft>
            </a:pPr>
            <a:r>
              <a:rPr sz="1200" b="0">
                <a:solidFill>
                  <a:srgbClr val="5B6372"/>
                </a:solidFill>
                <a:latin typeface="Arial"/>
              </a:rPr>
              <a:t>A workbook, document or deck you reference directly.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 meeting</a:t>
            </a:r>
          </a:p>
          <a:p>
            <a:pPr algn="l">
              <a:spcAft>
                <a:spcPts val="300"/>
              </a:spcAft>
            </a:pPr>
            <a:r>
              <a:rPr sz="1200" b="0">
                <a:solidFill>
                  <a:srgbClr val="5B6372"/>
                </a:solidFill>
                <a:latin typeface="Arial"/>
              </a:rPr>
              <a:t>A recorded or transcribed meeting you attended.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 mail thread</a:t>
            </a:r>
          </a:p>
          <a:p>
            <a:pPr algn="l">
              <a:spcAft>
                <a:spcPts val="300"/>
              </a:spcAft>
            </a:pPr>
            <a:r>
              <a:rPr sz="1200" b="0">
                <a:solidFill>
                  <a:srgbClr val="5B6372"/>
                </a:solidFill>
                <a:latin typeface="Arial"/>
              </a:rPr>
              <a:t>Messages in a mailbox you have access to.</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 site or library</a:t>
            </a:r>
          </a:p>
          <a:p>
            <a:pPr algn="l">
              <a:spcAft>
                <a:spcPts val="300"/>
              </a:spcAft>
            </a:pPr>
            <a:r>
              <a:rPr sz="1200" b="0">
                <a:solidFill>
                  <a:srgbClr val="5B6372"/>
                </a:solidFill>
                <a:latin typeface="Arial"/>
              </a:rPr>
              <a:t>A SharePoint location you are permitted to read.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DECISION RULE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Is This Task a Good Fit for Copilot?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331720"/>
            <a:ext cx="3017520" cy="210312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88920"/>
            <a:ext cx="2468880" cy="1188720"/>
          </a:xfrm>
          <a:prstGeom prst="rect">
            <a:avLst/>
          </a:prstGeom>
          <a:noFill/>
        </p:spPr>
        <p:txBody>
          <a:bodyPr wrap="square" anchor="ctr">
            <a:spAutoFit/>
          </a:bodyPr>
          <a:lstStyle/>
          <a:p>
            <a:pPr algn="ctr">
              <a:spcAft>
                <a:spcPts val="400"/>
              </a:spcAft>
            </a:pPr>
            <a:r>
              <a:rPr sz="1300" b="1">
                <a:solidFill>
                  <a:srgbClr val="FFFFFF"/>
                </a:solidFill>
                <a:latin typeface="Arial"/>
              </a:rPr>
              <a:t>Is there an approved source that answers it?</a:t>
            </a:r>
          </a:p>
        </p:txBody>
      </p:sp>
      <p:sp>
        <p:nvSpPr>
          <p:cNvPr id="9" name="Rectangle 8"/>
          <p:cNvSpPr/>
          <p:nvPr/>
        </p:nvSpPr>
        <p:spPr>
          <a:xfrm>
            <a:off x="3931920" y="2761488"/>
            <a:ext cx="3200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251960" y="2732227"/>
            <a:ext cx="182880" cy="113385"/>
          </a:xfrm>
          <a:custGeom>
            <a:avLst/>
            <a:gdLst/>
            <a:ahLst/>
            <a:cxnLst/>
            <a:rect l="l" t="t" r="r" b="b"/>
            <a:pathLst>
              <a:path w="182880" h="113385">
                <a:moveTo>
                  <a:pt x="0" y="0"/>
                </a:moveTo>
                <a:lnTo>
                  <a:pt x="182880" y="56693"/>
                </a:lnTo>
                <a:lnTo>
                  <a:pt x="0" y="113385"/>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96596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965960"/>
            <a:ext cx="91440" cy="1920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112264"/>
            <a:ext cx="6400800" cy="365760"/>
          </a:xfrm>
          <a:prstGeom prst="rect">
            <a:avLst/>
          </a:prstGeom>
          <a:noFill/>
        </p:spPr>
        <p:txBody>
          <a:bodyPr wrap="square" anchor="t">
            <a:spAutoFit/>
          </a:bodyPr>
          <a:lstStyle/>
          <a:p>
            <a:pPr algn="l">
              <a:spcAft>
                <a:spcPts val="400"/>
              </a:spcAft>
            </a:pPr>
            <a:r>
              <a:rPr sz="1300" b="1">
                <a:solidFill>
                  <a:srgbClr val="10B981"/>
                </a:solidFill>
                <a:latin typeface="Arial"/>
              </a:rPr>
              <a:t>YES</a:t>
            </a:r>
          </a:p>
        </p:txBody>
      </p:sp>
      <p:sp>
        <p:nvSpPr>
          <p:cNvPr id="14" name="TextBox 13"/>
          <p:cNvSpPr txBox="1"/>
          <p:nvPr/>
        </p:nvSpPr>
        <p:spPr>
          <a:xfrm>
            <a:off x="4828032" y="2514600"/>
            <a:ext cx="6400800" cy="1280160"/>
          </a:xfrm>
          <a:prstGeom prst="rect">
            <a:avLst/>
          </a:prstGeom>
          <a:noFill/>
        </p:spPr>
        <p:txBody>
          <a:bodyPr wrap="square">
            <a:spAutoFit/>
          </a:bodyPr>
          <a:lstStyle/>
          <a:p>
            <a:pPr>
              <a:spcAft>
                <a:spcPts val="600"/>
              </a:spcAft>
            </a:pPr>
            <a:r>
              <a:rPr sz="1300">
                <a:solidFill>
                  <a:srgbClr val="161B26"/>
                </a:solidFill>
                <a:latin typeface="Arial"/>
              </a:rPr>
              <a:t>•  Draft with Copilot, then verify against that source</a:t>
            </a:r>
          </a:p>
          <a:p>
            <a:pPr>
              <a:spcAft>
                <a:spcPts val="600"/>
              </a:spcAft>
            </a:pPr>
            <a:r>
              <a:rPr sz="1300">
                <a:solidFill>
                  <a:srgbClr val="161B26"/>
                </a:solidFill>
                <a:latin typeface="Arial"/>
              </a:rPr>
              <a:t>•  Record the source in your evidence register</a:t>
            </a:r>
          </a:p>
        </p:txBody>
      </p:sp>
      <p:sp>
        <p:nvSpPr>
          <p:cNvPr id="15" name="Rectangle 14"/>
          <p:cNvSpPr/>
          <p:nvPr/>
        </p:nvSpPr>
        <p:spPr>
          <a:xfrm>
            <a:off x="3931920" y="5001768"/>
            <a:ext cx="3200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251960" y="4972507"/>
            <a:ext cx="182880" cy="113385"/>
          </a:xfrm>
          <a:custGeom>
            <a:avLst/>
            <a:gdLst/>
            <a:ahLst/>
            <a:cxnLst/>
            <a:rect l="l" t="t" r="r" b="b"/>
            <a:pathLst>
              <a:path w="182880" h="113385">
                <a:moveTo>
                  <a:pt x="0" y="0"/>
                </a:moveTo>
                <a:lnTo>
                  <a:pt x="182880" y="56693"/>
                </a:lnTo>
                <a:lnTo>
                  <a:pt x="0" y="113385"/>
                </a:lnTo>
                <a:close/>
              </a:path>
            </a:pathLst>
          </a:cu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420624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4206240"/>
            <a:ext cx="91440" cy="1920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4352544"/>
            <a:ext cx="6400800" cy="365760"/>
          </a:xfrm>
          <a:prstGeom prst="rect">
            <a:avLst/>
          </a:prstGeom>
          <a:noFill/>
        </p:spPr>
        <p:txBody>
          <a:bodyPr wrap="square" anchor="t">
            <a:spAutoFit/>
          </a:bodyPr>
          <a:lstStyle/>
          <a:p>
            <a:pPr algn="l">
              <a:spcAft>
                <a:spcPts val="400"/>
              </a:spcAft>
            </a:pPr>
            <a:r>
              <a:rPr sz="1300" b="1">
                <a:solidFill>
                  <a:srgbClr val="F59E0B"/>
                </a:solidFill>
                <a:latin typeface="Arial"/>
              </a:rPr>
              <a:t>NO</a:t>
            </a:r>
          </a:p>
        </p:txBody>
      </p:sp>
      <p:sp>
        <p:nvSpPr>
          <p:cNvPr id="20" name="TextBox 19"/>
          <p:cNvSpPr txBox="1"/>
          <p:nvPr/>
        </p:nvSpPr>
        <p:spPr>
          <a:xfrm>
            <a:off x="4828032" y="4754880"/>
            <a:ext cx="6400800" cy="1280160"/>
          </a:xfrm>
          <a:prstGeom prst="rect">
            <a:avLst/>
          </a:prstGeom>
          <a:noFill/>
        </p:spPr>
        <p:txBody>
          <a:bodyPr wrap="square">
            <a:spAutoFit/>
          </a:bodyPr>
          <a:lstStyle/>
          <a:p>
            <a:pPr>
              <a:spcAft>
                <a:spcPts val="600"/>
              </a:spcAft>
            </a:pPr>
            <a:r>
              <a:rPr sz="1300">
                <a:solidFill>
                  <a:srgbClr val="161B26"/>
                </a:solidFill>
                <a:latin typeface="Arial"/>
              </a:rPr>
              <a:t>•  Do the thinking first, then use Copilot to express it</a:t>
            </a:r>
          </a:p>
          <a:p>
            <a:pPr>
              <a:spcAft>
                <a:spcPts val="600"/>
              </a:spcAft>
            </a:pPr>
            <a:r>
              <a:rPr sz="1300">
                <a:solidFill>
                  <a:srgbClr val="161B26"/>
                </a:solidFill>
                <a:latin typeface="Arial"/>
              </a:rPr>
              <a:t>•  Never ask it to supply facts you do not have</a:t>
            </a:r>
          </a:p>
        </p:txBody>
      </p:sp>
      <p:sp>
        <p:nvSpPr>
          <p:cNvPr id="21" name="TextBox 20"/>
          <p:cNvSpPr txBox="1"/>
          <p:nvPr/>
        </p:nvSpPr>
        <p:spPr>
          <a:xfrm>
            <a:off x="777240" y="5989320"/>
            <a:ext cx="10607040" cy="457200"/>
          </a:xfrm>
          <a:prstGeom prst="rect">
            <a:avLst/>
          </a:prstGeom>
          <a:noFill/>
        </p:spPr>
        <p:txBody>
          <a:bodyPr wrap="square" anchor="t">
            <a:spAutoFit/>
          </a:bodyPr>
          <a:lstStyle/>
          <a:p>
            <a:pPr algn="l">
              <a:spcAft>
                <a:spcPts val="400"/>
              </a:spcAft>
            </a:pPr>
            <a:r>
              <a:rPr sz="1100" b="1">
                <a:solidFill>
                  <a:srgbClr val="7C3AED"/>
                </a:solidFill>
                <a:latin typeface="Arial"/>
              </a:rPr>
              <a:t>RULE   </a:t>
            </a:r>
            <a:r>
              <a:rPr sz="1300" b="0">
                <a:solidFill>
                  <a:srgbClr val="161B26"/>
                </a:solidFill>
                <a:latin typeface="Arial"/>
              </a:rPr>
              <a:t>Copilot is excellent at expressing what you know. It is unreliable at knowing what you do not.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QUESTIONS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Reading a Copilot Answer Critically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is it citing?</a:t>
            </a:r>
          </a:p>
          <a:p>
            <a:pPr algn="l">
              <a:spcAft>
                <a:spcPts val="300"/>
              </a:spcAft>
            </a:pPr>
            <a:r>
              <a:rPr sz="1200" b="0">
                <a:solidFill>
                  <a:srgbClr val="5B6372"/>
                </a:solidFill>
                <a:latin typeface="Arial"/>
              </a:rPr>
              <a:t>If nothing, treat every fact as unverified.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did it leave out?</a:t>
            </a:r>
          </a:p>
          <a:p>
            <a:pPr algn="l">
              <a:spcAft>
                <a:spcPts val="300"/>
              </a:spcAft>
            </a:pPr>
            <a:r>
              <a:rPr sz="1200" b="0">
                <a:solidFill>
                  <a:srgbClr val="5B6372"/>
                </a:solidFill>
                <a:latin typeface="Arial"/>
              </a:rPr>
              <a:t>Compare against the source, not against your expectation.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would change my mind?</a:t>
            </a:r>
          </a:p>
          <a:p>
            <a:pPr algn="l">
              <a:spcAft>
                <a:spcPts val="300"/>
              </a:spcAft>
            </a:pPr>
            <a:r>
              <a:rPr sz="1200" b="0">
                <a:solidFill>
                  <a:srgbClr val="5B6372"/>
                </a:solidFill>
                <a:latin typeface="Arial"/>
              </a:rPr>
              <a:t>Name the evidence that would falsify the claim.</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Who is accountable?</a:t>
            </a:r>
          </a:p>
          <a:p>
            <a:pPr algn="l">
              <a:spcAft>
                <a:spcPts val="300"/>
              </a:spcAft>
            </a:pPr>
            <a:r>
              <a:rPr sz="1200" b="0">
                <a:solidFill>
                  <a:srgbClr val="5B6372"/>
                </a:solidFill>
                <a:latin typeface="Arial"/>
              </a:rPr>
              <a:t>Someone must be named before this is released.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Verification Effort Pays 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DECISION LENS</a:t>
            </a:r>
          </a:p>
        </p:txBody>
      </p:sp>
      <p:sp>
        <p:nvSpPr>
          <p:cNvPr id="11" name="TextBox 10"/>
          <p:cNvSpPr txBox="1"/>
          <p:nvPr/>
        </p:nvSpPr>
        <p:spPr>
          <a:xfrm>
            <a:off x="8778240" y="2560320"/>
            <a:ext cx="2377440" cy="1737360"/>
          </a:xfrm>
          <a:prstGeom prst="rect">
            <a:avLst/>
          </a:prstGeom>
          <a:noFill/>
        </p:spPr>
        <p:txBody>
          <a:bodyPr wrap="square" anchor="t">
            <a:spAutoFit/>
          </a:bodyPr>
          <a:lstStyle/>
          <a:p>
            <a:pPr algn="l">
              <a:spcAft>
                <a:spcPts val="400"/>
              </a:spcAft>
            </a:pPr>
            <a:r>
              <a:rPr sz="1300" b="0">
                <a:solidFill>
                  <a:srgbClr val="161B26"/>
                </a:solidFill>
                <a:latin typeface="Arial"/>
              </a:rPr>
              <a:t>Review costs more in week one and less in every week after. Unverified output compounds.</a:t>
            </a:r>
          </a:p>
        </p:txBody>
      </p:sp>
      <p:sp>
        <p:nvSpPr>
          <p:cNvPr id="12" name="Rectangle 11"/>
          <p:cNvSpPr/>
          <p:nvPr/>
        </p:nvSpPr>
        <p:spPr>
          <a:xfrm>
            <a:off x="8732520" y="434340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52628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526280"/>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507992"/>
            <a:ext cx="2011680" cy="777240"/>
          </a:xfrm>
          <a:prstGeom prst="rect">
            <a:avLst/>
          </a:prstGeom>
          <a:noFill/>
        </p:spPr>
        <p:txBody>
          <a:bodyPr wrap="square" anchor="t">
            <a:spAutoFit/>
          </a:bodyPr>
          <a:lstStyle/>
          <a:p>
            <a:pPr algn="l">
              <a:spcAft>
                <a:spcPts val="100"/>
              </a:spcAft>
            </a:pPr>
            <a:r>
              <a:rPr sz="1050" b="0">
                <a:solidFill>
                  <a:srgbClr val="5B6372"/>
                </a:solidFill>
                <a:latin typeface="Arial"/>
              </a:rPr>
              <a:t>Check the axis, the units</a:t>
            </a:r>
          </a:p>
          <a:p>
            <a:pPr algn="l">
              <a:spcAft>
                <a:spcPts val="100"/>
              </a:spcAft>
            </a:pPr>
            <a:r>
              <a:rPr sz="1050" b="0">
                <a:solidFill>
                  <a:srgbClr val="5B6372"/>
                </a:solidFill>
                <a:latin typeface="Arial"/>
              </a:rPr>
              <a:t>and the source before you act.</a:t>
            </a:r>
          </a:p>
        </p:txBody>
      </p:sp>
      <p:sp>
        <p:nvSpPr>
          <p:cNvPr id="16" name="Rectangle 15"/>
          <p:cNvSpPr/>
          <p:nvPr/>
        </p:nvSpPr>
        <p:spPr>
          <a:xfrm>
            <a:off x="8778240" y="5440680"/>
            <a:ext cx="2377440" cy="3840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440680"/>
            <a:ext cx="2194560" cy="384048"/>
          </a:xfrm>
          <a:prstGeom prst="rect">
            <a:avLst/>
          </a:prstGeom>
          <a:noFill/>
        </p:spPr>
        <p:txBody>
          <a:bodyPr wrap="square" anchor="ctr">
            <a:spAutoFit/>
          </a:bodyPr>
          <a:lstStyle/>
          <a:p>
            <a:pPr algn="l">
              <a:spcAft>
                <a:spcPts val="400"/>
              </a:spcAft>
            </a:pPr>
            <a:r>
              <a:rPr sz="900" b="0">
                <a:solidFill>
                  <a:srgbClr val="5B6372"/>
                </a:solidFill>
                <a:latin typeface="Arial"/>
              </a:rPr>
              <a:t>Native PowerPoint chart · editable data · verify source and units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SHARE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Making a Deck Accessible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Contrast</a:t>
            </a:r>
          </a:p>
          <a:p>
            <a:pPr algn="l">
              <a:spcAft>
                <a:spcPts val="300"/>
              </a:spcAft>
            </a:pPr>
            <a:r>
              <a:rPr sz="1200" b="0">
                <a:solidFill>
                  <a:srgbClr val="5B6372"/>
                </a:solidFill>
                <a:latin typeface="Arial"/>
              </a:rPr>
              <a:t>Text must be readable against its background.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Type size</a:t>
            </a:r>
          </a:p>
          <a:p>
            <a:pPr algn="l">
              <a:spcAft>
                <a:spcPts val="300"/>
              </a:spcAft>
            </a:pPr>
            <a:r>
              <a:rPr sz="1200" b="0">
                <a:solidFill>
                  <a:srgbClr val="5B6372"/>
                </a:solidFill>
                <a:latin typeface="Arial"/>
              </a:rPr>
              <a:t>If it needs squinting on a projector, it is too small.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Alt text</a:t>
            </a:r>
          </a:p>
          <a:p>
            <a:pPr algn="l">
              <a:spcAft>
                <a:spcPts val="300"/>
              </a:spcAft>
            </a:pPr>
            <a:r>
              <a:rPr sz="1200" b="0">
                <a:solidFill>
                  <a:srgbClr val="5B6372"/>
                </a:solidFill>
                <a:latin typeface="Arial"/>
              </a:rPr>
              <a:t>Every meaningful image and chart needs a description.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Reading order</a:t>
            </a:r>
          </a:p>
          <a:p>
            <a:pPr algn="l">
              <a:spcAft>
                <a:spcPts val="300"/>
              </a:spcAft>
            </a:pPr>
            <a:r>
              <a:rPr sz="1200" b="0">
                <a:solidFill>
                  <a:srgbClr val="5B6372"/>
                </a:solidFill>
                <a:latin typeface="Arial"/>
              </a:rPr>
              <a:t>Screen readers follow the object order, not the visual layout.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FOUNDATION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 Up Microsoft 365 Copilot and Prompt Safely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01</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K1 · A1</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confirms which Copilot surface they are licensed for, learns how grounding and permissions work, writes prompts using the four-part prompt contract, and records a review decision for every generated claim.</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completed setup, grounding and prompt-review register in Excel</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Microsoft 365 Copilot Chat, Excel</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K1 · A1</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Foundation</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Confirm your Copilot surface</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Write a four-part prompt</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Identify claims to verify</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Record the review decision</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01)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Set Up Microsoft 365 Copilot and Prompt Safely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The register identifies the active Copilot surface, the grounding source, three evidence-backed gaps, and a verification status for every claim.</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FOUNDATION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Draft a Project Brief in Word from Excel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02</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K2 · A2</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uses Copilot in Word with a supplied template and workbook to draft a two-page launch brief, then traces every objective, milestone, risk and number back to the workbook.</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two-page launch brief with cited objectives, milestones, risks and open questions</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Word, Excel, Copilot</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K2 · A2</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Foundation</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Open the brief template</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Draft from the workbook</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Rewrite unsupported claims</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Record the approver</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02)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Draft a Project Brief in Word from Excel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The brief fills every template heading, all figures trace to the workbook, and unsupported statements appear as open questions rather than claims.</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Refine a Responsible Copilot Use Policy in Word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03</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K1 · A2</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reviews a draft internal policy with Copilot, identifies gaps and ambiguities, rewrites the weak clauses, and produces a one-page staff quick-reference from the approved text.</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An approved policy draft, an issue log and a staff quick-reference checklist</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Word, Excel, Copilot</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K1 · A2</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Open the policy draft</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Classify each issue</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Check it matches reality</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Record the approval</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03)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Refine a Responsible Copilot Use Policy in Word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Every logged issue has a decision and a rationale, the rewritten policy keeps its defined terms, and the quick-reference matches the approved text.</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a PowerPoint Story from Word and Excel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04</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K2 · A2</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generates a leadership deck from the approved brief and workbook, checks every claim against its source, and ends the deck with a specific decision request.</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An eight-slide leadership deck with one message per slide and a documented evidence map</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PowerPoint, Word, Excel, Copilot</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K2 · A2</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Review brief and data</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Create the outline</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Generate and replace imagery</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Run an accessibility check</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04)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a PowerPoint Story from Word and Excel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The deck contains eight coherent slides, all quantitative claims trace to the workbook, and the final slide asks for a specific decision.</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Enhance PowerPoint with Native Charts and Speaker Notes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05</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K2 · A2</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replaces picture-charts with native editable PowerPoint charts driven by the workbook, then generates and verifies speaker notes that match what each chart actually shows.</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polished deck with native trend, contribution and variance charts plus verified speaker notes</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PowerPoint, Excel, Copilot</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K2 · A2</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Find the quantitative slides</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Insert native charts</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Draft and check speaker notes</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Complete the acceptance check</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05)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Enhance PowerPoint with Native Charts and Speaker Notes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Every data slide carries a native, labelled chart traceable to the workbook, and each speaker note states only what its chart actually shows.</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CAN NOW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01</a:t>
            </a:r>
          </a:p>
          <a:p>
            <a:pPr algn="l">
              <a:spcAft>
                <a:spcPts val="300"/>
              </a:spcAft>
            </a:pPr>
            <a:r>
              <a:rPr sz="1000" b="0">
                <a:solidFill>
                  <a:srgbClr val="5B6372"/>
                </a:solidFill>
                <a:latin typeface="Arial"/>
              </a:rPr>
              <a:t>Identify where Copilot is available, how it is grounded, and the verification duty that comes with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02</a:t>
            </a:r>
          </a:p>
          <a:p>
            <a:pPr algn="l">
              <a:spcAft>
                <a:spcPts val="300"/>
              </a:spcAft>
            </a:pPr>
            <a:r>
              <a:rPr sz="1000" b="0">
                <a:solidFill>
                  <a:srgbClr val="5B6372"/>
                </a:solidFill>
                <a:latin typeface="Arial"/>
              </a:rPr>
              <a:t>Produce a governed business document in Word grounded in an approved data source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03</a:t>
            </a:r>
          </a:p>
          <a:p>
            <a:pPr algn="l">
              <a:spcAft>
                <a:spcPts val="300"/>
              </a:spcAft>
            </a:pPr>
            <a:r>
              <a:rPr sz="1000" b="0">
                <a:solidFill>
                  <a:srgbClr val="5B6372"/>
                </a:solidFill>
                <a:latin typeface="Arial"/>
              </a:rPr>
              <a:t>Use Copilot to review, improve and simplify an existing governance document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04</a:t>
            </a:r>
          </a:p>
          <a:p>
            <a:pPr algn="l">
              <a:spcAft>
                <a:spcPts val="300"/>
              </a:spcAft>
            </a:pPr>
            <a:r>
              <a:rPr sz="1000" b="0">
                <a:solidFill>
                  <a:srgbClr val="5B6372"/>
                </a:solidFill>
                <a:latin typeface="Arial"/>
              </a:rPr>
              <a:t>Convert an approved brief and supporting data into a decision-led presentation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05</a:t>
            </a:r>
          </a:p>
          <a:p>
            <a:pPr algn="l">
              <a:spcAft>
                <a:spcPts val="300"/>
              </a:spcAft>
            </a:pPr>
            <a:r>
              <a:rPr sz="1000" b="0">
                <a:solidFill>
                  <a:srgbClr val="5B6372"/>
                </a:solidFill>
                <a:latin typeface="Arial"/>
              </a:rPr>
              <a:t>Turn a draft deck into a presentation-ready story with verifiable native charts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6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100" b="1">
                <a:solidFill>
                  <a:srgbClr val="10B981"/>
                </a:solidFill>
                <a:latin typeface="Arial"/>
              </a:rPr>
              <a:t>See you tomorrow</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Copilot for Excel and Outlook: Analysis and Communication</a:t>
            </a:r>
          </a:p>
        </p:txBody>
      </p:sp>
      <p:sp>
        <p:nvSpPr>
          <p:cNvPr id="7" name="TextBox 6"/>
          <p:cNvSpPr txBox="1"/>
          <p:nvPr/>
        </p:nvSpPr>
        <p:spPr>
          <a:xfrm>
            <a:off x="1161288" y="434340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Analysis-ready data · formulas · diagnostics · forecasting · inbox triage · controlled replies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DAY 2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Copilot analyses an Excel Table with one header row, one record per row and consistent data types.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Analysis progresses from descriptive to diagnostic, then predictive and prescriptive questions.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A suggested formula is a proposal: check its logic, references and edge cases before you accept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Scenario modelling separates assumptions from formulas so base, downside and upside cases can be compared.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Outlook Copilot triages a mailbox, summarises a thread and drafts a reply, but a person always sends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Every quantitative claim must trace back to a named sheet and cell range before it is used in a decision.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WILL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800" b="1">
                <a:solidFill>
                  <a:srgbClr val="1F6FEB"/>
                </a:solidFill>
                <a:latin typeface="Arial"/>
              </a:rPr>
              <a:t>Labs 06–07</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300">
                <a:solidFill>
                  <a:srgbClr val="161B26"/>
                </a:solidFill>
                <a:latin typeface="Arial"/>
              </a:rPr>
              <a:t>•  Build and Audit Excel Formulas with Copilot</a:t>
            </a:r>
          </a:p>
          <a:p>
            <a:pPr>
              <a:spcAft>
                <a:spcPts val="900"/>
              </a:spcAft>
            </a:pPr>
            <a:r>
              <a:rPr sz="1300">
                <a:solidFill>
                  <a:srgbClr val="161B26"/>
                </a:solidFill>
                <a:latin typeface="Arial"/>
              </a:rPr>
              <a:t>•  Run Deep Descriptive and Diagnostic Analysis in Excel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800" b="1">
                <a:solidFill>
                  <a:srgbClr val="10B981"/>
                </a:solidFill>
                <a:latin typeface="Arial"/>
              </a:rPr>
              <a:t>Labs 08–09</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300">
                <a:solidFill>
                  <a:srgbClr val="161B26"/>
                </a:solidFill>
                <a:latin typeface="Arial"/>
              </a:rPr>
              <a:t>•  Forecast and Stress-Test a Campaign with Copilot</a:t>
            </a:r>
          </a:p>
          <a:p>
            <a:pPr>
              <a:spcAft>
                <a:spcPts val="900"/>
              </a:spcAft>
            </a:pPr>
            <a:r>
              <a:rPr sz="1300">
                <a:solidFill>
                  <a:srgbClr val="161B26"/>
                </a:solidFill>
                <a:latin typeface="Arial"/>
              </a:rPr>
              <a:t>•  Triage an Outlook Inbox and Draft a Controlled Reply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800" b="1">
                <a:solidFill>
                  <a:srgbClr val="7C3AED"/>
                </a:solidFill>
                <a:latin typeface="Arial"/>
              </a:rPr>
              <a:t>Labs 10–10</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300">
                <a:solidFill>
                  <a:srgbClr val="161B26"/>
                </a:solidFill>
                <a:latin typeface="Arial"/>
              </a:rPr>
              <a:t>•  Turn Meeting Notes into an Action Register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ASK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Data Analysis-Ready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700" b="1">
                <a:solidFill>
                  <a:srgbClr val="161B26"/>
                </a:solidFill>
                <a:latin typeface="Arial"/>
              </a:rPr>
              <a:t>One header row</a:t>
            </a:r>
          </a:p>
          <a:p>
            <a:pPr algn="l">
              <a:spcAft>
                <a:spcPts val="300"/>
              </a:spcAft>
            </a:pPr>
            <a:r>
              <a:rPr sz="1300" b="0">
                <a:solidFill>
                  <a:srgbClr val="5B6372"/>
                </a:solidFill>
                <a:latin typeface="Arial"/>
              </a:rPr>
              <a:t>A single, clear name for every column.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700" b="1">
                <a:solidFill>
                  <a:srgbClr val="161B26"/>
                </a:solidFill>
                <a:latin typeface="Arial"/>
              </a:rPr>
              <a:t>One record per row</a:t>
            </a:r>
          </a:p>
          <a:p>
            <a:pPr algn="l">
              <a:spcAft>
                <a:spcPts val="300"/>
              </a:spcAft>
            </a:pPr>
            <a:r>
              <a:rPr sz="1300" b="0">
                <a:solidFill>
                  <a:srgbClr val="5B6372"/>
                </a:solidFill>
                <a:latin typeface="Arial"/>
              </a:rPr>
              <a:t>No merged cells and no stacked sub-tables.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700" b="1">
                <a:solidFill>
                  <a:srgbClr val="161B26"/>
                </a:solidFill>
                <a:latin typeface="Arial"/>
              </a:rPr>
              <a:t>Consistent types</a:t>
            </a:r>
          </a:p>
          <a:p>
            <a:pPr algn="l">
              <a:spcAft>
                <a:spcPts val="300"/>
              </a:spcAft>
            </a:pPr>
            <a:r>
              <a:rPr sz="1300" b="0">
                <a:solidFill>
                  <a:srgbClr val="5B6372"/>
                </a:solidFill>
                <a:latin typeface="Arial"/>
              </a:rPr>
              <a:t>A number column holds numbers, not text like 'n/a'.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700" b="1">
                <a:solidFill>
                  <a:srgbClr val="161B26"/>
                </a:solidFill>
                <a:latin typeface="Arial"/>
              </a:rPr>
              <a:t>An Excel Table</a:t>
            </a:r>
          </a:p>
          <a:p>
            <a:pPr algn="l">
              <a:spcAft>
                <a:spcPts val="300"/>
              </a:spcAft>
            </a:pPr>
            <a:r>
              <a:rPr sz="1300" b="0">
                <a:solidFill>
                  <a:srgbClr val="5B6372"/>
                </a:solidFill>
                <a:latin typeface="Arial"/>
              </a:rPr>
              <a:t>Structured references that survive inserted rows.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PROGRESSIVE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Four Analytical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Descriptive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What happened?</a:t>
            </a:r>
          </a:p>
        </p:txBody>
      </p:sp>
      <p:sp>
        <p:nvSpPr>
          <p:cNvPr id="11" name="Rectangle 10"/>
          <p:cNvSpPr/>
          <p:nvPr/>
        </p:nvSpPr>
        <p:spPr>
          <a:xfrm>
            <a:off x="317525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Diagnostic</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Why did it happen?</a:t>
            </a:r>
          </a:p>
        </p:txBody>
      </p:sp>
      <p:sp>
        <p:nvSpPr>
          <p:cNvPr id="17" name="Rectangle 16"/>
          <p:cNvSpPr/>
          <p:nvPr/>
        </p:nvSpPr>
        <p:spPr>
          <a:xfrm>
            <a:off x="59481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Predictive</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What is likely next?</a:t>
            </a:r>
          </a:p>
        </p:txBody>
      </p:sp>
      <p:sp>
        <p:nvSpPr>
          <p:cNvPr id="23" name="Rectangle 22"/>
          <p:cNvSpPr/>
          <p:nvPr/>
        </p:nvSpPr>
        <p:spPr>
          <a:xfrm>
            <a:off x="872109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Prescriptive</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What should we do?</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Asking a prescriptive question of data you have not described yet produces confident nonsense.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CHART SELECTION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Choosing the Honest Chart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The question</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Chart type</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Why</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Trend over time</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Line</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Ordered time on a continuous axis</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Comparison across groups</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Bar or column</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Length is easy to compare</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Contribution to a total</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Stacked bar or sorted bar</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Shows the parts and the whole</a:t>
            </a:r>
          </a:p>
        </p:txBody>
      </p:sp>
      <p:sp>
        <p:nvSpPr>
          <p:cNvPr id="31" name="Rectangle 30"/>
          <p:cNvSpPr/>
          <p:nvPr/>
        </p:nvSpPr>
        <p:spPr>
          <a:xfrm>
            <a:off x="777240" y="3803904"/>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803904"/>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Relationship between two measures</a:t>
            </a:r>
          </a:p>
        </p:txBody>
      </p:sp>
      <p:sp>
        <p:nvSpPr>
          <p:cNvPr id="33" name="Rectangle 32"/>
          <p:cNvSpPr/>
          <p:nvPr/>
        </p:nvSpPr>
        <p:spPr>
          <a:xfrm>
            <a:off x="3542202"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Scatter</a:t>
            </a:r>
          </a:p>
        </p:txBody>
      </p:sp>
      <p:sp>
        <p:nvSpPr>
          <p:cNvPr id="35" name="Rectangle 34"/>
          <p:cNvSpPr/>
          <p:nvPr/>
        </p:nvSpPr>
        <p:spPr>
          <a:xfrm>
            <a:off x="7476957"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6685"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Shows correlation and outliers</a:t>
            </a:r>
          </a:p>
        </p:txBody>
      </p:sp>
      <p:sp>
        <p:nvSpPr>
          <p:cNvPr id="37" name="TextBox 36"/>
          <p:cNvSpPr txBox="1"/>
          <p:nvPr/>
        </p:nvSpPr>
        <p:spPr>
          <a:xfrm>
            <a:off x="777240" y="4507992"/>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The question chooses the chart. Preference does not.</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NEVER ACCEPT BLIND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Auditing a Generated Formula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Read the logic</a:t>
            </a:r>
          </a:p>
          <a:p>
            <a:pPr algn="l">
              <a:spcAft>
                <a:spcPts val="300"/>
              </a:spcAft>
            </a:pPr>
            <a:r>
              <a:rPr sz="1200" b="0">
                <a:solidFill>
                  <a:srgbClr val="5B6372"/>
                </a:solidFill>
                <a:latin typeface="Arial"/>
              </a:rPr>
              <a:t>Does it compute what you actually asked for?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Check the references</a:t>
            </a:r>
          </a:p>
          <a:p>
            <a:pPr algn="l">
              <a:spcAft>
                <a:spcPts val="300"/>
              </a:spcAft>
            </a:pPr>
            <a:r>
              <a:rPr sz="1200" b="0">
                <a:solidFill>
                  <a:srgbClr val="5B6372"/>
                </a:solidFill>
                <a:latin typeface="Arial"/>
              </a:rPr>
              <a:t>Right column, right table, absolute where needed.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Test the edge cases</a:t>
            </a:r>
          </a:p>
          <a:p>
            <a:pPr algn="l">
              <a:spcAft>
                <a:spcPts val="300"/>
              </a:spcAft>
            </a:pPr>
            <a:r>
              <a:rPr sz="1200" b="0">
                <a:solidFill>
                  <a:srgbClr val="5B6372"/>
                </a:solidFill>
                <a:latin typeface="Arial"/>
              </a:rPr>
              <a:t>Zero, blank, negative and text values.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Confirm the rounding</a:t>
            </a:r>
          </a:p>
          <a:p>
            <a:pPr algn="l">
              <a:spcAft>
                <a:spcPts val="300"/>
              </a:spcAft>
            </a:pPr>
            <a:r>
              <a:rPr sz="1200" b="0">
                <a:solidFill>
                  <a:srgbClr val="5B6372"/>
                </a:solidFill>
                <a:latin typeface="Arial"/>
              </a:rPr>
              <a:t>Rounding at the wrong step changes a total.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FORMULA DISCIPLINE</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A formula you did not check is a number you cannot defend.</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Copilot writes the formula in seconds. Auditing it is the part that makes it yours.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Revenue Grows While Margin Tightens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DECISION LENS</a:t>
            </a:r>
          </a:p>
        </p:txBody>
      </p:sp>
      <p:sp>
        <p:nvSpPr>
          <p:cNvPr id="11" name="TextBox 10"/>
          <p:cNvSpPr txBox="1"/>
          <p:nvPr/>
        </p:nvSpPr>
        <p:spPr>
          <a:xfrm>
            <a:off x="8778240" y="2560320"/>
            <a:ext cx="2377440" cy="1737360"/>
          </a:xfrm>
          <a:prstGeom prst="rect">
            <a:avLst/>
          </a:prstGeom>
          <a:noFill/>
        </p:spPr>
        <p:txBody>
          <a:bodyPr wrap="square" anchor="t">
            <a:spAutoFit/>
          </a:bodyPr>
          <a:lstStyle/>
          <a:p>
            <a:pPr algn="l">
              <a:spcAft>
                <a:spcPts val="400"/>
              </a:spcAft>
            </a:pPr>
            <a:r>
              <a:rPr sz="1300" b="0">
                <a:solidFill>
                  <a:srgbClr val="161B26"/>
                </a:solidFill>
                <a:latin typeface="Arial"/>
              </a:rPr>
              <a:t>Two series tell the real story: growth alone would have looked like success.</a:t>
            </a:r>
          </a:p>
        </p:txBody>
      </p:sp>
      <p:sp>
        <p:nvSpPr>
          <p:cNvPr id="12" name="Rectangle 11"/>
          <p:cNvSpPr/>
          <p:nvPr/>
        </p:nvSpPr>
        <p:spPr>
          <a:xfrm>
            <a:off x="8732520" y="434340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52628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526280"/>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507992"/>
            <a:ext cx="2011680" cy="777240"/>
          </a:xfrm>
          <a:prstGeom prst="rect">
            <a:avLst/>
          </a:prstGeom>
          <a:noFill/>
        </p:spPr>
        <p:txBody>
          <a:bodyPr wrap="square" anchor="t">
            <a:spAutoFit/>
          </a:bodyPr>
          <a:lstStyle/>
          <a:p>
            <a:pPr algn="l">
              <a:spcAft>
                <a:spcPts val="100"/>
              </a:spcAft>
            </a:pPr>
            <a:r>
              <a:rPr sz="1050" b="0">
                <a:solidFill>
                  <a:srgbClr val="5B6372"/>
                </a:solidFill>
                <a:latin typeface="Arial"/>
              </a:rPr>
              <a:t>Check the axis, the units</a:t>
            </a:r>
          </a:p>
          <a:p>
            <a:pPr algn="l">
              <a:spcAft>
                <a:spcPts val="100"/>
              </a:spcAft>
            </a:pPr>
            <a:r>
              <a:rPr sz="1050" b="0">
                <a:solidFill>
                  <a:srgbClr val="5B6372"/>
                </a:solidFill>
                <a:latin typeface="Arial"/>
              </a:rPr>
              <a:t>and the source before you act.</a:t>
            </a:r>
          </a:p>
        </p:txBody>
      </p:sp>
      <p:sp>
        <p:nvSpPr>
          <p:cNvPr id="16" name="Rectangle 15"/>
          <p:cNvSpPr/>
          <p:nvPr/>
        </p:nvSpPr>
        <p:spPr>
          <a:xfrm>
            <a:off x="8778240" y="5440680"/>
            <a:ext cx="2377440" cy="3840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440680"/>
            <a:ext cx="2194560" cy="384048"/>
          </a:xfrm>
          <a:prstGeom prst="rect">
            <a:avLst/>
          </a:prstGeom>
          <a:noFill/>
        </p:spPr>
        <p:txBody>
          <a:bodyPr wrap="square" anchor="ctr">
            <a:spAutoFit/>
          </a:bodyPr>
          <a:lstStyle/>
          <a:p>
            <a:pPr algn="l">
              <a:spcAft>
                <a:spcPts val="400"/>
              </a:spcAft>
            </a:pPr>
            <a:r>
              <a:rPr sz="900" b="0">
                <a:solidFill>
                  <a:srgbClr val="5B6372"/>
                </a:solidFill>
                <a:latin typeface="Arial"/>
              </a:rPr>
              <a:t>Native PowerPoint chart · editable data · verify source and units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DECISION RULE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Is This an Anomaly or a Signal?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331720"/>
            <a:ext cx="3017520" cy="210312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88920"/>
            <a:ext cx="2468880" cy="1188720"/>
          </a:xfrm>
          <a:prstGeom prst="rect">
            <a:avLst/>
          </a:prstGeom>
          <a:noFill/>
        </p:spPr>
        <p:txBody>
          <a:bodyPr wrap="square" anchor="ctr">
            <a:spAutoFit/>
          </a:bodyPr>
          <a:lstStyle/>
          <a:p>
            <a:pPr algn="ctr">
              <a:spcAft>
                <a:spcPts val="400"/>
              </a:spcAft>
            </a:pPr>
            <a:r>
              <a:rPr sz="1300" b="1">
                <a:solidFill>
                  <a:srgbClr val="FFFFFF"/>
                </a:solidFill>
                <a:latin typeface="Arial"/>
              </a:rPr>
              <a:t>Can the spike be explained by a known event?</a:t>
            </a:r>
          </a:p>
        </p:txBody>
      </p:sp>
      <p:sp>
        <p:nvSpPr>
          <p:cNvPr id="9" name="Rectangle 8"/>
          <p:cNvSpPr/>
          <p:nvPr/>
        </p:nvSpPr>
        <p:spPr>
          <a:xfrm>
            <a:off x="3931920" y="2761488"/>
            <a:ext cx="3200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251960" y="2732227"/>
            <a:ext cx="182880" cy="113385"/>
          </a:xfrm>
          <a:custGeom>
            <a:avLst/>
            <a:gdLst/>
            <a:ahLst/>
            <a:cxnLst/>
            <a:rect l="l" t="t" r="r" b="b"/>
            <a:pathLst>
              <a:path w="182880" h="113385">
                <a:moveTo>
                  <a:pt x="0" y="0"/>
                </a:moveTo>
                <a:lnTo>
                  <a:pt x="182880" y="56693"/>
                </a:lnTo>
                <a:lnTo>
                  <a:pt x="0" y="113385"/>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96596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965960"/>
            <a:ext cx="91440" cy="1920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112264"/>
            <a:ext cx="6400800" cy="365760"/>
          </a:xfrm>
          <a:prstGeom prst="rect">
            <a:avLst/>
          </a:prstGeom>
          <a:noFill/>
        </p:spPr>
        <p:txBody>
          <a:bodyPr wrap="square" anchor="t">
            <a:spAutoFit/>
          </a:bodyPr>
          <a:lstStyle/>
          <a:p>
            <a:pPr algn="l">
              <a:spcAft>
                <a:spcPts val="400"/>
              </a:spcAft>
            </a:pPr>
            <a:r>
              <a:rPr sz="1300" b="1">
                <a:solidFill>
                  <a:srgbClr val="10B981"/>
                </a:solidFill>
                <a:latin typeface="Arial"/>
              </a:rPr>
              <a:t>YES</a:t>
            </a:r>
          </a:p>
        </p:txBody>
      </p:sp>
      <p:sp>
        <p:nvSpPr>
          <p:cNvPr id="14" name="TextBox 13"/>
          <p:cNvSpPr txBox="1"/>
          <p:nvPr/>
        </p:nvSpPr>
        <p:spPr>
          <a:xfrm>
            <a:off x="4828032" y="2514600"/>
            <a:ext cx="6400800" cy="1280160"/>
          </a:xfrm>
          <a:prstGeom prst="rect">
            <a:avLst/>
          </a:prstGeom>
          <a:noFill/>
        </p:spPr>
        <p:txBody>
          <a:bodyPr wrap="square">
            <a:spAutoFit/>
          </a:bodyPr>
          <a:lstStyle/>
          <a:p>
            <a:pPr>
              <a:spcAft>
                <a:spcPts val="600"/>
              </a:spcAft>
            </a:pPr>
            <a:r>
              <a:rPr sz="1300">
                <a:solidFill>
                  <a:srgbClr val="161B26"/>
                </a:solidFill>
                <a:latin typeface="Arial"/>
              </a:rPr>
              <a:t>•  Annotate it and keep it in the analysis</a:t>
            </a:r>
          </a:p>
          <a:p>
            <a:pPr>
              <a:spcAft>
                <a:spcPts val="600"/>
              </a:spcAft>
            </a:pPr>
            <a:r>
              <a:rPr sz="1300">
                <a:solidFill>
                  <a:srgbClr val="161B26"/>
                </a:solidFill>
                <a:latin typeface="Arial"/>
              </a:rPr>
              <a:t>•  Record the explanation as evidence</a:t>
            </a:r>
          </a:p>
        </p:txBody>
      </p:sp>
      <p:sp>
        <p:nvSpPr>
          <p:cNvPr id="15" name="Rectangle 14"/>
          <p:cNvSpPr/>
          <p:nvPr/>
        </p:nvSpPr>
        <p:spPr>
          <a:xfrm>
            <a:off x="3931920" y="5001768"/>
            <a:ext cx="3200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251960" y="4972507"/>
            <a:ext cx="182880" cy="113385"/>
          </a:xfrm>
          <a:custGeom>
            <a:avLst/>
            <a:gdLst/>
            <a:ahLst/>
            <a:cxnLst/>
            <a:rect l="l" t="t" r="r" b="b"/>
            <a:pathLst>
              <a:path w="182880" h="113385">
                <a:moveTo>
                  <a:pt x="0" y="0"/>
                </a:moveTo>
                <a:lnTo>
                  <a:pt x="182880" y="56693"/>
                </a:lnTo>
                <a:lnTo>
                  <a:pt x="0" y="113385"/>
                </a:lnTo>
                <a:close/>
              </a:path>
            </a:pathLst>
          </a:cu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420624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4206240"/>
            <a:ext cx="91440" cy="1920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4352544"/>
            <a:ext cx="6400800" cy="365760"/>
          </a:xfrm>
          <a:prstGeom prst="rect">
            <a:avLst/>
          </a:prstGeom>
          <a:noFill/>
        </p:spPr>
        <p:txBody>
          <a:bodyPr wrap="square" anchor="t">
            <a:spAutoFit/>
          </a:bodyPr>
          <a:lstStyle/>
          <a:p>
            <a:pPr algn="l">
              <a:spcAft>
                <a:spcPts val="400"/>
              </a:spcAft>
            </a:pPr>
            <a:r>
              <a:rPr sz="1300" b="1">
                <a:solidFill>
                  <a:srgbClr val="F59E0B"/>
                </a:solidFill>
                <a:latin typeface="Arial"/>
              </a:rPr>
              <a:t>NO</a:t>
            </a:r>
          </a:p>
        </p:txBody>
      </p:sp>
      <p:sp>
        <p:nvSpPr>
          <p:cNvPr id="20" name="TextBox 19"/>
          <p:cNvSpPr txBox="1"/>
          <p:nvPr/>
        </p:nvSpPr>
        <p:spPr>
          <a:xfrm>
            <a:off x="4828032" y="4754880"/>
            <a:ext cx="6400800" cy="1280160"/>
          </a:xfrm>
          <a:prstGeom prst="rect">
            <a:avLst/>
          </a:prstGeom>
          <a:noFill/>
        </p:spPr>
        <p:txBody>
          <a:bodyPr wrap="square">
            <a:spAutoFit/>
          </a:bodyPr>
          <a:lstStyle/>
          <a:p>
            <a:pPr>
              <a:spcAft>
                <a:spcPts val="600"/>
              </a:spcAft>
            </a:pPr>
            <a:r>
              <a:rPr sz="1300">
                <a:solidFill>
                  <a:srgbClr val="161B26"/>
                </a:solidFill>
                <a:latin typeface="Arial"/>
              </a:rPr>
              <a:t>•  Log it in the anomaly register</a:t>
            </a:r>
          </a:p>
          <a:p>
            <a:pPr>
              <a:spcAft>
                <a:spcPts val="600"/>
              </a:spcAft>
            </a:pPr>
            <a:r>
              <a:rPr sz="1300">
                <a:solidFill>
                  <a:srgbClr val="161B26"/>
                </a:solidFill>
                <a:latin typeface="Arial"/>
              </a:rPr>
              <a:t>•  Investigate before it drives a decision</a:t>
            </a:r>
          </a:p>
        </p:txBody>
      </p:sp>
      <p:sp>
        <p:nvSpPr>
          <p:cNvPr id="21" name="TextBox 20"/>
          <p:cNvSpPr txBox="1"/>
          <p:nvPr/>
        </p:nvSpPr>
        <p:spPr>
          <a:xfrm>
            <a:off x="777240" y="5989320"/>
            <a:ext cx="10607040" cy="457200"/>
          </a:xfrm>
          <a:prstGeom prst="rect">
            <a:avLst/>
          </a:prstGeom>
          <a:noFill/>
        </p:spPr>
        <p:txBody>
          <a:bodyPr wrap="square" anchor="t">
            <a:spAutoFit/>
          </a:bodyPr>
          <a:lstStyle/>
          <a:p>
            <a:pPr algn="l">
              <a:spcAft>
                <a:spcPts val="400"/>
              </a:spcAft>
            </a:pPr>
            <a:r>
              <a:rPr sz="1100" b="1">
                <a:solidFill>
                  <a:srgbClr val="7C3AED"/>
                </a:solidFill>
                <a:latin typeface="Arial"/>
              </a:rPr>
              <a:t>RULE   </a:t>
            </a:r>
            <a:r>
              <a:rPr sz="1300" b="0">
                <a:solidFill>
                  <a:srgbClr val="161B26"/>
                </a:solidFill>
                <a:latin typeface="Arial"/>
              </a:rPr>
              <a:t>An unexplained outlier is a question, not a data-entry error to be quietly deleted.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the Revenue Gap Sits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DECISION LENS</a:t>
            </a:r>
          </a:p>
        </p:txBody>
      </p:sp>
      <p:sp>
        <p:nvSpPr>
          <p:cNvPr id="11" name="TextBox 10"/>
          <p:cNvSpPr txBox="1"/>
          <p:nvPr/>
        </p:nvSpPr>
        <p:spPr>
          <a:xfrm>
            <a:off x="8778240" y="2560320"/>
            <a:ext cx="2377440" cy="1737360"/>
          </a:xfrm>
          <a:prstGeom prst="rect">
            <a:avLst/>
          </a:prstGeom>
          <a:noFill/>
        </p:spPr>
        <p:txBody>
          <a:bodyPr wrap="square" anchor="t">
            <a:spAutoFit/>
          </a:bodyPr>
          <a:lstStyle/>
          <a:p>
            <a:pPr algn="l">
              <a:spcAft>
                <a:spcPts val="400"/>
              </a:spcAft>
            </a:pPr>
            <a:r>
              <a:rPr sz="1300" b="0">
                <a:solidFill>
                  <a:srgbClr val="161B26"/>
                </a:solidFill>
                <a:latin typeface="Arial"/>
              </a:rPr>
              <a:t>Two regions carry the shortfall. The average concealed both of them.</a:t>
            </a:r>
          </a:p>
        </p:txBody>
      </p:sp>
      <p:sp>
        <p:nvSpPr>
          <p:cNvPr id="12" name="Rectangle 11"/>
          <p:cNvSpPr/>
          <p:nvPr/>
        </p:nvSpPr>
        <p:spPr>
          <a:xfrm>
            <a:off x="8732520" y="434340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52628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526280"/>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507992"/>
            <a:ext cx="2011680" cy="777240"/>
          </a:xfrm>
          <a:prstGeom prst="rect">
            <a:avLst/>
          </a:prstGeom>
          <a:noFill/>
        </p:spPr>
        <p:txBody>
          <a:bodyPr wrap="square" anchor="t">
            <a:spAutoFit/>
          </a:bodyPr>
          <a:lstStyle/>
          <a:p>
            <a:pPr algn="l">
              <a:spcAft>
                <a:spcPts val="100"/>
              </a:spcAft>
            </a:pPr>
            <a:r>
              <a:rPr sz="1050" b="0">
                <a:solidFill>
                  <a:srgbClr val="5B6372"/>
                </a:solidFill>
                <a:latin typeface="Arial"/>
              </a:rPr>
              <a:t>Check the axis, the units</a:t>
            </a:r>
          </a:p>
          <a:p>
            <a:pPr algn="l">
              <a:spcAft>
                <a:spcPts val="100"/>
              </a:spcAft>
            </a:pPr>
            <a:r>
              <a:rPr sz="1050" b="0">
                <a:solidFill>
                  <a:srgbClr val="5B6372"/>
                </a:solidFill>
                <a:latin typeface="Arial"/>
              </a:rPr>
              <a:t>and the source before you act.</a:t>
            </a:r>
          </a:p>
        </p:txBody>
      </p:sp>
      <p:sp>
        <p:nvSpPr>
          <p:cNvPr id="16" name="Rectangle 15"/>
          <p:cNvSpPr/>
          <p:nvPr/>
        </p:nvSpPr>
        <p:spPr>
          <a:xfrm>
            <a:off x="8778240" y="5440680"/>
            <a:ext cx="2377440" cy="3840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440680"/>
            <a:ext cx="2194560" cy="384048"/>
          </a:xfrm>
          <a:prstGeom prst="rect">
            <a:avLst/>
          </a:prstGeom>
          <a:noFill/>
        </p:spPr>
        <p:txBody>
          <a:bodyPr wrap="square" anchor="ctr">
            <a:spAutoFit/>
          </a:bodyPr>
          <a:lstStyle/>
          <a:p>
            <a:pPr algn="l">
              <a:spcAft>
                <a:spcPts val="400"/>
              </a:spcAft>
            </a:pPr>
            <a:r>
              <a:rPr sz="900" b="0">
                <a:solidFill>
                  <a:srgbClr val="5B6372"/>
                </a:solidFill>
                <a:latin typeface="Arial"/>
              </a:rPr>
              <a:t>Native PowerPoint chart · editable data · verify source and units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BASE, DOWNSIDE, UPSIDE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Scenario Modelling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Assumptions live in one place</a:t>
            </a:r>
          </a:p>
          <a:p>
            <a:pPr algn="l">
              <a:spcAft>
                <a:spcPts val="300"/>
              </a:spcAft>
            </a:pPr>
            <a:r>
              <a:rPr sz="1200" b="0">
                <a:solidFill>
                  <a:srgbClr val="5B6372"/>
                </a:solidFill>
                <a:latin typeface="Arial"/>
              </a:rPr>
              <a:t>Every driver is a labelled cell, never a typed constant.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Formulas reference assumptions</a:t>
            </a:r>
          </a:p>
          <a:p>
            <a:pPr algn="l">
              <a:spcAft>
                <a:spcPts val="300"/>
              </a:spcAft>
            </a:pPr>
            <a:r>
              <a:rPr sz="1200" b="0">
                <a:solidFill>
                  <a:srgbClr val="5B6372"/>
                </a:solidFill>
                <a:latin typeface="Arial"/>
              </a:rPr>
              <a:t>Changing a scenario changes cells, not formulas.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Scenarios differ only by inputs</a:t>
            </a:r>
          </a:p>
          <a:p>
            <a:pPr algn="l">
              <a:spcAft>
                <a:spcPts val="300"/>
              </a:spcAft>
            </a:pPr>
            <a:r>
              <a:rPr sz="1200" b="0">
                <a:solidFill>
                  <a:srgbClr val="5B6372"/>
                </a:solidFill>
                <a:latin typeface="Arial"/>
              </a:rPr>
              <a:t>If a scenario needs new logic, the model is wrong.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State the limits</a:t>
            </a:r>
          </a:p>
          <a:p>
            <a:pPr algn="l">
              <a:spcAft>
                <a:spcPts val="300"/>
              </a:spcAft>
            </a:pPr>
            <a:r>
              <a:rPr sz="1200" b="0">
                <a:solidFill>
                  <a:srgbClr val="5B6372"/>
                </a:solidFill>
                <a:latin typeface="Arial"/>
              </a:rPr>
              <a:t>Say when the forecast stops being valid.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Forecast Range, Not a Single Number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DECISION LENS</a:t>
            </a:r>
          </a:p>
        </p:txBody>
      </p:sp>
      <p:sp>
        <p:nvSpPr>
          <p:cNvPr id="11" name="TextBox 10"/>
          <p:cNvSpPr txBox="1"/>
          <p:nvPr/>
        </p:nvSpPr>
        <p:spPr>
          <a:xfrm>
            <a:off x="8778240" y="2560320"/>
            <a:ext cx="2377440" cy="1737360"/>
          </a:xfrm>
          <a:prstGeom prst="rect">
            <a:avLst/>
          </a:prstGeom>
          <a:noFill/>
        </p:spPr>
        <p:txBody>
          <a:bodyPr wrap="square" anchor="t">
            <a:spAutoFit/>
          </a:bodyPr>
          <a:lstStyle/>
          <a:p>
            <a:pPr algn="l">
              <a:spcAft>
                <a:spcPts val="400"/>
              </a:spcAft>
            </a:pPr>
            <a:r>
              <a:rPr sz="1300" b="0">
                <a:solidFill>
                  <a:srgbClr val="161B26"/>
                </a:solidFill>
                <a:latin typeface="Arial"/>
              </a:rPr>
              <a:t>Presenting one line implies a precision the model does not have.</a:t>
            </a:r>
          </a:p>
        </p:txBody>
      </p:sp>
      <p:sp>
        <p:nvSpPr>
          <p:cNvPr id="12" name="Rectangle 11"/>
          <p:cNvSpPr/>
          <p:nvPr/>
        </p:nvSpPr>
        <p:spPr>
          <a:xfrm>
            <a:off x="8732520" y="434340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52628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526280"/>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507992"/>
            <a:ext cx="2011680" cy="777240"/>
          </a:xfrm>
          <a:prstGeom prst="rect">
            <a:avLst/>
          </a:prstGeom>
          <a:noFill/>
        </p:spPr>
        <p:txBody>
          <a:bodyPr wrap="square" anchor="t">
            <a:spAutoFit/>
          </a:bodyPr>
          <a:lstStyle/>
          <a:p>
            <a:pPr algn="l">
              <a:spcAft>
                <a:spcPts val="100"/>
              </a:spcAft>
            </a:pPr>
            <a:r>
              <a:rPr sz="1050" b="0">
                <a:solidFill>
                  <a:srgbClr val="5B6372"/>
                </a:solidFill>
                <a:latin typeface="Arial"/>
              </a:rPr>
              <a:t>Check the axis, the units</a:t>
            </a:r>
          </a:p>
          <a:p>
            <a:pPr algn="l">
              <a:spcAft>
                <a:spcPts val="100"/>
              </a:spcAft>
            </a:pPr>
            <a:r>
              <a:rPr sz="1050" b="0">
                <a:solidFill>
                  <a:srgbClr val="5B6372"/>
                </a:solidFill>
                <a:latin typeface="Arial"/>
              </a:rPr>
              <a:t>and the source before you act.</a:t>
            </a:r>
          </a:p>
        </p:txBody>
      </p:sp>
      <p:sp>
        <p:nvSpPr>
          <p:cNvPr id="16" name="Rectangle 15"/>
          <p:cNvSpPr/>
          <p:nvPr/>
        </p:nvSpPr>
        <p:spPr>
          <a:xfrm>
            <a:off x="8778240" y="5440680"/>
            <a:ext cx="2377440" cy="3840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440680"/>
            <a:ext cx="2194560" cy="384048"/>
          </a:xfrm>
          <a:prstGeom prst="rect">
            <a:avLst/>
          </a:prstGeom>
          <a:noFill/>
        </p:spPr>
        <p:txBody>
          <a:bodyPr wrap="square" anchor="ctr">
            <a:spAutoFit/>
          </a:bodyPr>
          <a:lstStyle/>
          <a:p>
            <a:pPr algn="l">
              <a:spcAft>
                <a:spcPts val="400"/>
              </a:spcAft>
            </a:pPr>
            <a:r>
              <a:rPr sz="900" b="0">
                <a:solidFill>
                  <a:srgbClr val="5B6372"/>
                </a:solidFill>
                <a:latin typeface="Arial"/>
              </a:rPr>
              <a:t>Native PowerPoint chart · editable data · verify source and units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TRIAGE TO SEND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Outlook Communication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Triage</a:t>
            </a:r>
          </a:p>
        </p:txBody>
      </p:sp>
      <p:sp>
        <p:nvSpPr>
          <p:cNvPr id="10" name="TextBox 9"/>
          <p:cNvSpPr txBox="1"/>
          <p:nvPr/>
        </p:nvSpPr>
        <p:spPr>
          <a:xfrm>
            <a:off x="905256"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Classify what needs action</a:t>
            </a:r>
          </a:p>
        </p:txBody>
      </p:sp>
      <p:sp>
        <p:nvSpPr>
          <p:cNvPr id="11" name="Rectangle 10"/>
          <p:cNvSpPr/>
          <p:nvPr/>
        </p:nvSpPr>
        <p:spPr>
          <a:xfrm>
            <a:off x="262067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73771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95574"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95574"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23590"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Understand</a:t>
            </a:r>
          </a:p>
        </p:txBody>
      </p:sp>
      <p:sp>
        <p:nvSpPr>
          <p:cNvPr id="16" name="TextBox 15"/>
          <p:cNvSpPr txBox="1"/>
          <p:nvPr/>
        </p:nvSpPr>
        <p:spPr>
          <a:xfrm>
            <a:off x="3123590"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Summarise the thread</a:t>
            </a:r>
          </a:p>
        </p:txBody>
      </p:sp>
      <p:sp>
        <p:nvSpPr>
          <p:cNvPr id="17" name="Rectangle 16"/>
          <p:cNvSpPr/>
          <p:nvPr/>
        </p:nvSpPr>
        <p:spPr>
          <a:xfrm>
            <a:off x="483900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495604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13908"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3908"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1924"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5341924"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Check the summary against the messages</a:t>
            </a:r>
          </a:p>
        </p:txBody>
      </p:sp>
      <p:sp>
        <p:nvSpPr>
          <p:cNvPr id="23" name="Rectangle 22"/>
          <p:cNvSpPr/>
          <p:nvPr/>
        </p:nvSpPr>
        <p:spPr>
          <a:xfrm>
            <a:off x="7057338"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7174382"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32242"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32242"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60258"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Draft</a:t>
            </a:r>
          </a:p>
        </p:txBody>
      </p:sp>
      <p:sp>
        <p:nvSpPr>
          <p:cNvPr id="28" name="TextBox 27"/>
          <p:cNvSpPr txBox="1"/>
          <p:nvPr/>
        </p:nvSpPr>
        <p:spPr>
          <a:xfrm>
            <a:off x="7560258"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Copilot proposes a reply</a:t>
            </a:r>
          </a:p>
        </p:txBody>
      </p:sp>
      <p:sp>
        <p:nvSpPr>
          <p:cNvPr id="29" name="Rectangle 28"/>
          <p:cNvSpPr/>
          <p:nvPr/>
        </p:nvSpPr>
        <p:spPr>
          <a:xfrm>
            <a:off x="92756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93927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50576"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50576"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78592"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Approve and send</a:t>
            </a:r>
          </a:p>
        </p:txBody>
      </p:sp>
      <p:sp>
        <p:nvSpPr>
          <p:cNvPr id="34" name="TextBox 33"/>
          <p:cNvSpPr txBox="1"/>
          <p:nvPr/>
        </p:nvSpPr>
        <p:spPr>
          <a:xfrm>
            <a:off x="9778592"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A person checks and sends</a:t>
            </a:r>
          </a:p>
        </p:txBody>
      </p:sp>
      <p:sp>
        <p:nvSpPr>
          <p:cNvPr id="35" name="Rectangle 34"/>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The send button is the control. Copilot never presses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READING A LONG THREAD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a Thread Summary Must Separate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Decisions made</a:t>
            </a:r>
          </a:p>
          <a:p>
            <a:pPr algn="l">
              <a:spcAft>
                <a:spcPts val="300"/>
              </a:spcAft>
            </a:pPr>
            <a:r>
              <a:rPr sz="1200" b="0">
                <a:solidFill>
                  <a:srgbClr val="5B6372"/>
                </a:solidFill>
                <a:latin typeface="Arial"/>
              </a:rPr>
              <a:t>What was actually agreed, and by whom.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Open questions</a:t>
            </a:r>
          </a:p>
          <a:p>
            <a:pPr algn="l">
              <a:spcAft>
                <a:spcPts val="300"/>
              </a:spcAft>
            </a:pPr>
            <a:r>
              <a:rPr sz="1200" b="0">
                <a:solidFill>
                  <a:srgbClr val="5B6372"/>
                </a:solidFill>
                <a:latin typeface="Arial"/>
              </a:rPr>
              <a:t>What is still unresolved.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Actions and owners</a:t>
            </a:r>
          </a:p>
          <a:p>
            <a:pPr algn="l">
              <a:spcAft>
                <a:spcPts val="300"/>
              </a:spcAft>
            </a:pPr>
            <a:r>
              <a:rPr sz="1200" b="0">
                <a:solidFill>
                  <a:srgbClr val="5B6372"/>
                </a:solidFill>
                <a:latin typeface="Arial"/>
              </a:rPr>
              <a:t>Who committed to what, and by when.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Contradictions</a:t>
            </a:r>
          </a:p>
          <a:p>
            <a:pPr algn="l">
              <a:spcAft>
                <a:spcPts val="300"/>
              </a:spcAft>
            </a:pPr>
            <a:r>
              <a:rPr sz="1200" b="0">
                <a:solidFill>
                  <a:srgbClr val="5B6372"/>
                </a:solidFill>
                <a:latin typeface="Arial"/>
              </a:rPr>
              <a:t>Where two messages disagree — surface it, do not resolve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VERIFY BEFORE YOU ACT</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A plausible summary is not a correct summary.</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The check is not whether it reads well. It is whether each stated decision appears in the thread.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ANYTHING LEAVES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Human-Send Gate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Recipients</a:t>
            </a:r>
          </a:p>
          <a:p>
            <a:pPr algn="l">
              <a:spcAft>
                <a:spcPts val="300"/>
              </a:spcAft>
            </a:pPr>
            <a:r>
              <a:rPr sz="1200" b="0">
                <a:solidFill>
                  <a:srgbClr val="5B6372"/>
                </a:solidFill>
                <a:latin typeface="Arial"/>
              </a:rPr>
              <a:t>Check the To and Cc lines — especially on a reply-all.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Facts</a:t>
            </a:r>
          </a:p>
          <a:p>
            <a:pPr algn="l">
              <a:spcAft>
                <a:spcPts val="300"/>
              </a:spcAft>
            </a:pPr>
            <a:r>
              <a:rPr sz="1200" b="0">
                <a:solidFill>
                  <a:srgbClr val="5B6372"/>
                </a:solidFill>
                <a:latin typeface="Arial"/>
              </a:rPr>
              <a:t>Every claim in the reply is one you can support.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Attachments</a:t>
            </a:r>
          </a:p>
          <a:p>
            <a:pPr algn="l">
              <a:spcAft>
                <a:spcPts val="300"/>
              </a:spcAft>
            </a:pPr>
            <a:r>
              <a:rPr sz="1200" b="0">
                <a:solidFill>
                  <a:srgbClr val="5B6372"/>
                </a:solidFill>
                <a:latin typeface="Arial"/>
              </a:rPr>
              <a:t>The right file, and only the right file.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Tone</a:t>
            </a:r>
          </a:p>
          <a:p>
            <a:pPr algn="l">
              <a:spcAft>
                <a:spcPts val="300"/>
              </a:spcAft>
            </a:pPr>
            <a:r>
              <a:rPr sz="1200" b="0">
                <a:solidFill>
                  <a:srgbClr val="5B6372"/>
                </a:solidFill>
                <a:latin typeface="Arial"/>
              </a:rPr>
              <a:t>Appropriate for the actual relationship, not the average one.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6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100" b="1">
                <a:solidFill>
                  <a:srgbClr val="F59E0B"/>
                </a:solidFill>
                <a:latin typeface="Arial"/>
              </a:rPr>
              <a:t>10 minutes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CLEAN FIRST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Common Data Problems Copilot Cannot Fix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Merged cells</a:t>
            </a:r>
          </a:p>
          <a:p>
            <a:pPr algn="l">
              <a:spcAft>
                <a:spcPts val="300"/>
              </a:spcAft>
            </a:pPr>
            <a:r>
              <a:rPr sz="1200" b="0">
                <a:solidFill>
                  <a:srgbClr val="5B6372"/>
                </a:solidFill>
                <a:latin typeface="Arial"/>
              </a:rPr>
              <a:t>They break the one-record-per-row rule that analysis depends 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Mixed types</a:t>
            </a:r>
          </a:p>
          <a:p>
            <a:pPr algn="l">
              <a:spcAft>
                <a:spcPts val="300"/>
              </a:spcAft>
            </a:pPr>
            <a:r>
              <a:rPr sz="1200" b="0">
                <a:solidFill>
                  <a:srgbClr val="5B6372"/>
                </a:solidFill>
                <a:latin typeface="Arial"/>
              </a:rPr>
              <a:t>Text like 'n/a' in a number column silently breaks aggregation.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Repeated headers</a:t>
            </a:r>
          </a:p>
          <a:p>
            <a:pPr algn="l">
              <a:spcAft>
                <a:spcPts val="300"/>
              </a:spcAft>
            </a:pPr>
            <a:r>
              <a:rPr sz="1200" b="0">
                <a:solidFill>
                  <a:srgbClr val="5B6372"/>
                </a:solidFill>
                <a:latin typeface="Arial"/>
              </a:rPr>
              <a:t>A header in the middle of the data becomes a phantom record.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Hidden totals</a:t>
            </a:r>
          </a:p>
          <a:p>
            <a:pPr algn="l">
              <a:spcAft>
                <a:spcPts val="300"/>
              </a:spcAft>
            </a:pPr>
            <a:r>
              <a:rPr sz="1200" b="0">
                <a:solidFill>
                  <a:srgbClr val="5B6372"/>
                </a:solidFill>
                <a:latin typeface="Arial"/>
              </a:rPr>
              <a:t>A total row inside the data gets counted as another record.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QUESTION TYPES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Descriptive, Diagnostic, Predictive, Prescriptive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The question</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What it needs</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Descriptive</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What happened?</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Clean, complete data</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Diagnostic</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Why did it happen?</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Segmentation and comparison</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Predictive</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What is likely next?</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History plus stated assumptions</a:t>
            </a:r>
          </a:p>
        </p:txBody>
      </p:sp>
      <p:sp>
        <p:nvSpPr>
          <p:cNvPr id="31" name="Rectangle 30"/>
          <p:cNvSpPr/>
          <p:nvPr/>
        </p:nvSpPr>
        <p:spPr>
          <a:xfrm>
            <a:off x="777240" y="3803904"/>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803904"/>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Prescriptive</a:t>
            </a:r>
          </a:p>
        </p:txBody>
      </p:sp>
      <p:sp>
        <p:nvSpPr>
          <p:cNvPr id="33" name="Rectangle 32"/>
          <p:cNvSpPr/>
          <p:nvPr/>
        </p:nvSpPr>
        <p:spPr>
          <a:xfrm>
            <a:off x="3542202"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What should we do?</a:t>
            </a:r>
          </a:p>
        </p:txBody>
      </p:sp>
      <p:sp>
        <p:nvSpPr>
          <p:cNvPr id="35" name="Rectangle 34"/>
          <p:cNvSpPr/>
          <p:nvPr/>
        </p:nvSpPr>
        <p:spPr>
          <a:xfrm>
            <a:off x="7476957"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6685"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All of the above plus a decision rule</a:t>
            </a:r>
          </a:p>
        </p:txBody>
      </p:sp>
      <p:sp>
        <p:nvSpPr>
          <p:cNvPr id="37" name="TextBox 36"/>
          <p:cNvSpPr txBox="1"/>
          <p:nvPr/>
        </p:nvSpPr>
        <p:spPr>
          <a:xfrm>
            <a:off x="777240" y="4507992"/>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Each level depends on the one before it being sound.</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EXCEL TABLES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Structured References and Why They Matter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They name the column</a:t>
            </a:r>
          </a:p>
          <a:p>
            <a:pPr algn="l">
              <a:spcAft>
                <a:spcPts val="300"/>
              </a:spcAft>
            </a:pPr>
            <a:r>
              <a:rPr sz="1200" b="0">
                <a:solidFill>
                  <a:srgbClr val="5B6372"/>
                </a:solidFill>
                <a:latin typeface="Arial"/>
              </a:rPr>
              <a:t>A formula reads as a sentence, not a grid coordinate.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They survive edits</a:t>
            </a:r>
          </a:p>
          <a:p>
            <a:pPr algn="l">
              <a:spcAft>
                <a:spcPts val="300"/>
              </a:spcAft>
            </a:pPr>
            <a:r>
              <a:rPr sz="1200" b="0">
                <a:solidFill>
                  <a:srgbClr val="5B6372"/>
                </a:solidFill>
                <a:latin typeface="Arial"/>
              </a:rPr>
              <a:t>Inserting a row does not silently break the range.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They auto-fill</a:t>
            </a:r>
          </a:p>
          <a:p>
            <a:pPr algn="l">
              <a:spcAft>
                <a:spcPts val="300"/>
              </a:spcAft>
            </a:pPr>
            <a:r>
              <a:rPr sz="1200" b="0">
                <a:solidFill>
                  <a:srgbClr val="5B6372"/>
                </a:solidFill>
                <a:latin typeface="Arial"/>
              </a:rPr>
              <a:t>A new record inherits the derived columns.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Copilot reads them better</a:t>
            </a:r>
          </a:p>
          <a:p>
            <a:pPr algn="l">
              <a:spcAft>
                <a:spcPts val="300"/>
              </a:spcAft>
            </a:pPr>
            <a:r>
              <a:rPr sz="1200" b="0">
                <a:solidFill>
                  <a:srgbClr val="5B6372"/>
                </a:solidFill>
                <a:latin typeface="Arial"/>
              </a:rPr>
              <a:t>A named table is unambiguous; a loose range is not.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DECISION RULE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Should I Accept This Suggested Formula?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331720"/>
            <a:ext cx="3017520" cy="210312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88920"/>
            <a:ext cx="2468880" cy="1188720"/>
          </a:xfrm>
          <a:prstGeom prst="rect">
            <a:avLst/>
          </a:prstGeom>
          <a:noFill/>
        </p:spPr>
        <p:txBody>
          <a:bodyPr wrap="square" anchor="ctr">
            <a:spAutoFit/>
          </a:bodyPr>
          <a:lstStyle/>
          <a:p>
            <a:pPr algn="ctr">
              <a:spcAft>
                <a:spcPts val="400"/>
              </a:spcAft>
            </a:pPr>
            <a:r>
              <a:rPr sz="1300" b="1">
                <a:solidFill>
                  <a:srgbClr val="FFFFFF"/>
                </a:solidFill>
                <a:latin typeface="Arial"/>
              </a:rPr>
              <a:t>Can you explain what every part of it does?</a:t>
            </a:r>
          </a:p>
        </p:txBody>
      </p:sp>
      <p:sp>
        <p:nvSpPr>
          <p:cNvPr id="9" name="Rectangle 8"/>
          <p:cNvSpPr/>
          <p:nvPr/>
        </p:nvSpPr>
        <p:spPr>
          <a:xfrm>
            <a:off x="3931920" y="2761488"/>
            <a:ext cx="3200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251960" y="2732227"/>
            <a:ext cx="182880" cy="113385"/>
          </a:xfrm>
          <a:custGeom>
            <a:avLst/>
            <a:gdLst/>
            <a:ahLst/>
            <a:cxnLst/>
            <a:rect l="l" t="t" r="r" b="b"/>
            <a:pathLst>
              <a:path w="182880" h="113385">
                <a:moveTo>
                  <a:pt x="0" y="0"/>
                </a:moveTo>
                <a:lnTo>
                  <a:pt x="182880" y="56693"/>
                </a:lnTo>
                <a:lnTo>
                  <a:pt x="0" y="113385"/>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96596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965960"/>
            <a:ext cx="91440" cy="1920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112264"/>
            <a:ext cx="6400800" cy="365760"/>
          </a:xfrm>
          <a:prstGeom prst="rect">
            <a:avLst/>
          </a:prstGeom>
          <a:noFill/>
        </p:spPr>
        <p:txBody>
          <a:bodyPr wrap="square" anchor="t">
            <a:spAutoFit/>
          </a:bodyPr>
          <a:lstStyle/>
          <a:p>
            <a:pPr algn="l">
              <a:spcAft>
                <a:spcPts val="400"/>
              </a:spcAft>
            </a:pPr>
            <a:r>
              <a:rPr sz="1300" b="1">
                <a:solidFill>
                  <a:srgbClr val="10B981"/>
                </a:solidFill>
                <a:latin typeface="Arial"/>
              </a:rPr>
              <a:t>YES</a:t>
            </a:r>
          </a:p>
        </p:txBody>
      </p:sp>
      <p:sp>
        <p:nvSpPr>
          <p:cNvPr id="14" name="TextBox 13"/>
          <p:cNvSpPr txBox="1"/>
          <p:nvPr/>
        </p:nvSpPr>
        <p:spPr>
          <a:xfrm>
            <a:off x="4828032" y="2514600"/>
            <a:ext cx="6400800" cy="1280160"/>
          </a:xfrm>
          <a:prstGeom prst="rect">
            <a:avLst/>
          </a:prstGeom>
          <a:noFill/>
        </p:spPr>
        <p:txBody>
          <a:bodyPr wrap="square">
            <a:spAutoFit/>
          </a:bodyPr>
          <a:lstStyle/>
          <a:p>
            <a:pPr>
              <a:spcAft>
                <a:spcPts val="600"/>
              </a:spcAft>
            </a:pPr>
            <a:r>
              <a:rPr sz="1300">
                <a:solidFill>
                  <a:srgbClr val="161B26"/>
                </a:solidFill>
                <a:latin typeface="Arial"/>
              </a:rPr>
              <a:t>•  Accept it, and record it in the formula audit</a:t>
            </a:r>
          </a:p>
          <a:p>
            <a:pPr>
              <a:spcAft>
                <a:spcPts val="600"/>
              </a:spcAft>
            </a:pPr>
            <a:r>
              <a:rPr sz="1300">
                <a:solidFill>
                  <a:srgbClr val="161B26"/>
                </a:solidFill>
                <a:latin typeface="Arial"/>
              </a:rPr>
              <a:t>•  Test the zero, blank and negative cases first</a:t>
            </a:r>
          </a:p>
        </p:txBody>
      </p:sp>
      <p:sp>
        <p:nvSpPr>
          <p:cNvPr id="15" name="Rectangle 14"/>
          <p:cNvSpPr/>
          <p:nvPr/>
        </p:nvSpPr>
        <p:spPr>
          <a:xfrm>
            <a:off x="3931920" y="5001768"/>
            <a:ext cx="3200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251960" y="4972507"/>
            <a:ext cx="182880" cy="113385"/>
          </a:xfrm>
          <a:custGeom>
            <a:avLst/>
            <a:gdLst/>
            <a:ahLst/>
            <a:cxnLst/>
            <a:rect l="l" t="t" r="r" b="b"/>
            <a:pathLst>
              <a:path w="182880" h="113385">
                <a:moveTo>
                  <a:pt x="0" y="0"/>
                </a:moveTo>
                <a:lnTo>
                  <a:pt x="182880" y="56693"/>
                </a:lnTo>
                <a:lnTo>
                  <a:pt x="0" y="113385"/>
                </a:lnTo>
                <a:close/>
              </a:path>
            </a:pathLst>
          </a:cu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420624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4206240"/>
            <a:ext cx="91440" cy="1920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4352544"/>
            <a:ext cx="6400800" cy="365760"/>
          </a:xfrm>
          <a:prstGeom prst="rect">
            <a:avLst/>
          </a:prstGeom>
          <a:noFill/>
        </p:spPr>
        <p:txBody>
          <a:bodyPr wrap="square" anchor="t">
            <a:spAutoFit/>
          </a:bodyPr>
          <a:lstStyle/>
          <a:p>
            <a:pPr algn="l">
              <a:spcAft>
                <a:spcPts val="400"/>
              </a:spcAft>
            </a:pPr>
            <a:r>
              <a:rPr sz="1300" b="1">
                <a:solidFill>
                  <a:srgbClr val="F59E0B"/>
                </a:solidFill>
                <a:latin typeface="Arial"/>
              </a:rPr>
              <a:t>NO</a:t>
            </a:r>
          </a:p>
        </p:txBody>
      </p:sp>
      <p:sp>
        <p:nvSpPr>
          <p:cNvPr id="20" name="TextBox 19"/>
          <p:cNvSpPr txBox="1"/>
          <p:nvPr/>
        </p:nvSpPr>
        <p:spPr>
          <a:xfrm>
            <a:off x="4828032" y="4754880"/>
            <a:ext cx="6400800" cy="1280160"/>
          </a:xfrm>
          <a:prstGeom prst="rect">
            <a:avLst/>
          </a:prstGeom>
          <a:noFill/>
        </p:spPr>
        <p:txBody>
          <a:bodyPr wrap="square">
            <a:spAutoFit/>
          </a:bodyPr>
          <a:lstStyle/>
          <a:p>
            <a:pPr>
              <a:spcAft>
                <a:spcPts val="600"/>
              </a:spcAft>
            </a:pPr>
            <a:r>
              <a:rPr sz="1300">
                <a:solidFill>
                  <a:srgbClr val="161B26"/>
                </a:solidFill>
                <a:latin typeface="Arial"/>
              </a:rPr>
              <a:t>•  Do not accept it yet</a:t>
            </a:r>
          </a:p>
          <a:p>
            <a:pPr>
              <a:spcAft>
                <a:spcPts val="600"/>
              </a:spcAft>
            </a:pPr>
            <a:r>
              <a:rPr sz="1300">
                <a:solidFill>
                  <a:srgbClr val="161B26"/>
                </a:solidFill>
                <a:latin typeface="Arial"/>
              </a:rPr>
              <a:t>•  Ask Copilot to explain it, then re-read it yourself</a:t>
            </a:r>
          </a:p>
        </p:txBody>
      </p:sp>
      <p:sp>
        <p:nvSpPr>
          <p:cNvPr id="21" name="TextBox 20"/>
          <p:cNvSpPr txBox="1"/>
          <p:nvPr/>
        </p:nvSpPr>
        <p:spPr>
          <a:xfrm>
            <a:off x="777240" y="5989320"/>
            <a:ext cx="10607040" cy="457200"/>
          </a:xfrm>
          <a:prstGeom prst="rect">
            <a:avLst/>
          </a:prstGeom>
          <a:noFill/>
        </p:spPr>
        <p:txBody>
          <a:bodyPr wrap="square" anchor="t">
            <a:spAutoFit/>
          </a:bodyPr>
          <a:lstStyle/>
          <a:p>
            <a:pPr algn="l">
              <a:spcAft>
                <a:spcPts val="400"/>
              </a:spcAft>
            </a:pPr>
            <a:r>
              <a:rPr sz="1100" b="1">
                <a:solidFill>
                  <a:srgbClr val="7C3AED"/>
                </a:solidFill>
                <a:latin typeface="Arial"/>
              </a:rPr>
              <a:t>RULE   </a:t>
            </a:r>
            <a:r>
              <a:rPr sz="1300" b="0">
                <a:solidFill>
                  <a:srgbClr val="161B26"/>
                </a:solidFill>
                <a:latin typeface="Arial"/>
              </a:rPr>
              <a:t>A formula you cannot explain is a formula you cannot defend in a review.</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Conversion Varies More Than Traffic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DECISION LENS</a:t>
            </a:r>
          </a:p>
        </p:txBody>
      </p:sp>
      <p:sp>
        <p:nvSpPr>
          <p:cNvPr id="11" name="TextBox 10"/>
          <p:cNvSpPr txBox="1"/>
          <p:nvPr/>
        </p:nvSpPr>
        <p:spPr>
          <a:xfrm>
            <a:off x="8778240" y="2560320"/>
            <a:ext cx="2377440" cy="1737360"/>
          </a:xfrm>
          <a:prstGeom prst="rect">
            <a:avLst/>
          </a:prstGeom>
          <a:noFill/>
        </p:spPr>
        <p:txBody>
          <a:bodyPr wrap="square" anchor="t">
            <a:spAutoFit/>
          </a:bodyPr>
          <a:lstStyle/>
          <a:p>
            <a:pPr algn="l">
              <a:spcAft>
                <a:spcPts val="400"/>
              </a:spcAft>
            </a:pPr>
            <a:r>
              <a:rPr sz="1300" b="0">
                <a:solidFill>
                  <a:srgbClr val="161B26"/>
                </a:solidFill>
                <a:latin typeface="Arial"/>
              </a:rPr>
              <a:t>Retail draws fewer people and converts more of them. Averaging the channels hides both facts.</a:t>
            </a:r>
          </a:p>
        </p:txBody>
      </p:sp>
      <p:sp>
        <p:nvSpPr>
          <p:cNvPr id="12" name="Rectangle 11"/>
          <p:cNvSpPr/>
          <p:nvPr/>
        </p:nvSpPr>
        <p:spPr>
          <a:xfrm>
            <a:off x="8732520" y="434340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52628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526280"/>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507992"/>
            <a:ext cx="2011680" cy="777240"/>
          </a:xfrm>
          <a:prstGeom prst="rect">
            <a:avLst/>
          </a:prstGeom>
          <a:noFill/>
        </p:spPr>
        <p:txBody>
          <a:bodyPr wrap="square" anchor="t">
            <a:spAutoFit/>
          </a:bodyPr>
          <a:lstStyle/>
          <a:p>
            <a:pPr algn="l">
              <a:spcAft>
                <a:spcPts val="100"/>
              </a:spcAft>
            </a:pPr>
            <a:r>
              <a:rPr sz="1050" b="0">
                <a:solidFill>
                  <a:srgbClr val="5B6372"/>
                </a:solidFill>
                <a:latin typeface="Arial"/>
              </a:rPr>
              <a:t>Check the axis, the units</a:t>
            </a:r>
          </a:p>
          <a:p>
            <a:pPr algn="l">
              <a:spcAft>
                <a:spcPts val="100"/>
              </a:spcAft>
            </a:pPr>
            <a:r>
              <a:rPr sz="1050" b="0">
                <a:solidFill>
                  <a:srgbClr val="5B6372"/>
                </a:solidFill>
                <a:latin typeface="Arial"/>
              </a:rPr>
              <a:t>and the source before you act.</a:t>
            </a:r>
          </a:p>
        </p:txBody>
      </p:sp>
      <p:sp>
        <p:nvSpPr>
          <p:cNvPr id="16" name="Rectangle 15"/>
          <p:cNvSpPr/>
          <p:nvPr/>
        </p:nvSpPr>
        <p:spPr>
          <a:xfrm>
            <a:off x="8778240" y="5440680"/>
            <a:ext cx="2377440" cy="3840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440680"/>
            <a:ext cx="2194560" cy="384048"/>
          </a:xfrm>
          <a:prstGeom prst="rect">
            <a:avLst/>
          </a:prstGeom>
          <a:noFill/>
        </p:spPr>
        <p:txBody>
          <a:bodyPr wrap="square" anchor="ctr">
            <a:spAutoFit/>
          </a:bodyPr>
          <a:lstStyle/>
          <a:p>
            <a:pPr algn="l">
              <a:spcAft>
                <a:spcPts val="400"/>
              </a:spcAft>
            </a:pPr>
            <a:r>
              <a:rPr sz="900" b="0">
                <a:solidFill>
                  <a:srgbClr val="5B6372"/>
                </a:solidFill>
                <a:latin typeface="Arial"/>
              </a:rPr>
              <a:t>Native PowerPoint chart · editable data · verify source and units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UP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a Good Finding Contains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observation</a:t>
            </a:r>
          </a:p>
          <a:p>
            <a:pPr algn="l">
              <a:spcAft>
                <a:spcPts val="300"/>
              </a:spcAft>
            </a:pPr>
            <a:r>
              <a:rPr sz="1200" b="0">
                <a:solidFill>
                  <a:srgbClr val="5B6372"/>
                </a:solidFill>
                <a:latin typeface="Arial"/>
              </a:rPr>
              <a:t>What the data actually shows, stated plainly.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evidence</a:t>
            </a:r>
          </a:p>
          <a:p>
            <a:pPr algn="l">
              <a:spcAft>
                <a:spcPts val="300"/>
              </a:spcAft>
            </a:pPr>
            <a:r>
              <a:rPr sz="1200" b="0">
                <a:solidFill>
                  <a:srgbClr val="5B6372"/>
                </a:solidFill>
                <a:latin typeface="Arial"/>
              </a:rPr>
              <a:t>The sheet and cell range it came from.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caveat</a:t>
            </a:r>
          </a:p>
          <a:p>
            <a:pPr algn="l">
              <a:spcAft>
                <a:spcPts val="300"/>
              </a:spcAft>
            </a:pPr>
            <a:r>
              <a:rPr sz="1200" b="0">
                <a:solidFill>
                  <a:srgbClr val="5B6372"/>
                </a:solidFill>
                <a:latin typeface="Arial"/>
              </a:rPr>
              <a:t>What could make this conclusion wrong.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action</a:t>
            </a:r>
          </a:p>
          <a:p>
            <a:pPr algn="l">
              <a:spcAft>
                <a:spcPts val="300"/>
              </a:spcAft>
            </a:pPr>
            <a:r>
              <a:rPr sz="1200" b="0">
                <a:solidFill>
                  <a:srgbClr val="5B6372"/>
                </a:solidFill>
                <a:latin typeface="Arial"/>
              </a:rPr>
              <a:t>What should now happen, and who owns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MODELLING DISCIPLINE</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Separate the assumption from the formula.</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If a scenario needs you to edit a formula, you have built a spreadsheet, not a model.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IT DOES WELL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Outlook Copilot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Summarise a long thread</a:t>
            </a:r>
          </a:p>
          <a:p>
            <a:pPr algn="l">
              <a:spcAft>
                <a:spcPts val="300"/>
              </a:spcAft>
            </a:pPr>
            <a:r>
              <a:rPr sz="1200" b="0">
                <a:solidFill>
                  <a:srgbClr val="5B6372"/>
                </a:solidFill>
                <a:latin typeface="Arial"/>
              </a:rPr>
              <a:t>Turn forty messages into decisions and open questions.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Draft a reply</a:t>
            </a:r>
          </a:p>
          <a:p>
            <a:pPr algn="l">
              <a:spcAft>
                <a:spcPts val="300"/>
              </a:spcAft>
            </a:pPr>
            <a:r>
              <a:rPr sz="1200" b="0">
                <a:solidFill>
                  <a:srgbClr val="5B6372"/>
                </a:solidFill>
                <a:latin typeface="Arial"/>
              </a:rPr>
              <a:t>Propose a response in a tone and length you specify.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Coach a draft</a:t>
            </a:r>
          </a:p>
          <a:p>
            <a:pPr algn="l">
              <a:spcAft>
                <a:spcPts val="300"/>
              </a:spcAft>
            </a:pPr>
            <a:r>
              <a:rPr sz="1200" b="0">
                <a:solidFill>
                  <a:srgbClr val="5B6372"/>
                </a:solidFill>
                <a:latin typeface="Arial"/>
              </a:rPr>
              <a:t>Critique your own writing before you send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Catch up</a:t>
            </a:r>
          </a:p>
          <a:p>
            <a:pPr algn="l">
              <a:spcAft>
                <a:spcPts val="300"/>
              </a:spcAft>
            </a:pPr>
            <a:r>
              <a:rPr sz="1200" b="0">
                <a:solidFill>
                  <a:srgbClr val="5B6372"/>
                </a:solidFill>
                <a:latin typeface="Arial"/>
              </a:rPr>
              <a:t>Find what changed while you were away.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FOUNDATION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and Audit Excel Formulas with Copilot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06</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K2 · A2</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converts a flat range into an Excel Table, asks Copilot to add derived margin, conversion and status columns, then audits each generated formula against the assumptions sheet.</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formula-driven campaign table with revenue, margin, conversion, status and error controls</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Excel, Copilot</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K2 · A2</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Foundation</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Convert the range to a Table</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Add the derived columns</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Test the edge cases</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Log each accepted formula</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06)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and Audit Excel Formulas with Copilot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Every derived column uses a checked structured-reference formula, no error values remain, and the Controls sheet matches the expected record count and zero exceptions.</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Run Deep Descriptive and Diagnostic Analysis in Excel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07</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K2 · A2</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uses Copilot to summarise performance, segment it by region, channel and product, isolate anomalies, and write management findings that each cite the cells they came from.</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diagnostic workbook with a KPI summary, segment analysis, an anomaly log and management findings</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Excel, Copilot</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K2 · A2</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Ask what happened</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Ask why it happened</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Separate cause from correlation</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Write cited findings</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07)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Run Deep Descriptive and Diagnostic Analysis in Excel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The workbook holds a KPI summary, a segment breakdown, a populated anomaly log, and findings that each cite the sheet and range supporting them.</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ADVANCED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Forecast and Stress-Test a Campaign with Copilot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08</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K2 · A2</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builds base, downside and upside forecasts from the historical data, runs a sensitivity table across the key drivers, and records the guardrails that say when the forecast should not be trusted.</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forecast model with base, downside and upside scenarios, a sensitivity table and decision guardrails</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Excel, Copilot</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K2 · A2</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Advanced</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Separate assumptions</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Add downside and upside</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State the forecast limits</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Record the guardrails</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08)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Forecast and Stress-Test a Campaign with Copilot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Changing a single assumption cell updates all three scenarios and the sensitivity table, and the workbook states the conditions under which the forecast does not hold.</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Triage an Outlook Inbox and Draft a Controlled Reply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09</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K2 · A2</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triages a supplied mail pack, summarises a long thread, verifies the summary against the original messages, and drafts one reply that is explicitly approved before it would be sent.</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An inbox triage register, a verified thread summary and one approval-ready draft reply</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Outlook, Excel, Copilot</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K2 · A2</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09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Triage the thread pack</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Verify the summary</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Draft one reply</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Record the approval</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09)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Triage an Outlook Inbox and Draft a Controlled Reply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The triage register classifies every message, the thread summary matches the original messages, and the draft reply carries a named approver before any send.</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Turn Meeting Notes into an Action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10</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K2 · A2</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turns a supplied meeting-notes document into a decision log and an action register with named owners and due dates, then verifies every action against the source notes.</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meeting brief, a decision log, an action register and a reviewed follow-up message</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Teams, Word, Excel, Copilot</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K2 · A2</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Read the meeting notes</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Verify each action</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Log open questions apart</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Review and approve</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10)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Turn Meeting Notes into an Action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Every action in the register cites a supporting line from the notes and carries a named owner and due date, and unresolved questions are listed separately from actions.</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CAN NOW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06</a:t>
            </a:r>
          </a:p>
          <a:p>
            <a:pPr algn="l">
              <a:spcAft>
                <a:spcPts val="300"/>
              </a:spcAft>
            </a:pPr>
            <a:r>
              <a:rPr sz="1000" b="0">
                <a:solidFill>
                  <a:srgbClr val="5B6372"/>
                </a:solidFill>
                <a:latin typeface="Arial"/>
              </a:rPr>
              <a:t>Generate derived columns with Copilot and audit every formula before accepting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07</a:t>
            </a:r>
          </a:p>
          <a:p>
            <a:pPr algn="l">
              <a:spcAft>
                <a:spcPts val="300"/>
              </a:spcAft>
            </a:pPr>
            <a:r>
              <a:rPr sz="1000" b="0">
                <a:solidFill>
                  <a:srgbClr val="5B6372"/>
                </a:solidFill>
                <a:latin typeface="Arial"/>
              </a:rPr>
              <a:t>Move from what happened to why it happened, with each finding traced to evidence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08</a:t>
            </a:r>
          </a:p>
          <a:p>
            <a:pPr algn="l">
              <a:spcAft>
                <a:spcPts val="300"/>
              </a:spcAft>
            </a:pPr>
            <a:r>
              <a:rPr sz="1000" b="0">
                <a:solidFill>
                  <a:srgbClr val="5B6372"/>
                </a:solidFill>
                <a:latin typeface="Arial"/>
              </a:rPr>
              <a:t>Build a scenario model that separates assumptions from formulas and states its own limits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09</a:t>
            </a:r>
          </a:p>
          <a:p>
            <a:pPr algn="l">
              <a:spcAft>
                <a:spcPts val="300"/>
              </a:spcAft>
            </a:pPr>
            <a:r>
              <a:rPr sz="1000" b="0">
                <a:solidFill>
                  <a:srgbClr val="5B6372"/>
                </a:solidFill>
                <a:latin typeface="Arial"/>
              </a:rPr>
              <a:t>Use Copilot to triage and summarise mail, then draft a reply that a person approves before sending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10</a:t>
            </a:r>
          </a:p>
          <a:p>
            <a:pPr algn="l">
              <a:spcAft>
                <a:spcPts val="300"/>
              </a:spcAft>
            </a:pPr>
            <a:r>
              <a:rPr sz="1000" b="0">
                <a:solidFill>
                  <a:srgbClr val="5B6372"/>
                </a:solidFill>
                <a:latin typeface="Arial"/>
              </a:rPr>
              <a:t>Convert an unstructured meeting record into owned, dated and verifiable actions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600" b="1">
                <a:solidFill>
                  <a:srgbClr val="161B26"/>
                </a:solidFill>
                <a:latin typeface="Arial"/>
              </a:rPr>
              <a:t>End of Day 2</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100" b="1">
                <a:solidFill>
                  <a:srgbClr val="10B981"/>
                </a:solidFill>
                <a:latin typeface="Arial"/>
              </a:rPr>
              <a:t>See you tomorrow</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Business Process Automation with Power Automate</a:t>
            </a:r>
          </a:p>
        </p:txBody>
      </p:sp>
      <p:sp>
        <p:nvSpPr>
          <p:cNvPr id="7" name="TextBox 6"/>
          <p:cNvSpPr txBox="1"/>
          <p:nvPr/>
        </p:nvSpPr>
        <p:spPr>
          <a:xfrm>
            <a:off x="1161288" y="434340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BPA · the Power Platform · triggers · actions · dynamic content · conditions · approvals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DAY 3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Business process automation replaces repeated manual handovers with a reliable, auditable flow.</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Every flow is Trigger then Actions then Output: something happens, steps run, a result is produced.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The four trigger families are automated, instant, scheduled and business-process triggers.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Dynamic content passes data from one step to the next; the run history shows exactly what each step received.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A condition branches a flow so different inputs follow different paths.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An approval action suspends the run until a named person responds, which is human-in-the-loop by design.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WILL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800" b="1">
                <a:solidFill>
                  <a:srgbClr val="1F6FEB"/>
                </a:solidFill>
                <a:latin typeface="Arial"/>
              </a:rPr>
              <a:t>Labs 11–12</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300">
                <a:solidFill>
                  <a:srgbClr val="161B26"/>
                </a:solidFill>
                <a:latin typeface="Arial"/>
              </a:rPr>
              <a:t>•  Prepare the Power Platform Environment</a:t>
            </a:r>
          </a:p>
          <a:p>
            <a:pPr>
              <a:spcAft>
                <a:spcPts val="900"/>
              </a:spcAft>
            </a:pPr>
            <a:r>
              <a:rPr sz="1300">
                <a:solidFill>
                  <a:srgbClr val="161B26"/>
                </a:solidFill>
                <a:latin typeface="Arial"/>
              </a:rPr>
              <a:t>•  Build a Trigger and Actions Flow from Microsoft Forms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800" b="1">
                <a:solidFill>
                  <a:srgbClr val="10B981"/>
                </a:solidFill>
                <a:latin typeface="Arial"/>
              </a:rPr>
              <a:t>Labs 13–14</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300">
                <a:solidFill>
                  <a:srgbClr val="161B26"/>
                </a:solidFill>
                <a:latin typeface="Arial"/>
              </a:rPr>
              <a:t>•  Log Form Submissions to Excel Online</a:t>
            </a:r>
          </a:p>
          <a:p>
            <a:pPr>
              <a:spcAft>
                <a:spcPts val="900"/>
              </a:spcAft>
            </a:pPr>
            <a:r>
              <a:rPr sz="1300">
                <a:solidFill>
                  <a:srgbClr val="161B26"/>
                </a:solidFill>
                <a:latin typeface="Arial"/>
              </a:rPr>
              <a:t>•  Branch a Flow with a Condition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800" b="1">
                <a:solidFill>
                  <a:srgbClr val="7C3AED"/>
                </a:solidFill>
                <a:latin typeface="Arial"/>
              </a:rPr>
              <a:t>Labs 15–15</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300">
                <a:solidFill>
                  <a:srgbClr val="161B26"/>
                </a:solidFill>
                <a:latin typeface="Arial"/>
              </a:rPr>
              <a:t>•  Suspend a Flow for a Human Approval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HAND-OFF</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Automation Actually Removes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700" b="1">
                <a:solidFill>
                  <a:srgbClr val="161B26"/>
                </a:solidFill>
                <a:latin typeface="Arial"/>
              </a:rPr>
              <a:t>The re-typing</a:t>
            </a:r>
          </a:p>
          <a:p>
            <a:pPr algn="l">
              <a:spcAft>
                <a:spcPts val="300"/>
              </a:spcAft>
            </a:pPr>
            <a:r>
              <a:rPr sz="1300" b="0">
                <a:solidFill>
                  <a:srgbClr val="5B6372"/>
                </a:solidFill>
                <a:latin typeface="Arial"/>
              </a:rPr>
              <a:t>Someone copying what another system already knows.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700" b="1">
                <a:solidFill>
                  <a:srgbClr val="161B26"/>
                </a:solidFill>
                <a:latin typeface="Arial"/>
              </a:rPr>
              <a:t>The delay</a:t>
            </a:r>
          </a:p>
          <a:p>
            <a:pPr algn="l">
              <a:spcAft>
                <a:spcPts val="300"/>
              </a:spcAft>
            </a:pPr>
            <a:r>
              <a:rPr sz="1300" b="0">
                <a:solidFill>
                  <a:srgbClr val="5B6372"/>
                </a:solidFill>
                <a:latin typeface="Arial"/>
              </a:rPr>
              <a:t>Work waiting for a person to notice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700" b="1">
                <a:solidFill>
                  <a:srgbClr val="161B26"/>
                </a:solidFill>
                <a:latin typeface="Arial"/>
              </a:rPr>
              <a:t>The forgotten step</a:t>
            </a:r>
          </a:p>
          <a:p>
            <a:pPr algn="l">
              <a:spcAft>
                <a:spcPts val="300"/>
              </a:spcAft>
            </a:pPr>
            <a:r>
              <a:rPr sz="1300" b="0">
                <a:solidFill>
                  <a:srgbClr val="5B6372"/>
                </a:solidFill>
                <a:latin typeface="Arial"/>
              </a:rPr>
              <a:t>The reply nobody remembered to send.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700" b="1">
                <a:solidFill>
                  <a:srgbClr val="161B26"/>
                </a:solidFill>
                <a:latin typeface="Arial"/>
              </a:rPr>
              <a:t>The missing record</a:t>
            </a:r>
          </a:p>
          <a:p>
            <a:pPr algn="l">
              <a:spcAft>
                <a:spcPts val="300"/>
              </a:spcAft>
            </a:pPr>
            <a:r>
              <a:rPr sz="1300" b="0">
                <a:solidFill>
                  <a:srgbClr val="5B6372"/>
                </a:solidFill>
                <a:latin typeface="Arial"/>
              </a:rPr>
              <a:t>No trace of what happened, or when.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AUTOMATE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Manual Process vs Automated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Manual</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Automated</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Steps</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Form read, re-typed, reply remembered</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Form submitted, row written, reply sent</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Consistency</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Depends who is on duty</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The same every time, including at 3am</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Record</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Whatever someone wrote down</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 run history anyone can read later</a:t>
            </a:r>
          </a:p>
        </p:txBody>
      </p:sp>
      <p:sp>
        <p:nvSpPr>
          <p:cNvPr id="31" name="Rectangle 30"/>
          <p:cNvSpPr/>
          <p:nvPr/>
        </p:nvSpPr>
        <p:spPr>
          <a:xfrm>
            <a:off x="777240" y="3803904"/>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803904"/>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People spend time on</a:t>
            </a:r>
          </a:p>
        </p:txBody>
      </p:sp>
      <p:sp>
        <p:nvSpPr>
          <p:cNvPr id="33" name="Rectangle 32"/>
          <p:cNvSpPr/>
          <p:nvPr/>
        </p:nvSpPr>
        <p:spPr>
          <a:xfrm>
            <a:off x="3542202"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Copying</a:t>
            </a:r>
          </a:p>
        </p:txBody>
      </p:sp>
      <p:sp>
        <p:nvSpPr>
          <p:cNvPr id="35" name="Rectangle 34"/>
          <p:cNvSpPr/>
          <p:nvPr/>
        </p:nvSpPr>
        <p:spPr>
          <a:xfrm>
            <a:off x="7476957"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6685"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The judgement the machine cannot make</a:t>
            </a:r>
          </a:p>
        </p:txBody>
      </p:sp>
      <p:sp>
        <p:nvSpPr>
          <p:cNvPr id="37" name="TextBox 36"/>
          <p:cNvSpPr txBox="1"/>
          <p:nvPr/>
        </p:nvSpPr>
        <p:spPr>
          <a:xfrm>
            <a:off x="777240" y="4507992"/>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Automate what is repetitive, rule-based and time-consuming.</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PIECES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Power Platform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Power Automate</a:t>
            </a:r>
          </a:p>
          <a:p>
            <a:pPr algn="l">
              <a:spcAft>
                <a:spcPts val="300"/>
              </a:spcAft>
            </a:pPr>
            <a:r>
              <a:rPr sz="1200" b="0">
                <a:solidFill>
                  <a:srgbClr val="5B6372"/>
                </a:solidFill>
                <a:latin typeface="Arial"/>
              </a:rPr>
              <a:t>Workflows — triggers and actions that run without a person.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Copilot Studio</a:t>
            </a:r>
          </a:p>
          <a:p>
            <a:pPr algn="l">
              <a:spcAft>
                <a:spcPts val="300"/>
              </a:spcAft>
            </a:pPr>
            <a:r>
              <a:rPr sz="1200" b="0">
                <a:solidFill>
                  <a:srgbClr val="5B6372"/>
                </a:solidFill>
                <a:latin typeface="Arial"/>
              </a:rPr>
              <a:t>Conversational agents with instructions, knowledge and tools.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Dataverse</a:t>
            </a:r>
          </a:p>
          <a:p>
            <a:pPr algn="l">
              <a:spcAft>
                <a:spcPts val="300"/>
              </a:spcAft>
            </a:pPr>
            <a:r>
              <a:rPr sz="1200" b="0">
                <a:solidFill>
                  <a:srgbClr val="5B6372"/>
                </a:solidFill>
                <a:latin typeface="Arial"/>
              </a:rPr>
              <a:t>The managed data store behind the environment.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Connectors</a:t>
            </a:r>
          </a:p>
          <a:p>
            <a:pPr algn="l">
              <a:spcAft>
                <a:spcPts val="300"/>
              </a:spcAft>
            </a:pPr>
            <a:r>
              <a:rPr sz="1200" b="0">
                <a:solidFill>
                  <a:srgbClr val="5B6372"/>
                </a:solidFill>
                <a:latin typeface="Arial"/>
              </a:rPr>
              <a:t>Outlook, Excel, SharePoint, Teams, Forms, HTTP — over a thousand.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START HERE</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The environment matters more than any single tool.</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 flow built in the wrong environment is a flow nobody else can find, run or govern.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FLOW ANATOMY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Every Flow Is the Same Three Things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324002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324002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983992" cy="713232"/>
          </a:xfrm>
          <a:prstGeom prst="rect">
            <a:avLst/>
          </a:prstGeom>
          <a:noFill/>
        </p:spPr>
        <p:txBody>
          <a:bodyPr wrap="square" anchor="ctr">
            <a:spAutoFit/>
          </a:bodyPr>
          <a:lstStyle/>
          <a:p>
            <a:pPr algn="ctr">
              <a:spcAft>
                <a:spcPts val="400"/>
              </a:spcAft>
            </a:pPr>
            <a:r>
              <a:rPr sz="1500" b="1">
                <a:solidFill>
                  <a:srgbClr val="161B26"/>
                </a:solidFill>
                <a:latin typeface="Arial"/>
              </a:rPr>
              <a:t>Trigger</a:t>
            </a:r>
          </a:p>
        </p:txBody>
      </p:sp>
      <p:sp>
        <p:nvSpPr>
          <p:cNvPr id="10" name="TextBox 9"/>
          <p:cNvSpPr txBox="1"/>
          <p:nvPr/>
        </p:nvSpPr>
        <p:spPr>
          <a:xfrm>
            <a:off x="905256" y="3401568"/>
            <a:ext cx="2983992" cy="804672"/>
          </a:xfrm>
          <a:prstGeom prst="rect">
            <a:avLst/>
          </a:prstGeom>
          <a:noFill/>
        </p:spPr>
        <p:txBody>
          <a:bodyPr wrap="square" anchor="t">
            <a:spAutoFit/>
          </a:bodyPr>
          <a:lstStyle/>
          <a:p>
            <a:pPr algn="ctr">
              <a:spcAft>
                <a:spcPts val="400"/>
              </a:spcAft>
            </a:pPr>
            <a:r>
              <a:rPr sz="1100" b="0">
                <a:solidFill>
                  <a:srgbClr val="5B6372"/>
                </a:solidFill>
                <a:latin typeface="Arial"/>
              </a:rPr>
              <a:t>Something happens</a:t>
            </a:r>
          </a:p>
        </p:txBody>
      </p:sp>
      <p:sp>
        <p:nvSpPr>
          <p:cNvPr id="11" name="Rectangle 10"/>
          <p:cNvSpPr/>
          <p:nvPr/>
        </p:nvSpPr>
        <p:spPr>
          <a:xfrm>
            <a:off x="409956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421660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74464" y="2468880"/>
            <a:ext cx="324002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74464" y="2468880"/>
            <a:ext cx="324002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2480" y="2670048"/>
            <a:ext cx="2983992" cy="713232"/>
          </a:xfrm>
          <a:prstGeom prst="rect">
            <a:avLst/>
          </a:prstGeom>
          <a:noFill/>
        </p:spPr>
        <p:txBody>
          <a:bodyPr wrap="square" anchor="ctr">
            <a:spAutoFit/>
          </a:bodyPr>
          <a:lstStyle/>
          <a:p>
            <a:pPr algn="ctr">
              <a:spcAft>
                <a:spcPts val="400"/>
              </a:spcAft>
            </a:pPr>
            <a:r>
              <a:rPr sz="1500" b="1">
                <a:solidFill>
                  <a:srgbClr val="161B26"/>
                </a:solidFill>
                <a:latin typeface="Arial"/>
              </a:rPr>
              <a:t>Actions</a:t>
            </a:r>
          </a:p>
        </p:txBody>
      </p:sp>
      <p:sp>
        <p:nvSpPr>
          <p:cNvPr id="16" name="TextBox 15"/>
          <p:cNvSpPr txBox="1"/>
          <p:nvPr/>
        </p:nvSpPr>
        <p:spPr>
          <a:xfrm>
            <a:off x="4602480" y="3401568"/>
            <a:ext cx="2983992" cy="804672"/>
          </a:xfrm>
          <a:prstGeom prst="rect">
            <a:avLst/>
          </a:prstGeom>
          <a:noFill/>
        </p:spPr>
        <p:txBody>
          <a:bodyPr wrap="square" anchor="t">
            <a:spAutoFit/>
          </a:bodyPr>
          <a:lstStyle/>
          <a:p>
            <a:pPr algn="ctr">
              <a:spcAft>
                <a:spcPts val="400"/>
              </a:spcAft>
            </a:pPr>
            <a:r>
              <a:rPr sz="1100" b="0">
                <a:solidFill>
                  <a:srgbClr val="5B6372"/>
                </a:solidFill>
                <a:latin typeface="Arial"/>
              </a:rPr>
              <a:t>Steps run in order</a:t>
            </a:r>
          </a:p>
        </p:txBody>
      </p:sp>
      <p:sp>
        <p:nvSpPr>
          <p:cNvPr id="17" name="Rectangle 16"/>
          <p:cNvSpPr/>
          <p:nvPr/>
        </p:nvSpPr>
        <p:spPr>
          <a:xfrm>
            <a:off x="779678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791382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71688" y="2468880"/>
            <a:ext cx="324002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71688" y="2468880"/>
            <a:ext cx="324002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9704" y="2670048"/>
            <a:ext cx="2983992" cy="713232"/>
          </a:xfrm>
          <a:prstGeom prst="rect">
            <a:avLst/>
          </a:prstGeom>
          <a:noFill/>
        </p:spPr>
        <p:txBody>
          <a:bodyPr wrap="square" anchor="ctr">
            <a:spAutoFit/>
          </a:bodyPr>
          <a:lstStyle/>
          <a:p>
            <a:pPr algn="ctr">
              <a:spcAft>
                <a:spcPts val="400"/>
              </a:spcAft>
            </a:pPr>
            <a:r>
              <a:rPr sz="1500" b="1">
                <a:solidFill>
                  <a:srgbClr val="161B26"/>
                </a:solidFill>
                <a:latin typeface="Arial"/>
              </a:rPr>
              <a:t>Output</a:t>
            </a:r>
          </a:p>
        </p:txBody>
      </p:sp>
      <p:sp>
        <p:nvSpPr>
          <p:cNvPr id="22" name="TextBox 21"/>
          <p:cNvSpPr txBox="1"/>
          <p:nvPr/>
        </p:nvSpPr>
        <p:spPr>
          <a:xfrm>
            <a:off x="8299704" y="3401568"/>
            <a:ext cx="2983992" cy="804672"/>
          </a:xfrm>
          <a:prstGeom prst="rect">
            <a:avLst/>
          </a:prstGeom>
          <a:noFill/>
        </p:spPr>
        <p:txBody>
          <a:bodyPr wrap="square" anchor="t">
            <a:spAutoFit/>
          </a:bodyPr>
          <a:lstStyle/>
          <a:p>
            <a:pPr algn="ctr">
              <a:spcAft>
                <a:spcPts val="400"/>
              </a:spcAft>
            </a:pPr>
            <a:r>
              <a:rPr sz="1100" b="0">
                <a:solidFill>
                  <a:srgbClr val="5B6372"/>
                </a:solidFill>
                <a:latin typeface="Arial"/>
              </a:rPr>
              <a:t>A result exists</a:t>
            </a:r>
          </a:p>
        </p:txBody>
      </p:sp>
      <p:sp>
        <p:nvSpPr>
          <p:cNvPr id="23" name="Rectangle 22"/>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If you can name the trigger, the actions and the output, you can build the flow.</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STARTS A 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Four Trigger Families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Automated</a:t>
            </a:r>
          </a:p>
          <a:p>
            <a:pPr algn="l">
              <a:spcAft>
                <a:spcPts val="300"/>
              </a:spcAft>
            </a:pPr>
            <a:r>
              <a:rPr sz="1200" b="0">
                <a:solidFill>
                  <a:srgbClr val="5B6372"/>
                </a:solidFill>
                <a:latin typeface="Arial"/>
              </a:rPr>
              <a:t>An event occurs — a form is submitted, a file arrives, mail is received.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Instant</a:t>
            </a:r>
          </a:p>
          <a:p>
            <a:pPr algn="l">
              <a:spcAft>
                <a:spcPts val="300"/>
              </a:spcAft>
            </a:pPr>
            <a:r>
              <a:rPr sz="1200" b="0">
                <a:solidFill>
                  <a:srgbClr val="5B6372"/>
                </a:solidFill>
                <a:latin typeface="Arial"/>
              </a:rPr>
              <a:t>A person presses a button, in an app or on a phone.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Scheduled</a:t>
            </a:r>
          </a:p>
          <a:p>
            <a:pPr algn="l">
              <a:spcAft>
                <a:spcPts val="300"/>
              </a:spcAft>
            </a:pPr>
            <a:r>
              <a:rPr sz="1200" b="0">
                <a:solidFill>
                  <a:srgbClr val="5B6372"/>
                </a:solidFill>
                <a:latin typeface="Arial"/>
              </a:rPr>
              <a:t>A clock fires — every hour, every weekday, every month-end.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Business process</a:t>
            </a:r>
          </a:p>
          <a:p>
            <a:pPr algn="l">
              <a:spcAft>
                <a:spcPts val="300"/>
              </a:spcAft>
            </a:pPr>
            <a:r>
              <a:rPr sz="1200" b="0">
                <a:solidFill>
                  <a:srgbClr val="5B6372"/>
                </a:solidFill>
                <a:latin typeface="Arial"/>
              </a:rPr>
              <a:t>A stage in a modelled process is reached.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A FLOW CAN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Six Action Families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Create</a:t>
            </a:r>
          </a:p>
          <a:p>
            <a:pPr algn="l">
              <a:spcAft>
                <a:spcPts val="300"/>
              </a:spcAft>
            </a:pPr>
            <a:r>
              <a:rPr sz="1100" b="0">
                <a:solidFill>
                  <a:srgbClr val="5B6372"/>
                </a:solidFill>
                <a:latin typeface="Arial"/>
              </a:rPr>
              <a:t>Add a record, a row, a file or an item.</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51248"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1248"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5346192" y="1892808"/>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Read</a:t>
            </a:r>
          </a:p>
          <a:p>
            <a:pPr algn="l">
              <a:spcAft>
                <a:spcPts val="300"/>
              </a:spcAft>
            </a:pPr>
            <a:r>
              <a:rPr sz="1100" b="0">
                <a:solidFill>
                  <a:srgbClr val="5B6372"/>
                </a:solidFill>
                <a:latin typeface="Arial"/>
              </a:rPr>
              <a:t>Get an item, a row, a response or a file's content.</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87512" y="255117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7512"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8982456" y="1892808"/>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Update</a:t>
            </a:r>
          </a:p>
          <a:p>
            <a:pPr algn="l">
              <a:spcAft>
                <a:spcPts val="300"/>
              </a:spcAft>
            </a:pPr>
            <a:r>
              <a:rPr sz="1100" b="0">
                <a:solidFill>
                  <a:srgbClr val="5B6372"/>
                </a:solidFill>
                <a:latin typeface="Arial"/>
              </a:rPr>
              <a:t>Change something that already exists.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197096"/>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Delete</a:t>
            </a:r>
          </a:p>
          <a:p>
            <a:pPr algn="l">
              <a:spcAft>
                <a:spcPts val="300"/>
              </a:spcAft>
            </a:pPr>
            <a:r>
              <a:rPr sz="1100" b="0">
                <a:solidFill>
                  <a:srgbClr val="5B6372"/>
                </a:solidFill>
                <a:latin typeface="Arial"/>
              </a:rPr>
              <a:t>Remove a record — the one to be most careful with.</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51248"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51248"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5346192" y="4197096"/>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Notify</a:t>
            </a:r>
          </a:p>
          <a:p>
            <a:pPr algn="l">
              <a:spcAft>
                <a:spcPts val="300"/>
              </a:spcAft>
            </a:pPr>
            <a:r>
              <a:rPr sz="1100" b="0">
                <a:solidFill>
                  <a:srgbClr val="5B6372"/>
                </a:solidFill>
                <a:latin typeface="Arial"/>
              </a:rPr>
              <a:t>Send mail, post to Teams, raise an approval.</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87512"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87512"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8982456" y="4197096"/>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Control</a:t>
            </a:r>
          </a:p>
          <a:p>
            <a:pPr algn="l">
              <a:spcAft>
                <a:spcPts val="300"/>
              </a:spcAft>
            </a:pPr>
            <a:r>
              <a:rPr sz="1100" b="0">
                <a:solidFill>
                  <a:srgbClr val="5B6372"/>
                </a:solidFill>
                <a:latin typeface="Arial"/>
              </a:rPr>
              <a:t>Condition, loop, scope, delay, terminate.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DECISION RULE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Should I Type This Value or Insert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331720"/>
            <a:ext cx="3017520" cy="210312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88920"/>
            <a:ext cx="2468880" cy="1188720"/>
          </a:xfrm>
          <a:prstGeom prst="rect">
            <a:avLst/>
          </a:prstGeom>
          <a:noFill/>
        </p:spPr>
        <p:txBody>
          <a:bodyPr wrap="square" anchor="ctr">
            <a:spAutoFit/>
          </a:bodyPr>
          <a:lstStyle/>
          <a:p>
            <a:pPr algn="ctr">
              <a:spcAft>
                <a:spcPts val="400"/>
              </a:spcAft>
            </a:pPr>
            <a:r>
              <a:rPr sz="1300" b="1">
                <a:solidFill>
                  <a:srgbClr val="FFFFFF"/>
                </a:solidFill>
                <a:latin typeface="Arial"/>
              </a:rPr>
              <a:t>Does the value come from a previous step?</a:t>
            </a:r>
          </a:p>
        </p:txBody>
      </p:sp>
      <p:sp>
        <p:nvSpPr>
          <p:cNvPr id="9" name="Rectangle 8"/>
          <p:cNvSpPr/>
          <p:nvPr/>
        </p:nvSpPr>
        <p:spPr>
          <a:xfrm>
            <a:off x="3931920" y="2761488"/>
            <a:ext cx="3200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251960" y="2732227"/>
            <a:ext cx="182880" cy="113385"/>
          </a:xfrm>
          <a:custGeom>
            <a:avLst/>
            <a:gdLst/>
            <a:ahLst/>
            <a:cxnLst/>
            <a:rect l="l" t="t" r="r" b="b"/>
            <a:pathLst>
              <a:path w="182880" h="113385">
                <a:moveTo>
                  <a:pt x="0" y="0"/>
                </a:moveTo>
                <a:lnTo>
                  <a:pt x="182880" y="56693"/>
                </a:lnTo>
                <a:lnTo>
                  <a:pt x="0" y="113385"/>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96596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965960"/>
            <a:ext cx="91440" cy="1920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112264"/>
            <a:ext cx="6400800" cy="365760"/>
          </a:xfrm>
          <a:prstGeom prst="rect">
            <a:avLst/>
          </a:prstGeom>
          <a:noFill/>
        </p:spPr>
        <p:txBody>
          <a:bodyPr wrap="square" anchor="t">
            <a:spAutoFit/>
          </a:bodyPr>
          <a:lstStyle/>
          <a:p>
            <a:pPr algn="l">
              <a:spcAft>
                <a:spcPts val="400"/>
              </a:spcAft>
            </a:pPr>
            <a:r>
              <a:rPr sz="1300" b="1">
                <a:solidFill>
                  <a:srgbClr val="10B981"/>
                </a:solidFill>
                <a:latin typeface="Arial"/>
              </a:rPr>
              <a:t>YES</a:t>
            </a:r>
          </a:p>
        </p:txBody>
      </p:sp>
      <p:sp>
        <p:nvSpPr>
          <p:cNvPr id="14" name="TextBox 13"/>
          <p:cNvSpPr txBox="1"/>
          <p:nvPr/>
        </p:nvSpPr>
        <p:spPr>
          <a:xfrm>
            <a:off x="4828032" y="2514600"/>
            <a:ext cx="6400800" cy="1280160"/>
          </a:xfrm>
          <a:prstGeom prst="rect">
            <a:avLst/>
          </a:prstGeom>
          <a:noFill/>
        </p:spPr>
        <p:txBody>
          <a:bodyPr wrap="square">
            <a:spAutoFit/>
          </a:bodyPr>
          <a:lstStyle/>
          <a:p>
            <a:pPr>
              <a:spcAft>
                <a:spcPts val="600"/>
              </a:spcAft>
            </a:pPr>
            <a:r>
              <a:rPr sz="1300">
                <a:solidFill>
                  <a:srgbClr val="161B26"/>
                </a:solidFill>
                <a:latin typeface="Arial"/>
              </a:rPr>
              <a:t>•  Insert it from the dynamic content panel</a:t>
            </a:r>
          </a:p>
          <a:p>
            <a:pPr>
              <a:spcAft>
                <a:spcPts val="600"/>
              </a:spcAft>
            </a:pPr>
            <a:r>
              <a:rPr sz="1300">
                <a:solidFill>
                  <a:srgbClr val="161B26"/>
                </a:solidFill>
                <a:latin typeface="Arial"/>
              </a:rPr>
              <a:t>•  The token carries the real value at run time</a:t>
            </a:r>
          </a:p>
        </p:txBody>
      </p:sp>
      <p:sp>
        <p:nvSpPr>
          <p:cNvPr id="15" name="Rectangle 14"/>
          <p:cNvSpPr/>
          <p:nvPr/>
        </p:nvSpPr>
        <p:spPr>
          <a:xfrm>
            <a:off x="3931920" y="5001768"/>
            <a:ext cx="3200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251960" y="4972507"/>
            <a:ext cx="182880" cy="113385"/>
          </a:xfrm>
          <a:custGeom>
            <a:avLst/>
            <a:gdLst/>
            <a:ahLst/>
            <a:cxnLst/>
            <a:rect l="l" t="t" r="r" b="b"/>
            <a:pathLst>
              <a:path w="182880" h="113385">
                <a:moveTo>
                  <a:pt x="0" y="0"/>
                </a:moveTo>
                <a:lnTo>
                  <a:pt x="182880" y="56693"/>
                </a:lnTo>
                <a:lnTo>
                  <a:pt x="0" y="113385"/>
                </a:lnTo>
                <a:close/>
              </a:path>
            </a:pathLst>
          </a:cu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420624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4206240"/>
            <a:ext cx="91440" cy="1920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4352544"/>
            <a:ext cx="6400800" cy="365760"/>
          </a:xfrm>
          <a:prstGeom prst="rect">
            <a:avLst/>
          </a:prstGeom>
          <a:noFill/>
        </p:spPr>
        <p:txBody>
          <a:bodyPr wrap="square" anchor="t">
            <a:spAutoFit/>
          </a:bodyPr>
          <a:lstStyle/>
          <a:p>
            <a:pPr algn="l">
              <a:spcAft>
                <a:spcPts val="400"/>
              </a:spcAft>
            </a:pPr>
            <a:r>
              <a:rPr sz="1300" b="1">
                <a:solidFill>
                  <a:srgbClr val="F59E0B"/>
                </a:solidFill>
                <a:latin typeface="Arial"/>
              </a:rPr>
              <a:t>NO</a:t>
            </a:r>
          </a:p>
        </p:txBody>
      </p:sp>
      <p:sp>
        <p:nvSpPr>
          <p:cNvPr id="20" name="TextBox 19"/>
          <p:cNvSpPr txBox="1"/>
          <p:nvPr/>
        </p:nvSpPr>
        <p:spPr>
          <a:xfrm>
            <a:off x="4828032" y="4754880"/>
            <a:ext cx="6400800" cy="1280160"/>
          </a:xfrm>
          <a:prstGeom prst="rect">
            <a:avLst/>
          </a:prstGeom>
          <a:noFill/>
        </p:spPr>
        <p:txBody>
          <a:bodyPr wrap="square">
            <a:spAutoFit/>
          </a:bodyPr>
          <a:lstStyle/>
          <a:p>
            <a:pPr>
              <a:spcAft>
                <a:spcPts val="600"/>
              </a:spcAft>
            </a:pPr>
            <a:r>
              <a:rPr sz="1300">
                <a:solidFill>
                  <a:srgbClr val="161B26"/>
                </a:solidFill>
                <a:latin typeface="Arial"/>
              </a:rPr>
              <a:t>•  Type it as a literal</a:t>
            </a:r>
          </a:p>
          <a:p>
            <a:pPr>
              <a:spcAft>
                <a:spcPts val="600"/>
              </a:spcAft>
            </a:pPr>
            <a:r>
              <a:rPr sz="1300">
                <a:solidFill>
                  <a:srgbClr val="161B26"/>
                </a:solidFill>
                <a:latin typeface="Arial"/>
              </a:rPr>
              <a:t>•  Only for genuinely fixed text</a:t>
            </a:r>
          </a:p>
        </p:txBody>
      </p:sp>
      <p:sp>
        <p:nvSpPr>
          <p:cNvPr id="21" name="TextBox 20"/>
          <p:cNvSpPr txBox="1"/>
          <p:nvPr/>
        </p:nvSpPr>
        <p:spPr>
          <a:xfrm>
            <a:off x="777240" y="5989320"/>
            <a:ext cx="10607040" cy="457200"/>
          </a:xfrm>
          <a:prstGeom prst="rect">
            <a:avLst/>
          </a:prstGeom>
          <a:noFill/>
        </p:spPr>
        <p:txBody>
          <a:bodyPr wrap="square" anchor="t">
            <a:spAutoFit/>
          </a:bodyPr>
          <a:lstStyle/>
          <a:p>
            <a:pPr algn="l">
              <a:spcAft>
                <a:spcPts val="400"/>
              </a:spcAft>
            </a:pPr>
            <a:r>
              <a:rPr sz="1100" b="1">
                <a:solidFill>
                  <a:srgbClr val="7C3AED"/>
                </a:solidFill>
                <a:latin typeface="Arial"/>
              </a:rPr>
              <a:t>RULE   </a:t>
            </a:r>
            <a:r>
              <a:rPr sz="1300" b="0">
                <a:solidFill>
                  <a:srgbClr val="161B26"/>
                </a:solidFill>
                <a:latin typeface="Arial"/>
              </a:rPr>
              <a:t>A dynamic value that is typed as words is the single most common reason a flow 'runs but does nothing'.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DIAGNOSIS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Reading a Run History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Open the run</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Find it under the flow's run history</a:t>
            </a:r>
          </a:p>
        </p:txBody>
      </p:sp>
      <p:sp>
        <p:nvSpPr>
          <p:cNvPr id="11" name="Rectangle 10"/>
          <p:cNvSpPr/>
          <p:nvPr/>
        </p:nvSpPr>
        <p:spPr>
          <a:xfrm>
            <a:off x="317525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Read the step status</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Green tick, red cross or greyed out</a:t>
            </a:r>
          </a:p>
        </p:txBody>
      </p:sp>
      <p:sp>
        <p:nvSpPr>
          <p:cNvPr id="17" name="Rectangle 16"/>
          <p:cNvSpPr/>
          <p:nvPr/>
        </p:nvSpPr>
        <p:spPr>
          <a:xfrm>
            <a:off x="59481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300" b="1">
                <a:solidFill>
                  <a:srgbClr val="161B26"/>
                </a:solidFill>
                <a:latin typeface="Arial"/>
              </a:rPr>
              <a:t>Open the failing step</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Inputs and outputs are both shown</a:t>
            </a:r>
          </a:p>
        </p:txBody>
      </p:sp>
      <p:sp>
        <p:nvSpPr>
          <p:cNvPr id="23" name="Rectangle 22"/>
          <p:cNvSpPr/>
          <p:nvPr/>
        </p:nvSpPr>
        <p:spPr>
          <a:xfrm>
            <a:off x="872109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300" b="1">
                <a:solidFill>
                  <a:srgbClr val="161B26"/>
                </a:solidFill>
                <a:latin typeface="Arial"/>
              </a:rPr>
              <a:t>Compare with expectation</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000" b="0">
                <a:solidFill>
                  <a:srgbClr val="5B6372"/>
                </a:solidFill>
                <a:latin typeface="Arial"/>
              </a:rPr>
              <a:t>Usually the wrong data arrived, not a broken action</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Three states look similar and mean different things: succeeded, failed, and skipped.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READ CAREFULLY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Three Run States That Look Alike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State</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What it means</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What to do</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Succeeded</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The step ran and completed</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Check the output is what you expected</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Failed</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The step ran and errored</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Read the error and the step inputs</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Skipped</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The step never ran</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Check the branch condition above it</a:t>
            </a:r>
          </a:p>
        </p:txBody>
      </p:sp>
      <p:sp>
        <p:nvSpPr>
          <p:cNvPr id="31" name="TextBox 30"/>
          <p:cNvSpPr txBox="1"/>
          <p:nvPr/>
        </p:nvSpPr>
        <p:spPr>
          <a:xfrm>
            <a:off x="777240" y="4032504"/>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A skipped action in an untaken branch is correct behaviour, not a bug.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ROUTING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Conditions and Branching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 condition is a test</a:t>
            </a:r>
          </a:p>
          <a:p>
            <a:pPr algn="l">
              <a:spcAft>
                <a:spcPts val="300"/>
              </a:spcAft>
            </a:pPr>
            <a:r>
              <a:rPr sz="1200" b="0">
                <a:solidFill>
                  <a:srgbClr val="5B6372"/>
                </a:solidFill>
                <a:latin typeface="Arial"/>
              </a:rPr>
              <a:t>It evaluates to true or false, nothing else.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Two branches</a:t>
            </a:r>
          </a:p>
          <a:p>
            <a:pPr algn="l">
              <a:spcAft>
                <a:spcPts val="300"/>
              </a:spcAft>
            </a:pPr>
            <a:r>
              <a:rPr sz="1200" b="0">
                <a:solidFill>
                  <a:srgbClr val="5B6372"/>
                </a:solidFill>
                <a:latin typeface="Arial"/>
              </a:rPr>
              <a:t>If yes and If no; both need building and testing.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Test both paths</a:t>
            </a:r>
          </a:p>
          <a:p>
            <a:pPr algn="l">
              <a:spcAft>
                <a:spcPts val="300"/>
              </a:spcAft>
            </a:pPr>
            <a:r>
              <a:rPr sz="1200" b="0">
                <a:solidFill>
                  <a:srgbClr val="5B6372"/>
                </a:solidFill>
                <a:latin typeface="Arial"/>
              </a:rPr>
              <a:t>A branch that never ran is a branch you have not tested.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it shallow</a:t>
            </a:r>
          </a:p>
          <a:p>
            <a:pPr algn="l">
              <a:spcAft>
                <a:spcPts val="300"/>
              </a:spcAft>
            </a:pPr>
            <a:r>
              <a:rPr sz="1200" b="0">
                <a:solidFill>
                  <a:srgbClr val="5B6372"/>
                </a:solidFill>
                <a:latin typeface="Arial"/>
              </a:rPr>
              <a:t>Deeply nested conditions become unmaintainable quickly.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HUMAN IN THE LOOP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an Approval Suspends a Run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1505102" cy="713232"/>
          </a:xfrm>
          <a:prstGeom prst="rect">
            <a:avLst/>
          </a:prstGeom>
          <a:noFill/>
        </p:spPr>
        <p:txBody>
          <a:bodyPr wrap="square" anchor="ctr">
            <a:spAutoFit/>
          </a:bodyPr>
          <a:lstStyle/>
          <a:p>
            <a:pPr algn="ctr">
              <a:spcAft>
                <a:spcPts val="400"/>
              </a:spcAft>
            </a:pPr>
            <a:r>
              <a:rPr sz="1300" b="1">
                <a:solidFill>
                  <a:srgbClr val="161B26"/>
                </a:solidFill>
                <a:latin typeface="Arial"/>
              </a:rPr>
              <a:t>Flow reaches the approval</a:t>
            </a:r>
          </a:p>
        </p:txBody>
      </p:sp>
      <p:sp>
        <p:nvSpPr>
          <p:cNvPr id="10" name="TextBox 9"/>
          <p:cNvSpPr txBox="1"/>
          <p:nvPr/>
        </p:nvSpPr>
        <p:spPr>
          <a:xfrm>
            <a:off x="905256"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Start and wait for an approval</a:t>
            </a:r>
          </a:p>
        </p:txBody>
      </p:sp>
      <p:sp>
        <p:nvSpPr>
          <p:cNvPr id="11" name="Rectangle 10"/>
          <p:cNvSpPr/>
          <p:nvPr/>
        </p:nvSpPr>
        <p:spPr>
          <a:xfrm>
            <a:off x="262067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73771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95574"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95574"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23590"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Run suspends</a:t>
            </a:r>
          </a:p>
        </p:txBody>
      </p:sp>
      <p:sp>
        <p:nvSpPr>
          <p:cNvPr id="16" name="TextBox 15"/>
          <p:cNvSpPr txBox="1"/>
          <p:nvPr/>
        </p:nvSpPr>
        <p:spPr>
          <a:xfrm>
            <a:off x="3123590"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It genuinely waits; it is not polling</a:t>
            </a:r>
          </a:p>
        </p:txBody>
      </p:sp>
      <p:sp>
        <p:nvSpPr>
          <p:cNvPr id="17" name="Rectangle 16"/>
          <p:cNvSpPr/>
          <p:nvPr/>
        </p:nvSpPr>
        <p:spPr>
          <a:xfrm>
            <a:off x="483900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495604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13908"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3908"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1924"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Approver responds</a:t>
            </a:r>
          </a:p>
        </p:txBody>
      </p:sp>
      <p:sp>
        <p:nvSpPr>
          <p:cNvPr id="22" name="TextBox 21"/>
          <p:cNvSpPr txBox="1"/>
          <p:nvPr/>
        </p:nvSpPr>
        <p:spPr>
          <a:xfrm>
            <a:off x="5341924"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In Teams, Outlook or the Approvals app</a:t>
            </a:r>
          </a:p>
        </p:txBody>
      </p:sp>
      <p:sp>
        <p:nvSpPr>
          <p:cNvPr id="23" name="Rectangle 22"/>
          <p:cNvSpPr/>
          <p:nvPr/>
        </p:nvSpPr>
        <p:spPr>
          <a:xfrm>
            <a:off x="7057338"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7174382"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32242"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32242"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60258"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Run resumes</a:t>
            </a:r>
          </a:p>
        </p:txBody>
      </p:sp>
      <p:sp>
        <p:nvSpPr>
          <p:cNvPr id="28" name="TextBox 27"/>
          <p:cNvSpPr txBox="1"/>
          <p:nvPr/>
        </p:nvSpPr>
        <p:spPr>
          <a:xfrm>
            <a:off x="7560258" y="3401568"/>
            <a:ext cx="1505102" cy="804672"/>
          </a:xfrm>
          <a:prstGeom prst="rect">
            <a:avLst/>
          </a:prstGeom>
          <a:noFill/>
        </p:spPr>
        <p:txBody>
          <a:bodyPr wrap="square" anchor="t">
            <a:spAutoFit/>
          </a:bodyPr>
          <a:lstStyle/>
          <a:p>
            <a:pPr algn="ctr">
              <a:spcAft>
                <a:spcPts val="400"/>
              </a:spcAft>
            </a:pPr>
            <a:r>
              <a:rPr sz="1000" b="0">
                <a:solidFill>
                  <a:srgbClr val="5B6372"/>
                </a:solidFill>
                <a:latin typeface="Arial"/>
              </a:rPr>
              <a:t>Outcome becomes available as dynamic content</a:t>
            </a:r>
          </a:p>
        </p:txBody>
      </p:sp>
      <p:sp>
        <p:nvSpPr>
          <p:cNvPr id="29" name="Rectangle 28"/>
          <p:cNvSpPr/>
          <p:nvPr/>
        </p:nvSpPr>
        <p:spPr>
          <a:xfrm>
            <a:off x="92756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93927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50576"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50576"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78592"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Branch on outcome</a:t>
            </a:r>
          </a:p>
        </p:txBody>
      </p:sp>
      <p:sp>
        <p:nvSpPr>
          <p:cNvPr id="34" name="TextBox 33"/>
          <p:cNvSpPr txBox="1"/>
          <p:nvPr/>
        </p:nvSpPr>
        <p:spPr>
          <a:xfrm>
            <a:off x="9778592"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Different action for approve and reject</a:t>
            </a:r>
          </a:p>
        </p:txBody>
      </p:sp>
      <p:sp>
        <p:nvSpPr>
          <p:cNvPr id="35" name="Rectangle 34"/>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The run can wait for days. That is the feature, not a timeout to work around.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LEVELS OF CONTROL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Human In, On, or Out of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 the loop</a:t>
            </a:r>
          </a:p>
          <a:p>
            <a:pPr algn="l">
              <a:spcAft>
                <a:spcPts val="300"/>
              </a:spcAft>
            </a:pPr>
            <a:r>
              <a:rPr sz="1200" b="0">
                <a:solidFill>
                  <a:srgbClr val="5B6372"/>
                </a:solidFill>
                <a:latin typeface="Arial"/>
              </a:rPr>
              <a:t>A person must act before the process continues.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 the loop</a:t>
            </a:r>
          </a:p>
          <a:p>
            <a:pPr algn="l">
              <a:spcAft>
                <a:spcPts val="300"/>
              </a:spcAft>
            </a:pPr>
            <a:r>
              <a:rPr sz="1200" b="0">
                <a:solidFill>
                  <a:srgbClr val="5B6372"/>
                </a:solidFill>
                <a:latin typeface="Arial"/>
              </a:rPr>
              <a:t>The process runs; a person monitors and can intervene.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Out of the loop</a:t>
            </a:r>
          </a:p>
          <a:p>
            <a:pPr algn="l">
              <a:spcAft>
                <a:spcPts val="300"/>
              </a:spcAft>
            </a:pPr>
            <a:r>
              <a:rPr sz="1200" b="0">
                <a:solidFill>
                  <a:srgbClr val="5B6372"/>
                </a:solidFill>
                <a:latin typeface="Arial"/>
              </a:rPr>
              <a:t>Fully automatic, with no person involved.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Choose by consequence</a:t>
            </a:r>
          </a:p>
          <a:p>
            <a:pPr algn="l">
              <a:spcAft>
                <a:spcPts val="300"/>
              </a:spcAft>
            </a:pPr>
            <a:r>
              <a:rPr sz="1200" b="0">
                <a:solidFill>
                  <a:srgbClr val="5B6372"/>
                </a:solidFill>
                <a:latin typeface="Arial"/>
              </a:rPr>
              <a:t>The more expensive the mistake, the more you want a person in.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6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100" b="1">
                <a:solidFill>
                  <a:srgbClr val="F59E0B"/>
                </a:solidFill>
                <a:latin typeface="Arial"/>
              </a:rPr>
              <a:t>10 minutes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FEASIBILITY SCAN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Spotting an Automation Candidate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Repetitive</a:t>
            </a:r>
          </a:p>
          <a:p>
            <a:pPr algn="l">
              <a:spcAft>
                <a:spcPts val="300"/>
              </a:spcAft>
            </a:pPr>
            <a:r>
              <a:rPr sz="1200" b="0">
                <a:solidFill>
                  <a:srgbClr val="5B6372"/>
                </a:solidFill>
                <a:latin typeface="Arial"/>
              </a:rPr>
              <a:t>The same steps happen many times a week.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Rule-based</a:t>
            </a:r>
          </a:p>
          <a:p>
            <a:pPr algn="l">
              <a:spcAft>
                <a:spcPts val="300"/>
              </a:spcAft>
            </a:pPr>
            <a:r>
              <a:rPr sz="1200" b="0">
                <a:solidFill>
                  <a:srgbClr val="5B6372"/>
                </a:solidFill>
                <a:latin typeface="Arial"/>
              </a:rPr>
              <a:t>The decision can be written down as a rule.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Time-consuming</a:t>
            </a:r>
          </a:p>
          <a:p>
            <a:pPr algn="l">
              <a:spcAft>
                <a:spcPts val="300"/>
              </a:spcAft>
            </a:pPr>
            <a:r>
              <a:rPr sz="1200" b="0">
                <a:solidFill>
                  <a:srgbClr val="5B6372"/>
                </a:solidFill>
                <a:latin typeface="Arial"/>
              </a:rPr>
              <a:t>Enough volume that the saving is real.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Digital already</a:t>
            </a:r>
          </a:p>
          <a:p>
            <a:pPr algn="l">
              <a:spcAft>
                <a:spcPts val="300"/>
              </a:spcAft>
            </a:pPr>
            <a:r>
              <a:rPr sz="1200" b="0">
                <a:solidFill>
                  <a:srgbClr val="5B6372"/>
                </a:solidFill>
                <a:latin typeface="Arial"/>
              </a:rPr>
              <a:t>The data is already in a system, not on paper.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DECISION RULE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Automate This Process, or Fix It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331720"/>
            <a:ext cx="3017520" cy="210312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88920"/>
            <a:ext cx="2468880" cy="1188720"/>
          </a:xfrm>
          <a:prstGeom prst="rect">
            <a:avLst/>
          </a:prstGeom>
          <a:noFill/>
        </p:spPr>
        <p:txBody>
          <a:bodyPr wrap="square" anchor="ctr">
            <a:spAutoFit/>
          </a:bodyPr>
          <a:lstStyle/>
          <a:p>
            <a:pPr algn="ctr">
              <a:spcAft>
                <a:spcPts val="400"/>
              </a:spcAft>
            </a:pPr>
            <a:r>
              <a:rPr sz="1300" b="1">
                <a:solidFill>
                  <a:srgbClr val="FFFFFF"/>
                </a:solidFill>
                <a:latin typeface="Arial"/>
              </a:rPr>
              <a:t>Is the current process well understood and stable?</a:t>
            </a:r>
          </a:p>
        </p:txBody>
      </p:sp>
      <p:sp>
        <p:nvSpPr>
          <p:cNvPr id="9" name="Rectangle 8"/>
          <p:cNvSpPr/>
          <p:nvPr/>
        </p:nvSpPr>
        <p:spPr>
          <a:xfrm>
            <a:off x="3931920" y="2761488"/>
            <a:ext cx="3200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251960" y="2732227"/>
            <a:ext cx="182880" cy="113385"/>
          </a:xfrm>
          <a:custGeom>
            <a:avLst/>
            <a:gdLst/>
            <a:ahLst/>
            <a:cxnLst/>
            <a:rect l="l" t="t" r="r" b="b"/>
            <a:pathLst>
              <a:path w="182880" h="113385">
                <a:moveTo>
                  <a:pt x="0" y="0"/>
                </a:moveTo>
                <a:lnTo>
                  <a:pt x="182880" y="56693"/>
                </a:lnTo>
                <a:lnTo>
                  <a:pt x="0" y="113385"/>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96596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965960"/>
            <a:ext cx="91440" cy="1920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112264"/>
            <a:ext cx="6400800" cy="365760"/>
          </a:xfrm>
          <a:prstGeom prst="rect">
            <a:avLst/>
          </a:prstGeom>
          <a:noFill/>
        </p:spPr>
        <p:txBody>
          <a:bodyPr wrap="square" anchor="t">
            <a:spAutoFit/>
          </a:bodyPr>
          <a:lstStyle/>
          <a:p>
            <a:pPr algn="l">
              <a:spcAft>
                <a:spcPts val="400"/>
              </a:spcAft>
            </a:pPr>
            <a:r>
              <a:rPr sz="1300" b="1">
                <a:solidFill>
                  <a:srgbClr val="10B981"/>
                </a:solidFill>
                <a:latin typeface="Arial"/>
              </a:rPr>
              <a:t>YES</a:t>
            </a:r>
          </a:p>
        </p:txBody>
      </p:sp>
      <p:sp>
        <p:nvSpPr>
          <p:cNvPr id="14" name="TextBox 13"/>
          <p:cNvSpPr txBox="1"/>
          <p:nvPr/>
        </p:nvSpPr>
        <p:spPr>
          <a:xfrm>
            <a:off x="4828032" y="2514600"/>
            <a:ext cx="6400800" cy="1280160"/>
          </a:xfrm>
          <a:prstGeom prst="rect">
            <a:avLst/>
          </a:prstGeom>
          <a:noFill/>
        </p:spPr>
        <p:txBody>
          <a:bodyPr wrap="square">
            <a:spAutoFit/>
          </a:bodyPr>
          <a:lstStyle/>
          <a:p>
            <a:pPr>
              <a:spcAft>
                <a:spcPts val="600"/>
              </a:spcAft>
            </a:pPr>
            <a:r>
              <a:rPr sz="1300">
                <a:solidFill>
                  <a:srgbClr val="161B26"/>
                </a:solidFill>
                <a:latin typeface="Arial"/>
              </a:rPr>
              <a:t>•  Automate it — the rules are known</a:t>
            </a:r>
          </a:p>
          <a:p>
            <a:pPr>
              <a:spcAft>
                <a:spcPts val="600"/>
              </a:spcAft>
            </a:pPr>
            <a:r>
              <a:rPr sz="1300">
                <a:solidFill>
                  <a:srgbClr val="161B26"/>
                </a:solidFill>
                <a:latin typeface="Arial"/>
              </a:rPr>
              <a:t>•  Document the rules before you build</a:t>
            </a:r>
          </a:p>
        </p:txBody>
      </p:sp>
      <p:sp>
        <p:nvSpPr>
          <p:cNvPr id="15" name="Rectangle 14"/>
          <p:cNvSpPr/>
          <p:nvPr/>
        </p:nvSpPr>
        <p:spPr>
          <a:xfrm>
            <a:off x="3931920" y="5001768"/>
            <a:ext cx="3200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251960" y="4972507"/>
            <a:ext cx="182880" cy="113385"/>
          </a:xfrm>
          <a:custGeom>
            <a:avLst/>
            <a:gdLst/>
            <a:ahLst/>
            <a:cxnLst/>
            <a:rect l="l" t="t" r="r" b="b"/>
            <a:pathLst>
              <a:path w="182880" h="113385">
                <a:moveTo>
                  <a:pt x="0" y="0"/>
                </a:moveTo>
                <a:lnTo>
                  <a:pt x="182880" y="56693"/>
                </a:lnTo>
                <a:lnTo>
                  <a:pt x="0" y="113385"/>
                </a:lnTo>
                <a:close/>
              </a:path>
            </a:pathLst>
          </a:cu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420624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4206240"/>
            <a:ext cx="91440" cy="1920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4352544"/>
            <a:ext cx="6400800" cy="365760"/>
          </a:xfrm>
          <a:prstGeom prst="rect">
            <a:avLst/>
          </a:prstGeom>
          <a:noFill/>
        </p:spPr>
        <p:txBody>
          <a:bodyPr wrap="square" anchor="t">
            <a:spAutoFit/>
          </a:bodyPr>
          <a:lstStyle/>
          <a:p>
            <a:pPr algn="l">
              <a:spcAft>
                <a:spcPts val="400"/>
              </a:spcAft>
            </a:pPr>
            <a:r>
              <a:rPr sz="1300" b="1">
                <a:solidFill>
                  <a:srgbClr val="F59E0B"/>
                </a:solidFill>
                <a:latin typeface="Arial"/>
              </a:rPr>
              <a:t>NO</a:t>
            </a:r>
          </a:p>
        </p:txBody>
      </p:sp>
      <p:sp>
        <p:nvSpPr>
          <p:cNvPr id="20" name="TextBox 19"/>
          <p:cNvSpPr txBox="1"/>
          <p:nvPr/>
        </p:nvSpPr>
        <p:spPr>
          <a:xfrm>
            <a:off x="4828032" y="4754880"/>
            <a:ext cx="6400800" cy="1280160"/>
          </a:xfrm>
          <a:prstGeom prst="rect">
            <a:avLst/>
          </a:prstGeom>
          <a:noFill/>
        </p:spPr>
        <p:txBody>
          <a:bodyPr wrap="square">
            <a:spAutoFit/>
          </a:bodyPr>
          <a:lstStyle/>
          <a:p>
            <a:pPr>
              <a:spcAft>
                <a:spcPts val="600"/>
              </a:spcAft>
            </a:pPr>
            <a:r>
              <a:rPr sz="1300">
                <a:solidFill>
                  <a:srgbClr val="161B26"/>
                </a:solidFill>
                <a:latin typeface="Arial"/>
              </a:rPr>
              <a:t>•  Fix the process first</a:t>
            </a:r>
          </a:p>
          <a:p>
            <a:pPr>
              <a:spcAft>
                <a:spcPts val="600"/>
              </a:spcAft>
            </a:pPr>
            <a:r>
              <a:rPr sz="1300">
                <a:solidFill>
                  <a:srgbClr val="161B26"/>
                </a:solidFill>
                <a:latin typeface="Arial"/>
              </a:rPr>
              <a:t>•  Automating a broken process makes it fail faster</a:t>
            </a:r>
          </a:p>
        </p:txBody>
      </p:sp>
      <p:sp>
        <p:nvSpPr>
          <p:cNvPr id="21" name="TextBox 20"/>
          <p:cNvSpPr txBox="1"/>
          <p:nvPr/>
        </p:nvSpPr>
        <p:spPr>
          <a:xfrm>
            <a:off x="777240" y="5989320"/>
            <a:ext cx="10607040" cy="457200"/>
          </a:xfrm>
          <a:prstGeom prst="rect">
            <a:avLst/>
          </a:prstGeom>
          <a:noFill/>
        </p:spPr>
        <p:txBody>
          <a:bodyPr wrap="square" anchor="t">
            <a:spAutoFit/>
          </a:bodyPr>
          <a:lstStyle/>
          <a:p>
            <a:pPr algn="l">
              <a:spcAft>
                <a:spcPts val="400"/>
              </a:spcAft>
            </a:pPr>
            <a:r>
              <a:rPr sz="1100" b="1">
                <a:solidFill>
                  <a:srgbClr val="7C3AED"/>
                </a:solidFill>
                <a:latin typeface="Arial"/>
              </a:rPr>
              <a:t>RULE   </a:t>
            </a:r>
            <a:r>
              <a:rPr sz="1300" b="0">
                <a:solidFill>
                  <a:srgbClr val="161B26"/>
                </a:solidFill>
                <a:latin typeface="Arial"/>
              </a:rPr>
              <a:t>Automation amplifies a process. It does not improve one.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OVER A THOUSAND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Connectors Are the Integration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Microsoft 365</a:t>
            </a:r>
          </a:p>
          <a:p>
            <a:pPr algn="l">
              <a:spcAft>
                <a:spcPts val="300"/>
              </a:spcAft>
            </a:pPr>
            <a:r>
              <a:rPr sz="1200" b="0">
                <a:solidFill>
                  <a:srgbClr val="5B6372"/>
                </a:solidFill>
                <a:latin typeface="Arial"/>
              </a:rPr>
              <a:t>Outlook, Excel, SharePoint, Teams, Forms, OneDrive.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Business systems</a:t>
            </a:r>
          </a:p>
          <a:p>
            <a:pPr algn="l">
              <a:spcAft>
                <a:spcPts val="300"/>
              </a:spcAft>
            </a:pPr>
            <a:r>
              <a:rPr sz="1200" b="0">
                <a:solidFill>
                  <a:srgbClr val="5B6372"/>
                </a:solidFill>
                <a:latin typeface="Arial"/>
              </a:rPr>
              <a:t>Dataverse, Dynamics, SQL, Salesforce, SAP.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Generic</a:t>
            </a:r>
          </a:p>
          <a:p>
            <a:pPr algn="l">
              <a:spcAft>
                <a:spcPts val="300"/>
              </a:spcAft>
            </a:pPr>
            <a:r>
              <a:rPr sz="1200" b="0">
                <a:solidFill>
                  <a:srgbClr val="5B6372"/>
                </a:solidFill>
                <a:latin typeface="Arial"/>
              </a:rPr>
              <a:t>HTTP, webhooks and custom connectors for anything else.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Each has actions and triggers</a:t>
            </a:r>
          </a:p>
          <a:p>
            <a:pPr algn="l">
              <a:spcAft>
                <a:spcPts val="300"/>
              </a:spcAft>
            </a:pPr>
            <a:r>
              <a:rPr sz="1200" b="0">
                <a:solidFill>
                  <a:srgbClr val="5B6372"/>
                </a:solidFill>
                <a:latin typeface="Arial"/>
              </a:rPr>
              <a:t>What it can start, and what it can do.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WHICH ONE DO I NEED?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Trigger Families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If you want...</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Use</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Example</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A reaction to an event</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Automated</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 form is submitted</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A person to start it</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Instant</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 button in the mobile app</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It to run on a clock</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Scheduled</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 month-end report</a:t>
            </a:r>
          </a:p>
        </p:txBody>
      </p:sp>
      <p:sp>
        <p:nvSpPr>
          <p:cNvPr id="31" name="Rectangle 30"/>
          <p:cNvSpPr/>
          <p:nvPr/>
        </p:nvSpPr>
        <p:spPr>
          <a:xfrm>
            <a:off x="777240" y="3803904"/>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803904"/>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A stage to drive it</a:t>
            </a:r>
          </a:p>
        </p:txBody>
      </p:sp>
      <p:sp>
        <p:nvSpPr>
          <p:cNvPr id="33" name="Rectangle 32"/>
          <p:cNvSpPr/>
          <p:nvPr/>
        </p:nvSpPr>
        <p:spPr>
          <a:xfrm>
            <a:off x="3542202"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Business process</a:t>
            </a:r>
          </a:p>
        </p:txBody>
      </p:sp>
      <p:sp>
        <p:nvSpPr>
          <p:cNvPr id="35" name="Rectangle 34"/>
          <p:cNvSpPr/>
          <p:nvPr/>
        </p:nvSpPr>
        <p:spPr>
          <a:xfrm>
            <a:off x="7476957"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6685"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An opportunity reaches Proposal</a:t>
            </a:r>
          </a:p>
        </p:txBody>
      </p:sp>
      <p:sp>
        <p:nvSpPr>
          <p:cNvPr id="37" name="TextBox 36"/>
          <p:cNvSpPr txBox="1"/>
          <p:nvPr/>
        </p:nvSpPr>
        <p:spPr>
          <a:xfrm>
            <a:off x="777240" y="4507992"/>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Choose the trigger by what should start the work, not by what is convenient.</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INSERT, DO NOT TYPE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Dynamic Content: The Number One Mistake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A token carrying a real value from an earlier step.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it looks like</a:t>
            </a:r>
          </a:p>
          <a:p>
            <a:pPr algn="l">
              <a:spcAft>
                <a:spcPts val="300"/>
              </a:spcAft>
            </a:pPr>
            <a:r>
              <a:rPr sz="1200" b="0">
                <a:solidFill>
                  <a:srgbClr val="5B6372"/>
                </a:solidFill>
                <a:latin typeface="Arial"/>
              </a:rPr>
              <a:t>A coloured chip in the field, not plain words.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failure</a:t>
            </a:r>
          </a:p>
          <a:p>
            <a:pPr algn="l">
              <a:spcAft>
                <a:spcPts val="300"/>
              </a:spcAft>
            </a:pPr>
            <a:r>
              <a:rPr sz="1200" b="0">
                <a:solidFill>
                  <a:srgbClr val="5B6372"/>
                </a:solidFill>
                <a:latin typeface="Arial"/>
              </a:rPr>
              <a:t>Typing the field name sends the literal words at run time.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symptom</a:t>
            </a:r>
          </a:p>
          <a:p>
            <a:pPr algn="l">
              <a:spcAft>
                <a:spcPts val="300"/>
              </a:spcAft>
            </a:pPr>
            <a:r>
              <a:rPr sz="1200" b="0">
                <a:solidFill>
                  <a:srgbClr val="5B6372"/>
                </a:solidFill>
                <a:latin typeface="Arial"/>
              </a:rPr>
              <a:t>The flow succeeds and the output is wrong.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READ THE OUTPUTS</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A green run does not mean a correct run.</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Every step succeeded. That tells you nothing about whether the right data moved.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THINK FIRST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Designing a Flow Before Building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Name the trigger</a:t>
            </a:r>
          </a:p>
          <a:p>
            <a:pPr algn="l">
              <a:spcAft>
                <a:spcPts val="300"/>
              </a:spcAft>
            </a:pPr>
            <a:r>
              <a:rPr sz="1200" b="0">
                <a:solidFill>
                  <a:srgbClr val="5B6372"/>
                </a:solidFill>
                <a:latin typeface="Arial"/>
              </a:rPr>
              <a:t>What single event starts this?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List the actions</a:t>
            </a:r>
          </a:p>
          <a:p>
            <a:pPr algn="l">
              <a:spcAft>
                <a:spcPts val="300"/>
              </a:spcAft>
            </a:pPr>
            <a:r>
              <a:rPr sz="1200" b="0">
                <a:solidFill>
                  <a:srgbClr val="5B6372"/>
                </a:solidFill>
                <a:latin typeface="Arial"/>
              </a:rPr>
              <a:t>In order, with the data each one needs.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Find the decisions</a:t>
            </a:r>
          </a:p>
          <a:p>
            <a:pPr algn="l">
              <a:spcAft>
                <a:spcPts val="300"/>
              </a:spcAft>
            </a:pPr>
            <a:r>
              <a:rPr sz="1200" b="0">
                <a:solidFill>
                  <a:srgbClr val="5B6372"/>
                </a:solidFill>
                <a:latin typeface="Arial"/>
              </a:rPr>
              <a:t>Anywhere the path could differ.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Decide the failure behaviour</a:t>
            </a:r>
          </a:p>
          <a:p>
            <a:pPr algn="l">
              <a:spcAft>
                <a:spcPts val="300"/>
              </a:spcAft>
            </a:pPr>
            <a:r>
              <a:rPr sz="1200" b="0">
                <a:solidFill>
                  <a:srgbClr val="5B6372"/>
                </a:solidFill>
                <a:latin typeface="Arial"/>
              </a:rPr>
              <a:t>What should happen when a step errors?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Manual Effort Concentrates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DECISION LENS</a:t>
            </a:r>
          </a:p>
        </p:txBody>
      </p:sp>
      <p:sp>
        <p:nvSpPr>
          <p:cNvPr id="11" name="TextBox 10"/>
          <p:cNvSpPr txBox="1"/>
          <p:nvPr/>
        </p:nvSpPr>
        <p:spPr>
          <a:xfrm>
            <a:off x="8778240" y="2560320"/>
            <a:ext cx="2377440" cy="1737360"/>
          </a:xfrm>
          <a:prstGeom prst="rect">
            <a:avLst/>
          </a:prstGeom>
          <a:noFill/>
        </p:spPr>
        <p:txBody>
          <a:bodyPr wrap="square" anchor="t">
            <a:spAutoFit/>
          </a:bodyPr>
          <a:lstStyle/>
          <a:p>
            <a:pPr algn="l">
              <a:spcAft>
                <a:spcPts val="400"/>
              </a:spcAft>
            </a:pPr>
            <a:r>
              <a:rPr sz="1300" b="0">
                <a:solidFill>
                  <a:srgbClr val="161B26"/>
                </a:solidFill>
                <a:latin typeface="Arial"/>
              </a:rPr>
              <a:t>Re-typing dominates — and it is the easiest thing on this chart to remove.</a:t>
            </a:r>
          </a:p>
        </p:txBody>
      </p:sp>
      <p:sp>
        <p:nvSpPr>
          <p:cNvPr id="12" name="Rectangle 11"/>
          <p:cNvSpPr/>
          <p:nvPr/>
        </p:nvSpPr>
        <p:spPr>
          <a:xfrm>
            <a:off x="8732520" y="434340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52628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526280"/>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507992"/>
            <a:ext cx="2011680" cy="777240"/>
          </a:xfrm>
          <a:prstGeom prst="rect">
            <a:avLst/>
          </a:prstGeom>
          <a:noFill/>
        </p:spPr>
        <p:txBody>
          <a:bodyPr wrap="square" anchor="t">
            <a:spAutoFit/>
          </a:bodyPr>
          <a:lstStyle/>
          <a:p>
            <a:pPr algn="l">
              <a:spcAft>
                <a:spcPts val="100"/>
              </a:spcAft>
            </a:pPr>
            <a:r>
              <a:rPr sz="1050" b="0">
                <a:solidFill>
                  <a:srgbClr val="5B6372"/>
                </a:solidFill>
                <a:latin typeface="Arial"/>
              </a:rPr>
              <a:t>Check the axis, the units</a:t>
            </a:r>
          </a:p>
          <a:p>
            <a:pPr algn="l">
              <a:spcAft>
                <a:spcPts val="100"/>
              </a:spcAft>
            </a:pPr>
            <a:r>
              <a:rPr sz="1050" b="0">
                <a:solidFill>
                  <a:srgbClr val="5B6372"/>
                </a:solidFill>
                <a:latin typeface="Arial"/>
              </a:rPr>
              <a:t>and the source before you act.</a:t>
            </a:r>
          </a:p>
        </p:txBody>
      </p:sp>
      <p:sp>
        <p:nvSpPr>
          <p:cNvPr id="16" name="Rectangle 15"/>
          <p:cNvSpPr/>
          <p:nvPr/>
        </p:nvSpPr>
        <p:spPr>
          <a:xfrm>
            <a:off x="8778240" y="5440680"/>
            <a:ext cx="2377440" cy="3840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440680"/>
            <a:ext cx="2194560" cy="384048"/>
          </a:xfrm>
          <a:prstGeom prst="rect">
            <a:avLst/>
          </a:prstGeom>
          <a:noFill/>
        </p:spPr>
        <p:txBody>
          <a:bodyPr wrap="square" anchor="ctr">
            <a:spAutoFit/>
          </a:bodyPr>
          <a:lstStyle/>
          <a:p>
            <a:pPr algn="l">
              <a:spcAft>
                <a:spcPts val="400"/>
              </a:spcAft>
            </a:pPr>
            <a:r>
              <a:rPr sz="900" b="0">
                <a:solidFill>
                  <a:srgbClr val="5B6372"/>
                </a:solidFill>
                <a:latin typeface="Arial"/>
              </a:rPr>
              <a:t>Native PowerPoint chart · editable data · verify source and units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FOUNDATION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Prepare the Power Platform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11</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K3 · A1</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selects the correct Power Platform environment, confirms the connectors and connections the course needs, and records the environment details that every later lab depends on.</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verified working environment with the Forms, Outlook, Excel, Approvals and SharePoint connections in place</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Power Platform admin centre, Power Automate</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K3 · A1</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Foundation</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Open the admin centre</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Select your environment</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Add missing connections</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Record the environment</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11)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Prepare the Power Platform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The environment selector shows the recorded environment, and every connector needed by the course appears under Connections with a working status.</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FOUNDATION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a Trigger and Actions Flow from Microsoft 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12</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K3 · A3</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creates a Microsoft Form, builds an automated cloud flow that starts on submission, retrieves the answers and sends a personalised confirmation to the address the requester entered.</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working Forms-to-email flow that acknowledges every enquiry automatically</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Power Automate, Microsoft Forms, Outlook</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K3 · A3</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Foundation</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Create the enquiry form</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Point the trigger at it</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Add Send an email (V2)</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Test and read the run history</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12)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a Trigger and Actions Flow from Microsoft 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One form submission produces one successful run, and the confirmation email arrives at the address entered in the form rather than the flow owner's mailbox.</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 Form Submissions to Excel Online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13</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K3 · A3</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extends the enquiry flow so each submission also writes a row into a named Excel table, producing an auditable log alongside the email acknowledgement.</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An enquiry flow that both emails the requester and appends a row to an Excel log table</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Power Automate, Microsoft Forms, Excel Online, OneDrive</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K3 · A3</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Prepare the Enquiry Log</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Add the Excel step</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Map each dynamic value</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Verify row and email</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13)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 Form Submissions to Excel Online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A single form submission produces one new row in the EnquiryLog table with all five columns populated, and one confirmation email.</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Branch a Flow with a Condition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14</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K3 · A3</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adds a condition so that enquiries are handled differently according to their content, sending an urgent notification down one branch and a standard acknowledgement down the other.</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branching flow whose two paths are both proven by a test submission</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Power Automate, Microsoft Forms, Outlook</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K3 · A3</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Decide the branching rule</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Configure the condition</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Build both branches</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Read the run history</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14)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Branch a Flow with a Condition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Two submissions produce two successful runs that each take a different branch, and the run history shows the untaken branch as skipped rather than failed.</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ADVANCED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Suspend a Flow for a Human Approval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15</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K5 · A7</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builds a leave-application flow that pauses at an approval action, waits for a named approver's decision, and then takes a different action for an approved and a rejected outcome.</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leave-application flow that suspends until an approver responds and records the outcome</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Power Automate, Approvals, Outlook, Teams</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K5 · A7</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Advanced</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Create the leave form</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Add the approval action</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Assign the approver</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Test both outcomes</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15)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Suspend a Flow for a Human Approval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The run remains in a waiting state until the approver responds, then resumes down the branch matching the decision and emails the applicant the correct outcome.</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CAN NOW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11</a:t>
            </a:r>
          </a:p>
          <a:p>
            <a:pPr algn="l">
              <a:spcAft>
                <a:spcPts val="300"/>
              </a:spcAft>
            </a:pPr>
            <a:r>
              <a:rPr sz="1000" b="0">
                <a:solidFill>
                  <a:srgbClr val="5B6372"/>
                </a:solidFill>
                <a:latin typeface="Arial"/>
              </a:rPr>
              <a:t>Identify the environment that holds your automation and confirm the connections it needs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12</a:t>
            </a:r>
          </a:p>
          <a:p>
            <a:pPr algn="l">
              <a:spcAft>
                <a:spcPts val="300"/>
              </a:spcAft>
            </a:pPr>
            <a:r>
              <a:rPr sz="1000" b="0">
                <a:solidFill>
                  <a:srgbClr val="5B6372"/>
                </a:solidFill>
                <a:latin typeface="Arial"/>
              </a:rPr>
              <a:t>Build an automated cloud flow that reacts to an event and sends a personalised response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13</a:t>
            </a:r>
          </a:p>
          <a:p>
            <a:pPr algn="l">
              <a:spcAft>
                <a:spcPts val="300"/>
              </a:spcAft>
            </a:pPr>
            <a:r>
              <a:rPr sz="1000" b="0">
                <a:solidFill>
                  <a:srgbClr val="5B6372"/>
                </a:solidFill>
                <a:latin typeface="Arial"/>
              </a:rPr>
              <a:t>Integrate a flow with a second system so every submission is recorded as a row of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14</a:t>
            </a:r>
          </a:p>
          <a:p>
            <a:pPr algn="l">
              <a:spcAft>
                <a:spcPts val="300"/>
              </a:spcAft>
            </a:pPr>
            <a:r>
              <a:rPr sz="1000" b="0">
                <a:solidFill>
                  <a:srgbClr val="5B6372"/>
                </a:solidFill>
                <a:latin typeface="Arial"/>
              </a:rPr>
              <a:t>Route a process down different paths according to the data it receives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15</a:t>
            </a:r>
          </a:p>
          <a:p>
            <a:pPr algn="l">
              <a:spcAft>
                <a:spcPts val="300"/>
              </a:spcAft>
            </a:pPr>
            <a:r>
              <a:rPr sz="1000" b="0">
                <a:solidFill>
                  <a:srgbClr val="5B6372"/>
                </a:solidFill>
                <a:latin typeface="Arial"/>
              </a:rPr>
              <a:t>Insert a human decision into an automated process so a consequential action needs a person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600" b="1">
                <a:solidFill>
                  <a:srgbClr val="161B26"/>
                </a:solidFill>
                <a:latin typeface="Arial"/>
              </a:rPr>
              <a:t>End of Day 3</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100" b="1">
                <a:solidFill>
                  <a:srgbClr val="10B981"/>
                </a:solidFill>
                <a:latin typeface="Arial"/>
              </a:rPr>
              <a:t>See you tomorrow</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Designing and Building Copilot Studio Agents</a:t>
            </a:r>
          </a:p>
        </p:txBody>
      </p:sp>
      <p:sp>
        <p:nvSpPr>
          <p:cNvPr id="7" name="TextBox 6"/>
          <p:cNvSpPr txBox="1"/>
          <p:nvPr/>
        </p:nvSpPr>
        <p:spPr>
          <a:xfrm>
            <a:off x="1161288" y="434340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Workflow vs agent · instructions · knowledge · tools · skills · connected agents · publishing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DAY 4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A workflow follows a fixed path; an agent decides which step to take next from its instructions.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An agent is made of instructions, knowledge, tools, skills and connected agents.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Instructions shape behaviour but are not enforced; tools, schemas and approvals are what actually enforce limits.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Grounding an agent in approved knowledge is what makes its answers citable and its refusals correct.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A tool lets an agent act on a system; a connected agent delegates a task to another specialised agent.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Publishing to a channel such as Microsoft Teams makes the agent available to real users.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WILL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800" b="1">
                <a:solidFill>
                  <a:srgbClr val="1F6FEB"/>
                </a:solidFill>
                <a:latin typeface="Arial"/>
              </a:rPr>
              <a:t>Labs 16–17</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300">
                <a:solidFill>
                  <a:srgbClr val="161B26"/>
                </a:solidFill>
                <a:latin typeface="Arial"/>
              </a:rPr>
              <a:t>•  Design a Scoped Agent Before You Build It</a:t>
            </a:r>
          </a:p>
          <a:p>
            <a:pPr>
              <a:spcAft>
                <a:spcPts val="900"/>
              </a:spcAft>
            </a:pPr>
            <a:r>
              <a:rPr sz="1300">
                <a:solidFill>
                  <a:srgbClr val="161B26"/>
                </a:solidFill>
                <a:latin typeface="Arial"/>
              </a:rPr>
              <a:t>•  Build and Ground a Copilot Studio Agent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800" b="1">
                <a:solidFill>
                  <a:srgbClr val="10B981"/>
                </a:solidFill>
                <a:latin typeface="Arial"/>
              </a:rPr>
              <a:t>Labs 18–19</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300">
                <a:solidFill>
                  <a:srgbClr val="161B26"/>
                </a:solidFill>
                <a:latin typeface="Arial"/>
              </a:rPr>
              <a:t>•  Give an Agent a Tool and a Knowledge Source</a:t>
            </a:r>
          </a:p>
          <a:p>
            <a:pPr>
              <a:spcAft>
                <a:spcPts val="900"/>
              </a:spcAft>
            </a:pPr>
            <a:r>
              <a:rPr sz="1300">
                <a:solidFill>
                  <a:srgbClr val="161B26"/>
                </a:solidFill>
                <a:latin typeface="Arial"/>
              </a:rPr>
              <a:t>•  Orchestrate Connected Agents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800" b="1">
                <a:solidFill>
                  <a:srgbClr val="7C3AED"/>
                </a:solidFill>
                <a:latin typeface="Arial"/>
              </a:rPr>
              <a:t>Labs 20–20</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300">
                <a:solidFill>
                  <a:srgbClr val="161B26"/>
                </a:solidFill>
                <a:latin typeface="Arial"/>
              </a:rPr>
              <a:t>•  Publish an Agent to Microsoft Teams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CORE DISTINCTION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Workflow and an Agent Are Not the Same Thing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Workflow</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Agent</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Path</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Fixed and defined in advance</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Chosen at run time by the model</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Input</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Structured — a form, a row, an event</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Natural language</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Behaviour</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Deterministic and repeatable</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Variable within its instructions</a:t>
            </a:r>
          </a:p>
        </p:txBody>
      </p:sp>
      <p:sp>
        <p:nvSpPr>
          <p:cNvPr id="31" name="Rectangle 30"/>
          <p:cNvSpPr/>
          <p:nvPr/>
        </p:nvSpPr>
        <p:spPr>
          <a:xfrm>
            <a:off x="777240" y="3803904"/>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803904"/>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Best for</a:t>
            </a:r>
          </a:p>
        </p:txBody>
      </p:sp>
      <p:sp>
        <p:nvSpPr>
          <p:cNvPr id="33" name="Rectangle 32"/>
          <p:cNvSpPr/>
          <p:nvPr/>
        </p:nvSpPr>
        <p:spPr>
          <a:xfrm>
            <a:off x="3542202"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Known, repeatable processes</a:t>
            </a:r>
          </a:p>
        </p:txBody>
      </p:sp>
      <p:sp>
        <p:nvSpPr>
          <p:cNvPr id="35" name="Rectangle 34"/>
          <p:cNvSpPr/>
          <p:nvPr/>
        </p:nvSpPr>
        <p:spPr>
          <a:xfrm>
            <a:off x="7476957"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6685"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Requests you cannot enumerate in advance</a:t>
            </a:r>
          </a:p>
        </p:txBody>
      </p:sp>
      <p:sp>
        <p:nvSpPr>
          <p:cNvPr id="37" name="TextBox 36"/>
          <p:cNvSpPr txBox="1"/>
          <p:nvPr/>
        </p:nvSpPr>
        <p:spPr>
          <a:xfrm>
            <a:off x="777240" y="4507992"/>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If the path is always the same, build a flow. An agent is for when it is not.</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AGENT ANATOMY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an Agent Is Made Of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Instructions</a:t>
            </a:r>
          </a:p>
          <a:p>
            <a:pPr algn="l">
              <a:spcAft>
                <a:spcPts val="300"/>
              </a:spcAft>
            </a:pPr>
            <a:r>
              <a:rPr sz="1100" b="0">
                <a:solidFill>
                  <a:srgbClr val="5B6372"/>
                </a:solidFill>
                <a:latin typeface="Arial"/>
              </a:rPr>
              <a:t>The role, the limits and the tone, written in prose.</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51248"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1248"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5346192" y="1892808"/>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Knowledge</a:t>
            </a:r>
          </a:p>
          <a:p>
            <a:pPr algn="l">
              <a:spcAft>
                <a:spcPts val="300"/>
              </a:spcAft>
            </a:pPr>
            <a:r>
              <a:rPr sz="1100" b="0">
                <a:solidFill>
                  <a:srgbClr val="5B6372"/>
                </a:solidFill>
                <a:latin typeface="Arial"/>
              </a:rPr>
              <a:t>The approved sources it may cite.</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87512" y="255117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7512"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8982456" y="1892808"/>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Tools</a:t>
            </a:r>
          </a:p>
          <a:p>
            <a:pPr algn="l">
              <a:spcAft>
                <a:spcPts val="300"/>
              </a:spcAft>
            </a:pPr>
            <a:r>
              <a:rPr sz="1100" b="0">
                <a:solidFill>
                  <a:srgbClr val="5B6372"/>
                </a:solidFill>
                <a:latin typeface="Arial"/>
              </a:rPr>
              <a:t>The actions it can take on real systems.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197096"/>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Skills</a:t>
            </a:r>
          </a:p>
          <a:p>
            <a:pPr algn="l">
              <a:spcAft>
                <a:spcPts val="300"/>
              </a:spcAft>
            </a:pPr>
            <a:r>
              <a:rPr sz="1100" b="0">
                <a:solidFill>
                  <a:srgbClr val="5B6372"/>
                </a:solidFill>
                <a:latin typeface="Arial"/>
              </a:rPr>
              <a:t>Instructions supplied on demand for a specific task.</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51248"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51248"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5346192" y="4197096"/>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Connected agents</a:t>
            </a:r>
          </a:p>
          <a:p>
            <a:pPr algn="l">
              <a:spcAft>
                <a:spcPts val="300"/>
              </a:spcAft>
            </a:pPr>
            <a:r>
              <a:rPr sz="1100" b="0">
                <a:solidFill>
                  <a:srgbClr val="5B6372"/>
                </a:solidFill>
                <a:latin typeface="Arial"/>
              </a:rPr>
              <a:t>Other agents it can delegate work to.</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87512"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87512"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8982456" y="4197096"/>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Channels</a:t>
            </a:r>
          </a:p>
          <a:p>
            <a:pPr algn="l">
              <a:spcAft>
                <a:spcPts val="300"/>
              </a:spcAft>
            </a:pPr>
            <a:r>
              <a:rPr sz="1100" b="0">
                <a:solidFill>
                  <a:srgbClr val="5B6372"/>
                </a:solidFill>
                <a:latin typeface="Arial"/>
              </a:rPr>
              <a:t>Where users actually meet it — Teams, a site, an app.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MOST IMPORTANT SLIDE TODAY</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Instructions are not enforcement.</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The model can ignore an instruction. It cannot ignore a tool that does not exist or an approval it cannot grant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RANKING THE CONTROLS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Actually Constrains an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Control</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Strength</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Why</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A tool the agent does not have</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Strongest</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It cannot call what does not exist</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A required human approval</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Strong</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The action cannot complete alone</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A schema or typed contract</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Medium</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Malformed data is rejected</a:t>
            </a:r>
          </a:p>
        </p:txBody>
      </p:sp>
      <p:sp>
        <p:nvSpPr>
          <p:cNvPr id="31" name="Rectangle 30"/>
          <p:cNvSpPr/>
          <p:nvPr/>
        </p:nvSpPr>
        <p:spPr>
          <a:xfrm>
            <a:off x="777240" y="3803904"/>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803904"/>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An instruction in prose</a:t>
            </a:r>
          </a:p>
        </p:txBody>
      </p:sp>
      <p:sp>
        <p:nvSpPr>
          <p:cNvPr id="33" name="Rectangle 32"/>
          <p:cNvSpPr/>
          <p:nvPr/>
        </p:nvSpPr>
        <p:spPr>
          <a:xfrm>
            <a:off x="3542202"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Weakest</a:t>
            </a:r>
          </a:p>
        </p:txBody>
      </p:sp>
      <p:sp>
        <p:nvSpPr>
          <p:cNvPr id="35" name="Rectangle 34"/>
          <p:cNvSpPr/>
          <p:nvPr/>
        </p:nvSpPr>
        <p:spPr>
          <a:xfrm>
            <a:off x="7476957"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6685"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The model may not follow it</a:t>
            </a:r>
          </a:p>
        </p:txBody>
      </p:sp>
      <p:sp>
        <p:nvSpPr>
          <p:cNvPr id="37" name="TextBox 36"/>
          <p:cNvSpPr txBox="1"/>
          <p:nvPr/>
        </p:nvSpPr>
        <p:spPr>
          <a:xfrm>
            <a:off x="777240" y="4507992"/>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A control the model cannot reach beats a rule you asked it to follow.</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INSTRUCTION CRAFT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Writing Instructions That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State the role</a:t>
            </a:r>
          </a:p>
          <a:p>
            <a:pPr algn="l">
              <a:spcAft>
                <a:spcPts val="300"/>
              </a:spcAft>
            </a:pPr>
            <a:r>
              <a:rPr sz="1200" b="0">
                <a:solidFill>
                  <a:srgbClr val="5B6372"/>
                </a:solidFill>
                <a:latin typeface="Arial"/>
              </a:rPr>
              <a:t>One sentence on who the agent is and who it serves.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State the sources</a:t>
            </a:r>
          </a:p>
          <a:p>
            <a:pPr algn="l">
              <a:spcAft>
                <a:spcPts val="300"/>
              </a:spcAft>
            </a:pPr>
            <a:r>
              <a:rPr sz="1200" b="0">
                <a:solidFill>
                  <a:srgbClr val="5B6372"/>
                </a:solidFill>
                <a:latin typeface="Arial"/>
              </a:rPr>
              <a:t>Which knowledge it may use, and that it must cite.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State the refusals</a:t>
            </a:r>
          </a:p>
          <a:p>
            <a:pPr algn="l">
              <a:spcAft>
                <a:spcPts val="300"/>
              </a:spcAft>
            </a:pPr>
            <a:r>
              <a:rPr sz="1200" b="0">
                <a:solidFill>
                  <a:srgbClr val="5B6372"/>
                </a:solidFill>
                <a:latin typeface="Arial"/>
              </a:rPr>
              <a:t>What is out of scope, explicitly.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State the escalation</a:t>
            </a:r>
          </a:p>
          <a:p>
            <a:pPr algn="l">
              <a:spcAft>
                <a:spcPts val="300"/>
              </a:spcAft>
            </a:pPr>
            <a:r>
              <a:rPr sz="1200" b="0">
                <a:solidFill>
                  <a:srgbClr val="5B6372"/>
                </a:solidFill>
                <a:latin typeface="Arial"/>
              </a:rPr>
              <a:t>Who to point the user to when it cannot help.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RETRIEVAL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Grounding an Agent in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Approve the source</a:t>
            </a:r>
          </a:p>
        </p:txBody>
      </p:sp>
      <p:sp>
        <p:nvSpPr>
          <p:cNvPr id="10" name="TextBox 9"/>
          <p:cNvSpPr txBox="1"/>
          <p:nvPr/>
        </p:nvSpPr>
        <p:spPr>
          <a:xfrm>
            <a:off x="905256" y="3401568"/>
            <a:ext cx="1505102" cy="804672"/>
          </a:xfrm>
          <a:prstGeom prst="rect">
            <a:avLst/>
          </a:prstGeom>
          <a:noFill/>
        </p:spPr>
        <p:txBody>
          <a:bodyPr wrap="square" anchor="t">
            <a:spAutoFit/>
          </a:bodyPr>
          <a:lstStyle/>
          <a:p>
            <a:pPr algn="ctr">
              <a:spcAft>
                <a:spcPts val="400"/>
              </a:spcAft>
            </a:pPr>
            <a:r>
              <a:rPr sz="1000" b="0">
                <a:solidFill>
                  <a:srgbClr val="5B6372"/>
                </a:solidFill>
                <a:latin typeface="Arial"/>
              </a:rPr>
              <a:t>Someone owns it and confirms it is current</a:t>
            </a:r>
          </a:p>
        </p:txBody>
      </p:sp>
      <p:sp>
        <p:nvSpPr>
          <p:cNvPr id="11" name="Rectangle 10"/>
          <p:cNvSpPr/>
          <p:nvPr/>
        </p:nvSpPr>
        <p:spPr>
          <a:xfrm>
            <a:off x="262067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73771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95574"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95574"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23590"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Add it as knowledge</a:t>
            </a:r>
          </a:p>
        </p:txBody>
      </p:sp>
      <p:sp>
        <p:nvSpPr>
          <p:cNvPr id="16" name="TextBox 15"/>
          <p:cNvSpPr txBox="1"/>
          <p:nvPr/>
        </p:nvSpPr>
        <p:spPr>
          <a:xfrm>
            <a:off x="3123590"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Only an attached source can be cited</a:t>
            </a:r>
          </a:p>
        </p:txBody>
      </p:sp>
      <p:sp>
        <p:nvSpPr>
          <p:cNvPr id="17" name="Rectangle 16"/>
          <p:cNvSpPr/>
          <p:nvPr/>
        </p:nvSpPr>
        <p:spPr>
          <a:xfrm>
            <a:off x="483900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495604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13908"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3908"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1924" y="2670048"/>
            <a:ext cx="1505102" cy="713232"/>
          </a:xfrm>
          <a:prstGeom prst="rect">
            <a:avLst/>
          </a:prstGeom>
          <a:noFill/>
        </p:spPr>
        <p:txBody>
          <a:bodyPr wrap="square" anchor="ctr">
            <a:spAutoFit/>
          </a:bodyPr>
          <a:lstStyle/>
          <a:p>
            <a:pPr algn="ctr">
              <a:spcAft>
                <a:spcPts val="400"/>
              </a:spcAft>
            </a:pPr>
            <a:r>
              <a:rPr sz="1300" b="1">
                <a:solidFill>
                  <a:srgbClr val="161B26"/>
                </a:solidFill>
                <a:latin typeface="Arial"/>
              </a:rPr>
              <a:t>Remove open-web search</a:t>
            </a:r>
          </a:p>
        </p:txBody>
      </p:sp>
      <p:sp>
        <p:nvSpPr>
          <p:cNvPr id="22" name="TextBox 21"/>
          <p:cNvSpPr txBox="1"/>
          <p:nvPr/>
        </p:nvSpPr>
        <p:spPr>
          <a:xfrm>
            <a:off x="5341924"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On by default, and rarely what you want</a:t>
            </a:r>
          </a:p>
        </p:txBody>
      </p:sp>
      <p:sp>
        <p:nvSpPr>
          <p:cNvPr id="23" name="Rectangle 22"/>
          <p:cNvSpPr/>
          <p:nvPr/>
        </p:nvSpPr>
        <p:spPr>
          <a:xfrm>
            <a:off x="7057338"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7174382"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32242"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32242"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60258"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Test a citation</a:t>
            </a:r>
          </a:p>
        </p:txBody>
      </p:sp>
      <p:sp>
        <p:nvSpPr>
          <p:cNvPr id="28" name="TextBox 27"/>
          <p:cNvSpPr txBox="1"/>
          <p:nvPr/>
        </p:nvSpPr>
        <p:spPr>
          <a:xfrm>
            <a:off x="7560258" y="3401568"/>
            <a:ext cx="1505102" cy="804672"/>
          </a:xfrm>
          <a:prstGeom prst="rect">
            <a:avLst/>
          </a:prstGeom>
          <a:noFill/>
        </p:spPr>
        <p:txBody>
          <a:bodyPr wrap="square" anchor="t">
            <a:spAutoFit/>
          </a:bodyPr>
          <a:lstStyle/>
          <a:p>
            <a:pPr algn="ctr">
              <a:spcAft>
                <a:spcPts val="400"/>
              </a:spcAft>
            </a:pPr>
            <a:r>
              <a:rPr sz="1000" b="0">
                <a:solidFill>
                  <a:srgbClr val="5B6372"/>
                </a:solidFill>
                <a:latin typeface="Arial"/>
              </a:rPr>
              <a:t>Confirm the answer names the section it used</a:t>
            </a:r>
          </a:p>
        </p:txBody>
      </p:sp>
      <p:sp>
        <p:nvSpPr>
          <p:cNvPr id="29" name="Rectangle 28"/>
          <p:cNvSpPr/>
          <p:nvPr/>
        </p:nvSpPr>
        <p:spPr>
          <a:xfrm>
            <a:off x="92756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93927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50576"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50576"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78592"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Test a refusal</a:t>
            </a:r>
          </a:p>
        </p:txBody>
      </p:sp>
      <p:sp>
        <p:nvSpPr>
          <p:cNvPr id="34" name="TextBox 33"/>
          <p:cNvSpPr txBox="1"/>
          <p:nvPr/>
        </p:nvSpPr>
        <p:spPr>
          <a:xfrm>
            <a:off x="9778592"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Ask something outside the source</a:t>
            </a:r>
          </a:p>
        </p:txBody>
      </p:sp>
      <p:sp>
        <p:nvSpPr>
          <p:cNvPr id="35" name="Rectangle 34"/>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An agent grounded in nothing will still answer. That is the problem.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DECISION RULE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Should the Agent Do This Alone?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331720"/>
            <a:ext cx="3017520" cy="210312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88920"/>
            <a:ext cx="2468880" cy="1188720"/>
          </a:xfrm>
          <a:prstGeom prst="rect">
            <a:avLst/>
          </a:prstGeom>
          <a:noFill/>
        </p:spPr>
        <p:txBody>
          <a:bodyPr wrap="square" anchor="ctr">
            <a:spAutoFit/>
          </a:bodyPr>
          <a:lstStyle/>
          <a:p>
            <a:pPr algn="ctr">
              <a:spcAft>
                <a:spcPts val="400"/>
              </a:spcAft>
            </a:pPr>
            <a:r>
              <a:rPr sz="1300" b="1">
                <a:solidFill>
                  <a:srgbClr val="FFFFFF"/>
                </a:solidFill>
                <a:latin typeface="Arial"/>
              </a:rPr>
              <a:t>Would a mistake here be expensive or public?</a:t>
            </a:r>
          </a:p>
        </p:txBody>
      </p:sp>
      <p:sp>
        <p:nvSpPr>
          <p:cNvPr id="9" name="Rectangle 8"/>
          <p:cNvSpPr/>
          <p:nvPr/>
        </p:nvSpPr>
        <p:spPr>
          <a:xfrm>
            <a:off x="3931920" y="2761488"/>
            <a:ext cx="3200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251960" y="2732227"/>
            <a:ext cx="182880" cy="113385"/>
          </a:xfrm>
          <a:custGeom>
            <a:avLst/>
            <a:gdLst/>
            <a:ahLst/>
            <a:cxnLst/>
            <a:rect l="l" t="t" r="r" b="b"/>
            <a:pathLst>
              <a:path w="182880" h="113385">
                <a:moveTo>
                  <a:pt x="0" y="0"/>
                </a:moveTo>
                <a:lnTo>
                  <a:pt x="182880" y="56693"/>
                </a:lnTo>
                <a:lnTo>
                  <a:pt x="0" y="113385"/>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96596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965960"/>
            <a:ext cx="91440" cy="1920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112264"/>
            <a:ext cx="6400800" cy="365760"/>
          </a:xfrm>
          <a:prstGeom prst="rect">
            <a:avLst/>
          </a:prstGeom>
          <a:noFill/>
        </p:spPr>
        <p:txBody>
          <a:bodyPr wrap="square" anchor="t">
            <a:spAutoFit/>
          </a:bodyPr>
          <a:lstStyle/>
          <a:p>
            <a:pPr algn="l">
              <a:spcAft>
                <a:spcPts val="400"/>
              </a:spcAft>
            </a:pPr>
            <a:r>
              <a:rPr sz="1300" b="1">
                <a:solidFill>
                  <a:srgbClr val="10B981"/>
                </a:solidFill>
                <a:latin typeface="Arial"/>
              </a:rPr>
              <a:t>YES</a:t>
            </a:r>
          </a:p>
        </p:txBody>
      </p:sp>
      <p:sp>
        <p:nvSpPr>
          <p:cNvPr id="14" name="TextBox 13"/>
          <p:cNvSpPr txBox="1"/>
          <p:nvPr/>
        </p:nvSpPr>
        <p:spPr>
          <a:xfrm>
            <a:off x="4828032" y="2514600"/>
            <a:ext cx="6400800" cy="1280160"/>
          </a:xfrm>
          <a:prstGeom prst="rect">
            <a:avLst/>
          </a:prstGeom>
          <a:noFill/>
        </p:spPr>
        <p:txBody>
          <a:bodyPr wrap="square">
            <a:spAutoFit/>
          </a:bodyPr>
          <a:lstStyle/>
          <a:p>
            <a:pPr>
              <a:spcAft>
                <a:spcPts val="600"/>
              </a:spcAft>
            </a:pPr>
            <a:r>
              <a:rPr sz="1300">
                <a:solidFill>
                  <a:srgbClr val="161B26"/>
                </a:solidFill>
                <a:latin typeface="Arial"/>
              </a:rPr>
              <a:t>•  Require a human approval before it takes effect</a:t>
            </a:r>
          </a:p>
          <a:p>
            <a:pPr>
              <a:spcAft>
                <a:spcPts val="600"/>
              </a:spcAft>
            </a:pPr>
            <a:r>
              <a:rPr sz="1300">
                <a:solidFill>
                  <a:srgbClr val="161B26"/>
                </a:solidFill>
                <a:latin typeface="Arial"/>
              </a:rPr>
              <a:t>•  Log the request either way</a:t>
            </a:r>
          </a:p>
        </p:txBody>
      </p:sp>
      <p:sp>
        <p:nvSpPr>
          <p:cNvPr id="15" name="Rectangle 14"/>
          <p:cNvSpPr/>
          <p:nvPr/>
        </p:nvSpPr>
        <p:spPr>
          <a:xfrm>
            <a:off x="3931920" y="5001768"/>
            <a:ext cx="3200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251960" y="4972507"/>
            <a:ext cx="182880" cy="113385"/>
          </a:xfrm>
          <a:custGeom>
            <a:avLst/>
            <a:gdLst/>
            <a:ahLst/>
            <a:cxnLst/>
            <a:rect l="l" t="t" r="r" b="b"/>
            <a:pathLst>
              <a:path w="182880" h="113385">
                <a:moveTo>
                  <a:pt x="0" y="0"/>
                </a:moveTo>
                <a:lnTo>
                  <a:pt x="182880" y="56693"/>
                </a:lnTo>
                <a:lnTo>
                  <a:pt x="0" y="113385"/>
                </a:lnTo>
                <a:close/>
              </a:path>
            </a:pathLst>
          </a:cu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420624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4206240"/>
            <a:ext cx="91440" cy="1920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4352544"/>
            <a:ext cx="6400800" cy="365760"/>
          </a:xfrm>
          <a:prstGeom prst="rect">
            <a:avLst/>
          </a:prstGeom>
          <a:noFill/>
        </p:spPr>
        <p:txBody>
          <a:bodyPr wrap="square" anchor="t">
            <a:spAutoFit/>
          </a:bodyPr>
          <a:lstStyle/>
          <a:p>
            <a:pPr algn="l">
              <a:spcAft>
                <a:spcPts val="400"/>
              </a:spcAft>
            </a:pPr>
            <a:r>
              <a:rPr sz="1300" b="1">
                <a:solidFill>
                  <a:srgbClr val="F59E0B"/>
                </a:solidFill>
                <a:latin typeface="Arial"/>
              </a:rPr>
              <a:t>NO</a:t>
            </a:r>
          </a:p>
        </p:txBody>
      </p:sp>
      <p:sp>
        <p:nvSpPr>
          <p:cNvPr id="20" name="TextBox 19"/>
          <p:cNvSpPr txBox="1"/>
          <p:nvPr/>
        </p:nvSpPr>
        <p:spPr>
          <a:xfrm>
            <a:off x="4828032" y="4754880"/>
            <a:ext cx="6400800" cy="1280160"/>
          </a:xfrm>
          <a:prstGeom prst="rect">
            <a:avLst/>
          </a:prstGeom>
          <a:noFill/>
        </p:spPr>
        <p:txBody>
          <a:bodyPr wrap="square">
            <a:spAutoFit/>
          </a:bodyPr>
          <a:lstStyle/>
          <a:p>
            <a:pPr>
              <a:spcAft>
                <a:spcPts val="600"/>
              </a:spcAft>
            </a:pPr>
            <a:r>
              <a:rPr sz="1300">
                <a:solidFill>
                  <a:srgbClr val="161B26"/>
                </a:solidFill>
                <a:latin typeface="Arial"/>
              </a:rPr>
              <a:t>•  The agent may act, with an audit record</a:t>
            </a:r>
          </a:p>
          <a:p>
            <a:pPr>
              <a:spcAft>
                <a:spcPts val="600"/>
              </a:spcAft>
            </a:pPr>
            <a:r>
              <a:rPr sz="1300">
                <a:solidFill>
                  <a:srgbClr val="161B26"/>
                </a:solidFill>
                <a:latin typeface="Arial"/>
              </a:rPr>
              <a:t>•  Review the log periodically</a:t>
            </a:r>
          </a:p>
        </p:txBody>
      </p:sp>
      <p:sp>
        <p:nvSpPr>
          <p:cNvPr id="21" name="TextBox 20"/>
          <p:cNvSpPr txBox="1"/>
          <p:nvPr/>
        </p:nvSpPr>
        <p:spPr>
          <a:xfrm>
            <a:off x="777240" y="5989320"/>
            <a:ext cx="10607040" cy="457200"/>
          </a:xfrm>
          <a:prstGeom prst="rect">
            <a:avLst/>
          </a:prstGeom>
          <a:noFill/>
        </p:spPr>
        <p:txBody>
          <a:bodyPr wrap="square" anchor="t">
            <a:spAutoFit/>
          </a:bodyPr>
          <a:lstStyle/>
          <a:p>
            <a:pPr algn="l">
              <a:spcAft>
                <a:spcPts val="400"/>
              </a:spcAft>
            </a:pPr>
            <a:r>
              <a:rPr sz="1100" b="1">
                <a:solidFill>
                  <a:srgbClr val="7C3AED"/>
                </a:solidFill>
                <a:latin typeface="Arial"/>
              </a:rPr>
              <a:t>RULE   </a:t>
            </a:r>
            <a:r>
              <a:rPr sz="1300" b="0">
                <a:solidFill>
                  <a:srgbClr val="161B26"/>
                </a:solidFill>
                <a:latin typeface="Arial"/>
              </a:rPr>
              <a:t>Draw the boundary of agency before you build, not after the first incident.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ANSWERING TO DOING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Tools: Letting an Agent 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 tool is a published flow</a:t>
            </a:r>
          </a:p>
          <a:p>
            <a:pPr algn="l">
              <a:spcAft>
                <a:spcPts val="300"/>
              </a:spcAft>
            </a:pPr>
            <a:r>
              <a:rPr sz="1200" b="0">
                <a:solidFill>
                  <a:srgbClr val="5B6372"/>
                </a:solidFill>
                <a:latin typeface="Arial"/>
              </a:rPr>
              <a:t>The agent calls it; the flow does the 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description is the interface</a:t>
            </a:r>
          </a:p>
          <a:p>
            <a:pPr algn="l">
              <a:spcAft>
                <a:spcPts val="300"/>
              </a:spcAft>
            </a:pPr>
            <a:r>
              <a:rPr sz="1200" b="0">
                <a:solidFill>
                  <a:srgbClr val="5B6372"/>
                </a:solidFill>
                <a:latin typeface="Arial"/>
              </a:rPr>
              <a:t>It is how the model decides whether to call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Inputs and outputs are a contract</a:t>
            </a:r>
          </a:p>
          <a:p>
            <a:pPr algn="l">
              <a:spcAft>
                <a:spcPts val="300"/>
              </a:spcAft>
            </a:pPr>
            <a:r>
              <a:rPr sz="1200" b="0">
                <a:solidFill>
                  <a:srgbClr val="5B6372"/>
                </a:solidFill>
                <a:latin typeface="Arial"/>
              </a:rPr>
              <a:t>Ambiguous fields produce inconsistent behaviour.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Unpublished means unavailable</a:t>
            </a:r>
          </a:p>
          <a:p>
            <a:pPr algn="l">
              <a:spcAft>
                <a:spcPts val="300"/>
              </a:spcAft>
            </a:pPr>
            <a:r>
              <a:rPr sz="1200" b="0">
                <a:solidFill>
                  <a:srgbClr val="5B6372"/>
                </a:solidFill>
                <a:latin typeface="Arial"/>
              </a:rPr>
              <a:t>A flow that is not published cannot be attached.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TOOL DESIGN</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A vague tool description is a tool that is never called — or always called.</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The description is not documentation. It is the instruction the model actually acts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DELEGATION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Connected Agents and Orchestration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Request arrives</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At the orchestrating agent</a:t>
            </a:r>
          </a:p>
        </p:txBody>
      </p:sp>
      <p:sp>
        <p:nvSpPr>
          <p:cNvPr id="11" name="Rectangle 10"/>
          <p:cNvSpPr/>
          <p:nvPr/>
        </p:nvSpPr>
        <p:spPr>
          <a:xfrm>
            <a:off x="317525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Route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Matched to a specialist by description</a:t>
            </a:r>
          </a:p>
        </p:txBody>
      </p:sp>
      <p:sp>
        <p:nvSpPr>
          <p:cNvPr id="17" name="Rectangle 16"/>
          <p:cNvSpPr/>
          <p:nvPr/>
        </p:nvSpPr>
        <p:spPr>
          <a:xfrm>
            <a:off x="59481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Specialist answers</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Using its own knowledge and tools</a:t>
            </a:r>
          </a:p>
        </p:txBody>
      </p:sp>
      <p:sp>
        <p:nvSpPr>
          <p:cNvPr id="23" name="Rectangle 22"/>
          <p:cNvSpPr/>
          <p:nvPr/>
        </p:nvSpPr>
        <p:spPr>
          <a:xfrm>
            <a:off x="872109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Attribute</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The reply names which agent answered</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Overlapping specialist descriptions produce inconsistent routing. Make the boundaries explicit.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THREE KINDS OF TEST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Testing an Agent Properly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It answers what it should</a:t>
            </a:r>
          </a:p>
          <a:p>
            <a:pPr algn="l">
              <a:spcAft>
                <a:spcPts val="300"/>
              </a:spcAft>
            </a:pPr>
            <a:r>
              <a:rPr sz="1200" b="0">
                <a:solidFill>
                  <a:srgbClr val="5B6372"/>
                </a:solidFill>
                <a:latin typeface="Arial"/>
              </a:rPr>
              <a:t>In-scope questions, with a correct citation.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It refuses what it should</a:t>
            </a:r>
          </a:p>
          <a:p>
            <a:pPr algn="l">
              <a:spcAft>
                <a:spcPts val="300"/>
              </a:spcAft>
            </a:pPr>
            <a:r>
              <a:rPr sz="1200" b="0">
                <a:solidFill>
                  <a:srgbClr val="5B6372"/>
                </a:solidFill>
                <a:latin typeface="Arial"/>
              </a:rPr>
              <a:t>Out-of-scope questions produce a refusal, not a guess.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It handles the edge cases</a:t>
            </a:r>
          </a:p>
          <a:p>
            <a:pPr algn="l">
              <a:spcAft>
                <a:spcPts val="300"/>
              </a:spcAft>
            </a:pPr>
            <a:r>
              <a:rPr sz="1200" b="0">
                <a:solidFill>
                  <a:srgbClr val="5B6372"/>
                </a:solidFill>
                <a:latin typeface="Arial"/>
              </a:rPr>
              <a:t>The plausible-but-wrong inputs that look fine.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Every result is recorded</a:t>
            </a:r>
          </a:p>
          <a:p>
            <a:pPr algn="l">
              <a:spcAft>
                <a:spcPts val="300"/>
              </a:spcAft>
            </a:pPr>
            <a:r>
              <a:rPr sz="1200" b="0">
                <a:solidFill>
                  <a:srgbClr val="5B6372"/>
                </a:solidFill>
                <a:latin typeface="Arial"/>
              </a:rPr>
              <a:t>Expected versus actual, for each case.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Agents Fail in Testing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DECISION LENS</a:t>
            </a:r>
          </a:p>
        </p:txBody>
      </p:sp>
      <p:sp>
        <p:nvSpPr>
          <p:cNvPr id="11" name="TextBox 10"/>
          <p:cNvSpPr txBox="1"/>
          <p:nvPr/>
        </p:nvSpPr>
        <p:spPr>
          <a:xfrm>
            <a:off x="8778240" y="2560320"/>
            <a:ext cx="2377440" cy="1737360"/>
          </a:xfrm>
          <a:prstGeom prst="rect">
            <a:avLst/>
          </a:prstGeom>
          <a:noFill/>
        </p:spPr>
        <p:txBody>
          <a:bodyPr wrap="square" anchor="t">
            <a:spAutoFit/>
          </a:bodyPr>
          <a:lstStyle/>
          <a:p>
            <a:pPr algn="l">
              <a:spcAft>
                <a:spcPts val="400"/>
              </a:spcAft>
            </a:pPr>
            <a:r>
              <a:rPr sz="1300" b="0">
                <a:solidFill>
                  <a:srgbClr val="161B26"/>
                </a:solidFill>
                <a:latin typeface="Arial"/>
              </a:rPr>
              <a:t>Most failures are scope and invention — which is exactly what refusal tests catch.</a:t>
            </a:r>
          </a:p>
        </p:txBody>
      </p:sp>
      <p:sp>
        <p:nvSpPr>
          <p:cNvPr id="12" name="Rectangle 11"/>
          <p:cNvSpPr/>
          <p:nvPr/>
        </p:nvSpPr>
        <p:spPr>
          <a:xfrm>
            <a:off x="8732520" y="434340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52628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526280"/>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507992"/>
            <a:ext cx="2011680" cy="777240"/>
          </a:xfrm>
          <a:prstGeom prst="rect">
            <a:avLst/>
          </a:prstGeom>
          <a:noFill/>
        </p:spPr>
        <p:txBody>
          <a:bodyPr wrap="square" anchor="t">
            <a:spAutoFit/>
          </a:bodyPr>
          <a:lstStyle/>
          <a:p>
            <a:pPr algn="l">
              <a:spcAft>
                <a:spcPts val="100"/>
              </a:spcAft>
            </a:pPr>
            <a:r>
              <a:rPr sz="1050" b="0">
                <a:solidFill>
                  <a:srgbClr val="5B6372"/>
                </a:solidFill>
                <a:latin typeface="Arial"/>
              </a:rPr>
              <a:t>Check the axis, the units</a:t>
            </a:r>
          </a:p>
          <a:p>
            <a:pPr algn="l">
              <a:spcAft>
                <a:spcPts val="100"/>
              </a:spcAft>
            </a:pPr>
            <a:r>
              <a:rPr sz="1050" b="0">
                <a:solidFill>
                  <a:srgbClr val="5B6372"/>
                </a:solidFill>
                <a:latin typeface="Arial"/>
              </a:rPr>
              <a:t>and the source before you act.</a:t>
            </a:r>
          </a:p>
        </p:txBody>
      </p:sp>
      <p:sp>
        <p:nvSpPr>
          <p:cNvPr id="16" name="Rectangle 15"/>
          <p:cNvSpPr/>
          <p:nvPr/>
        </p:nvSpPr>
        <p:spPr>
          <a:xfrm>
            <a:off x="8778240" y="5440680"/>
            <a:ext cx="2377440" cy="3840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440680"/>
            <a:ext cx="2194560" cy="384048"/>
          </a:xfrm>
          <a:prstGeom prst="rect">
            <a:avLst/>
          </a:prstGeom>
          <a:noFill/>
        </p:spPr>
        <p:txBody>
          <a:bodyPr wrap="square" anchor="ctr">
            <a:spAutoFit/>
          </a:bodyPr>
          <a:lstStyle/>
          <a:p>
            <a:pPr algn="l">
              <a:spcAft>
                <a:spcPts val="400"/>
              </a:spcAft>
            </a:pPr>
            <a:r>
              <a:rPr sz="900" b="0">
                <a:solidFill>
                  <a:srgbClr val="5B6372"/>
                </a:solidFill>
                <a:latin typeface="Arial"/>
              </a:rPr>
              <a:t>Native PowerPoint chart · editable data · verify source and units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GOING LIVE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Publishing and Channels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Users get the published version</a:t>
            </a:r>
          </a:p>
          <a:p>
            <a:pPr algn="l">
              <a:spcAft>
                <a:spcPts val="300"/>
              </a:spcAft>
            </a:pPr>
            <a:r>
              <a:rPr sz="1200" b="0">
                <a:solidFill>
                  <a:srgbClr val="5B6372"/>
                </a:solidFill>
                <a:latin typeface="Arial"/>
              </a:rPr>
              <a:t>Not your latest unpublished edit.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Test in the channel</a:t>
            </a:r>
          </a:p>
          <a:p>
            <a:pPr algn="l">
              <a:spcAft>
                <a:spcPts val="300"/>
              </a:spcAft>
            </a:pPr>
            <a:r>
              <a:rPr sz="1200" b="0">
                <a:solidFill>
                  <a:srgbClr val="5B6372"/>
                </a:solidFill>
                <a:latin typeface="Arial"/>
              </a:rPr>
              <a:t>The test pane is not where users meet the agent.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Re-test refusals after publishing</a:t>
            </a:r>
          </a:p>
          <a:p>
            <a:pPr algn="l">
              <a:spcAft>
                <a:spcPts val="300"/>
              </a:spcAft>
            </a:pPr>
            <a:r>
              <a:rPr sz="1200" b="0">
                <a:solidFill>
                  <a:srgbClr val="5B6372"/>
                </a:solidFill>
                <a:latin typeface="Arial"/>
              </a:rPr>
              <a:t>A refusal that only works in test is a defect.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Have a rollback plan</a:t>
            </a:r>
          </a:p>
          <a:p>
            <a:pPr algn="l">
              <a:spcAft>
                <a:spcPts val="300"/>
              </a:spcAft>
            </a:pPr>
            <a:r>
              <a:rPr sz="1200" b="0">
                <a:solidFill>
                  <a:srgbClr val="5B6372"/>
                </a:solidFill>
                <a:latin typeface="Arial"/>
              </a:rPr>
              <a:t>A release without one is not a controlled release.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6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100" b="1">
                <a:solidFill>
                  <a:srgbClr val="F59E0B"/>
                </a:solidFill>
                <a:latin typeface="Arial"/>
              </a:rPr>
              <a:t>10 minutes</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 HONEST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When an Agent Is the Wrong Answer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path never varies</a:t>
            </a:r>
          </a:p>
          <a:p>
            <a:pPr algn="l">
              <a:spcAft>
                <a:spcPts val="300"/>
              </a:spcAft>
            </a:pPr>
            <a:r>
              <a:rPr sz="1200" b="0">
                <a:solidFill>
                  <a:srgbClr val="5B6372"/>
                </a:solidFill>
                <a:latin typeface="Arial"/>
              </a:rPr>
              <a:t>A flow is cheaper, faster and testable.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answer must be exact</a:t>
            </a:r>
          </a:p>
          <a:p>
            <a:pPr algn="l">
              <a:spcAft>
                <a:spcPts val="300"/>
              </a:spcAft>
            </a:pPr>
            <a:r>
              <a:rPr sz="1200" b="0">
                <a:solidFill>
                  <a:srgbClr val="5B6372"/>
                </a:solidFill>
                <a:latin typeface="Arial"/>
              </a:rPr>
              <a:t>A deterministic lookup beats a generated one.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There is no approved source</a:t>
            </a:r>
          </a:p>
          <a:p>
            <a:pPr algn="l">
              <a:spcAft>
                <a:spcPts val="300"/>
              </a:spcAft>
            </a:pPr>
            <a:r>
              <a:rPr sz="1200" b="0">
                <a:solidFill>
                  <a:srgbClr val="5B6372"/>
                </a:solidFill>
                <a:latin typeface="Arial"/>
              </a:rPr>
              <a:t>An ungrounded agent will still answer.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Nobody will own it</a:t>
            </a:r>
          </a:p>
          <a:p>
            <a:pPr algn="l">
              <a:spcAft>
                <a:spcPts val="300"/>
              </a:spcAft>
            </a:pPr>
            <a:r>
              <a:rPr sz="1200" b="0">
                <a:solidFill>
                  <a:srgbClr val="5B6372"/>
                </a:solidFill>
                <a:latin typeface="Arial"/>
              </a:rPr>
              <a:t>An unmaintained agent decays into a liability.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EACH ONE IS FOR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Instructions, Knowledge, Tools and Skills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Element</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Purpose</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Enforced?</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Instructions</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Role, tone, scope and refusals</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No — guidance only</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Knowledge</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The sources it may cite</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Partly — it can only cite what is attached</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Tools</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Actions it can take on systems</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Yes — it cannot call what it lacks</a:t>
            </a:r>
          </a:p>
        </p:txBody>
      </p:sp>
      <p:sp>
        <p:nvSpPr>
          <p:cNvPr id="31" name="Rectangle 30"/>
          <p:cNvSpPr/>
          <p:nvPr/>
        </p:nvSpPr>
        <p:spPr>
          <a:xfrm>
            <a:off x="777240" y="3803904"/>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803904"/>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Skills</a:t>
            </a:r>
          </a:p>
        </p:txBody>
      </p:sp>
      <p:sp>
        <p:nvSpPr>
          <p:cNvPr id="33" name="Rectangle 32"/>
          <p:cNvSpPr/>
          <p:nvPr/>
        </p:nvSpPr>
        <p:spPr>
          <a:xfrm>
            <a:off x="3542202"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Task instructions supplied on demand</a:t>
            </a:r>
          </a:p>
        </p:txBody>
      </p:sp>
      <p:sp>
        <p:nvSpPr>
          <p:cNvPr id="35" name="Rectangle 34"/>
          <p:cNvSpPr/>
          <p:nvPr/>
        </p:nvSpPr>
        <p:spPr>
          <a:xfrm>
            <a:off x="7476957"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6685"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No — guidance, delivered contextually</a:t>
            </a:r>
          </a:p>
        </p:txBody>
      </p:sp>
      <p:sp>
        <p:nvSpPr>
          <p:cNvPr id="37" name="TextBox 36"/>
          <p:cNvSpPr txBox="1"/>
          <p:nvPr/>
        </p:nvSpPr>
        <p:spPr>
          <a:xfrm>
            <a:off x="777240" y="4507992"/>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Only tools and gates are enforcement. Everything else is persuasion.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TRAP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'Search All Websites' Is On By Default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It is convenient</a:t>
            </a:r>
          </a:p>
          <a:p>
            <a:pPr algn="l">
              <a:spcAft>
                <a:spcPts val="300"/>
              </a:spcAft>
            </a:pPr>
            <a:r>
              <a:rPr sz="1200" b="0">
                <a:solidFill>
                  <a:srgbClr val="5B6372"/>
                </a:solidFill>
                <a:latin typeface="Arial"/>
              </a:rPr>
              <a:t>The agent can always answer something.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It is ungrounded</a:t>
            </a:r>
          </a:p>
          <a:p>
            <a:pPr algn="l">
              <a:spcAft>
                <a:spcPts val="300"/>
              </a:spcAft>
            </a:pPr>
            <a:r>
              <a:rPr sz="1200" b="0">
                <a:solidFill>
                  <a:srgbClr val="5B6372"/>
                </a:solidFill>
                <a:latin typeface="Arial"/>
              </a:rPr>
              <a:t>The answer no longer comes from your approved source.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It looks like success</a:t>
            </a:r>
          </a:p>
          <a:p>
            <a:pPr algn="l">
              <a:spcAft>
                <a:spcPts val="300"/>
              </a:spcAft>
            </a:pPr>
            <a:r>
              <a:rPr sz="1200" b="0">
                <a:solidFill>
                  <a:srgbClr val="5B6372"/>
                </a:solidFill>
                <a:latin typeface="Arial"/>
              </a:rPr>
              <a:t>A fluent wrong answer passes a casual test.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Remove it before testing</a:t>
            </a:r>
          </a:p>
          <a:p>
            <a:pPr algn="l">
              <a:spcAft>
                <a:spcPts val="300"/>
              </a:spcAft>
            </a:pPr>
            <a:r>
              <a:rPr sz="1200" b="0">
                <a:solidFill>
                  <a:srgbClr val="5B6372"/>
                </a:solidFill>
                <a:latin typeface="Arial"/>
              </a:rPr>
              <a:t>Otherwise your refusal tests will all falsely pass.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DECISION RULE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Did the Agent Answer, or Did It Guess?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331720"/>
            <a:ext cx="3017520" cy="210312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88920"/>
            <a:ext cx="2468880" cy="1188720"/>
          </a:xfrm>
          <a:prstGeom prst="rect">
            <a:avLst/>
          </a:prstGeom>
          <a:noFill/>
        </p:spPr>
        <p:txBody>
          <a:bodyPr wrap="square" anchor="ctr">
            <a:spAutoFit/>
          </a:bodyPr>
          <a:lstStyle/>
          <a:p>
            <a:pPr algn="ctr">
              <a:spcAft>
                <a:spcPts val="400"/>
              </a:spcAft>
            </a:pPr>
            <a:r>
              <a:rPr sz="1300" b="1">
                <a:solidFill>
                  <a:srgbClr val="FFFFFF"/>
                </a:solidFill>
                <a:latin typeface="Arial"/>
              </a:rPr>
              <a:t>Does the answer cite an attached source?</a:t>
            </a:r>
          </a:p>
        </p:txBody>
      </p:sp>
      <p:sp>
        <p:nvSpPr>
          <p:cNvPr id="9" name="Rectangle 8"/>
          <p:cNvSpPr/>
          <p:nvPr/>
        </p:nvSpPr>
        <p:spPr>
          <a:xfrm>
            <a:off x="3931920" y="2761488"/>
            <a:ext cx="3200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251960" y="2732227"/>
            <a:ext cx="182880" cy="113385"/>
          </a:xfrm>
          <a:custGeom>
            <a:avLst/>
            <a:gdLst/>
            <a:ahLst/>
            <a:cxnLst/>
            <a:rect l="l" t="t" r="r" b="b"/>
            <a:pathLst>
              <a:path w="182880" h="113385">
                <a:moveTo>
                  <a:pt x="0" y="0"/>
                </a:moveTo>
                <a:lnTo>
                  <a:pt x="182880" y="56693"/>
                </a:lnTo>
                <a:lnTo>
                  <a:pt x="0" y="113385"/>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96596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965960"/>
            <a:ext cx="91440" cy="1920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112264"/>
            <a:ext cx="6400800" cy="365760"/>
          </a:xfrm>
          <a:prstGeom prst="rect">
            <a:avLst/>
          </a:prstGeom>
          <a:noFill/>
        </p:spPr>
        <p:txBody>
          <a:bodyPr wrap="square" anchor="t">
            <a:spAutoFit/>
          </a:bodyPr>
          <a:lstStyle/>
          <a:p>
            <a:pPr algn="l">
              <a:spcAft>
                <a:spcPts val="400"/>
              </a:spcAft>
            </a:pPr>
            <a:r>
              <a:rPr sz="1300" b="1">
                <a:solidFill>
                  <a:srgbClr val="10B981"/>
                </a:solidFill>
                <a:latin typeface="Arial"/>
              </a:rPr>
              <a:t>YES</a:t>
            </a:r>
          </a:p>
        </p:txBody>
      </p:sp>
      <p:sp>
        <p:nvSpPr>
          <p:cNvPr id="14" name="TextBox 13"/>
          <p:cNvSpPr txBox="1"/>
          <p:nvPr/>
        </p:nvSpPr>
        <p:spPr>
          <a:xfrm>
            <a:off x="4828032" y="2514600"/>
            <a:ext cx="6400800" cy="1280160"/>
          </a:xfrm>
          <a:prstGeom prst="rect">
            <a:avLst/>
          </a:prstGeom>
          <a:noFill/>
        </p:spPr>
        <p:txBody>
          <a:bodyPr wrap="square">
            <a:spAutoFit/>
          </a:bodyPr>
          <a:lstStyle/>
          <a:p>
            <a:pPr>
              <a:spcAft>
                <a:spcPts val="600"/>
              </a:spcAft>
            </a:pPr>
            <a:r>
              <a:rPr sz="1300">
                <a:solidFill>
                  <a:srgbClr val="161B26"/>
                </a:solidFill>
                <a:latin typeface="Arial"/>
              </a:rPr>
              <a:t>•  Verify the citation actually says that</a:t>
            </a:r>
          </a:p>
          <a:p>
            <a:pPr>
              <a:spcAft>
                <a:spcPts val="600"/>
              </a:spcAft>
            </a:pPr>
            <a:r>
              <a:rPr sz="1300">
                <a:solidFill>
                  <a:srgbClr val="161B26"/>
                </a:solidFill>
                <a:latin typeface="Arial"/>
              </a:rPr>
              <a:t>•  A citation can be present and wrong</a:t>
            </a:r>
          </a:p>
        </p:txBody>
      </p:sp>
      <p:sp>
        <p:nvSpPr>
          <p:cNvPr id="15" name="Rectangle 14"/>
          <p:cNvSpPr/>
          <p:nvPr/>
        </p:nvSpPr>
        <p:spPr>
          <a:xfrm>
            <a:off x="3931920" y="5001768"/>
            <a:ext cx="3200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251960" y="4972507"/>
            <a:ext cx="182880" cy="113385"/>
          </a:xfrm>
          <a:custGeom>
            <a:avLst/>
            <a:gdLst/>
            <a:ahLst/>
            <a:cxnLst/>
            <a:rect l="l" t="t" r="r" b="b"/>
            <a:pathLst>
              <a:path w="182880" h="113385">
                <a:moveTo>
                  <a:pt x="0" y="0"/>
                </a:moveTo>
                <a:lnTo>
                  <a:pt x="182880" y="56693"/>
                </a:lnTo>
                <a:lnTo>
                  <a:pt x="0" y="113385"/>
                </a:lnTo>
                <a:close/>
              </a:path>
            </a:pathLst>
          </a:cu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420624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4206240"/>
            <a:ext cx="91440" cy="1920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4352544"/>
            <a:ext cx="6400800" cy="365760"/>
          </a:xfrm>
          <a:prstGeom prst="rect">
            <a:avLst/>
          </a:prstGeom>
          <a:noFill/>
        </p:spPr>
        <p:txBody>
          <a:bodyPr wrap="square" anchor="t">
            <a:spAutoFit/>
          </a:bodyPr>
          <a:lstStyle/>
          <a:p>
            <a:pPr algn="l">
              <a:spcAft>
                <a:spcPts val="400"/>
              </a:spcAft>
            </a:pPr>
            <a:r>
              <a:rPr sz="1300" b="1">
                <a:solidFill>
                  <a:srgbClr val="F59E0B"/>
                </a:solidFill>
                <a:latin typeface="Arial"/>
              </a:rPr>
              <a:t>NO</a:t>
            </a:r>
          </a:p>
        </p:txBody>
      </p:sp>
      <p:sp>
        <p:nvSpPr>
          <p:cNvPr id="20" name="TextBox 19"/>
          <p:cNvSpPr txBox="1"/>
          <p:nvPr/>
        </p:nvSpPr>
        <p:spPr>
          <a:xfrm>
            <a:off x="4828032" y="4754880"/>
            <a:ext cx="6400800" cy="1280160"/>
          </a:xfrm>
          <a:prstGeom prst="rect">
            <a:avLst/>
          </a:prstGeom>
          <a:noFill/>
        </p:spPr>
        <p:txBody>
          <a:bodyPr wrap="square">
            <a:spAutoFit/>
          </a:bodyPr>
          <a:lstStyle/>
          <a:p>
            <a:pPr>
              <a:spcAft>
                <a:spcPts val="600"/>
              </a:spcAft>
            </a:pPr>
            <a:r>
              <a:rPr sz="1300">
                <a:solidFill>
                  <a:srgbClr val="161B26"/>
                </a:solidFill>
                <a:latin typeface="Arial"/>
              </a:rPr>
              <a:t>•  Treat it as a guess</a:t>
            </a:r>
          </a:p>
          <a:p>
            <a:pPr>
              <a:spcAft>
                <a:spcPts val="600"/>
              </a:spcAft>
            </a:pPr>
            <a:r>
              <a:rPr sz="1300">
                <a:solidFill>
                  <a:srgbClr val="161B26"/>
                </a:solidFill>
                <a:latin typeface="Arial"/>
              </a:rPr>
              <a:t>•  Fix the grounding, not the wording of the question</a:t>
            </a:r>
          </a:p>
        </p:txBody>
      </p:sp>
      <p:sp>
        <p:nvSpPr>
          <p:cNvPr id="21" name="TextBox 20"/>
          <p:cNvSpPr txBox="1"/>
          <p:nvPr/>
        </p:nvSpPr>
        <p:spPr>
          <a:xfrm>
            <a:off x="777240" y="5989320"/>
            <a:ext cx="10607040" cy="457200"/>
          </a:xfrm>
          <a:prstGeom prst="rect">
            <a:avLst/>
          </a:prstGeom>
          <a:noFill/>
        </p:spPr>
        <p:txBody>
          <a:bodyPr wrap="square" anchor="t">
            <a:spAutoFit/>
          </a:bodyPr>
          <a:lstStyle/>
          <a:p>
            <a:pPr algn="l">
              <a:spcAft>
                <a:spcPts val="400"/>
              </a:spcAft>
            </a:pPr>
            <a:r>
              <a:rPr sz="1100" b="1">
                <a:solidFill>
                  <a:srgbClr val="7C3AED"/>
                </a:solidFill>
                <a:latin typeface="Arial"/>
              </a:rPr>
              <a:t>RULE   </a:t>
            </a:r>
            <a:r>
              <a:rPr sz="1300" b="0">
                <a:solidFill>
                  <a:srgbClr val="161B26"/>
                </a:solidFill>
                <a:latin typeface="Arial"/>
              </a:rPr>
              <a:t>Requiring a citation is what converts an invisible failure into a visible one.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MINIMUM SET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Test Cases Every Agent Needs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A clear in-scope question</a:t>
            </a:r>
          </a:p>
          <a:p>
            <a:pPr algn="l">
              <a:spcAft>
                <a:spcPts val="300"/>
              </a:spcAft>
            </a:pPr>
            <a:r>
              <a:rPr sz="1100" b="0">
                <a:solidFill>
                  <a:srgbClr val="5B6372"/>
                </a:solidFill>
                <a:latin typeface="Arial"/>
              </a:rPr>
              <a:t>It should answer, and cite.</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51248"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1248"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5346192" y="1892808"/>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A clear out-of-scope question</a:t>
            </a:r>
          </a:p>
          <a:p>
            <a:pPr algn="l">
              <a:spcAft>
                <a:spcPts val="300"/>
              </a:spcAft>
            </a:pPr>
            <a:r>
              <a:rPr sz="1100" b="0">
                <a:solidFill>
                  <a:srgbClr val="5B6372"/>
                </a:solidFill>
                <a:latin typeface="Arial"/>
              </a:rPr>
              <a:t>It should refuse, and redirect.</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87512" y="255117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7512"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8982456" y="1892808"/>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A borderline question</a:t>
            </a:r>
          </a:p>
          <a:p>
            <a:pPr algn="l">
              <a:spcAft>
                <a:spcPts val="300"/>
              </a:spcAft>
            </a:pPr>
            <a:r>
              <a:rPr sz="1100" b="0">
                <a:solidFill>
                  <a:srgbClr val="5B6372"/>
                </a:solidFill>
                <a:latin typeface="Arial"/>
              </a:rPr>
              <a:t>Reveals where the boundary actually sits.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197096"/>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A leading question</a:t>
            </a:r>
          </a:p>
          <a:p>
            <a:pPr algn="l">
              <a:spcAft>
                <a:spcPts val="300"/>
              </a:spcAft>
            </a:pPr>
            <a:r>
              <a:rPr sz="1100" b="0">
                <a:solidFill>
                  <a:srgbClr val="5B6372"/>
                </a:solidFill>
                <a:latin typeface="Arial"/>
              </a:rPr>
              <a:t>One that presumes a false fact; it should not agree.</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51248"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51248"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5346192" y="4197096"/>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A near-miss name</a:t>
            </a:r>
          </a:p>
          <a:p>
            <a:pPr algn="l">
              <a:spcAft>
                <a:spcPts val="300"/>
              </a:spcAft>
            </a:pPr>
            <a:r>
              <a:rPr sz="1100" b="0">
                <a:solidFill>
                  <a:srgbClr val="5B6372"/>
                </a:solidFill>
                <a:latin typeface="Arial"/>
              </a:rPr>
              <a:t>A wrong-case or misspelled entity; behaviour must stay correct.</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87512"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87512"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8982456" y="4197096"/>
            <a:ext cx="2209800" cy="1901952"/>
          </a:xfrm>
          <a:prstGeom prst="rect">
            <a:avLst/>
          </a:prstGeom>
          <a:noFill/>
        </p:spPr>
        <p:txBody>
          <a:bodyPr wrap="square" anchor="ctr">
            <a:spAutoFit/>
          </a:bodyPr>
          <a:lstStyle/>
          <a:p>
            <a:pPr algn="l">
              <a:spcAft>
                <a:spcPts val="300"/>
              </a:spcAft>
            </a:pPr>
            <a:r>
              <a:rPr sz="1500" b="1">
                <a:solidFill>
                  <a:srgbClr val="161B26"/>
                </a:solidFill>
                <a:latin typeface="Arial"/>
              </a:rPr>
              <a:t>A repeat</a:t>
            </a:r>
          </a:p>
          <a:p>
            <a:pPr algn="l">
              <a:spcAft>
                <a:spcPts val="300"/>
              </a:spcAft>
            </a:pPr>
            <a:r>
              <a:rPr sz="1100" b="0">
                <a:solidFill>
                  <a:srgbClr val="5B6372"/>
                </a:solidFill>
                <a:latin typeface="Arial"/>
              </a:rPr>
              <a:t>The same question twice; answers should not contradict.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EDGE CASES</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Test the cases that are cheap to get wrong and expensive to miss.</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The suspended vendor at $900 is the case that passes review and costs you later.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Publishing Is a Release, Not a Save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a:t>
            </a:r>
          </a:p>
          <a:p>
            <a:pPr algn="l">
              <a:spcAft>
                <a:spcPts val="300"/>
              </a:spcAft>
            </a:pPr>
            <a:r>
              <a:rPr sz="1200" b="0">
                <a:solidFill>
                  <a:srgbClr val="5B6372"/>
                </a:solidFill>
                <a:latin typeface="Arial"/>
              </a:rPr>
              <a:t>Users get the published version, not your draft.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Tests</a:t>
            </a:r>
          </a:p>
          <a:p>
            <a:pPr algn="l">
              <a:spcAft>
                <a:spcPts val="300"/>
              </a:spcAft>
            </a:pPr>
            <a:r>
              <a:rPr sz="1200" b="0">
                <a:solidFill>
                  <a:srgbClr val="5B6372"/>
                </a:solidFill>
                <a:latin typeface="Arial"/>
              </a:rPr>
              <a:t>The acceptance set is the release gate.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Approver</a:t>
            </a:r>
          </a:p>
          <a:p>
            <a:pPr algn="l">
              <a:spcAft>
                <a:spcPts val="300"/>
              </a:spcAft>
            </a:pPr>
            <a:r>
              <a:rPr sz="1200" b="0">
                <a:solidFill>
                  <a:srgbClr val="5B6372"/>
                </a:solidFill>
                <a:latin typeface="Arial"/>
              </a:rPr>
              <a:t>A named person authorises the release.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Rollback</a:t>
            </a:r>
          </a:p>
          <a:p>
            <a:pPr algn="l">
              <a:spcAft>
                <a:spcPts val="300"/>
              </a:spcAft>
            </a:pPr>
            <a:r>
              <a:rPr sz="1200" b="0">
                <a:solidFill>
                  <a:srgbClr val="5B6372"/>
                </a:solidFill>
                <a:latin typeface="Arial"/>
              </a:rPr>
              <a:t>Decided before release, not during an incident.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FOUNDATION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Design a Scoped Agent Before You Build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16</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K4 · A1</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produces an agent design canvas that states the job the agent does, what it must refuse, the knowledge it may use, the actions it may take and the tests that will prove it behaves.</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An agent design canvas, a knowledge register, a risk-and-control table and ten acceptance tests</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Copilot Studio, Excel</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K4 · A1</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Foundation</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State the agent's one job</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List what it must refuse</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Set the boundary of agency</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Write ten acceptance tests</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16)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Design a Scoped Agent Before You Build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The canvas states one job, lists explicit refusals, registers every knowledge source with an owner, and carries ten acceptance tests of which at least three expect a refusal.</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and Ground a Copilot Studio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17</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K4 · A5</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creates an agent in Copilot Studio, writes instructions that define its role and limits, attaches the approved policy as knowledge, removes the open-web source and tests that it cites and refuses correctly.</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working, grounded agent that answers from the approved policy and refuses everything else</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Copilot Studio, SharePoint</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K4 · A5</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Create the agent</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Attach approved knowledge</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Test in scope and out</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Run the full test set</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17)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Build and Ground a Copilot Studio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The agent cites the policy for in-scope questions, refuses and redirects for out-of-scope ones, and passes every acceptance test recorded in the workbook.</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Give an Agent a Tool and a Knowledge Source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18</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K4 · A5</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creates a SharePoint list of approved vendors, publishes an agent flow that looks a vendor up, attaches it to the agent as a tool, and proves the agent calls it instead of guessing.</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An agent that answers vendor questions from a live SharePoint list through a published tool</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Copilot Studio, SharePoint, Power Automate</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K4 · A5</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Create the vendor list</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Define the tool contract</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Attach the published tool</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Test listed and unlisted</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18)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Give an Agent a Tool and a Knowledge Source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The agent returns the correct live status for a listed vendor and reports an unlisted vendor as not approved, with the run history showing the tool was actually called.</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ADVANCED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Orchestrate Connected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19</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K4 · A5</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builds a second specialised agent and connects it to the first, so an orchestrating agent routes each request to the right specialist and reports which one answered.</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An orchestrating agent that routes requests to a connected specialist agent</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Copilot Studio, connected agents</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K4 · A5</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Advanced</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19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Create the specialist</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Connect the specialists</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Require attribution</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Record each route tested</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19)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Orchestrate Connected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Each test request reaches the correct specialist, the out-of-scope request is refused, and every reply names the agent that answered it.</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ADVANCED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Publish an Agent to Microsoft Teams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20</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K4 · A5</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publishes the grounded agent to Microsoft Teams, confirms the published version behaves as the test version did, and records the release decision and rollback plan.</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published agent available in Microsoft Teams with a recorded release decision</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Copilot Studio, Microsoft Teams</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K4 · A5</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Advanced</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20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Re-run the tests first</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Add the Teams channel</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Re-test refusals in Teams</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Write the rollback plan</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20)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Publish an Agent to Microsoft Teams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The agent responds correctly inside Microsoft Teams, still refuses out-of-scope questions, and the release log records the version, tests, approver and rollback plan.</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CAN NOW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16</a:t>
            </a:r>
          </a:p>
          <a:p>
            <a:pPr algn="l">
              <a:spcAft>
                <a:spcPts val="300"/>
              </a:spcAft>
            </a:pPr>
            <a:r>
              <a:rPr sz="1000" b="0">
                <a:solidFill>
                  <a:srgbClr val="5B6372"/>
                </a:solidFill>
                <a:latin typeface="Arial"/>
              </a:rPr>
              <a:t>Define an agent's purpose, boundaries and acceptance tests before any configuration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17</a:t>
            </a:r>
          </a:p>
          <a:p>
            <a:pPr algn="l">
              <a:spcAft>
                <a:spcPts val="300"/>
              </a:spcAft>
            </a:pPr>
            <a:r>
              <a:rPr sz="1000" b="0">
                <a:solidFill>
                  <a:srgbClr val="5B6372"/>
                </a:solidFill>
                <a:latin typeface="Arial"/>
              </a:rPr>
              <a:t>Create an agent, write its instructions and ground it in approved knowledge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18</a:t>
            </a:r>
          </a:p>
          <a:p>
            <a:pPr algn="l">
              <a:spcAft>
                <a:spcPts val="300"/>
              </a:spcAft>
            </a:pPr>
            <a:r>
              <a:rPr sz="1000" b="0">
                <a:solidFill>
                  <a:srgbClr val="5B6372"/>
                </a:solidFill>
                <a:latin typeface="Arial"/>
              </a:rPr>
              <a:t>Extend an agent so it can look up real data and act, not only answer from a document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19</a:t>
            </a:r>
          </a:p>
          <a:p>
            <a:pPr algn="l">
              <a:spcAft>
                <a:spcPts val="300"/>
              </a:spcAft>
            </a:pPr>
            <a:r>
              <a:rPr sz="1000" b="0">
                <a:solidFill>
                  <a:srgbClr val="5B6372"/>
                </a:solidFill>
                <a:latin typeface="Arial"/>
              </a:rPr>
              <a:t>Delegate specialised work from one agent to another and keep the handover accountable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20</a:t>
            </a:r>
          </a:p>
          <a:p>
            <a:pPr algn="l">
              <a:spcAft>
                <a:spcPts val="300"/>
              </a:spcAft>
            </a:pPr>
            <a:r>
              <a:rPr sz="1000" b="0">
                <a:solidFill>
                  <a:srgbClr val="5B6372"/>
                </a:solidFill>
                <a:latin typeface="Arial"/>
              </a:rPr>
              <a:t>Release an agent to real users through a channel and confirm it behaves after publishing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600" b="1">
                <a:solidFill>
                  <a:srgbClr val="161B26"/>
                </a:solidFill>
                <a:latin typeface="Arial"/>
              </a:rPr>
              <a:t>End of Day 4</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100" b="1">
                <a:solidFill>
                  <a:srgbClr val="10B981"/>
                </a:solidFill>
                <a:latin typeface="Arial"/>
              </a:rPr>
              <a:t>See you tomorrow</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Integrating, Testing, Securing and Optimising Agentic Automation</a:t>
            </a:r>
          </a:p>
        </p:txBody>
      </p:sp>
      <p:sp>
        <p:nvSpPr>
          <p:cNvPr id="7" name="TextBox 6"/>
          <p:cNvSpPr txBox="1"/>
          <p:nvPr/>
        </p:nvSpPr>
        <p:spPr>
          <a:xfrm>
            <a:off x="1161288" y="4343400"/>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Agent flows · HTTP · JSON schema · RAG · human review · testing · governance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DAY 5 · WHAT THIS TOPIC COVERS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05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An agent flow exposes automation to an agent, and an HTTP trigger exposes it to any external application.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A JSON schema defines the request contract so an external caller and the flow agree on the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0712"/>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Structured output turns a model response into named fields a flow can branch on reliably.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10712"/>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Retrieval-augmented generation grounds answers in retrieved passages instead of model memory.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6904"/>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The boundary of agency decides what an agent may do alone and what needs a person to approve.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46904"/>
            <a:ext cx="4027932" cy="1152144"/>
          </a:xfrm>
          <a:prstGeom prst="rect">
            <a:avLst/>
          </a:prstGeom>
          <a:noFill/>
        </p:spPr>
        <p:txBody>
          <a:bodyPr wrap="square" anchor="ctr">
            <a:spAutoFit/>
          </a:bodyPr>
          <a:lstStyle/>
          <a:p>
            <a:pPr algn="l">
              <a:spcAft>
                <a:spcPts val="400"/>
              </a:spcAft>
            </a:pPr>
            <a:r>
              <a:rPr sz="1400" b="0">
                <a:solidFill>
                  <a:srgbClr val="161B26"/>
                </a:solidFill>
                <a:latin typeface="Arial"/>
              </a:rPr>
              <a:t>Testing means verifying correct answers, correct refusals and the run history behind both.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WILL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Topic 05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800" b="1">
                <a:solidFill>
                  <a:srgbClr val="1F6FEB"/>
                </a:solidFill>
                <a:latin typeface="Arial"/>
              </a:rPr>
              <a:t>Labs 21–22</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300">
                <a:solidFill>
                  <a:srgbClr val="161B26"/>
                </a:solidFill>
                <a:latin typeface="Arial"/>
              </a:rPr>
              <a:t>•  Expose a Flow over HTTP with a JSON Schema</a:t>
            </a:r>
          </a:p>
          <a:p>
            <a:pPr>
              <a:spcAft>
                <a:spcPts val="900"/>
              </a:spcAft>
            </a:pPr>
            <a:r>
              <a:rPr sz="1300">
                <a:solidFill>
                  <a:srgbClr val="161B26"/>
                </a:solidFill>
                <a:latin typeface="Arial"/>
              </a:rPr>
              <a:t>•  Ground an Agent with Retrieval-Augmented Generation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800" b="1">
                <a:solidFill>
                  <a:srgbClr val="10B981"/>
                </a:solidFill>
                <a:latin typeface="Arial"/>
              </a:rPr>
              <a:t>Labs 23–24</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300">
                <a:solidFill>
                  <a:srgbClr val="161B26"/>
                </a:solidFill>
                <a:latin typeface="Arial"/>
              </a:rPr>
              <a:t>•  Add a Human Review Gate to an Agent Action</a:t>
            </a:r>
          </a:p>
          <a:p>
            <a:pPr>
              <a:spcAft>
                <a:spcPts val="900"/>
              </a:spcAft>
            </a:pPr>
            <a:r>
              <a:rPr sz="1300">
                <a:solidFill>
                  <a:srgbClr val="161B26"/>
                </a:solidFill>
                <a:latin typeface="Arial"/>
              </a:rPr>
              <a:t>•  Test, Secure and Troubleshoot the Solution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800" b="1">
                <a:solidFill>
                  <a:srgbClr val="7C3AED"/>
                </a:solidFill>
                <a:latin typeface="Arial"/>
              </a:rPr>
              <a:t>Labs 25–25</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300">
                <a:solidFill>
                  <a:srgbClr val="161B26"/>
                </a:solidFill>
                <a:latin typeface="Arial"/>
              </a:rPr>
              <a:t>•  Operate a Governed End-to-End Copilot Pipeline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INTEGRATION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Exposing Automation Over HTTP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HTTP trigger</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The flow gets its own URL</a:t>
            </a:r>
          </a:p>
        </p:txBody>
      </p:sp>
      <p:sp>
        <p:nvSpPr>
          <p:cNvPr id="11" name="Rectangle 10"/>
          <p:cNvSpPr/>
          <p:nvPr/>
        </p:nvSpPr>
        <p:spPr>
          <a:xfrm>
            <a:off x="317525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Request schema</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The contract for the incoming data</a:t>
            </a:r>
          </a:p>
        </p:txBody>
      </p:sp>
      <p:sp>
        <p:nvSpPr>
          <p:cNvPr id="17" name="Rectangle 16"/>
          <p:cNvSpPr/>
          <p:nvPr/>
        </p:nvSpPr>
        <p:spPr>
          <a:xfrm>
            <a:off x="59481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Actions</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The flow does the work</a:t>
            </a:r>
          </a:p>
        </p:txBody>
      </p:sp>
      <p:sp>
        <p:nvSpPr>
          <p:cNvPr id="23" name="Rectangle 22"/>
          <p:cNvSpPr/>
          <p:nvPr/>
        </p:nvSpPr>
        <p:spPr>
          <a:xfrm>
            <a:off x="872109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Response action</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 status code and a body go back</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Without a Response action the caller gets an acknowledgement, not an answer.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CONTRACT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a JSON Schema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It names the fields</a:t>
            </a:r>
          </a:p>
          <a:p>
            <a:pPr algn="l">
              <a:spcAft>
                <a:spcPts val="300"/>
              </a:spcAft>
            </a:pPr>
            <a:r>
              <a:rPr sz="1200" b="0">
                <a:solidFill>
                  <a:srgbClr val="5B6372"/>
                </a:solidFill>
                <a:latin typeface="Arial"/>
              </a:rPr>
              <a:t>So the caller and the flow agree on the data.</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It makes them dynamic content</a:t>
            </a:r>
          </a:p>
          <a:p>
            <a:pPr algn="l">
              <a:spcAft>
                <a:spcPts val="300"/>
              </a:spcAft>
            </a:pPr>
            <a:r>
              <a:rPr sz="1200" b="0">
                <a:solidFill>
                  <a:srgbClr val="5B6372"/>
                </a:solidFill>
                <a:latin typeface="Arial"/>
              </a:rPr>
              <a:t>Parsed fields become usable in later steps.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It rejects malformed data</a:t>
            </a:r>
          </a:p>
          <a:p>
            <a:pPr algn="l">
              <a:spcAft>
                <a:spcPts val="300"/>
              </a:spcAft>
            </a:pPr>
            <a:r>
              <a:rPr sz="1200" b="0">
                <a:solidFill>
                  <a:srgbClr val="5B6372"/>
                </a:solidFill>
                <a:latin typeface="Arial"/>
              </a:rPr>
              <a:t>A typed contract is a real control.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It documents the interface</a:t>
            </a:r>
          </a:p>
          <a:p>
            <a:pPr algn="l">
              <a:spcAft>
                <a:spcPts val="300"/>
              </a:spcAft>
            </a:pPr>
            <a:r>
              <a:rPr sz="1200" b="0">
                <a:solidFill>
                  <a:srgbClr val="5B6372"/>
                </a:solidFill>
                <a:latin typeface="Arial"/>
              </a:rPr>
              <a:t>The schema is the specification.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SECURITY</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The endpoint URL is a credential.</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Anyone holding the URL can trigger the flow. Treat it like a password, not like a link.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BRANCHING ON A MODEL ANSWER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Structured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Prose is hard to branch on</a:t>
            </a:r>
          </a:p>
          <a:p>
            <a:pPr algn="l">
              <a:spcAft>
                <a:spcPts val="300"/>
              </a:spcAft>
            </a:pPr>
            <a:r>
              <a:rPr sz="1200" b="0">
                <a:solidFill>
                  <a:srgbClr val="5B6372"/>
                </a:solidFill>
                <a:latin typeface="Arial"/>
              </a:rPr>
              <a:t>'It seems approved' is not a value you can test.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Structured output returns fields</a:t>
            </a:r>
          </a:p>
          <a:p>
            <a:pPr algn="l">
              <a:spcAft>
                <a:spcPts val="300"/>
              </a:spcAft>
            </a:pPr>
            <a:r>
              <a:rPr sz="1200" b="0">
                <a:solidFill>
                  <a:srgbClr val="5B6372"/>
                </a:solidFill>
                <a:latin typeface="Arial"/>
              </a:rPr>
              <a:t>Named, typed values a condition can read.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Define the shape you need</a:t>
            </a:r>
          </a:p>
          <a:p>
            <a:pPr algn="l">
              <a:spcAft>
                <a:spcPts val="300"/>
              </a:spcAft>
            </a:pPr>
            <a:r>
              <a:rPr sz="1200" b="0">
                <a:solidFill>
                  <a:srgbClr val="5B6372"/>
                </a:solidFill>
                <a:latin typeface="Arial"/>
              </a:rPr>
              <a:t>Decision, reason, confidence — whatever you will act 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Validate before acting</a:t>
            </a:r>
          </a:p>
          <a:p>
            <a:pPr algn="l">
              <a:spcAft>
                <a:spcPts val="300"/>
              </a:spcAft>
            </a:pPr>
            <a:r>
              <a:rPr sz="1200" b="0">
                <a:solidFill>
                  <a:srgbClr val="5B6372"/>
                </a:solidFill>
                <a:latin typeface="Arial"/>
              </a:rPr>
              <a:t>A field can still arrive empty or unexpected.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RAG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Retrieval-Augmented Generation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Ingest</a:t>
            </a:r>
          </a:p>
        </p:txBody>
      </p:sp>
      <p:sp>
        <p:nvSpPr>
          <p:cNvPr id="10" name="TextBox 9"/>
          <p:cNvSpPr txBox="1"/>
          <p:nvPr/>
        </p:nvSpPr>
        <p:spPr>
          <a:xfrm>
            <a:off x="905256"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Documents are split into chunks</a:t>
            </a:r>
          </a:p>
        </p:txBody>
      </p:sp>
      <p:sp>
        <p:nvSpPr>
          <p:cNvPr id="11" name="Rectangle 10"/>
          <p:cNvSpPr/>
          <p:nvPr/>
        </p:nvSpPr>
        <p:spPr>
          <a:xfrm>
            <a:off x="262067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73771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95574"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95574"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23590"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Embed</a:t>
            </a:r>
          </a:p>
        </p:txBody>
      </p:sp>
      <p:sp>
        <p:nvSpPr>
          <p:cNvPr id="16" name="TextBox 15"/>
          <p:cNvSpPr txBox="1"/>
          <p:nvPr/>
        </p:nvSpPr>
        <p:spPr>
          <a:xfrm>
            <a:off x="3123590"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Each chunk becomes a vector</a:t>
            </a:r>
          </a:p>
        </p:txBody>
      </p:sp>
      <p:sp>
        <p:nvSpPr>
          <p:cNvPr id="17" name="Rectangle 16"/>
          <p:cNvSpPr/>
          <p:nvPr/>
        </p:nvSpPr>
        <p:spPr>
          <a:xfrm>
            <a:off x="483900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495604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13908"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3908"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1924"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Retrieve</a:t>
            </a:r>
          </a:p>
        </p:txBody>
      </p:sp>
      <p:sp>
        <p:nvSpPr>
          <p:cNvPr id="22" name="TextBox 21"/>
          <p:cNvSpPr txBox="1"/>
          <p:nvPr/>
        </p:nvSpPr>
        <p:spPr>
          <a:xfrm>
            <a:off x="5341924"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The question finds the closest chunks</a:t>
            </a:r>
          </a:p>
        </p:txBody>
      </p:sp>
      <p:sp>
        <p:nvSpPr>
          <p:cNvPr id="23" name="Rectangle 22"/>
          <p:cNvSpPr/>
          <p:nvPr/>
        </p:nvSpPr>
        <p:spPr>
          <a:xfrm>
            <a:off x="7057338"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7174382"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32242"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32242"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60258"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28" name="TextBox 27"/>
          <p:cNvSpPr txBox="1"/>
          <p:nvPr/>
        </p:nvSpPr>
        <p:spPr>
          <a:xfrm>
            <a:off x="7560258"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The model answers from those chunks</a:t>
            </a:r>
          </a:p>
        </p:txBody>
      </p:sp>
      <p:sp>
        <p:nvSpPr>
          <p:cNvPr id="29" name="Rectangle 28"/>
          <p:cNvSpPr/>
          <p:nvPr/>
        </p:nvSpPr>
        <p:spPr>
          <a:xfrm>
            <a:off x="92756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93927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50576"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50576"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78592"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Cite</a:t>
            </a:r>
          </a:p>
        </p:txBody>
      </p:sp>
      <p:sp>
        <p:nvSpPr>
          <p:cNvPr id="34" name="TextBox 33"/>
          <p:cNvSpPr txBox="1"/>
          <p:nvPr/>
        </p:nvSpPr>
        <p:spPr>
          <a:xfrm>
            <a:off x="9778592"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The answer names its source</a:t>
            </a:r>
          </a:p>
        </p:txBody>
      </p:sp>
      <p:sp>
        <p:nvSpPr>
          <p:cNvPr id="35" name="Rectangle 34"/>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RAG replaces 'what the model remembers' with 'what the document says'.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THE APPROACH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Built-In Knowledge vs an External Vector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Built-in knowledge</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External vector store</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Setup</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Upload and go</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Ingestion pipeline to build and run</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Control</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Platform decides chunking</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You control chunking and top-k</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Scale</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Good for a document set</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Better for large or changing corpora</a:t>
            </a:r>
          </a:p>
        </p:txBody>
      </p:sp>
      <p:sp>
        <p:nvSpPr>
          <p:cNvPr id="31" name="Rectangle 30"/>
          <p:cNvSpPr/>
          <p:nvPr/>
        </p:nvSpPr>
        <p:spPr>
          <a:xfrm>
            <a:off x="777240" y="3803904"/>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803904"/>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Use when</a:t>
            </a:r>
          </a:p>
        </p:txBody>
      </p:sp>
      <p:sp>
        <p:nvSpPr>
          <p:cNvPr id="33" name="Rectangle 32"/>
          <p:cNvSpPr/>
          <p:nvPr/>
        </p:nvSpPr>
        <p:spPr>
          <a:xfrm>
            <a:off x="3542202"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The source is stable and modest</a:t>
            </a:r>
          </a:p>
        </p:txBody>
      </p:sp>
      <p:sp>
        <p:nvSpPr>
          <p:cNvPr id="35" name="Rectangle 34"/>
          <p:cNvSpPr/>
          <p:nvPr/>
        </p:nvSpPr>
        <p:spPr>
          <a:xfrm>
            <a:off x="7476957"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6685"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You need control or scale</a:t>
            </a:r>
          </a:p>
        </p:txBody>
      </p:sp>
      <p:sp>
        <p:nvSpPr>
          <p:cNvPr id="37" name="TextBox 36"/>
          <p:cNvSpPr txBox="1"/>
          <p:nvPr/>
        </p:nvSpPr>
        <p:spPr>
          <a:xfrm>
            <a:off x="777240" y="4507992"/>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Start with built-in knowledge. Move to a vector store when you can name the reason.</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TEST THAT MATTERS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Probing for Invention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Ask about something absent</a:t>
            </a:r>
          </a:p>
          <a:p>
            <a:pPr algn="l">
              <a:spcAft>
                <a:spcPts val="300"/>
              </a:spcAft>
            </a:pPr>
            <a:r>
              <a:rPr sz="1200" b="0">
                <a:solidFill>
                  <a:srgbClr val="5B6372"/>
                </a:solidFill>
                <a:latin typeface="Arial"/>
              </a:rPr>
              <a:t>A course, a price or a policy that does not exist.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Ask for a number never stated</a:t>
            </a:r>
          </a:p>
          <a:p>
            <a:pPr algn="l">
              <a:spcAft>
                <a:spcPts val="300"/>
              </a:spcAft>
            </a:pPr>
            <a:r>
              <a:rPr sz="1200" b="0">
                <a:solidFill>
                  <a:srgbClr val="5B6372"/>
                </a:solidFill>
                <a:latin typeface="Arial"/>
              </a:rPr>
              <a:t>A price the documents never give.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Ask a leading question</a:t>
            </a:r>
          </a:p>
          <a:p>
            <a:pPr algn="l">
              <a:spcAft>
                <a:spcPts val="300"/>
              </a:spcAft>
            </a:pPr>
            <a:r>
              <a:rPr sz="1200" b="0">
                <a:solidFill>
                  <a:srgbClr val="5B6372"/>
                </a:solidFill>
                <a:latin typeface="Arial"/>
              </a:rPr>
              <a:t>One that presumes a false fact.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only pass is a refusal</a:t>
            </a:r>
          </a:p>
          <a:p>
            <a:pPr algn="l">
              <a:spcAft>
                <a:spcPts val="300"/>
              </a:spcAft>
            </a:pPr>
            <a:r>
              <a:rPr sz="1200" b="0">
                <a:solidFill>
                  <a:srgbClr val="5B6372"/>
                </a:solidFill>
                <a:latin typeface="Arial"/>
              </a:rPr>
              <a:t>A plausible answer here is a failure.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DECISION RULE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Does the Boundary of Agency Sit?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331720"/>
            <a:ext cx="3017520" cy="210312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88920"/>
            <a:ext cx="2468880" cy="1188720"/>
          </a:xfrm>
          <a:prstGeom prst="rect">
            <a:avLst/>
          </a:prstGeom>
          <a:noFill/>
        </p:spPr>
        <p:txBody>
          <a:bodyPr wrap="square" anchor="ctr">
            <a:spAutoFit/>
          </a:bodyPr>
          <a:lstStyle/>
          <a:p>
            <a:pPr algn="ctr">
              <a:spcAft>
                <a:spcPts val="400"/>
              </a:spcAft>
            </a:pPr>
            <a:r>
              <a:rPr sz="1300" b="1">
                <a:solidFill>
                  <a:srgbClr val="FFFFFF"/>
                </a:solidFill>
                <a:latin typeface="Arial"/>
              </a:rPr>
              <a:t>Can this action be undone easily and cheaply?</a:t>
            </a:r>
          </a:p>
        </p:txBody>
      </p:sp>
      <p:sp>
        <p:nvSpPr>
          <p:cNvPr id="9" name="Rectangle 8"/>
          <p:cNvSpPr/>
          <p:nvPr/>
        </p:nvSpPr>
        <p:spPr>
          <a:xfrm>
            <a:off x="3931920" y="2761488"/>
            <a:ext cx="3200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251960" y="2732227"/>
            <a:ext cx="182880" cy="113385"/>
          </a:xfrm>
          <a:custGeom>
            <a:avLst/>
            <a:gdLst/>
            <a:ahLst/>
            <a:cxnLst/>
            <a:rect l="l" t="t" r="r" b="b"/>
            <a:pathLst>
              <a:path w="182880" h="113385">
                <a:moveTo>
                  <a:pt x="0" y="0"/>
                </a:moveTo>
                <a:lnTo>
                  <a:pt x="182880" y="56693"/>
                </a:lnTo>
                <a:lnTo>
                  <a:pt x="0" y="113385"/>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96596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965960"/>
            <a:ext cx="91440" cy="1920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112264"/>
            <a:ext cx="6400800" cy="365760"/>
          </a:xfrm>
          <a:prstGeom prst="rect">
            <a:avLst/>
          </a:prstGeom>
          <a:noFill/>
        </p:spPr>
        <p:txBody>
          <a:bodyPr wrap="square" anchor="t">
            <a:spAutoFit/>
          </a:bodyPr>
          <a:lstStyle/>
          <a:p>
            <a:pPr algn="l">
              <a:spcAft>
                <a:spcPts val="400"/>
              </a:spcAft>
            </a:pPr>
            <a:r>
              <a:rPr sz="1300" b="1">
                <a:solidFill>
                  <a:srgbClr val="10B981"/>
                </a:solidFill>
                <a:latin typeface="Arial"/>
              </a:rPr>
              <a:t>YES</a:t>
            </a:r>
          </a:p>
        </p:txBody>
      </p:sp>
      <p:sp>
        <p:nvSpPr>
          <p:cNvPr id="14" name="TextBox 13"/>
          <p:cNvSpPr txBox="1"/>
          <p:nvPr/>
        </p:nvSpPr>
        <p:spPr>
          <a:xfrm>
            <a:off x="4828032" y="2514600"/>
            <a:ext cx="6400800" cy="1280160"/>
          </a:xfrm>
          <a:prstGeom prst="rect">
            <a:avLst/>
          </a:prstGeom>
          <a:noFill/>
        </p:spPr>
        <p:txBody>
          <a:bodyPr wrap="square">
            <a:spAutoFit/>
          </a:bodyPr>
          <a:lstStyle/>
          <a:p>
            <a:pPr>
              <a:spcAft>
                <a:spcPts val="600"/>
              </a:spcAft>
            </a:pPr>
            <a:r>
              <a:rPr sz="1300">
                <a:solidFill>
                  <a:srgbClr val="161B26"/>
                </a:solidFill>
                <a:latin typeface="Arial"/>
              </a:rPr>
              <a:t>•  The agent may act, with an audit row</a:t>
            </a:r>
          </a:p>
          <a:p>
            <a:pPr>
              <a:spcAft>
                <a:spcPts val="600"/>
              </a:spcAft>
            </a:pPr>
            <a:r>
              <a:rPr sz="1300">
                <a:solidFill>
                  <a:srgbClr val="161B26"/>
                </a:solidFill>
                <a:latin typeface="Arial"/>
              </a:rPr>
              <a:t>•  Review the audit log regularly</a:t>
            </a:r>
          </a:p>
        </p:txBody>
      </p:sp>
      <p:sp>
        <p:nvSpPr>
          <p:cNvPr id="15" name="Rectangle 14"/>
          <p:cNvSpPr/>
          <p:nvPr/>
        </p:nvSpPr>
        <p:spPr>
          <a:xfrm>
            <a:off x="3931920" y="5001768"/>
            <a:ext cx="3200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251960" y="4972507"/>
            <a:ext cx="182880" cy="113385"/>
          </a:xfrm>
          <a:custGeom>
            <a:avLst/>
            <a:gdLst/>
            <a:ahLst/>
            <a:cxnLst/>
            <a:rect l="l" t="t" r="r" b="b"/>
            <a:pathLst>
              <a:path w="182880" h="113385">
                <a:moveTo>
                  <a:pt x="0" y="0"/>
                </a:moveTo>
                <a:lnTo>
                  <a:pt x="182880" y="56693"/>
                </a:lnTo>
                <a:lnTo>
                  <a:pt x="0" y="113385"/>
                </a:lnTo>
                <a:close/>
              </a:path>
            </a:pathLst>
          </a:cu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420624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4206240"/>
            <a:ext cx="91440" cy="1920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4352544"/>
            <a:ext cx="6400800" cy="365760"/>
          </a:xfrm>
          <a:prstGeom prst="rect">
            <a:avLst/>
          </a:prstGeom>
          <a:noFill/>
        </p:spPr>
        <p:txBody>
          <a:bodyPr wrap="square" anchor="t">
            <a:spAutoFit/>
          </a:bodyPr>
          <a:lstStyle/>
          <a:p>
            <a:pPr algn="l">
              <a:spcAft>
                <a:spcPts val="400"/>
              </a:spcAft>
            </a:pPr>
            <a:r>
              <a:rPr sz="1300" b="1">
                <a:solidFill>
                  <a:srgbClr val="F59E0B"/>
                </a:solidFill>
                <a:latin typeface="Arial"/>
              </a:rPr>
              <a:t>NO</a:t>
            </a:r>
          </a:p>
        </p:txBody>
      </p:sp>
      <p:sp>
        <p:nvSpPr>
          <p:cNvPr id="20" name="TextBox 19"/>
          <p:cNvSpPr txBox="1"/>
          <p:nvPr/>
        </p:nvSpPr>
        <p:spPr>
          <a:xfrm>
            <a:off x="4828032" y="4754880"/>
            <a:ext cx="6400800" cy="1280160"/>
          </a:xfrm>
          <a:prstGeom prst="rect">
            <a:avLst/>
          </a:prstGeom>
          <a:noFill/>
        </p:spPr>
        <p:txBody>
          <a:bodyPr wrap="square">
            <a:spAutoFit/>
          </a:bodyPr>
          <a:lstStyle/>
          <a:p>
            <a:pPr>
              <a:spcAft>
                <a:spcPts val="600"/>
              </a:spcAft>
            </a:pPr>
            <a:r>
              <a:rPr sz="1300">
                <a:solidFill>
                  <a:srgbClr val="161B26"/>
                </a:solidFill>
                <a:latin typeface="Arial"/>
              </a:rPr>
              <a:t>•  Require a named person to approve first</a:t>
            </a:r>
          </a:p>
          <a:p>
            <a:pPr>
              <a:spcAft>
                <a:spcPts val="600"/>
              </a:spcAft>
            </a:pPr>
            <a:r>
              <a:rPr sz="1300">
                <a:solidFill>
                  <a:srgbClr val="161B26"/>
                </a:solidFill>
                <a:latin typeface="Arial"/>
              </a:rPr>
              <a:t>•  The gate must be one the agent cannot bypass</a:t>
            </a:r>
          </a:p>
        </p:txBody>
      </p:sp>
      <p:sp>
        <p:nvSpPr>
          <p:cNvPr id="21" name="TextBox 20"/>
          <p:cNvSpPr txBox="1"/>
          <p:nvPr/>
        </p:nvSpPr>
        <p:spPr>
          <a:xfrm>
            <a:off x="777240" y="5989320"/>
            <a:ext cx="10607040" cy="457200"/>
          </a:xfrm>
          <a:prstGeom prst="rect">
            <a:avLst/>
          </a:prstGeom>
          <a:noFill/>
        </p:spPr>
        <p:txBody>
          <a:bodyPr wrap="square" anchor="t">
            <a:spAutoFit/>
          </a:bodyPr>
          <a:lstStyle/>
          <a:p>
            <a:pPr algn="l">
              <a:spcAft>
                <a:spcPts val="400"/>
              </a:spcAft>
            </a:pPr>
            <a:r>
              <a:rPr sz="1100" b="1">
                <a:solidFill>
                  <a:srgbClr val="7C3AED"/>
                </a:solidFill>
                <a:latin typeface="Arial"/>
              </a:rPr>
              <a:t>RULE   </a:t>
            </a:r>
            <a:r>
              <a:rPr sz="1300" b="0">
                <a:solidFill>
                  <a:srgbClr val="161B26"/>
                </a:solidFill>
                <a:latin typeface="Arial"/>
              </a:rPr>
              <a:t>Rank by consequence, not by how impressive the automation looks.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IN PRACTICE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Human Review Gate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Agent proposes</a:t>
            </a:r>
          </a:p>
        </p:txBody>
      </p:sp>
      <p:sp>
        <p:nvSpPr>
          <p:cNvPr id="10" name="TextBox 9"/>
          <p:cNvSpPr txBox="1"/>
          <p:nvPr/>
        </p:nvSpPr>
        <p:spPr>
          <a:xfrm>
            <a:off x="905256"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With its reasoning and recommendation</a:t>
            </a:r>
          </a:p>
        </p:txBody>
      </p:sp>
      <p:sp>
        <p:nvSpPr>
          <p:cNvPr id="11" name="Rectangle 10"/>
          <p:cNvSpPr/>
          <p:nvPr/>
        </p:nvSpPr>
        <p:spPr>
          <a:xfrm>
            <a:off x="2620670"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737714"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95574"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95574"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23590"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Approval raised</a:t>
            </a:r>
          </a:p>
        </p:txBody>
      </p:sp>
      <p:sp>
        <p:nvSpPr>
          <p:cNvPr id="16" name="TextBox 15"/>
          <p:cNvSpPr txBox="1"/>
          <p:nvPr/>
        </p:nvSpPr>
        <p:spPr>
          <a:xfrm>
            <a:off x="3123590"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To a named person in Teams</a:t>
            </a:r>
          </a:p>
        </p:txBody>
      </p:sp>
      <p:sp>
        <p:nvSpPr>
          <p:cNvPr id="17" name="Rectangle 16"/>
          <p:cNvSpPr/>
          <p:nvPr/>
        </p:nvSpPr>
        <p:spPr>
          <a:xfrm>
            <a:off x="4839004"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4956048"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13908"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3908"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1924"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Person decides</a:t>
            </a:r>
          </a:p>
        </p:txBody>
      </p:sp>
      <p:sp>
        <p:nvSpPr>
          <p:cNvPr id="22" name="TextBox 21"/>
          <p:cNvSpPr txBox="1"/>
          <p:nvPr/>
        </p:nvSpPr>
        <p:spPr>
          <a:xfrm>
            <a:off x="5341924"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Approve or reject, on the record</a:t>
            </a:r>
          </a:p>
        </p:txBody>
      </p:sp>
      <p:sp>
        <p:nvSpPr>
          <p:cNvPr id="23" name="Rectangle 22"/>
          <p:cNvSpPr/>
          <p:nvPr/>
        </p:nvSpPr>
        <p:spPr>
          <a:xfrm>
            <a:off x="7057338"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7174382"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32242"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32242"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60258"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Action or stop</a:t>
            </a:r>
          </a:p>
        </p:txBody>
      </p:sp>
      <p:sp>
        <p:nvSpPr>
          <p:cNvPr id="28" name="TextBox 27"/>
          <p:cNvSpPr txBox="1"/>
          <p:nvPr/>
        </p:nvSpPr>
        <p:spPr>
          <a:xfrm>
            <a:off x="7560258"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Only then does anything take effect</a:t>
            </a:r>
          </a:p>
        </p:txBody>
      </p:sp>
      <p:sp>
        <p:nvSpPr>
          <p:cNvPr id="29" name="Rectangle 28"/>
          <p:cNvSpPr/>
          <p:nvPr/>
        </p:nvSpPr>
        <p:spPr>
          <a:xfrm>
            <a:off x="9275672" y="3353105"/>
            <a:ext cx="117044" cy="6035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9392716" y="3320918"/>
            <a:ext cx="175564" cy="124724"/>
          </a:xfrm>
          <a:custGeom>
            <a:avLst/>
            <a:gdLst/>
            <a:ahLst/>
            <a:cxnLst/>
            <a:rect l="l" t="t" r="r" b="b"/>
            <a:pathLst>
              <a:path w="175564" h="124724">
                <a:moveTo>
                  <a:pt x="0" y="0"/>
                </a:moveTo>
                <a:lnTo>
                  <a:pt x="175564" y="62362"/>
                </a:lnTo>
                <a:lnTo>
                  <a:pt x="0" y="124724"/>
                </a:lnTo>
                <a:close/>
              </a:path>
            </a:pathLst>
          </a:cu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50576" y="2468880"/>
            <a:ext cx="1761134" cy="1828800"/>
          </a:xfrm>
          <a:prstGeom prst="round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50576" y="2468880"/>
            <a:ext cx="176113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78592" y="2670048"/>
            <a:ext cx="1505102" cy="713232"/>
          </a:xfrm>
          <a:prstGeom prst="rect">
            <a:avLst/>
          </a:prstGeom>
          <a:noFill/>
        </p:spPr>
        <p:txBody>
          <a:bodyPr wrap="square" anchor="ctr">
            <a:spAutoFit/>
          </a:bodyPr>
          <a:lstStyle/>
          <a:p>
            <a:pPr algn="ctr">
              <a:spcAft>
                <a:spcPts val="400"/>
              </a:spcAft>
            </a:pPr>
            <a:r>
              <a:rPr sz="1500" b="1">
                <a:solidFill>
                  <a:srgbClr val="161B26"/>
                </a:solidFill>
                <a:latin typeface="Arial"/>
              </a:rPr>
              <a:t>Audit row written</a:t>
            </a:r>
          </a:p>
        </p:txBody>
      </p:sp>
      <p:sp>
        <p:nvSpPr>
          <p:cNvPr id="34" name="TextBox 33"/>
          <p:cNvSpPr txBox="1"/>
          <p:nvPr/>
        </p:nvSpPr>
        <p:spPr>
          <a:xfrm>
            <a:off x="9778592" y="3401568"/>
            <a:ext cx="1505102" cy="804672"/>
          </a:xfrm>
          <a:prstGeom prst="rect">
            <a:avLst/>
          </a:prstGeom>
          <a:noFill/>
        </p:spPr>
        <p:txBody>
          <a:bodyPr wrap="square" anchor="t">
            <a:spAutoFit/>
          </a:bodyPr>
          <a:lstStyle/>
          <a:p>
            <a:pPr algn="ctr">
              <a:spcAft>
                <a:spcPts val="400"/>
              </a:spcAft>
            </a:pPr>
            <a:r>
              <a:rPr sz="1100" b="0">
                <a:solidFill>
                  <a:srgbClr val="5B6372"/>
                </a:solidFill>
                <a:latin typeface="Arial"/>
              </a:rPr>
              <a:t>Whatever the outcome</a:t>
            </a:r>
          </a:p>
        </p:txBody>
      </p:sp>
      <p:sp>
        <p:nvSpPr>
          <p:cNvPr id="35" name="Rectangle 34"/>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F6FEB"/>
                </a:solidFill>
                <a:latin typeface="Arial"/>
              </a:rPr>
              <a:t>WHY IT MATTERS   </a:t>
            </a:r>
            <a:r>
              <a:rPr sz="1300" b="0">
                <a:solidFill>
                  <a:srgbClr val="161B26"/>
                </a:solidFill>
                <a:latin typeface="Arial"/>
              </a:rPr>
              <a:t>Write the audit row regardless of the decision, or your record depends on the answer.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AUDITABILITY</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Log every request, approved or rejected.</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 record that only exists when things go well is not a record.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THREE CAUSES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Diagnosing a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The wrong value arrived, or none did. Check the step inputs.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Permission</a:t>
            </a:r>
          </a:p>
          <a:p>
            <a:pPr algn="l">
              <a:spcAft>
                <a:spcPts val="300"/>
              </a:spcAft>
            </a:pPr>
            <a:r>
              <a:rPr sz="1200" b="0">
                <a:solidFill>
                  <a:srgbClr val="5B6372"/>
                </a:solidFill>
                <a:latin typeface="Arial"/>
              </a:rPr>
              <a:t>A connection is broken or access was revoked.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Configuration</a:t>
            </a:r>
          </a:p>
          <a:p>
            <a:pPr algn="l">
              <a:spcAft>
                <a:spcPts val="300"/>
              </a:spcAft>
            </a:pPr>
            <a:r>
              <a:rPr sz="1200" b="0">
                <a:solidFill>
                  <a:srgbClr val="5B6372"/>
                </a:solidFill>
                <a:latin typeface="Arial"/>
              </a:rPr>
              <a:t>A field is empty, mis-mapped or typed instead of inserted.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Classify before you fix</a:t>
            </a:r>
          </a:p>
          <a:p>
            <a:pPr algn="l">
              <a:spcAft>
                <a:spcPts val="300"/>
              </a:spcAft>
            </a:pPr>
            <a:r>
              <a:rPr sz="1200" b="0">
                <a:solidFill>
                  <a:srgbClr val="5B6372"/>
                </a:solidFill>
                <a:latin typeface="Arial"/>
              </a:rPr>
              <a:t>Naming the cause is what stops it recurring.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Automation Time Is Recovered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DECISION LENS</a:t>
            </a:r>
          </a:p>
        </p:txBody>
      </p:sp>
      <p:sp>
        <p:nvSpPr>
          <p:cNvPr id="11" name="TextBox 10"/>
          <p:cNvSpPr txBox="1"/>
          <p:nvPr/>
        </p:nvSpPr>
        <p:spPr>
          <a:xfrm>
            <a:off x="8778240" y="2560320"/>
            <a:ext cx="2377440" cy="1737360"/>
          </a:xfrm>
          <a:prstGeom prst="rect">
            <a:avLst/>
          </a:prstGeom>
          <a:noFill/>
        </p:spPr>
        <p:txBody>
          <a:bodyPr wrap="square" anchor="t">
            <a:spAutoFit/>
          </a:bodyPr>
          <a:lstStyle/>
          <a:p>
            <a:pPr algn="l">
              <a:spcAft>
                <a:spcPts val="400"/>
              </a:spcAft>
            </a:pPr>
            <a:r>
              <a:rPr sz="1300" b="0">
                <a:solidFill>
                  <a:srgbClr val="161B26"/>
                </a:solidFill>
                <a:latin typeface="Arial"/>
              </a:rPr>
              <a:t>Data entry and enquiry handling dominate — which is where the hand-offs were.</a:t>
            </a:r>
          </a:p>
        </p:txBody>
      </p:sp>
      <p:sp>
        <p:nvSpPr>
          <p:cNvPr id="12" name="Rectangle 11"/>
          <p:cNvSpPr/>
          <p:nvPr/>
        </p:nvSpPr>
        <p:spPr>
          <a:xfrm>
            <a:off x="8732520" y="434340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52628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526280"/>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507992"/>
            <a:ext cx="2011680" cy="777240"/>
          </a:xfrm>
          <a:prstGeom prst="rect">
            <a:avLst/>
          </a:prstGeom>
          <a:noFill/>
        </p:spPr>
        <p:txBody>
          <a:bodyPr wrap="square" anchor="t">
            <a:spAutoFit/>
          </a:bodyPr>
          <a:lstStyle/>
          <a:p>
            <a:pPr algn="l">
              <a:spcAft>
                <a:spcPts val="100"/>
              </a:spcAft>
            </a:pPr>
            <a:r>
              <a:rPr sz="1050" b="0">
                <a:solidFill>
                  <a:srgbClr val="5B6372"/>
                </a:solidFill>
                <a:latin typeface="Arial"/>
              </a:rPr>
              <a:t>Check the axis, the units</a:t>
            </a:r>
          </a:p>
          <a:p>
            <a:pPr algn="l">
              <a:spcAft>
                <a:spcPts val="100"/>
              </a:spcAft>
            </a:pPr>
            <a:r>
              <a:rPr sz="1050" b="0">
                <a:solidFill>
                  <a:srgbClr val="5B6372"/>
                </a:solidFill>
                <a:latin typeface="Arial"/>
              </a:rPr>
              <a:t>and the source before you act.</a:t>
            </a:r>
          </a:p>
        </p:txBody>
      </p:sp>
      <p:sp>
        <p:nvSpPr>
          <p:cNvPr id="16" name="Rectangle 15"/>
          <p:cNvSpPr/>
          <p:nvPr/>
        </p:nvSpPr>
        <p:spPr>
          <a:xfrm>
            <a:off x="8778240" y="5440680"/>
            <a:ext cx="2377440" cy="3840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440680"/>
            <a:ext cx="2194560" cy="384048"/>
          </a:xfrm>
          <a:prstGeom prst="rect">
            <a:avLst/>
          </a:prstGeom>
          <a:noFill/>
        </p:spPr>
        <p:txBody>
          <a:bodyPr wrap="square" anchor="ctr">
            <a:spAutoFit/>
          </a:bodyPr>
          <a:lstStyle/>
          <a:p>
            <a:pPr algn="l">
              <a:spcAft>
                <a:spcPts val="400"/>
              </a:spcAft>
            </a:pPr>
            <a:r>
              <a:rPr sz="900" b="0">
                <a:solidFill>
                  <a:srgbClr val="5B6372"/>
                </a:solidFill>
                <a:latin typeface="Arial"/>
              </a:rPr>
              <a:t>Native PowerPoint chart · editable data · verify source and units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Optimising a 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Remove needless steps</a:t>
            </a:r>
          </a:p>
          <a:p>
            <a:pPr algn="l">
              <a:spcAft>
                <a:spcPts val="300"/>
              </a:spcAft>
            </a:pPr>
            <a:r>
              <a:rPr sz="1200" b="0">
                <a:solidFill>
                  <a:srgbClr val="5B6372"/>
                </a:solidFill>
                <a:latin typeface="Arial"/>
              </a:rPr>
              <a:t>Every action is a thing that can fail.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Handle the failure path</a:t>
            </a:r>
          </a:p>
          <a:p>
            <a:pPr algn="l">
              <a:spcAft>
                <a:spcPts val="300"/>
              </a:spcAft>
            </a:pPr>
            <a:r>
              <a:rPr sz="1200" b="0">
                <a:solidFill>
                  <a:srgbClr val="5B6372"/>
                </a:solidFill>
                <a:latin typeface="Arial"/>
              </a:rPr>
              <a:t>Decide what happens when a step errors.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Watch the run history</a:t>
            </a:r>
          </a:p>
          <a:p>
            <a:pPr algn="l">
              <a:spcAft>
                <a:spcPts val="300"/>
              </a:spcAft>
            </a:pPr>
            <a:r>
              <a:rPr sz="1200" b="0">
                <a:solidFill>
                  <a:srgbClr val="5B6372"/>
                </a:solidFill>
                <a:latin typeface="Arial"/>
              </a:rPr>
              <a:t>Recurring failures are a design signal.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Review the boundary</a:t>
            </a:r>
          </a:p>
          <a:p>
            <a:pPr algn="l">
              <a:spcAft>
                <a:spcPts val="300"/>
              </a:spcAft>
            </a:pPr>
            <a:r>
              <a:rPr sz="1200" b="0">
                <a:solidFill>
                  <a:srgbClr val="5B6372"/>
                </a:solidFill>
                <a:latin typeface="Arial"/>
              </a:rPr>
              <a:t>As trust grows, move the gate deliberately, not by drift.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6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100" b="1">
                <a:solidFill>
                  <a:srgbClr val="F59E0B"/>
                </a:solidFill>
                <a:latin typeface="Arial"/>
              </a:rPr>
              <a:t>10 minutes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INTERFACE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an Integration Contract Specifies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endpoint</a:t>
            </a:r>
          </a:p>
          <a:p>
            <a:pPr algn="l">
              <a:spcAft>
                <a:spcPts val="300"/>
              </a:spcAft>
            </a:pPr>
            <a:r>
              <a:rPr sz="1200" b="0">
                <a:solidFill>
                  <a:srgbClr val="5B6372"/>
                </a:solidFill>
                <a:latin typeface="Arial"/>
              </a:rPr>
              <a:t>Where the caller sends the request.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method and body</a:t>
            </a:r>
          </a:p>
          <a:p>
            <a:pPr algn="l">
              <a:spcAft>
                <a:spcPts val="300"/>
              </a:spcAft>
            </a:pPr>
            <a:r>
              <a:rPr sz="1200" b="0">
                <a:solidFill>
                  <a:srgbClr val="5B6372"/>
                </a:solidFill>
                <a:latin typeface="Arial"/>
              </a:rPr>
              <a:t>How the request is shaped.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schema</a:t>
            </a:r>
          </a:p>
          <a:p>
            <a:pPr algn="l">
              <a:spcAft>
                <a:spcPts val="300"/>
              </a:spcAft>
            </a:pPr>
            <a:r>
              <a:rPr sz="1200" b="0">
                <a:solidFill>
                  <a:srgbClr val="5B6372"/>
                </a:solidFill>
                <a:latin typeface="Arial"/>
              </a:rPr>
              <a:t>Which fields are required and their types.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response</a:t>
            </a:r>
          </a:p>
          <a:p>
            <a:pPr algn="l">
              <a:spcAft>
                <a:spcPts val="300"/>
              </a:spcAft>
            </a:pPr>
            <a:r>
              <a:rPr sz="1200" b="0">
                <a:solidFill>
                  <a:srgbClr val="5B6372"/>
                </a:solidFill>
                <a:latin typeface="Arial"/>
              </a:rPr>
              <a:t>Status code and the fields returned.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INTEGRATION SURFACES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Automation Can Be Called From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Caller</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Mechanism</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Typical use</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A person</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Instant trigger</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 button in an app</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Another Microsoft service</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Connector trigger</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 form, a file, a mail</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An external application</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HTTP trigger</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A website or third-party system</a:t>
            </a:r>
          </a:p>
        </p:txBody>
      </p:sp>
      <p:sp>
        <p:nvSpPr>
          <p:cNvPr id="31" name="Rectangle 30"/>
          <p:cNvSpPr/>
          <p:nvPr/>
        </p:nvSpPr>
        <p:spPr>
          <a:xfrm>
            <a:off x="777240" y="3803904"/>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803904"/>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An agent</a:t>
            </a:r>
          </a:p>
        </p:txBody>
      </p:sp>
      <p:sp>
        <p:nvSpPr>
          <p:cNvPr id="33" name="Rectangle 32"/>
          <p:cNvSpPr/>
          <p:nvPr/>
        </p:nvSpPr>
        <p:spPr>
          <a:xfrm>
            <a:off x="3542202"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Tool / agent flow</a:t>
            </a:r>
          </a:p>
        </p:txBody>
      </p:sp>
      <p:sp>
        <p:nvSpPr>
          <p:cNvPr id="35" name="Rectangle 34"/>
          <p:cNvSpPr/>
          <p:nvPr/>
        </p:nvSpPr>
        <p:spPr>
          <a:xfrm>
            <a:off x="7476957"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6685"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The agent decides to call it</a:t>
            </a:r>
          </a:p>
        </p:txBody>
      </p:sp>
      <p:sp>
        <p:nvSpPr>
          <p:cNvPr id="37" name="TextBox 36"/>
          <p:cNvSpPr txBox="1"/>
          <p:nvPr/>
        </p:nvSpPr>
        <p:spPr>
          <a:xfrm>
            <a:off x="777240" y="4507992"/>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The same flow logic can be exposed to all four. The trigger is what changes.</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RAG PARAMETERS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Chunking, Embeddings and Top-K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Chunk size</a:t>
            </a:r>
          </a:p>
          <a:p>
            <a:pPr algn="l">
              <a:spcAft>
                <a:spcPts val="300"/>
              </a:spcAft>
            </a:pPr>
            <a:r>
              <a:rPr sz="1200" b="0">
                <a:solidFill>
                  <a:srgbClr val="5B6372"/>
                </a:solidFill>
                <a:latin typeface="Arial"/>
              </a:rPr>
              <a:t>Too small loses context; too large dilutes relevance.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Overlap</a:t>
            </a:r>
          </a:p>
          <a:p>
            <a:pPr algn="l">
              <a:spcAft>
                <a:spcPts val="300"/>
              </a:spcAft>
            </a:pPr>
            <a:r>
              <a:rPr sz="1200" b="0">
                <a:solidFill>
                  <a:srgbClr val="5B6372"/>
                </a:solidFill>
                <a:latin typeface="Arial"/>
              </a:rPr>
              <a:t>A little overlap stops a fact being split in half.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Embeddings</a:t>
            </a:r>
          </a:p>
          <a:p>
            <a:pPr algn="l">
              <a:spcAft>
                <a:spcPts val="300"/>
              </a:spcAft>
            </a:pPr>
            <a:r>
              <a:rPr sz="1200" b="0">
                <a:solidFill>
                  <a:srgbClr val="5B6372"/>
                </a:solidFill>
                <a:latin typeface="Arial"/>
              </a:rPr>
              <a:t>Text becomes vectors so similarity can be measured.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Top-k</a:t>
            </a:r>
          </a:p>
          <a:p>
            <a:pPr algn="l">
              <a:spcAft>
                <a:spcPts val="300"/>
              </a:spcAft>
            </a:pPr>
            <a:r>
              <a:rPr sz="1200" b="0">
                <a:solidFill>
                  <a:srgbClr val="5B6372"/>
                </a:solidFill>
                <a:latin typeface="Arial"/>
              </a:rPr>
              <a:t>How many chunks are retrieved and given to the model.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DECISION RULE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Built-In Knowledge or an External Vector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331720"/>
            <a:ext cx="3017520" cy="210312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788920"/>
            <a:ext cx="2468880" cy="1188720"/>
          </a:xfrm>
          <a:prstGeom prst="rect">
            <a:avLst/>
          </a:prstGeom>
          <a:noFill/>
        </p:spPr>
        <p:txBody>
          <a:bodyPr wrap="square" anchor="ctr">
            <a:spAutoFit/>
          </a:bodyPr>
          <a:lstStyle/>
          <a:p>
            <a:pPr algn="ctr">
              <a:spcAft>
                <a:spcPts val="400"/>
              </a:spcAft>
            </a:pPr>
            <a:r>
              <a:rPr sz="1300" b="1">
                <a:solidFill>
                  <a:srgbClr val="FFFFFF"/>
                </a:solidFill>
                <a:latin typeface="Arial"/>
              </a:rPr>
              <a:t>Can you name a concrete reason built-in is insufficient?</a:t>
            </a:r>
          </a:p>
        </p:txBody>
      </p:sp>
      <p:sp>
        <p:nvSpPr>
          <p:cNvPr id="9" name="Rectangle 8"/>
          <p:cNvSpPr/>
          <p:nvPr/>
        </p:nvSpPr>
        <p:spPr>
          <a:xfrm>
            <a:off x="3931920" y="2761488"/>
            <a:ext cx="32004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251960" y="2732227"/>
            <a:ext cx="182880" cy="113385"/>
          </a:xfrm>
          <a:custGeom>
            <a:avLst/>
            <a:gdLst/>
            <a:ahLst/>
            <a:cxnLst/>
            <a:rect l="l" t="t" r="r" b="b"/>
            <a:pathLst>
              <a:path w="182880" h="113385">
                <a:moveTo>
                  <a:pt x="0" y="0"/>
                </a:moveTo>
                <a:lnTo>
                  <a:pt x="182880" y="56693"/>
                </a:lnTo>
                <a:lnTo>
                  <a:pt x="0" y="113385"/>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96596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965960"/>
            <a:ext cx="91440" cy="1920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28032" y="2112264"/>
            <a:ext cx="6400800" cy="365760"/>
          </a:xfrm>
          <a:prstGeom prst="rect">
            <a:avLst/>
          </a:prstGeom>
          <a:noFill/>
        </p:spPr>
        <p:txBody>
          <a:bodyPr wrap="square" anchor="t">
            <a:spAutoFit/>
          </a:bodyPr>
          <a:lstStyle/>
          <a:p>
            <a:pPr algn="l">
              <a:spcAft>
                <a:spcPts val="400"/>
              </a:spcAft>
            </a:pPr>
            <a:r>
              <a:rPr sz="1300" b="1">
                <a:solidFill>
                  <a:srgbClr val="10B981"/>
                </a:solidFill>
                <a:latin typeface="Arial"/>
              </a:rPr>
              <a:t>YES</a:t>
            </a:r>
          </a:p>
        </p:txBody>
      </p:sp>
      <p:sp>
        <p:nvSpPr>
          <p:cNvPr id="14" name="TextBox 13"/>
          <p:cNvSpPr txBox="1"/>
          <p:nvPr/>
        </p:nvSpPr>
        <p:spPr>
          <a:xfrm>
            <a:off x="4828032" y="2514600"/>
            <a:ext cx="6400800" cy="1280160"/>
          </a:xfrm>
          <a:prstGeom prst="rect">
            <a:avLst/>
          </a:prstGeom>
          <a:noFill/>
        </p:spPr>
        <p:txBody>
          <a:bodyPr wrap="square">
            <a:spAutoFit/>
          </a:bodyPr>
          <a:lstStyle/>
          <a:p>
            <a:pPr>
              <a:spcAft>
                <a:spcPts val="600"/>
              </a:spcAft>
            </a:pPr>
            <a:r>
              <a:rPr sz="1300">
                <a:solidFill>
                  <a:srgbClr val="161B26"/>
                </a:solidFill>
                <a:latin typeface="Arial"/>
              </a:rPr>
              <a:t>•  Use the external vector store</a:t>
            </a:r>
          </a:p>
          <a:p>
            <a:pPr>
              <a:spcAft>
                <a:spcPts val="600"/>
              </a:spcAft>
            </a:pPr>
            <a:r>
              <a:rPr sz="1300">
                <a:solidFill>
                  <a:srgbClr val="161B26"/>
                </a:solidFill>
                <a:latin typeface="Arial"/>
              </a:rPr>
              <a:t>•  You control chunking, top-k and the index</a:t>
            </a:r>
          </a:p>
        </p:txBody>
      </p:sp>
      <p:sp>
        <p:nvSpPr>
          <p:cNvPr id="15" name="Rectangle 14"/>
          <p:cNvSpPr/>
          <p:nvPr/>
        </p:nvSpPr>
        <p:spPr>
          <a:xfrm>
            <a:off x="3931920" y="5001768"/>
            <a:ext cx="3200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251960" y="4972507"/>
            <a:ext cx="182880" cy="113385"/>
          </a:xfrm>
          <a:custGeom>
            <a:avLst/>
            <a:gdLst/>
            <a:ahLst/>
            <a:cxnLst/>
            <a:rect l="l" t="t" r="r" b="b"/>
            <a:pathLst>
              <a:path w="182880" h="113385">
                <a:moveTo>
                  <a:pt x="0" y="0"/>
                </a:moveTo>
                <a:lnTo>
                  <a:pt x="182880" y="56693"/>
                </a:lnTo>
                <a:lnTo>
                  <a:pt x="0" y="113385"/>
                </a:lnTo>
                <a:close/>
              </a:path>
            </a:pathLst>
          </a:cu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4206240"/>
            <a:ext cx="6858000" cy="1920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4206240"/>
            <a:ext cx="91440" cy="1920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28032" y="4352544"/>
            <a:ext cx="6400800" cy="365760"/>
          </a:xfrm>
          <a:prstGeom prst="rect">
            <a:avLst/>
          </a:prstGeom>
          <a:noFill/>
        </p:spPr>
        <p:txBody>
          <a:bodyPr wrap="square" anchor="t">
            <a:spAutoFit/>
          </a:bodyPr>
          <a:lstStyle/>
          <a:p>
            <a:pPr algn="l">
              <a:spcAft>
                <a:spcPts val="400"/>
              </a:spcAft>
            </a:pPr>
            <a:r>
              <a:rPr sz="1300" b="1">
                <a:solidFill>
                  <a:srgbClr val="F59E0B"/>
                </a:solidFill>
                <a:latin typeface="Arial"/>
              </a:rPr>
              <a:t>NO</a:t>
            </a:r>
          </a:p>
        </p:txBody>
      </p:sp>
      <p:sp>
        <p:nvSpPr>
          <p:cNvPr id="20" name="TextBox 19"/>
          <p:cNvSpPr txBox="1"/>
          <p:nvPr/>
        </p:nvSpPr>
        <p:spPr>
          <a:xfrm>
            <a:off x="4828032" y="4754880"/>
            <a:ext cx="6400800" cy="1280160"/>
          </a:xfrm>
          <a:prstGeom prst="rect">
            <a:avLst/>
          </a:prstGeom>
          <a:noFill/>
        </p:spPr>
        <p:txBody>
          <a:bodyPr wrap="square">
            <a:spAutoFit/>
          </a:bodyPr>
          <a:lstStyle/>
          <a:p>
            <a:pPr>
              <a:spcAft>
                <a:spcPts val="600"/>
              </a:spcAft>
            </a:pPr>
            <a:r>
              <a:rPr sz="1300">
                <a:solidFill>
                  <a:srgbClr val="161B26"/>
                </a:solidFill>
                <a:latin typeface="Arial"/>
              </a:rPr>
              <a:t>•  Use built-in knowledge</a:t>
            </a:r>
          </a:p>
          <a:p>
            <a:pPr>
              <a:spcAft>
                <a:spcPts val="600"/>
              </a:spcAft>
            </a:pPr>
            <a:r>
              <a:rPr sz="1300">
                <a:solidFill>
                  <a:srgbClr val="161B26"/>
                </a:solidFill>
                <a:latin typeface="Arial"/>
              </a:rPr>
              <a:t>•  Less to build, less to run, less to get wrong</a:t>
            </a:r>
          </a:p>
        </p:txBody>
      </p:sp>
      <p:sp>
        <p:nvSpPr>
          <p:cNvPr id="21" name="TextBox 20"/>
          <p:cNvSpPr txBox="1"/>
          <p:nvPr/>
        </p:nvSpPr>
        <p:spPr>
          <a:xfrm>
            <a:off x="777240" y="5989320"/>
            <a:ext cx="10607040" cy="457200"/>
          </a:xfrm>
          <a:prstGeom prst="rect">
            <a:avLst/>
          </a:prstGeom>
          <a:noFill/>
        </p:spPr>
        <p:txBody>
          <a:bodyPr wrap="square" anchor="t">
            <a:spAutoFit/>
          </a:bodyPr>
          <a:lstStyle/>
          <a:p>
            <a:pPr algn="l">
              <a:spcAft>
                <a:spcPts val="400"/>
              </a:spcAft>
            </a:pPr>
            <a:r>
              <a:rPr sz="1100" b="1">
                <a:solidFill>
                  <a:srgbClr val="7C3AED"/>
                </a:solidFill>
                <a:latin typeface="Arial"/>
              </a:rPr>
              <a:t>RULE   </a:t>
            </a:r>
            <a:r>
              <a:rPr sz="1300" b="0">
                <a:solidFill>
                  <a:srgbClr val="161B26"/>
                </a:solidFill>
                <a:latin typeface="Arial"/>
              </a:rPr>
              <a:t>Choose the extra machinery when you can articulate why. Not by default.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GOVERNANCE CHECK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Security Questions to Ask Before Release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Who can trigger it?</a:t>
            </a:r>
          </a:p>
          <a:p>
            <a:pPr algn="l">
              <a:spcAft>
                <a:spcPts val="300"/>
              </a:spcAft>
            </a:pPr>
            <a:r>
              <a:rPr sz="1200" b="0">
                <a:solidFill>
                  <a:srgbClr val="5B6372"/>
                </a:solidFill>
                <a:latin typeface="Arial"/>
              </a:rPr>
              <a:t>Especially anything with an HTTP endpoint.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can it reach?</a:t>
            </a:r>
          </a:p>
          <a:p>
            <a:pPr algn="l">
              <a:spcAft>
                <a:spcPts val="300"/>
              </a:spcAft>
            </a:pPr>
            <a:r>
              <a:rPr sz="1200" b="0">
                <a:solidFill>
                  <a:srgbClr val="5B6372"/>
                </a:solidFill>
                <a:latin typeface="Arial"/>
              </a:rPr>
              <a:t>Which systems, and with whose permissions.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is logged?</a:t>
            </a:r>
          </a:p>
          <a:p>
            <a:pPr algn="l">
              <a:spcAft>
                <a:spcPts val="300"/>
              </a:spcAft>
            </a:pPr>
            <a:r>
              <a:rPr sz="1200" b="0">
                <a:solidFill>
                  <a:srgbClr val="5B6372"/>
                </a:solidFill>
                <a:latin typeface="Arial"/>
              </a:rPr>
              <a:t>Enough to reconstruct what happened.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is the blast radius?</a:t>
            </a:r>
          </a:p>
          <a:p>
            <a:pPr algn="l">
              <a:spcAft>
                <a:spcPts val="300"/>
              </a:spcAft>
            </a:pPr>
            <a:r>
              <a:rPr sz="1200" b="0">
                <a:solidFill>
                  <a:srgbClr val="5B6372"/>
                </a:solidFill>
                <a:latin typeface="Arial"/>
              </a:rPr>
              <a:t>The worst outcome if it behaves incorrectly.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NATIVE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Failure Causes in Deployed Automations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7498079" cy="4114800"/>
        </p:xfrm>
        <a:graphic>
          <a:graphicData uri="http://schemas.openxmlformats.org/drawingml/2006/chart">
            <c:chart xmlns:c="http://schemas.openxmlformats.org/drawingml/2006/chart" r:id="rId2"/>
          </a:graphicData>
        </a:graphic>
      </p:graphicFrame>
      <p:sp>
        <p:nvSpPr>
          <p:cNvPr id="8" name="Rectangle 7"/>
          <p:cNvSpPr/>
          <p:nvPr/>
        </p:nvSpPr>
        <p:spPr>
          <a:xfrm>
            <a:off x="8503920" y="1828800"/>
            <a:ext cx="2926080"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503920" y="1828800"/>
            <a:ext cx="2926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2103120"/>
            <a:ext cx="2377440" cy="365760"/>
          </a:xfrm>
          <a:prstGeom prst="rect">
            <a:avLst/>
          </a:prstGeom>
          <a:noFill/>
        </p:spPr>
        <p:txBody>
          <a:bodyPr wrap="square" anchor="t">
            <a:spAutoFit/>
          </a:bodyPr>
          <a:lstStyle/>
          <a:p>
            <a:pPr algn="l">
              <a:spcAft>
                <a:spcPts val="400"/>
              </a:spcAft>
            </a:pPr>
            <a:r>
              <a:rPr sz="1200" b="1">
                <a:solidFill>
                  <a:srgbClr val="1F6FEB"/>
                </a:solidFill>
                <a:latin typeface="Arial"/>
              </a:rPr>
              <a:t>DECISION LENS</a:t>
            </a:r>
          </a:p>
        </p:txBody>
      </p:sp>
      <p:sp>
        <p:nvSpPr>
          <p:cNvPr id="11" name="TextBox 10"/>
          <p:cNvSpPr txBox="1"/>
          <p:nvPr/>
        </p:nvSpPr>
        <p:spPr>
          <a:xfrm>
            <a:off x="8778240" y="2560320"/>
            <a:ext cx="2377440" cy="1737360"/>
          </a:xfrm>
          <a:prstGeom prst="rect">
            <a:avLst/>
          </a:prstGeom>
          <a:noFill/>
        </p:spPr>
        <p:txBody>
          <a:bodyPr wrap="square" anchor="t">
            <a:spAutoFit/>
          </a:bodyPr>
          <a:lstStyle/>
          <a:p>
            <a:pPr algn="l">
              <a:spcAft>
                <a:spcPts val="400"/>
              </a:spcAft>
            </a:pPr>
            <a:r>
              <a:rPr sz="1300" b="0">
                <a:solidFill>
                  <a:srgbClr val="161B26"/>
                </a:solidFill>
                <a:latin typeface="Arial"/>
              </a:rPr>
              <a:t>Two thirds are data, permission and configuration — all visible in the run history.</a:t>
            </a:r>
          </a:p>
        </p:txBody>
      </p:sp>
      <p:sp>
        <p:nvSpPr>
          <p:cNvPr id="12" name="Rectangle 11"/>
          <p:cNvSpPr/>
          <p:nvPr/>
        </p:nvSpPr>
        <p:spPr>
          <a:xfrm>
            <a:off x="8732520" y="4343400"/>
            <a:ext cx="24688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0" y="452628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4526280"/>
            <a:ext cx="310896" cy="310896"/>
          </a:xfrm>
          <a:prstGeom prst="rect">
            <a:avLst/>
          </a:prstGeom>
          <a:noFill/>
        </p:spPr>
        <p:txBody>
          <a:bodyPr wrap="square" anchor="ctr">
            <a:spAutoFit/>
          </a:bodyPr>
          <a:lstStyle/>
          <a:p>
            <a:pPr algn="ctr">
              <a:spcAft>
                <a:spcPts val="400"/>
              </a:spcAft>
            </a:pPr>
            <a:r>
              <a:rPr sz="1300" b="1">
                <a:solidFill>
                  <a:srgbClr val="FFFFFF"/>
                </a:solidFill>
                <a:latin typeface="Arial"/>
              </a:rPr>
              <a:t>?</a:t>
            </a:r>
          </a:p>
        </p:txBody>
      </p:sp>
      <p:sp>
        <p:nvSpPr>
          <p:cNvPr id="15" name="TextBox 14"/>
          <p:cNvSpPr txBox="1"/>
          <p:nvPr/>
        </p:nvSpPr>
        <p:spPr>
          <a:xfrm>
            <a:off x="9189720" y="4507992"/>
            <a:ext cx="2011680" cy="777240"/>
          </a:xfrm>
          <a:prstGeom prst="rect">
            <a:avLst/>
          </a:prstGeom>
          <a:noFill/>
        </p:spPr>
        <p:txBody>
          <a:bodyPr wrap="square" anchor="t">
            <a:spAutoFit/>
          </a:bodyPr>
          <a:lstStyle/>
          <a:p>
            <a:pPr algn="l">
              <a:spcAft>
                <a:spcPts val="100"/>
              </a:spcAft>
            </a:pPr>
            <a:r>
              <a:rPr sz="1050" b="0">
                <a:solidFill>
                  <a:srgbClr val="5B6372"/>
                </a:solidFill>
                <a:latin typeface="Arial"/>
              </a:rPr>
              <a:t>Check the axis, the units</a:t>
            </a:r>
          </a:p>
          <a:p>
            <a:pPr algn="l">
              <a:spcAft>
                <a:spcPts val="100"/>
              </a:spcAft>
            </a:pPr>
            <a:r>
              <a:rPr sz="1050" b="0">
                <a:solidFill>
                  <a:srgbClr val="5B6372"/>
                </a:solidFill>
                <a:latin typeface="Arial"/>
              </a:rPr>
              <a:t>and the source before you act.</a:t>
            </a:r>
          </a:p>
        </p:txBody>
      </p:sp>
      <p:sp>
        <p:nvSpPr>
          <p:cNvPr id="16" name="Rectangle 15"/>
          <p:cNvSpPr/>
          <p:nvPr/>
        </p:nvSpPr>
        <p:spPr>
          <a:xfrm>
            <a:off x="8778240" y="5440680"/>
            <a:ext cx="2377440" cy="3840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440680"/>
            <a:ext cx="2194560" cy="384048"/>
          </a:xfrm>
          <a:prstGeom prst="rect">
            <a:avLst/>
          </a:prstGeom>
          <a:noFill/>
        </p:spPr>
        <p:txBody>
          <a:bodyPr wrap="square" anchor="ctr">
            <a:spAutoFit/>
          </a:bodyPr>
          <a:lstStyle/>
          <a:p>
            <a:pPr algn="l">
              <a:spcAft>
                <a:spcPts val="400"/>
              </a:spcAft>
            </a:pPr>
            <a:r>
              <a:rPr sz="900" b="0">
                <a:solidFill>
                  <a:srgbClr val="5B6372"/>
                </a:solidFill>
                <a:latin typeface="Arial"/>
              </a:rPr>
              <a:t>Native PowerPoint chart · editable data · verify source and units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WHEN TO STOP PATCHING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Signs an Automation Needs Redesign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same failure recurs</a:t>
            </a:r>
          </a:p>
          <a:p>
            <a:pPr algn="l">
              <a:spcAft>
                <a:spcPts val="300"/>
              </a:spcAft>
            </a:pPr>
            <a:r>
              <a:rPr sz="1200" b="0">
                <a:solidFill>
                  <a:srgbClr val="5B6372"/>
                </a:solidFill>
                <a:latin typeface="Arial"/>
              </a:rPr>
              <a:t>A pattern is a design signal, not bad luck.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Nobody can explain it</a:t>
            </a:r>
          </a:p>
          <a:p>
            <a:pPr algn="l">
              <a:spcAft>
                <a:spcPts val="300"/>
              </a:spcAft>
            </a:pPr>
            <a:r>
              <a:rPr sz="1200" b="0">
                <a:solidFill>
                  <a:srgbClr val="5B6372"/>
                </a:solidFill>
                <a:latin typeface="Arial"/>
              </a:rPr>
              <a:t>Complexity has outrun understanding.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Every change breaks something</a:t>
            </a:r>
          </a:p>
          <a:p>
            <a:pPr algn="l">
              <a:spcAft>
                <a:spcPts val="300"/>
              </a:spcAft>
            </a:pPr>
            <a:r>
              <a:rPr sz="1200" b="0">
                <a:solidFill>
                  <a:srgbClr val="5B6372"/>
                </a:solidFill>
                <a:latin typeface="Arial"/>
              </a:rPr>
              <a:t>The steps are too tightly coupled.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gate is routinely bypassed</a:t>
            </a:r>
          </a:p>
          <a:p>
            <a:pPr algn="l">
              <a:spcAft>
                <a:spcPts val="300"/>
              </a:spcAft>
            </a:pPr>
            <a:r>
              <a:rPr sz="1200" b="0">
                <a:solidFill>
                  <a:srgbClr val="5B6372"/>
                </a:solidFill>
                <a:latin typeface="Arial"/>
              </a:rPr>
              <a:t>The control does not fit how people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LAST WORD</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Move the boundary of agency deliberately.</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Trust should be extended by a decision that is recorded — never by drift.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INTERMEDIATE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Expose a Flow over HTTP with a JSON Schema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21</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K5 · A4</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builds a flow with an HTTP request trigger, defines the request body with a JSON schema, returns a structured response, and calls it from outside Power Automate to prove the integration works.</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An HTTP-triggered flow with a defined request schema and a structured JSON response</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Power Automate, HTTP, JSON</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K5 · A4</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Intermediate</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21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Add an HTTP trigger</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Treat the URL as a secret</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Add a Response action</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Call it and inspect the run</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21)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Expose a Flow over HTTP with a JSON Schema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An external call with a valid body returns the expected JSON response, and the run history shows the parsed fields exactly as the schema defined them.</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ADVANCED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an Agent with Retrieval-Augmented Generation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22</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K5 · A5</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grounds an agent in a document set, tests it with questions the documents answer and questions they do not, and probes deliberately for invention to confirm the refusal behaviour holds.</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retrieval-grounded agent with a documented answer, citation and refusal test set</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Copilot Studio, Knowledge, SharePoint</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K5 · A5</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Advanced</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22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Upload the document set</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Require a citation</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Test across two documents</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Probe for invention</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22)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an Agent with Retrieval-Augmented Generation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Every in-scope question is answered with a correct citation, and questions about non-existent courses or unstated prices produce an explicit refusal rather than an invented answer.</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ADVANCED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Add a Human Review Gate to an Agent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23</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K5 · A7</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takes an agent that can trigger a consequential action and inserts an approval gate, so the model may propose the action but only a named person can release it.</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An agent whose consequential action is suspended until a named person approves it</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Copilot Studio, Power Automate, Teams Approvals</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K5 · A7</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Advanced</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23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Find the consequential step</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Insert the approval gate</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Give the approver context</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Test approve and reject</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23)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Add a Human Review Gate to an Agent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The consequential action never completes without a recorded approval, a rejection stops it cleanly, and an audit row exists for every request regardless of outcome.</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ADVANCED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Test, Secure and Troubleshoot the 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24</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K5 · A6,A8</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runs a structured test pass over the flows and agents built during the course, deliberately triggers failures, reads the run history to diagnose each one, and records the cause and the fix.</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completed test log and an issue register with a diagnosed cause and fix for every failure</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Power Automate, Copilot Studio, run history</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K5 · A6,A8</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Advanced</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24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Build the test pass</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Trigger failures deliberately</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Diagnose from run history</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Confirm the fix and retest</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24)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Test, Secure and Troubleshoot the 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Every flow and agent has a recorded happy-path result, each deliberately triggered failure is diagnosed with a cause and a fix, and every fix has a passing retest.</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CAPSTONE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Operate a Governed End-to-End Copilot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37160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371600" cy="365760"/>
          </a:xfrm>
          <a:prstGeom prst="rect">
            <a:avLst/>
          </a:prstGeom>
          <a:noFill/>
        </p:spPr>
        <p:txBody>
          <a:bodyPr wrap="square" anchor="t">
            <a:spAutoFit/>
          </a:bodyPr>
          <a:lstStyle/>
          <a:p>
            <a:pPr algn="ctr">
              <a:spcAft>
                <a:spcPts val="400"/>
              </a:spcAft>
            </a:pPr>
            <a:r>
              <a:rPr sz="1500" b="1">
                <a:solidFill>
                  <a:srgbClr val="FFFFFF"/>
                </a:solidFill>
                <a:latin typeface="Arial"/>
              </a:rPr>
              <a:t>LAB 25</a:t>
            </a:r>
          </a:p>
        </p:txBody>
      </p:sp>
      <p:sp>
        <p:nvSpPr>
          <p:cNvPr id="9" name="Rectangle 8"/>
          <p:cNvSpPr/>
          <p:nvPr/>
        </p:nvSpPr>
        <p:spPr>
          <a:xfrm>
            <a:off x="2286000" y="1691640"/>
            <a:ext cx="1371600"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1737360"/>
            <a:ext cx="1371600" cy="365760"/>
          </a:xfrm>
          <a:prstGeom prst="rect">
            <a:avLst/>
          </a:prstGeom>
          <a:noFill/>
        </p:spPr>
        <p:txBody>
          <a:bodyPr wrap="square" anchor="t">
            <a:spAutoFit/>
          </a:bodyPr>
          <a:lstStyle/>
          <a:p>
            <a:pPr algn="ctr">
              <a:spcAft>
                <a:spcPts val="400"/>
              </a:spcAft>
            </a:pPr>
            <a:r>
              <a:rPr sz="1300" b="1">
                <a:solidFill>
                  <a:srgbClr val="5B6372"/>
                </a:solidFill>
                <a:latin typeface="Arial"/>
              </a:rPr>
              <a:t>K5 · A7,A8</a:t>
            </a:r>
          </a:p>
        </p:txBody>
      </p:sp>
      <p:sp>
        <p:nvSpPr>
          <p:cNvPr id="11" name="TextBox 10"/>
          <p:cNvSpPr txBox="1"/>
          <p:nvPr/>
        </p:nvSpPr>
        <p:spPr>
          <a:xfrm>
            <a:off x="777240" y="2331720"/>
            <a:ext cx="10698480" cy="1371600"/>
          </a:xfrm>
          <a:prstGeom prst="rect">
            <a:avLst/>
          </a:prstGeom>
          <a:noFill/>
        </p:spPr>
        <p:txBody>
          <a:bodyPr wrap="square" anchor="t">
            <a:spAutoFit/>
          </a:bodyPr>
          <a:lstStyle/>
          <a:p>
            <a:pPr algn="l">
              <a:spcAft>
                <a:spcPts val="400"/>
              </a:spcAft>
            </a:pPr>
            <a:r>
              <a:rPr sz="1900" b="0">
                <a:solidFill>
                  <a:srgbClr val="161B26"/>
                </a:solidFill>
                <a:latin typeface="Arial"/>
              </a:rPr>
              <a:t>The learner runs one request end to end through the whole solution built during the week, produces the content, routes it through the automation and the human gate, and assembles the governance evidence pack.</a:t>
            </a:r>
          </a:p>
        </p:txBody>
      </p:sp>
      <p:sp>
        <p:nvSpPr>
          <p:cNvPr id="12" name="Rectangle 11"/>
          <p:cNvSpPr/>
          <p:nvPr/>
        </p:nvSpPr>
        <p:spPr>
          <a:xfrm>
            <a:off x="777240" y="3886200"/>
            <a:ext cx="10698480"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11480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 will build</a:t>
            </a:r>
          </a:p>
        </p:txBody>
      </p:sp>
      <p:sp>
        <p:nvSpPr>
          <p:cNvPr id="15" name="TextBox 14"/>
          <p:cNvSpPr txBox="1"/>
          <p:nvPr/>
        </p:nvSpPr>
        <p:spPr>
          <a:xfrm>
            <a:off x="1005840" y="4480560"/>
            <a:ext cx="10149840" cy="640080"/>
          </a:xfrm>
          <a:prstGeom prst="rect">
            <a:avLst/>
          </a:prstGeom>
          <a:noFill/>
        </p:spPr>
        <p:txBody>
          <a:bodyPr wrap="square" anchor="t">
            <a:spAutoFit/>
          </a:bodyPr>
          <a:lstStyle/>
          <a:p>
            <a:pPr algn="l">
              <a:spcAft>
                <a:spcPts val="400"/>
              </a:spcAft>
            </a:pPr>
            <a:r>
              <a:rPr sz="1700" b="1">
                <a:solidFill>
                  <a:srgbClr val="161B26"/>
                </a:solidFill>
                <a:latin typeface="Arial"/>
              </a:rPr>
              <a:t>A complete pipeline run with content, automation, approval and a governance evidence pack</a:t>
            </a:r>
          </a:p>
        </p:txBody>
      </p:sp>
      <p:sp>
        <p:nvSpPr>
          <p:cNvPr id="16" name="TextBox 15"/>
          <p:cNvSpPr txBox="1"/>
          <p:nvPr/>
        </p:nvSpPr>
        <p:spPr>
          <a:xfrm>
            <a:off x="1005840" y="5212080"/>
            <a:ext cx="10241280" cy="365760"/>
          </a:xfrm>
          <a:prstGeom prst="rect">
            <a:avLst/>
          </a:prstGeom>
          <a:noFill/>
        </p:spPr>
        <p:txBody>
          <a:bodyPr wrap="square" anchor="t">
            <a:spAutoFit/>
          </a:bodyPr>
          <a:lstStyle/>
          <a:p>
            <a:pPr algn="l">
              <a:spcAft>
                <a:spcPts val="400"/>
              </a:spcAft>
            </a:pPr>
            <a:r>
              <a:rPr sz="1200" b="1">
                <a:solidFill>
                  <a:srgbClr val="5B6372"/>
                </a:solidFill>
                <a:latin typeface="Arial"/>
              </a:rPr>
              <a:t>Apps:  </a:t>
            </a:r>
            <a:r>
              <a:rPr sz="1200" b="0">
                <a:solidFill>
                  <a:srgbClr val="5B6372"/>
                </a:solidFill>
                <a:latin typeface="Arial"/>
              </a:rPr>
              <a:t>Microsoft 365 Copilot, Power Automate, Copilot Studio, Outlook, Teams, Excel</a:t>
            </a:r>
          </a:p>
        </p:txBody>
      </p:sp>
      <p:sp>
        <p:nvSpPr>
          <p:cNvPr id="17" name="Rectangle 16"/>
          <p:cNvSpPr/>
          <p:nvPr/>
        </p:nvSpPr>
        <p:spPr>
          <a:xfrm>
            <a:off x="777240"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943600"/>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943600"/>
            <a:ext cx="3154680" cy="457200"/>
          </a:xfrm>
          <a:prstGeom prst="rect">
            <a:avLst/>
          </a:prstGeom>
          <a:noFill/>
        </p:spPr>
        <p:txBody>
          <a:bodyPr wrap="square" anchor="ctr">
            <a:spAutoFit/>
          </a:bodyPr>
          <a:lstStyle/>
          <a:p>
            <a:pPr algn="l">
              <a:spcAft>
                <a:spcPts val="400"/>
              </a:spcAft>
            </a:pPr>
            <a:r>
              <a:rPr sz="900" b="1">
                <a:solidFill>
                  <a:srgbClr val="1F6FEB"/>
                </a:solidFill>
                <a:latin typeface="Arial"/>
              </a:rPr>
              <a:t>ASSESSED   </a:t>
            </a:r>
            <a:r>
              <a:rPr sz="1050" b="0">
                <a:solidFill>
                  <a:srgbClr val="161B26"/>
                </a:solidFill>
                <a:latin typeface="Arial"/>
              </a:rPr>
              <a:t>K5 · A7,A8</a:t>
            </a:r>
          </a:p>
        </p:txBody>
      </p:sp>
      <p:sp>
        <p:nvSpPr>
          <p:cNvPr id="20" name="Rectangle 19"/>
          <p:cNvSpPr/>
          <p:nvPr/>
        </p:nvSpPr>
        <p:spPr>
          <a:xfrm>
            <a:off x="4407408"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5943600"/>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5943600"/>
            <a:ext cx="3154680" cy="457200"/>
          </a:xfrm>
          <a:prstGeom prst="rect">
            <a:avLst/>
          </a:prstGeom>
          <a:noFill/>
        </p:spPr>
        <p:txBody>
          <a:bodyPr wrap="square" anchor="ctr">
            <a:spAutoFit/>
          </a:bodyPr>
          <a:lstStyle/>
          <a:p>
            <a:pPr algn="l">
              <a:spcAft>
                <a:spcPts val="400"/>
              </a:spcAft>
            </a:pPr>
            <a:r>
              <a:rPr sz="900" b="1">
                <a:solidFill>
                  <a:srgbClr val="10B981"/>
                </a:solidFill>
                <a:latin typeface="Arial"/>
              </a:rPr>
              <a:t>LEVEL   </a:t>
            </a:r>
            <a:r>
              <a:rPr sz="1050" b="0">
                <a:solidFill>
                  <a:srgbClr val="161B26"/>
                </a:solidFill>
                <a:latin typeface="Arial"/>
              </a:rPr>
              <a:t>Capstone</a:t>
            </a:r>
          </a:p>
        </p:txBody>
      </p:sp>
      <p:sp>
        <p:nvSpPr>
          <p:cNvPr id="23" name="Rectangle 22"/>
          <p:cNvSpPr/>
          <p:nvPr/>
        </p:nvSpPr>
        <p:spPr>
          <a:xfrm>
            <a:off x="8037576" y="5943600"/>
            <a:ext cx="34290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37576" y="5943600"/>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2168" y="5943600"/>
            <a:ext cx="3154680" cy="457200"/>
          </a:xfrm>
          <a:prstGeom prst="rect">
            <a:avLst/>
          </a:prstGeom>
          <a:noFill/>
        </p:spPr>
        <p:txBody>
          <a:bodyPr wrap="square" anchor="ctr">
            <a:spAutoFit/>
          </a:bodyPr>
          <a:lstStyle/>
          <a:p>
            <a:pPr algn="l">
              <a:spcAft>
                <a:spcPts val="400"/>
              </a:spcAft>
            </a:pPr>
            <a:r>
              <a:rPr sz="900" b="1">
                <a:solidFill>
                  <a:srgbClr val="7C3AED"/>
                </a:solidFill>
                <a:latin typeface="Arial"/>
              </a:rPr>
              <a:t>EVIDENCE   </a:t>
            </a:r>
            <a:r>
              <a:rPr sz="1050" b="0">
                <a:solidFill>
                  <a:srgbClr val="161B26"/>
                </a:solidFill>
                <a:latin typeface="Arial"/>
              </a:rPr>
              <a:t>Workbook · screenshot · reviewer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Lab 25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Prepare</a:t>
            </a:r>
          </a:p>
        </p:txBody>
      </p:sp>
      <p:sp>
        <p:nvSpPr>
          <p:cNvPr id="10" name="TextBox 9"/>
          <p:cNvSpPr txBox="1"/>
          <p:nvPr/>
        </p:nvSpPr>
        <p:spPr>
          <a:xfrm>
            <a:off x="905256"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Restate the whole process</a:t>
            </a:r>
          </a:p>
        </p:txBody>
      </p:sp>
      <p:sp>
        <p:nvSpPr>
          <p:cNvPr id="11" name="Rectangle 10"/>
          <p:cNvSpPr/>
          <p:nvPr/>
        </p:nvSpPr>
        <p:spPr>
          <a:xfrm>
            <a:off x="3175254"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292298"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50158"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50158"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78174"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Generate</a:t>
            </a:r>
          </a:p>
        </p:txBody>
      </p:sp>
      <p:sp>
        <p:nvSpPr>
          <p:cNvPr id="16" name="TextBox 15"/>
          <p:cNvSpPr txBox="1"/>
          <p:nvPr/>
        </p:nvSpPr>
        <p:spPr>
          <a:xfrm>
            <a:off x="3678174"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Verify before the pipeline</a:t>
            </a:r>
          </a:p>
        </p:txBody>
      </p:sp>
      <p:sp>
        <p:nvSpPr>
          <p:cNvPr id="17" name="Rectangle 16"/>
          <p:cNvSpPr/>
          <p:nvPr/>
        </p:nvSpPr>
        <p:spPr>
          <a:xfrm>
            <a:off x="5948172"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6065216"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3076"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23076"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Verify</a:t>
            </a:r>
          </a:p>
        </p:txBody>
      </p:sp>
      <p:sp>
        <p:nvSpPr>
          <p:cNvPr id="22" name="TextBox 21"/>
          <p:cNvSpPr txBox="1"/>
          <p:nvPr/>
        </p:nvSpPr>
        <p:spPr>
          <a:xfrm>
            <a:off x="6451092"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Pass the human review gate</a:t>
            </a:r>
          </a:p>
        </p:txBody>
      </p:sp>
      <p:sp>
        <p:nvSpPr>
          <p:cNvPr id="23" name="Rectangle 22"/>
          <p:cNvSpPr/>
          <p:nvPr/>
        </p:nvSpPr>
        <p:spPr>
          <a:xfrm>
            <a:off x="8721090" y="3353105"/>
            <a:ext cx="117044" cy="603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8838134" y="3320918"/>
            <a:ext cx="175564" cy="124724"/>
          </a:xfrm>
          <a:custGeom>
            <a:avLst/>
            <a:gdLst/>
            <a:ahLst/>
            <a:cxnLst/>
            <a:rect l="l" t="t" r="r" b="b"/>
            <a:pathLst>
              <a:path w="175564" h="124724">
                <a:moveTo>
                  <a:pt x="0" y="0"/>
                </a:moveTo>
                <a:lnTo>
                  <a:pt x="175564" y="62362"/>
                </a:lnTo>
                <a:lnTo>
                  <a:pt x="0" y="124724"/>
                </a:lnTo>
                <a:close/>
              </a:path>
            </a:pathLst>
          </a:cu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5994" y="2468880"/>
            <a:ext cx="2315718" cy="1828800"/>
          </a:xfrm>
          <a:prstGeom prst="round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5994" y="2468880"/>
            <a:ext cx="231571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4010" y="2670048"/>
            <a:ext cx="2059686" cy="713232"/>
          </a:xfrm>
          <a:prstGeom prst="rect">
            <a:avLst/>
          </a:prstGeom>
          <a:noFill/>
        </p:spPr>
        <p:txBody>
          <a:bodyPr wrap="square" anchor="ctr">
            <a:spAutoFit/>
          </a:bodyPr>
          <a:lstStyle/>
          <a:p>
            <a:pPr algn="ctr">
              <a:spcAft>
                <a:spcPts val="400"/>
              </a:spcAft>
            </a:pPr>
            <a:r>
              <a:rPr sz="1500" b="1">
                <a:solidFill>
                  <a:srgbClr val="161B26"/>
                </a:solidFill>
                <a:latin typeface="Arial"/>
              </a:rPr>
              <a:t>Record</a:t>
            </a:r>
          </a:p>
        </p:txBody>
      </p:sp>
      <p:sp>
        <p:nvSpPr>
          <p:cNvPr id="28" name="TextBox 27"/>
          <p:cNvSpPr txBox="1"/>
          <p:nvPr/>
        </p:nvSpPr>
        <p:spPr>
          <a:xfrm>
            <a:off x="9224010" y="3401568"/>
            <a:ext cx="2059686" cy="804672"/>
          </a:xfrm>
          <a:prstGeom prst="rect">
            <a:avLst/>
          </a:prstGeom>
          <a:noFill/>
        </p:spPr>
        <p:txBody>
          <a:bodyPr wrap="square" anchor="t">
            <a:spAutoFit/>
          </a:bodyPr>
          <a:lstStyle/>
          <a:p>
            <a:pPr algn="ctr">
              <a:spcAft>
                <a:spcPts val="400"/>
              </a:spcAft>
            </a:pPr>
            <a:r>
              <a:rPr sz="1100" b="0">
                <a:solidFill>
                  <a:srgbClr val="5B6372"/>
                </a:solidFill>
                <a:latin typeface="Arial"/>
              </a:rPr>
              <a:t>Assemble the evidence pack</a:t>
            </a:r>
          </a:p>
        </p:txBody>
      </p:sp>
      <p:sp>
        <p:nvSpPr>
          <p:cNvPr id="29" name="Rectangle 28"/>
          <p:cNvSpPr/>
          <p:nvPr/>
        </p:nvSpPr>
        <p:spPr>
          <a:xfrm>
            <a:off x="777240" y="489204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029200"/>
            <a:ext cx="10149840" cy="548640"/>
          </a:xfrm>
          <a:prstGeom prst="rect">
            <a:avLst/>
          </a:prstGeom>
          <a:noFill/>
        </p:spPr>
        <p:txBody>
          <a:bodyPr wrap="square" anchor="ctr">
            <a:spAutoFit/>
          </a:bodyPr>
          <a:lstStyle/>
          <a:p>
            <a:pPr algn="l">
              <a:spcAft>
                <a:spcPts val="400"/>
              </a:spcAft>
            </a:pPr>
            <a:r>
              <a:rPr sz="1100" b="1">
                <a:solidFill>
                  <a:srgbClr val="10B981"/>
                </a:solidFill>
                <a:latin typeface="Arial"/>
              </a:rPr>
              <a:t>WHY IT MATTERS   </a:t>
            </a:r>
            <a:r>
              <a:rPr sz="1300" b="0">
                <a:solidFill>
                  <a:srgbClr val="161B26"/>
                </a:solidFill>
                <a:latin typeface="Arial"/>
              </a:rPr>
              <a:t>The shape of the work. Full step-by-step is in the Learner Guide (Lab 25) and the lab's instruction PDF.</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ACCEPTANCE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Operate a Governed End-to-End Copilot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4688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1900" b="1">
                <a:solidFill>
                  <a:srgbClr val="127A3E"/>
                </a:solidFill>
                <a:latin typeface="Arial"/>
              </a:rPr>
              <a:t>✅  Acceptance check</a:t>
            </a:r>
          </a:p>
        </p:txBody>
      </p:sp>
      <p:sp>
        <p:nvSpPr>
          <p:cNvPr id="10" name="TextBox 9"/>
          <p:cNvSpPr txBox="1"/>
          <p:nvPr/>
        </p:nvSpPr>
        <p:spPr>
          <a:xfrm>
            <a:off x="1097280" y="3063240"/>
            <a:ext cx="10149840" cy="1371600"/>
          </a:xfrm>
          <a:prstGeom prst="rect">
            <a:avLst/>
          </a:prstGeom>
          <a:noFill/>
        </p:spPr>
        <p:txBody>
          <a:bodyPr wrap="square" anchor="t">
            <a:spAutoFit/>
          </a:bodyPr>
          <a:lstStyle/>
          <a:p>
            <a:pPr algn="l">
              <a:spcAft>
                <a:spcPts val="400"/>
              </a:spcAft>
            </a:pPr>
            <a:r>
              <a:rPr sz="1700" b="0">
                <a:solidFill>
                  <a:srgbClr val="161B26"/>
                </a:solidFill>
                <a:latin typeface="Arial"/>
              </a:rPr>
              <a:t>One request traverses content generation, verification, automation and human approval, and the evidence pack accounts for every stage with a named owner.</a:t>
            </a:r>
          </a:p>
        </p:txBody>
      </p:sp>
      <p:sp>
        <p:nvSpPr>
          <p:cNvPr id="11" name="Rectangle 10"/>
          <p:cNvSpPr/>
          <p:nvPr/>
        </p:nvSpPr>
        <p:spPr>
          <a:xfrm>
            <a:off x="777240" y="4800600"/>
            <a:ext cx="1069848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800600"/>
            <a:ext cx="1069848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956048"/>
            <a:ext cx="10058400" cy="320040"/>
          </a:xfrm>
          <a:prstGeom prst="rect">
            <a:avLst/>
          </a:prstGeom>
          <a:noFill/>
        </p:spPr>
        <p:txBody>
          <a:bodyPr wrap="square" anchor="t">
            <a:spAutoFit/>
          </a:bodyPr>
          <a:lstStyle/>
          <a:p>
            <a:pPr algn="l">
              <a:spcAft>
                <a:spcPts val="400"/>
              </a:spcAft>
            </a:pPr>
            <a:r>
              <a:rPr sz="1100" b="1">
                <a:solidFill>
                  <a:srgbClr val="F59E0B"/>
                </a:solidFill>
                <a:latin typeface="Arial"/>
              </a:rPr>
              <a:t>IF IT DOES NOT WORK</a:t>
            </a:r>
          </a:p>
        </p:txBody>
      </p:sp>
      <p:sp>
        <p:nvSpPr>
          <p:cNvPr id="14" name="Oval 13"/>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Re-read the step inputs before you change anything.</a:t>
            </a:r>
          </a:p>
        </p:txBody>
      </p:sp>
      <p:sp>
        <p:nvSpPr>
          <p:cNvPr id="16" name="Oval 15"/>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Check the source is attached and the value inserted, not typed.</a:t>
            </a:r>
          </a:p>
        </p:txBody>
      </p:sp>
      <p:sp>
        <p:nvSpPr>
          <p:cNvPr id="18" name="Oval 17"/>
          <p:cNvSpPr/>
          <p:nvPr/>
        </p:nvSpPr>
        <p:spPr>
          <a:xfrm>
            <a:off x="1097280" y="5303520"/>
            <a:ext cx="0" cy="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5285232"/>
            <a:ext cx="3383280" cy="566928"/>
          </a:xfrm>
          <a:prstGeom prst="rect">
            <a:avLst/>
          </a:prstGeom>
          <a:noFill/>
        </p:spPr>
        <p:txBody>
          <a:bodyPr wrap="square" anchor="t">
            <a:spAutoFit/>
          </a:bodyPr>
          <a:lstStyle/>
          <a:p>
            <a:pPr algn="l">
              <a:spcAft>
                <a:spcPts val="400"/>
              </a:spcAft>
            </a:pPr>
            <a:r>
              <a:rPr sz="1050" b="0">
                <a:solidFill>
                  <a:srgbClr val="161B26"/>
                </a:solidFill>
                <a:latin typeface="Arial"/>
              </a:rPr>
              <a:t>Full step-by-step: Learner Guide and the lab instruction PDF.</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CAN NOW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Topic 05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21</a:t>
            </a:r>
          </a:p>
          <a:p>
            <a:pPr algn="l">
              <a:spcAft>
                <a:spcPts val="300"/>
              </a:spcAft>
            </a:pPr>
            <a:r>
              <a:rPr sz="1000" b="0">
                <a:solidFill>
                  <a:srgbClr val="5B6372"/>
                </a:solidFill>
                <a:latin typeface="Arial"/>
              </a:rPr>
              <a:t>Integrate an automation with an external application at API level using a defined contract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22</a:t>
            </a:r>
          </a:p>
          <a:p>
            <a:pPr algn="l">
              <a:spcAft>
                <a:spcPts val="300"/>
              </a:spcAft>
            </a:pPr>
            <a:r>
              <a:rPr sz="1000" b="0">
                <a:solidFill>
                  <a:srgbClr val="5B6372"/>
                </a:solidFill>
                <a:latin typeface="Arial"/>
              </a:rPr>
              <a:t>Ground answers in retrieved documents and prove the agent refuses what it cannot find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23</a:t>
            </a:r>
          </a:p>
          <a:p>
            <a:pPr algn="l">
              <a:spcAft>
                <a:spcPts val="300"/>
              </a:spcAft>
            </a:pPr>
            <a:r>
              <a:rPr sz="1000" b="0">
                <a:solidFill>
                  <a:srgbClr val="5B6372"/>
                </a:solidFill>
                <a:latin typeface="Arial"/>
              </a:rPr>
              <a:t>Apply the boundary of agency so a consequential action cannot complete without a person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24</a:t>
            </a:r>
          </a:p>
          <a:p>
            <a:pPr algn="l">
              <a:spcAft>
                <a:spcPts val="300"/>
              </a:spcAft>
            </a:pPr>
            <a:r>
              <a:rPr sz="1000" b="0">
                <a:solidFill>
                  <a:srgbClr val="5B6372"/>
                </a:solidFill>
                <a:latin typeface="Arial"/>
              </a:rPr>
              <a:t>Verify behaviour across platforms and diagnose the technical issues an integration reveals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Lab 25</a:t>
            </a:r>
          </a:p>
          <a:p>
            <a:pPr algn="l">
              <a:spcAft>
                <a:spcPts val="300"/>
              </a:spcAft>
            </a:pPr>
            <a:r>
              <a:rPr sz="1000" b="0">
                <a:solidFill>
                  <a:srgbClr val="5B6372"/>
                </a:solidFill>
                <a:latin typeface="Arial"/>
              </a:rPr>
              <a:t>Run the complete pipeline from request to verified output with governance evidence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9692640" cy="1463040"/>
          </a:xfrm>
          <a:prstGeom prst="rect">
            <a:avLst/>
          </a:prstGeom>
          <a:noFill/>
        </p:spPr>
        <p:txBody>
          <a:bodyPr wrap="square" anchor="t">
            <a:spAutoFit/>
          </a:bodyPr>
          <a:lstStyle/>
          <a:p>
            <a:pPr algn="l">
              <a:spcAft>
                <a:spcPts val="400"/>
              </a:spcAft>
            </a:pPr>
            <a:r>
              <a:rPr sz="36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Copilot for content</a:t>
            </a:r>
          </a:p>
          <a:p>
            <a:pPr algn="l">
              <a:spcAft>
                <a:spcPts val="300"/>
              </a:spcAft>
            </a:pPr>
            <a:r>
              <a:rPr sz="1100" b="0">
                <a:solidFill>
                  <a:srgbClr val="5B6372"/>
                </a:solidFill>
                <a:latin typeface="Arial"/>
              </a:rPr>
              <a:t>Verified business content in Word, PowerPoint, Excel and Outlook.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Feasibility scanning</a:t>
            </a:r>
          </a:p>
          <a:p>
            <a:pPr algn="l">
              <a:spcAft>
                <a:spcPts val="300"/>
              </a:spcAft>
            </a:pPr>
            <a:r>
              <a:rPr sz="1100" b="0">
                <a:solidFill>
                  <a:srgbClr val="5B6372"/>
                </a:solidFill>
                <a:latin typeface="Arial"/>
              </a:rPr>
              <a:t>Identified and scoped automation opportunities.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Power Automate</a:t>
            </a:r>
          </a:p>
          <a:p>
            <a:pPr algn="l">
              <a:spcAft>
                <a:spcPts val="300"/>
              </a:spcAft>
            </a:pPr>
            <a:r>
              <a:rPr sz="1100" b="0">
                <a:solidFill>
                  <a:srgbClr val="5B6372"/>
                </a:solidFill>
                <a:latin typeface="Arial"/>
              </a:rPr>
              <a:t>Built flows with triggers, actions, conditions and approvals.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Copilot Studio agents</a:t>
            </a:r>
          </a:p>
          <a:p>
            <a:pPr algn="l">
              <a:spcAft>
                <a:spcPts val="300"/>
              </a:spcAft>
            </a:pPr>
            <a:r>
              <a:rPr sz="1100" b="0">
                <a:solidFill>
                  <a:srgbClr val="5B6372"/>
                </a:solidFill>
                <a:latin typeface="Arial"/>
              </a:rPr>
              <a:t>Designed, grounded, tooled, orchestrated and published agents.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Integration</a:t>
            </a:r>
          </a:p>
          <a:p>
            <a:pPr algn="l">
              <a:spcAft>
                <a:spcPts val="300"/>
              </a:spcAft>
            </a:pPr>
            <a:r>
              <a:rPr sz="1100" b="0">
                <a:solidFill>
                  <a:srgbClr val="5B6372"/>
                </a:solidFill>
                <a:latin typeface="Arial"/>
              </a:rPr>
              <a:t>Connected automation over HTTP with a JSON schema.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Testing and governance</a:t>
            </a:r>
          </a:p>
          <a:p>
            <a:pPr algn="l">
              <a:spcAft>
                <a:spcPts val="300"/>
              </a:spcAft>
            </a:pPr>
            <a:r>
              <a:rPr sz="1100" b="0">
                <a:solidFill>
                  <a:srgbClr val="5B6372"/>
                </a:solidFill>
                <a:latin typeface="Arial"/>
              </a:rPr>
              <a:t>Tested behaviour, gated actions and diagnosed failures.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Taking This Back to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one process</a:t>
            </a:r>
          </a:p>
          <a:p>
            <a:pPr algn="l">
              <a:spcAft>
                <a:spcPts val="300"/>
              </a:spcAft>
            </a:pPr>
            <a:r>
              <a:rPr sz="1100" b="0">
                <a:solidFill>
                  <a:srgbClr val="5B6372"/>
                </a:solidFill>
                <a:latin typeface="Arial"/>
              </a:rPr>
              <a:t>Pick something repetitive, rule-based and time-consuming.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Write the prompt contract</a:t>
            </a:r>
          </a:p>
          <a:p>
            <a:pPr algn="l">
              <a:spcAft>
                <a:spcPts val="300"/>
              </a:spcAft>
            </a:pPr>
            <a:r>
              <a:rPr sz="1100" b="0">
                <a:solidFill>
                  <a:srgbClr val="5B6372"/>
                </a:solidFill>
                <a:latin typeface="Arial"/>
              </a:rPr>
              <a:t>Goal, context, source, expectation — every time.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Ground before you trust</a:t>
            </a:r>
          </a:p>
          <a:p>
            <a:pPr algn="l">
              <a:spcAft>
                <a:spcPts val="300"/>
              </a:spcAft>
            </a:pPr>
            <a:r>
              <a:rPr sz="1100" b="0">
                <a:solidFill>
                  <a:srgbClr val="5B6372"/>
                </a:solidFill>
                <a:latin typeface="Arial"/>
              </a:rPr>
              <a:t>An answer with no source is a draft, not a fact.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Gate the consequential step</a:t>
            </a:r>
          </a:p>
          <a:p>
            <a:pPr algn="l">
              <a:spcAft>
                <a:spcPts val="300"/>
              </a:spcAft>
            </a:pPr>
            <a:r>
              <a:rPr sz="1100" b="0">
                <a:solidFill>
                  <a:srgbClr val="5B6372"/>
                </a:solidFill>
                <a:latin typeface="Arial"/>
              </a:rPr>
              <a:t>Decide the boundary of agency before you build.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the evidence</a:t>
            </a:r>
          </a:p>
          <a:p>
            <a:pPr algn="l">
              <a:spcAft>
                <a:spcPts val="300"/>
              </a:spcAft>
            </a:pPr>
            <a:r>
              <a:rPr sz="1100" b="0">
                <a:solidFill>
                  <a:srgbClr val="5B6372"/>
                </a:solidFill>
                <a:latin typeface="Arial"/>
              </a:rPr>
              <a:t>Prompt log, evidence register and run history.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Review the run history</a:t>
            </a:r>
          </a:p>
          <a:p>
            <a:pPr algn="l">
              <a:spcAft>
                <a:spcPts val="300"/>
              </a:spcAft>
            </a:pPr>
            <a:r>
              <a:rPr sz="1100" b="0">
                <a:solidFill>
                  <a:srgbClr val="5B6372"/>
                </a:solidFill>
                <a:latin typeface="Arial"/>
              </a:rPr>
              <a:t>Recurring failures are telling you about the design.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 · 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764962"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2490642" cy="548640"/>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Written Assessment (WA)</a:t>
            </a:r>
          </a:p>
        </p:txBody>
      </p:sp>
      <p:sp>
        <p:nvSpPr>
          <p:cNvPr id="11" name="Rectangle 10"/>
          <p:cNvSpPr/>
          <p:nvPr/>
        </p:nvSpPr>
        <p:spPr>
          <a:xfrm>
            <a:off x="7476957" y="1828800"/>
            <a:ext cx="3934755" cy="548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6685" y="1828800"/>
            <a:ext cx="3715299" cy="548640"/>
          </a:xfrm>
          <a:prstGeom prst="rect">
            <a:avLst/>
          </a:prstGeom>
          <a:noFill/>
        </p:spPr>
        <p:txBody>
          <a:bodyPr wrap="square" anchor="ctr">
            <a:spAutoFit/>
          </a:bodyPr>
          <a:lstStyle/>
          <a:p>
            <a:pPr algn="ctr">
              <a:spcAft>
                <a:spcPts val="400"/>
              </a:spcAft>
            </a:pPr>
            <a:r>
              <a:rPr sz="1300" b="1">
                <a:solidFill>
                  <a:srgbClr val="FFFFFF"/>
                </a:solidFill>
                <a:latin typeface="Arial"/>
              </a:rPr>
              <a:t>Practical Performance (PP)</a:t>
            </a:r>
          </a:p>
        </p:txBody>
      </p:sp>
      <p:sp>
        <p:nvSpPr>
          <p:cNvPr id="13" name="Rectangle 12"/>
          <p:cNvSpPr/>
          <p:nvPr/>
        </p:nvSpPr>
        <p:spPr>
          <a:xfrm>
            <a:off x="777240" y="2377440"/>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Format</a:t>
            </a:r>
          </a:p>
        </p:txBody>
      </p:sp>
      <p:sp>
        <p:nvSpPr>
          <p:cNvPr id="15" name="Rectangle 14"/>
          <p:cNvSpPr/>
          <p:nvPr/>
        </p:nvSpPr>
        <p:spPr>
          <a:xfrm>
            <a:off x="3542202"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Short-answer questions (SAQ)</a:t>
            </a:r>
          </a:p>
        </p:txBody>
      </p:sp>
      <p:sp>
        <p:nvSpPr>
          <p:cNvPr id="17" name="Rectangle 16"/>
          <p:cNvSpPr/>
          <p:nvPr/>
        </p:nvSpPr>
        <p:spPr>
          <a:xfrm>
            <a:off x="7476957" y="2377440"/>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6685" y="2377440"/>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Hands-on practical tasks</a:t>
            </a:r>
          </a:p>
        </p:txBody>
      </p:sp>
      <p:sp>
        <p:nvSpPr>
          <p:cNvPr id="19" name="Rectangle 18"/>
          <p:cNvSpPr/>
          <p:nvPr/>
        </p:nvSpPr>
        <p:spPr>
          <a:xfrm>
            <a:off x="777240" y="2852928"/>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852928"/>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What it tests</a:t>
            </a:r>
          </a:p>
        </p:txBody>
      </p:sp>
      <p:sp>
        <p:nvSpPr>
          <p:cNvPr id="21" name="Rectangle 20"/>
          <p:cNvSpPr/>
          <p:nvPr/>
        </p:nvSpPr>
        <p:spPr>
          <a:xfrm>
            <a:off x="3542202"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Underpinning knowledge K1-K5</a:t>
            </a:r>
          </a:p>
        </p:txBody>
      </p:sp>
      <p:sp>
        <p:nvSpPr>
          <p:cNvPr id="23" name="Rectangle 22"/>
          <p:cNvSpPr/>
          <p:nvPr/>
        </p:nvSpPr>
        <p:spPr>
          <a:xfrm>
            <a:off x="7476957" y="2852928"/>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6685" y="2852928"/>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Practical ability A1-A8</a:t>
            </a:r>
          </a:p>
        </p:txBody>
      </p:sp>
      <p:sp>
        <p:nvSpPr>
          <p:cNvPr id="25" name="Rectangle 24"/>
          <p:cNvSpPr/>
          <p:nvPr/>
        </p:nvSpPr>
        <p:spPr>
          <a:xfrm>
            <a:off x="777240" y="3328416"/>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328416"/>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Duration</a:t>
            </a:r>
          </a:p>
        </p:txBody>
      </p:sp>
      <p:sp>
        <p:nvSpPr>
          <p:cNvPr id="27" name="Rectangle 26"/>
          <p:cNvSpPr/>
          <p:nvPr/>
        </p:nvSpPr>
        <p:spPr>
          <a:xfrm>
            <a:off x="3542202"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1 hour</a:t>
            </a:r>
          </a:p>
        </p:txBody>
      </p:sp>
      <p:sp>
        <p:nvSpPr>
          <p:cNvPr id="29" name="Rectangle 28"/>
          <p:cNvSpPr/>
          <p:nvPr/>
        </p:nvSpPr>
        <p:spPr>
          <a:xfrm>
            <a:off x="7476957" y="3328416"/>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6685" y="3328416"/>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1 hour</a:t>
            </a:r>
          </a:p>
        </p:txBody>
      </p:sp>
      <p:sp>
        <p:nvSpPr>
          <p:cNvPr id="31" name="Rectangle 30"/>
          <p:cNvSpPr/>
          <p:nvPr/>
        </p:nvSpPr>
        <p:spPr>
          <a:xfrm>
            <a:off x="777240" y="3803904"/>
            <a:ext cx="276496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803904"/>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Conditions</a:t>
            </a:r>
          </a:p>
        </p:txBody>
      </p:sp>
      <p:sp>
        <p:nvSpPr>
          <p:cNvPr id="33" name="Rectangle 32"/>
          <p:cNvSpPr/>
          <p:nvPr/>
        </p:nvSpPr>
        <p:spPr>
          <a:xfrm>
            <a:off x="3542202"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Open book, individual</a:t>
            </a:r>
          </a:p>
        </p:txBody>
      </p:sp>
      <p:sp>
        <p:nvSpPr>
          <p:cNvPr id="35" name="Rectangle 34"/>
          <p:cNvSpPr/>
          <p:nvPr/>
        </p:nvSpPr>
        <p:spPr>
          <a:xfrm>
            <a:off x="7476957" y="3803904"/>
            <a:ext cx="3934755"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6685" y="3803904"/>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Open book, individual</a:t>
            </a:r>
          </a:p>
        </p:txBody>
      </p:sp>
      <p:sp>
        <p:nvSpPr>
          <p:cNvPr id="37" name="Rectangle 36"/>
          <p:cNvSpPr/>
          <p:nvPr/>
        </p:nvSpPr>
        <p:spPr>
          <a:xfrm>
            <a:off x="777240" y="4279392"/>
            <a:ext cx="276496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279392"/>
            <a:ext cx="2490642" cy="475488"/>
          </a:xfrm>
          <a:prstGeom prst="rect">
            <a:avLst/>
          </a:prstGeom>
          <a:noFill/>
        </p:spPr>
        <p:txBody>
          <a:bodyPr wrap="square" anchor="ctr">
            <a:spAutoFit/>
          </a:bodyPr>
          <a:lstStyle/>
          <a:p>
            <a:pPr algn="l">
              <a:spcAft>
                <a:spcPts val="400"/>
              </a:spcAft>
            </a:pPr>
            <a:r>
              <a:rPr sz="1200" b="1">
                <a:solidFill>
                  <a:srgbClr val="161B26"/>
                </a:solidFill>
                <a:latin typeface="Arial"/>
              </a:rPr>
              <a:t>Submission</a:t>
            </a:r>
          </a:p>
        </p:txBody>
      </p:sp>
      <p:sp>
        <p:nvSpPr>
          <p:cNvPr id="39" name="Rectangle 38"/>
          <p:cNvSpPr/>
          <p:nvPr/>
        </p:nvSpPr>
        <p:spPr>
          <a:xfrm>
            <a:off x="3542202" y="4279392"/>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1930" y="4279392"/>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On the LMS</a:t>
            </a:r>
          </a:p>
        </p:txBody>
      </p:sp>
      <p:sp>
        <p:nvSpPr>
          <p:cNvPr id="41" name="Rectangle 40"/>
          <p:cNvSpPr/>
          <p:nvPr/>
        </p:nvSpPr>
        <p:spPr>
          <a:xfrm>
            <a:off x="7476957" y="4279392"/>
            <a:ext cx="3934755"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86685" y="4279392"/>
            <a:ext cx="3715299" cy="475488"/>
          </a:xfrm>
          <a:prstGeom prst="rect">
            <a:avLst/>
          </a:prstGeom>
          <a:noFill/>
        </p:spPr>
        <p:txBody>
          <a:bodyPr wrap="square" anchor="ctr">
            <a:spAutoFit/>
          </a:bodyPr>
          <a:lstStyle/>
          <a:p>
            <a:pPr algn="ctr">
              <a:spcAft>
                <a:spcPts val="400"/>
              </a:spcAft>
            </a:pPr>
            <a:r>
              <a:rPr sz="1150" b="0">
                <a:solidFill>
                  <a:srgbClr val="5B6372"/>
                </a:solidFill>
                <a:latin typeface="Arial"/>
              </a:rPr>
              <a:t>On the LMS, with evidence</a:t>
            </a:r>
          </a:p>
        </p:txBody>
      </p:sp>
      <p:sp>
        <p:nvSpPr>
          <p:cNvPr id="43" name="TextBox 42"/>
          <p:cNvSpPr txBox="1"/>
          <p:nvPr/>
        </p:nvSpPr>
        <p:spPr>
          <a:xfrm>
            <a:off x="777240" y="4983480"/>
            <a:ext cx="10634472" cy="457200"/>
          </a:xfrm>
          <a:prstGeom prst="rect">
            <a:avLst/>
          </a:prstGeom>
          <a:noFill/>
        </p:spPr>
        <p:txBody>
          <a:bodyPr wrap="square" anchor="t">
            <a:spAutoFit/>
          </a:bodyPr>
          <a:lstStyle/>
          <a:p>
            <a:pPr algn="l">
              <a:spcAft>
                <a:spcPts val="400"/>
              </a:spcAft>
            </a:pPr>
            <a:r>
              <a:rPr sz="1100" b="1">
                <a:solidFill>
                  <a:srgbClr val="1F6FEB"/>
                </a:solidFill>
                <a:latin typeface="Arial"/>
              </a:rPr>
              <a:t>RULE   </a:t>
            </a:r>
            <a:r>
              <a:rPr sz="1300" b="0">
                <a:solidFill>
                  <a:srgbClr val="161B26"/>
                </a:solidFill>
                <a:latin typeface="Arial"/>
              </a:rPr>
              <a:t>Open book: slides, Learner Guide and your completed lab files. 75% attendance is required; a re-assessment and appeal process is available.</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23544" y="370332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3112617" y="370332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5301690" y="370332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90763" y="370332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5" name="TextBox 34"/>
          <p:cNvSpPr txBox="1"/>
          <p:nvPr/>
        </p:nvSpPr>
        <p:spPr>
          <a:xfrm>
            <a:off x="9679836" y="3703320"/>
            <a:ext cx="1585569" cy="137160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23544" y="370332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3659886" y="370332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Scan it with your phone camera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6396228" y="370332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Submit your attendance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9132570" y="3703320"/>
            <a:ext cx="2132838" cy="1371600"/>
          </a:xfrm>
          <a:prstGeom prst="rect">
            <a:avLst/>
          </a:prstGeom>
          <a:noFill/>
        </p:spPr>
        <p:txBody>
          <a:bodyPr wrap="square" anchor="t">
            <a:spAutoFit/>
          </a:bodyPr>
          <a:lstStyle/>
          <a:p>
            <a:pPr algn="ctr">
              <a:spcAft>
                <a:spcPts val="400"/>
              </a:spcAft>
            </a:pPr>
            <a:r>
              <a:rPr sz="1300" b="0">
                <a:solidFill>
                  <a:srgbClr val="161B26"/>
                </a:solidFill>
                <a:latin typeface="Arial"/>
              </a:rPr>
              <a:t>Repeat AM, PM and on assessment day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IN CLASS</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Thank You!</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You can now create verified content with Copilot and automate the process behind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Copilot for Content Creation and Task Automation  ·  TGS-2024042588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pic>
        <p:nvPicPr>
          <p:cNvPr id="40" name="Picture 39" descr="ref_login.png"/>
          <p:cNvPicPr>
            <a:picLocks noChangeAspect="1"/>
          </p:cNvPicPr>
          <p:nvPr/>
        </p:nvPicPr>
        <p:blipFill>
          <a:blip r:embed="rId2"/>
          <a:stretch>
            <a:fillRect/>
          </a:stretch>
        </p:blipFill>
        <p:spPr>
          <a:xfrm>
            <a:off x="2112004" y="1851660"/>
            <a:ext cx="7967686" cy="3963924"/>
          </a:xfrm>
          <a:prstGeom prst="rect">
            <a:avLst/>
          </a:prstGeom>
          <a:ln w="12700">
            <a:solidFill>
              <a:srgbClr val="E2E8F0"/>
            </a:solidFill>
          </a:ln>
        </p:spPr>
      </p:pic>
      <p:sp>
        <p:nvSpPr>
          <p:cNvPr id="41" name="TextBox 40"/>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